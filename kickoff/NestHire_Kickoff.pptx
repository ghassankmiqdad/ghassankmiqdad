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افتتاح: هذا اجتماع انطلاق وليس عرضًا لمنتج مكتمل. هدفنا أن يخرج كل عضو وهو يعرف: ماذا نبني، لماذا، ما دوره، وما أول مهمة له. المرجع: NestHire Master Project Document v3.0.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المشكلة ليست في نقص البيانات، بل في غياب آلية تختبر إشارات التوظيف مقابل النتائج الفعلية. التحوّل الجوهري: من سؤال «من أفضل مرشح؟» إلى «ما الذي يعمل فعلًا داخل نظام التوظيف؟». لا نستخدم أرقام سوق غير موثقة.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أربع مشكلات مستخرجة من الوثيقة (قسم 2.2 وقسم JTBD). ركّز على أن المشكلة صعبة بطبيعتها: Quality of Hire غير موحد، والنتائج تتأثر بعوامل خارج التوظيف، والـCohorts قد تكون صغيرة.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شرح الفكرة في أقل من دقيقة: المشكلة ← الحل ← القيمة. القيمة ليست Candidate Score جديدًا، بل معرفة ما يعمل داخل نظام التوظيف وما يجب تغييره، ثم قياس ما حدث بعد التغيير. ووضّح ما لسنا عليه لمنع الانجراف نحو ATS أو أداة فرز سير ذاتية.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الـCore Loop في 11 مرحلة، مجمّعة هنا في أربع مراحل: المدخلات، المعالجة، الذكاء، القرار. كل مرحلة لها Output واضح. الحلقة لا تنتهي: بعد أي تغيير نقيس الدفعة التالية ونعيد المعايرة.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نبني لفرق الاستقطاب وتحليلات الموارد البشرية، لا للمرشح. المشتري الأساسي: قيادة TA أو People Analytics، والمشتري الاقتصادي المحتمل: CHRO. هذه الشخصيات فرضيات تحتاج مقابلات Discovery.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كل هذه الخصائص ضمن P0 في الوثيقة. لاحظ أن القيمة ليست في الـDashboard بل في الـFinding الموثّق والتغيير المضبوط والقابل للتدقيق.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لم نطوّر أي Model بعد؛ هذا تصميم لما سنبنيه. الـLLM للاستخراج والتوحيد والتفسير فقط. التحليل الإحصائي وML منفصلان ويخضعان لبوابات تحقق. أي AI output يدخل قاعدة البيانات يجب أن يكون Structured ومسجّلًا بالإصدار.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نطاق النسخة الأولى: Pilot واحد = دور واحد + دفعة واحدة + نتيجة أساسية واحدة + صاحب قرار واحد. Must Have هي قائمة P0 من الوثيقة. كل ما هو Later أو Not Now لا يدخل الكود دون Change Request. هذا هو خط الدفاع ضد Scope Creep.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هذا هو الـStack المرجعي الوارد في الوثيقة (قسم 10 و44). لم يُعتمد نهائيًا بعد؛ نحتاج تأكيده في هذا الاجتماع. المبدأ: Modular Monolith أولًا، والانتقال إلى Services فقط عندما يفرض الحمل ذلك.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المسار المرجعي: المستخدم ← الواجهة ← FastAPI ← قاعدة البيانات والطوابير ← AI/ML Workers ← Findings ← Human Review. الأسهم المتقطعة: الـWorkers تقرأ الملفات من الـStorage وتكتب النتائج إلى PostgreSQL. الأمان والتتبّع عابران لكل الطبقات.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التشكيلة المعتمدة في الوثيقة: تسعة أعضاء. لا يوجد دور Product Manager أو Business Manager منفصل؛ قرارات المنتج والأولوية والـValidation لدى غسان مع إشراك صاحب المجال. الموبايل مؤجل عن الـMVP.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المصدر: أقسام 16 و30 و33 و41 من الوثيقة. لا أحد يقرر منفردًا خارج مجاله؛ مثلًا الـBackend لا يقرر سلوك الـAI، والـML لا يدخل نموذجًا تنبؤيًا دون بيانات كافية. أي توزيع غير واضح يُحسم اليوم.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المسار: Task ← Branch ← Development ← Pull Request ← Code Review ← Testing ← Merge ← Staging. قالب Task Card إلزامي (Task ID، Owner، Reviewer، Acceptance Criteria، Tests، Evidence of Done). تسمية الفروع وقالب الـPR غير محددين في الوثيقة؛ نحسمهما اليوم.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المراحل مأخوذة من ترتيب الـSprints المقترح (Sprint 0 إلى 8) وخطة 30/60/90 في الوثيقة. لا توجد تواريخ فعلية ولا مدة Sprint محددة في الوثيقة؛ لذلك هي قرار لهذا الاجتماع. البحث والتحقق يعمل بالتوازي طوال الخطة.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هي مهام P0 الأولى من قسم Immediate Task Allocation. الوثيقة لا تحدد مواعيد نهائية؛ نحدد موعدًا لكل مهمة قبل نهاية الاجتماع. أول خطوة عملية لكل عضو: فتح Issue بقالب Task Card لمهمته.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القائمة اليمنى قرارات يجب أن نخرج بها من هذا الاجتماع. القائمة اليسرى Open Questions موثقة في الوثيقة (قسم 27 و51)، ولا يجوز تحويلها إلى افتراضات صامتة في الكود أو التصميم.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الختام: كل عضو يجب أن يجيب الآن عن أربعة أسئلة: ماذا نبني؟ لماذا؟ ما دوري؟ ما أول شيء سأفعله؟ إن لم يستطع أحد الإجابة، نعود للشريحة المعنية قبل إنهاء الاجتماع.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2.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slideLayout" Target="../slideLayouts/slideLayout1.xml"/><Relationship Id="rId1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slideLayout" Target="../slideLayouts/slideLayout1.xml"/><Relationship Id="rId1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1.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1.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jpe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e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1.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slideLayout" Target="../slideLayouts/slideLayout1.xml"/><Relationship Id="rId11"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jpe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image" Target="../media/image-14-11.png"/><Relationship Id="rId12" Type="http://schemas.openxmlformats.org/officeDocument/2006/relationships/image" Target="../media/image-14-12.png"/><Relationship Id="rId13" Type="http://schemas.openxmlformats.org/officeDocument/2006/relationships/image" Target="../media/image-14-13.png"/><Relationship Id="rId14" Type="http://schemas.openxmlformats.org/officeDocument/2006/relationships/slideLayout" Target="../slideLayouts/slideLayout1.xml"/><Relationship Id="rId1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jpe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jpe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jpe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jpe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ghassankmiqdad/d1991e4f-aee0-5e68-9a9d-3fc00accdf9d/scratchpad/build/assets/mark.png">    </p:cNvPr>
          <p:cNvPicPr>
            <a:picLocks noChangeAspect="1"/>
          </p:cNvPicPr>
          <p:nvPr/>
        </p:nvPicPr>
        <p:blipFill>
          <a:blip r:embed="rId2"/>
          <a:stretch>
            <a:fillRect/>
          </a:stretch>
        </p:blipFill>
        <p:spPr>
          <a:xfrm>
            <a:off x="1097280" y="1779659"/>
            <a:ext cx="3749040" cy="2932922"/>
          </a:xfrm>
          <a:prstGeom prst="rect">
            <a:avLst/>
          </a:prstGeom>
        </p:spPr>
      </p:pic>
      <p:sp>
        <p:nvSpPr>
          <p:cNvPr id="3" name="Shape 0"/>
          <p:cNvSpPr/>
          <p:nvPr/>
        </p:nvSpPr>
        <p:spPr>
          <a:xfrm>
            <a:off x="8305495" y="1188720"/>
            <a:ext cx="3291840" cy="384048"/>
          </a:xfrm>
          <a:prstGeom prst="roundRect">
            <a:avLst>
              <a:gd name="adj" fmla="val 50000"/>
            </a:avLst>
          </a:prstGeom>
          <a:solidFill>
            <a:srgbClr val="0A2150"/>
          </a:solidFill>
          <a:ln w="9525">
            <a:solidFill>
              <a:srgbClr val="3EE0F5"/>
            </a:solidFill>
            <a:prstDash val="solid"/>
          </a:ln>
        </p:spPr>
      </p:sp>
      <p:sp>
        <p:nvSpPr>
          <p:cNvPr id="4" name="Text 1"/>
          <p:cNvSpPr txBox="1"/>
          <p:nvPr/>
        </p:nvSpPr>
        <p:spPr>
          <a:xfrm>
            <a:off x="8305495" y="1188720"/>
            <a:ext cx="3291840" cy="384048"/>
          </a:xfrm>
          <a:prstGeom prst="rect">
            <a:avLst/>
          </a:prstGeom>
          <a:noFill/>
          <a:ln/>
        </p:spPr>
        <p:txBody>
          <a:bodyPr wrap="square" lIns="0" tIns="0" rIns="0" bIns="0" rtlCol="0" anchor="ctr"/>
          <a:lstStyle/>
          <a:p>
            <a:pPr rtl="1" algn="ctr" indent="0" marL="0">
              <a:buNone/>
            </a:pPr>
            <a:r>
              <a:rPr lang="ar-SA" altLang="en-US" sz="1200" b="1" dirty="0">
                <a:solidFill>
                  <a:srgbClr val="3EE0F5"/>
                </a:solidFill>
                <a:latin typeface="IBM Plex Sans Arabic" pitchFamily="34" charset="0"/>
                <a:ea typeface="IBM Plex Sans Arabic" pitchFamily="34" charset="-122"/>
                <a:cs typeface="IBM Plex Sans Arabic" pitchFamily="34" charset="-120"/>
              </a:rPr>
              <a:t>اجتماع الانطلاق  ·  Project Kickoff</a:t>
            </a:r>
            <a:endParaRPr lang="ar-SA" sz="1200" dirty="0"/>
          </a:p>
        </p:txBody>
      </p:sp>
      <p:pic>
        <p:nvPicPr>
          <p:cNvPr id="5" name="Image 1" descr="/tmp/claude-0/-home-user-ghassankmiqdad/d1991e4f-aee0-5e68-9a9d-3fc00accdf9d/scratchpad/build/assets/lockup.png">    </p:cNvPr>
          <p:cNvPicPr>
            <a:picLocks noChangeAspect="1"/>
          </p:cNvPicPr>
          <p:nvPr/>
        </p:nvPicPr>
        <p:blipFill>
          <a:blip r:embed="rId3"/>
          <a:stretch>
            <a:fillRect/>
          </a:stretch>
        </p:blipFill>
        <p:spPr>
          <a:xfrm>
            <a:off x="6568135" y="1874520"/>
            <a:ext cx="5029200" cy="1202688"/>
          </a:xfrm>
          <a:prstGeom prst="rect">
            <a:avLst/>
          </a:prstGeom>
        </p:spPr>
      </p:pic>
      <p:sp>
        <p:nvSpPr>
          <p:cNvPr id="6" name="Text 2"/>
          <p:cNvSpPr txBox="1"/>
          <p:nvPr/>
        </p:nvSpPr>
        <p:spPr>
          <a:xfrm>
            <a:off x="6126480" y="3429000"/>
            <a:ext cx="5470855" cy="1143000"/>
          </a:xfrm>
          <a:prstGeom prst="rect">
            <a:avLst/>
          </a:prstGeom>
          <a:noFill/>
          <a:ln/>
        </p:spPr>
        <p:txBody>
          <a:bodyPr wrap="square" lIns="0" tIns="0" rIns="0" bIns="0" rtlCol="0" anchor="t"/>
          <a:lstStyle/>
          <a:p>
            <a:pPr rtl="1" algn="r" indent="0" marL="0">
              <a:lnSpc>
                <a:spcPct val="105000"/>
              </a:lnSpc>
              <a:buNone/>
            </a:pPr>
            <a:r>
              <a:rPr lang="ar-SA" altLang="en-US" sz="2800" b="1" dirty="0">
                <a:solidFill>
                  <a:srgbClr val="F3F6FD"/>
                </a:solidFill>
                <a:latin typeface="IBM Plex Sans Arabic" pitchFamily="34" charset="0"/>
                <a:ea typeface="IBM Plex Sans Arabic" pitchFamily="34" charset="-122"/>
                <a:cs typeface="IBM Plex Sans Arabic" pitchFamily="34" charset="-120"/>
              </a:rPr>
              <a:t>أنظمة توظيف تتعلّم من الأدلة والنتائج… لا من الافتراضات الثابتة.</a:t>
            </a:r>
            <a:endParaRPr lang="ar-SA" sz="2800" dirty="0"/>
          </a:p>
        </p:txBody>
      </p:sp>
      <p:sp>
        <p:nvSpPr>
          <p:cNvPr id="7" name="Text 3"/>
          <p:cNvSpPr txBox="1"/>
          <p:nvPr/>
        </p:nvSpPr>
        <p:spPr>
          <a:xfrm>
            <a:off x="6126480" y="4663440"/>
            <a:ext cx="5470855" cy="868680"/>
          </a:xfrm>
          <a:prstGeom prst="rect">
            <a:avLst/>
          </a:prstGeom>
          <a:noFill/>
          <a:ln/>
        </p:spPr>
        <p:txBody>
          <a:bodyPr wrap="square" lIns="0" tIns="0" rIns="0" bIns="0" rtlCol="0" anchor="t"/>
          <a:lstStyle/>
          <a:p>
            <a:pPr rtl="1" algn="r" indent="0" marL="0">
              <a:lnSpc>
                <a:spcPct val="110000"/>
              </a:lnSpc>
              <a:buNone/>
            </a:pPr>
            <a:r>
              <a:rPr lang="ar-SA" altLang="en-US" sz="1500" dirty="0">
                <a:solidFill>
                  <a:srgbClr val="A9B7DA"/>
                </a:solidFill>
                <a:latin typeface="IBM Plex Sans Arabic" pitchFamily="34" charset="0"/>
                <a:ea typeface="IBM Plex Sans Arabic" pitchFamily="34" charset="-122"/>
                <a:cs typeface="IBM Plex Sans Arabic" pitchFamily="34" charset="-120"/>
              </a:rPr>
              <a:t>Hiring System Intelligence — طبقة ذكاء فوق أنظمة التوظيف الحالية، تربط قرارات التعيين بنتائج ما بعد التوظيف وتعاير العملية باستمرار.</a:t>
            </a:r>
            <a:endParaRPr lang="ar-SA" sz="1500" dirty="0"/>
          </a:p>
        </p:txBody>
      </p:sp>
      <p:sp>
        <p:nvSpPr>
          <p:cNvPr id="8" name="Text 4"/>
          <p:cNvSpPr txBox="1"/>
          <p:nvPr/>
        </p:nvSpPr>
        <p:spPr>
          <a:xfrm>
            <a:off x="6126480" y="5989320"/>
            <a:ext cx="5470855" cy="274320"/>
          </a:xfrm>
          <a:prstGeom prst="rect">
            <a:avLst/>
          </a:prstGeom>
          <a:noFill/>
          <a:ln/>
        </p:spPr>
        <p:txBody>
          <a:bodyPr wrap="square" lIns="0" tIns="0" rIns="0" bIns="0" rtlCol="0" anchor="t"/>
          <a:lstStyle/>
          <a:p>
            <a:pPr rtl="1" algn="r" indent="0" marL="0">
              <a:buNone/>
            </a:pPr>
            <a:r>
              <a:rPr lang="ar-SA" altLang="en-US" sz="1100" b="1" dirty="0">
                <a:solidFill>
                  <a:srgbClr val="6E7FAA"/>
                </a:solidFill>
                <a:latin typeface="IBM Plex Sans Arabic" pitchFamily="34" charset="0"/>
                <a:ea typeface="IBM Plex Sans Arabic" pitchFamily="34" charset="-122"/>
                <a:cs typeface="IBM Plex Sans Arabic" pitchFamily="34" charset="-120"/>
              </a:rPr>
              <a:t>Product Vision  ·  Team Alignment  ·  Execution Plan</a:t>
            </a:r>
            <a:endParaRPr lang="ar-SA"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508760" y="457200"/>
            <a:ext cx="10088575" cy="274320"/>
          </a:xfrm>
          <a:prstGeom prst="rect">
            <a:avLst/>
          </a:prstGeom>
          <a:noFill/>
          <a:ln/>
        </p:spPr>
        <p:txBody>
          <a:bodyPr wrap="square" lIns="0" tIns="0" rIns="0" bIns="0" rtlCol="0" anchor="t"/>
          <a:lstStyle/>
          <a:p>
            <a:pPr rtl="1" algn="r" indent="0" marL="0">
              <a:buNone/>
            </a:pPr>
            <a:r>
              <a:rPr lang="ar-SA" altLang="en-US" sz="1200" b="1" spc="100" kern="0" dirty="0">
                <a:solidFill>
                  <a:srgbClr val="3EE0F5"/>
                </a:solidFill>
                <a:latin typeface="IBM Plex Sans Arabic" pitchFamily="34" charset="0"/>
                <a:ea typeface="IBM Plex Sans Arabic" pitchFamily="34" charset="-122"/>
                <a:cs typeface="IBM Plex Sans Arabic" pitchFamily="34" charset="-120"/>
              </a:rPr>
              <a:t>01  ·  WHY — لماذا نبني؟</a:t>
            </a:r>
            <a:endParaRPr lang="ar-SA" sz="1200" dirty="0"/>
          </a:p>
        </p:txBody>
      </p:sp>
      <p:sp>
        <p:nvSpPr>
          <p:cNvPr id="3" name="Text 1"/>
          <p:cNvSpPr txBox="1"/>
          <p:nvPr/>
        </p:nvSpPr>
        <p:spPr>
          <a:xfrm>
            <a:off x="1508760" y="731520"/>
            <a:ext cx="10088575" cy="640080"/>
          </a:xfrm>
          <a:prstGeom prst="rect">
            <a:avLst/>
          </a:prstGeom>
          <a:noFill/>
          <a:ln/>
        </p:spPr>
        <p:txBody>
          <a:bodyPr wrap="square" lIns="0" tIns="0" rIns="0" bIns="0" rtlCol="0" anchor="t"/>
          <a:lstStyle/>
          <a:p>
            <a:pPr rtl="1" algn="r" indent="0" marL="0">
              <a:buNone/>
            </a:pPr>
            <a:r>
              <a:rPr lang="ar-SA" altLang="en-US" sz="3200" b="1" dirty="0">
                <a:solidFill>
                  <a:srgbClr val="F3F6FD"/>
                </a:solidFill>
                <a:latin typeface="IBM Plex Sans Arabic" pitchFamily="34" charset="0"/>
                <a:ea typeface="IBM Plex Sans Arabic" pitchFamily="34" charset="-122"/>
                <a:cs typeface="IBM Plex Sans Arabic" pitchFamily="34" charset="-120"/>
              </a:rPr>
              <a:t>لماذا هذا المشروع؟</a:t>
            </a:r>
            <a:endParaRPr lang="ar-SA" sz="3200" dirty="0"/>
          </a:p>
        </p:txBody>
      </p:sp>
      <p:pic>
        <p:nvPicPr>
          <p:cNvPr id="4" name="Image 0" descr="/tmp/claude-0/-home-user-ghassankmiqdad/d1991e4f-aee0-5e68-9a9d-3fc00accdf9d/scratchpad/build/assets/mark_sm.png">    </p:cNvPr>
          <p:cNvPicPr>
            <a:picLocks noChangeAspect="1"/>
          </p:cNvPicPr>
          <p:nvPr/>
        </p:nvPicPr>
        <p:blipFill>
          <a:blip r:embed="rId2"/>
          <a:stretch>
            <a:fillRect/>
          </a:stretch>
        </p:blipFill>
        <p:spPr>
          <a:xfrm>
            <a:off x="594360" y="475488"/>
            <a:ext cx="566928" cy="443515"/>
          </a:xfrm>
          <a:prstGeom prst="rect">
            <a:avLst/>
          </a:prstGeom>
        </p:spPr>
      </p:pic>
      <p:sp>
        <p:nvSpPr>
          <p:cNvPr id="5" name="Text 2"/>
          <p:cNvSpPr txBox="1"/>
          <p:nvPr/>
        </p:nvSpPr>
        <p:spPr>
          <a:xfrm>
            <a:off x="7939735" y="6400800"/>
            <a:ext cx="3657600" cy="228600"/>
          </a:xfrm>
          <a:prstGeom prst="rect">
            <a:avLst/>
          </a:prstGeom>
          <a:noFill/>
          <a:ln/>
        </p:spPr>
        <p:txBody>
          <a:bodyPr wrap="square" lIns="0" tIns="0" rIns="0" bIns="0" rtlCol="0" anchor="t"/>
          <a:lstStyle/>
          <a:p>
            <a:pPr rtl="1" algn="r" indent="0" marL="0">
              <a:buNone/>
            </a:pPr>
            <a:r>
              <a:rPr lang="ar-SA" altLang="en-US" sz="900" dirty="0">
                <a:solidFill>
                  <a:srgbClr val="6E7FAA"/>
                </a:solidFill>
                <a:latin typeface="IBM Plex Sans Arabic" pitchFamily="34" charset="0"/>
                <a:ea typeface="IBM Plex Sans Arabic" pitchFamily="34" charset="-122"/>
                <a:cs typeface="IBM Plex Sans Arabic" pitchFamily="34" charset="-120"/>
              </a:rPr>
              <a:t>NestHire · اجتماع الانطلاق</a:t>
            </a:r>
            <a:endParaRPr lang="ar-SA" sz="900" dirty="0"/>
          </a:p>
        </p:txBody>
      </p:sp>
      <p:sp>
        <p:nvSpPr>
          <p:cNvPr id="6" name="Text 3"/>
          <p:cNvSpPr txBox="1"/>
          <p:nvPr/>
        </p:nvSpPr>
        <p:spPr>
          <a:xfrm>
            <a:off x="594360" y="6400800"/>
            <a:ext cx="1097280" cy="228600"/>
          </a:xfrm>
          <a:prstGeom prst="rect">
            <a:avLst/>
          </a:prstGeom>
          <a:noFill/>
          <a:ln/>
        </p:spPr>
        <p:txBody>
          <a:bodyPr wrap="square" lIns="0" tIns="0" rIns="0" bIns="0" rtlCol="0" anchor="t"/>
          <a:lstStyle/>
          <a:p>
            <a:pPr algn="l" indent="0" marL="0">
              <a:buNone/>
            </a:pPr>
            <a:r>
              <a:rPr lang="ar-SA" altLang="en-US" sz="900" dirty="0">
                <a:solidFill>
                  <a:srgbClr val="6E7FAA"/>
                </a:solidFill>
                <a:latin typeface="IBM Plex Sans Arabic" pitchFamily="34" charset="0"/>
                <a:ea typeface="IBM Plex Sans Arabic" pitchFamily="34" charset="-122"/>
                <a:cs typeface="IBM Plex Sans Arabic" pitchFamily="34" charset="-120"/>
              </a:rPr>
              <a:t>02 / 18</a:t>
            </a:r>
            <a:endParaRPr lang="ar-SA" sz="900" dirty="0"/>
          </a:p>
        </p:txBody>
      </p:sp>
      <p:sp>
        <p:nvSpPr>
          <p:cNvPr id="7" name="Text 4"/>
          <p:cNvSpPr txBox="1"/>
          <p:nvPr/>
        </p:nvSpPr>
        <p:spPr>
          <a:xfrm>
            <a:off x="6400800" y="1828800"/>
            <a:ext cx="5196535" cy="274320"/>
          </a:xfrm>
          <a:prstGeom prst="rect">
            <a:avLst/>
          </a:prstGeom>
          <a:noFill/>
          <a:ln/>
        </p:spPr>
        <p:txBody>
          <a:bodyPr wrap="square" lIns="0" tIns="0" rIns="0" bIns="0" rtlCol="0" anchor="t"/>
          <a:lstStyle/>
          <a:p>
            <a:pPr rtl="1" algn="r" indent="0" marL="0">
              <a:buNone/>
            </a:pPr>
            <a:r>
              <a:rPr lang="ar-SA" altLang="en-US" sz="1200" b="1" dirty="0">
                <a:solidFill>
                  <a:srgbClr val="3EE0F5"/>
                </a:solidFill>
                <a:latin typeface="IBM Plex Sans Arabic" pitchFamily="34" charset="0"/>
                <a:ea typeface="IBM Plex Sans Arabic" pitchFamily="34" charset="-122"/>
                <a:cs typeface="IBM Plex Sans Arabic" pitchFamily="34" charset="-120"/>
              </a:rPr>
              <a:t>Problem Statement</a:t>
            </a:r>
            <a:endParaRPr lang="ar-SA" sz="1200" dirty="0"/>
          </a:p>
        </p:txBody>
      </p:sp>
      <p:sp>
        <p:nvSpPr>
          <p:cNvPr id="8" name="Text 5"/>
          <p:cNvSpPr txBox="1"/>
          <p:nvPr/>
        </p:nvSpPr>
        <p:spPr>
          <a:xfrm>
            <a:off x="6400800" y="2148840"/>
            <a:ext cx="5196535" cy="1737360"/>
          </a:xfrm>
          <a:prstGeom prst="rect">
            <a:avLst/>
          </a:prstGeom>
          <a:noFill/>
          <a:ln/>
        </p:spPr>
        <p:txBody>
          <a:bodyPr wrap="square" lIns="0" tIns="0" rIns="0" bIns="0" rtlCol="0" anchor="t"/>
          <a:lstStyle/>
          <a:p>
            <a:pPr rtl="1" algn="r" indent="0" marL="0">
              <a:lnSpc>
                <a:spcPct val="110000"/>
              </a:lnSpc>
              <a:buNone/>
            </a:pPr>
            <a:r>
              <a:rPr lang="ar-SA" altLang="en-US" sz="2300" b="1" dirty="0">
                <a:solidFill>
                  <a:srgbClr val="F3F6FD"/>
                </a:solidFill>
                <a:latin typeface="IBM Plex Sans Arabic" pitchFamily="34" charset="0"/>
                <a:ea typeface="IBM Plex Sans Arabic" pitchFamily="34" charset="-122"/>
                <a:cs typeface="IBM Plex Sans Arabic" pitchFamily="34" charset="-120"/>
              </a:rPr>
              <a:t>كثير من المؤسسات لا تملك آلية موثوقة تختبر بها: هل معايير التوظيف التي تستخدمها تتنبأ فعلًا بنجاح الموظف في دوره؟</a:t>
            </a:r>
            <a:endParaRPr lang="ar-SA" sz="2300" dirty="0"/>
          </a:p>
        </p:txBody>
      </p:sp>
      <p:sp>
        <p:nvSpPr>
          <p:cNvPr id="9" name="Shape 6"/>
          <p:cNvSpPr/>
          <p:nvPr/>
        </p:nvSpPr>
        <p:spPr>
          <a:xfrm>
            <a:off x="11121847" y="4160520"/>
            <a:ext cx="475488" cy="475488"/>
          </a:xfrm>
          <a:prstGeom prst="ellipse">
            <a:avLst/>
          </a:prstGeom>
          <a:solidFill>
            <a:srgbClr val="10204A"/>
          </a:solidFill>
          <a:ln w="9525">
            <a:solidFill>
              <a:srgbClr val="1E3570"/>
            </a:solidFill>
            <a:prstDash val="solid"/>
          </a:ln>
        </p:spPr>
      </p:sp>
      <p:pic>
        <p:nvPicPr>
          <p:cNvPr id="10" name="Image 1" descr="preencoded.png">    </p:cNvPr>
          <p:cNvPicPr>
            <a:picLocks noChangeAspect="1"/>
          </p:cNvPicPr>
          <p:nvPr/>
        </p:nvPicPr>
        <p:blipFill>
          <a:blip r:embed="rId3"/>
          <a:stretch>
            <a:fillRect/>
          </a:stretch>
        </p:blipFill>
        <p:spPr>
          <a:xfrm>
            <a:off x="11245474" y="4284147"/>
            <a:ext cx="228234" cy="228234"/>
          </a:xfrm>
          <a:prstGeom prst="rect">
            <a:avLst/>
          </a:prstGeom>
        </p:spPr>
      </p:pic>
      <p:sp>
        <p:nvSpPr>
          <p:cNvPr id="11" name="Text 7"/>
          <p:cNvSpPr txBox="1"/>
          <p:nvPr/>
        </p:nvSpPr>
        <p:spPr>
          <a:xfrm>
            <a:off x="6400800" y="4178808"/>
            <a:ext cx="4556455" cy="457200"/>
          </a:xfrm>
          <a:prstGeom prst="rect">
            <a:avLst/>
          </a:prstGeom>
          <a:noFill/>
          <a:ln/>
        </p:spPr>
        <p:txBody>
          <a:bodyPr wrap="square" lIns="0" tIns="0" rIns="0" bIns="0" rtlCol="0" anchor="ctr"/>
          <a:lstStyle/>
          <a:p>
            <a:pPr rtl="1" algn="r" indent="0" marL="0">
              <a:buNone/>
            </a:pPr>
            <a:r>
              <a:rPr lang="ar-SA" altLang="en-US" sz="1500" dirty="0">
                <a:solidFill>
                  <a:srgbClr val="F3F6FD"/>
                </a:solidFill>
                <a:latin typeface="IBM Plex Sans Arabic" pitchFamily="34" charset="0"/>
                <a:ea typeface="IBM Plex Sans Arabic" pitchFamily="34" charset="-122"/>
                <a:cs typeface="IBM Plex Sans Arabic" pitchFamily="34" charset="-120"/>
              </a:rPr>
              <a:t>Quality of Hire: لا يوجد له تعريف عالمي موحّد</a:t>
            </a:r>
            <a:endParaRPr lang="ar-SA" sz="1500" dirty="0"/>
          </a:p>
        </p:txBody>
      </p:sp>
      <p:sp>
        <p:nvSpPr>
          <p:cNvPr id="12" name="Shape 8"/>
          <p:cNvSpPr/>
          <p:nvPr/>
        </p:nvSpPr>
        <p:spPr>
          <a:xfrm>
            <a:off x="11121847" y="4818888"/>
            <a:ext cx="475488" cy="475488"/>
          </a:xfrm>
          <a:prstGeom prst="ellipse">
            <a:avLst/>
          </a:prstGeom>
          <a:solidFill>
            <a:srgbClr val="10204A"/>
          </a:solidFill>
          <a:ln w="9525">
            <a:solidFill>
              <a:srgbClr val="1E3570"/>
            </a:solidFill>
            <a:prstDash val="solid"/>
          </a:ln>
        </p:spPr>
      </p:sp>
      <p:pic>
        <p:nvPicPr>
          <p:cNvPr id="13" name="Image 2" descr="preencoded.png">    </p:cNvPr>
          <p:cNvPicPr>
            <a:picLocks noChangeAspect="1"/>
          </p:cNvPicPr>
          <p:nvPr/>
        </p:nvPicPr>
        <p:blipFill>
          <a:blip r:embed="rId4"/>
          <a:stretch>
            <a:fillRect/>
          </a:stretch>
        </p:blipFill>
        <p:spPr>
          <a:xfrm>
            <a:off x="11245474" y="4942515"/>
            <a:ext cx="228234" cy="228234"/>
          </a:xfrm>
          <a:prstGeom prst="rect">
            <a:avLst/>
          </a:prstGeom>
        </p:spPr>
      </p:pic>
      <p:sp>
        <p:nvSpPr>
          <p:cNvPr id="14" name="Text 9"/>
          <p:cNvSpPr txBox="1"/>
          <p:nvPr/>
        </p:nvSpPr>
        <p:spPr>
          <a:xfrm>
            <a:off x="6400800" y="4837176"/>
            <a:ext cx="4556455" cy="457200"/>
          </a:xfrm>
          <a:prstGeom prst="rect">
            <a:avLst/>
          </a:prstGeom>
          <a:noFill/>
          <a:ln/>
        </p:spPr>
        <p:txBody>
          <a:bodyPr wrap="square" lIns="0" tIns="0" rIns="0" bIns="0" rtlCol="0" anchor="ctr"/>
          <a:lstStyle/>
          <a:p>
            <a:pPr rtl="1" algn="r" indent="0" marL="0">
              <a:buNone/>
            </a:pPr>
            <a:r>
              <a:rPr lang="ar-SA" altLang="en-US" sz="1500" dirty="0">
                <a:solidFill>
                  <a:srgbClr val="F3F6FD"/>
                </a:solidFill>
                <a:latin typeface="IBM Plex Sans Arabic" pitchFamily="34" charset="0"/>
                <a:ea typeface="IBM Plex Sans Arabic" pitchFamily="34" charset="-122"/>
                <a:cs typeface="IBM Plex Sans Arabic" pitchFamily="34" charset="-120"/>
              </a:rPr>
              <a:t>البيانات موزّعة بين ATS وHRIS وأنظمة التقييم والأداء</a:t>
            </a:r>
            <a:endParaRPr lang="ar-SA" sz="1500" dirty="0"/>
          </a:p>
        </p:txBody>
      </p:sp>
      <p:sp>
        <p:nvSpPr>
          <p:cNvPr id="15" name="Shape 10"/>
          <p:cNvSpPr/>
          <p:nvPr/>
        </p:nvSpPr>
        <p:spPr>
          <a:xfrm>
            <a:off x="11121847" y="5477256"/>
            <a:ext cx="475488" cy="475488"/>
          </a:xfrm>
          <a:prstGeom prst="ellipse">
            <a:avLst/>
          </a:prstGeom>
          <a:solidFill>
            <a:srgbClr val="10204A"/>
          </a:solidFill>
          <a:ln w="9525">
            <a:solidFill>
              <a:srgbClr val="1E3570"/>
            </a:solidFill>
            <a:prstDash val="solid"/>
          </a:ln>
        </p:spPr>
      </p:sp>
      <p:pic>
        <p:nvPicPr>
          <p:cNvPr id="16" name="Image 3" descr="preencoded.png">    </p:cNvPr>
          <p:cNvPicPr>
            <a:picLocks noChangeAspect="1"/>
          </p:cNvPicPr>
          <p:nvPr/>
        </p:nvPicPr>
        <p:blipFill>
          <a:blip r:embed="rId5"/>
          <a:stretch>
            <a:fillRect/>
          </a:stretch>
        </p:blipFill>
        <p:spPr>
          <a:xfrm>
            <a:off x="11245474" y="5600883"/>
            <a:ext cx="228234" cy="228234"/>
          </a:xfrm>
          <a:prstGeom prst="rect">
            <a:avLst/>
          </a:prstGeom>
        </p:spPr>
      </p:pic>
      <p:sp>
        <p:nvSpPr>
          <p:cNvPr id="17" name="Text 11"/>
          <p:cNvSpPr txBox="1"/>
          <p:nvPr/>
        </p:nvSpPr>
        <p:spPr>
          <a:xfrm>
            <a:off x="6400800" y="5495544"/>
            <a:ext cx="4556455" cy="457200"/>
          </a:xfrm>
          <a:prstGeom prst="rect">
            <a:avLst/>
          </a:prstGeom>
          <a:noFill/>
          <a:ln/>
        </p:spPr>
        <p:txBody>
          <a:bodyPr wrap="square" lIns="0" tIns="0" rIns="0" bIns="0" rtlCol="0" anchor="ctr"/>
          <a:lstStyle/>
          <a:p>
            <a:pPr rtl="1" algn="r" indent="0" marL="0">
              <a:buNone/>
            </a:pPr>
            <a:r>
              <a:rPr lang="ar-SA" altLang="en-US" sz="1500" dirty="0">
                <a:solidFill>
                  <a:srgbClr val="F3F6FD"/>
                </a:solidFill>
                <a:latin typeface="IBM Plex Sans Arabic" pitchFamily="34" charset="0"/>
                <a:ea typeface="IBM Plex Sans Arabic" pitchFamily="34" charset="-122"/>
                <a:cs typeface="IBM Plex Sans Arabic" pitchFamily="34" charset="-120"/>
              </a:rPr>
              <a:t>ارتباط الـSignal بالنتيجة لا يعني أنه سببها</a:t>
            </a:r>
            <a:endParaRPr lang="ar-SA" sz="1500" dirty="0"/>
          </a:p>
        </p:txBody>
      </p:sp>
      <p:sp>
        <p:nvSpPr>
          <p:cNvPr id="18" name="Shape 12"/>
          <p:cNvSpPr/>
          <p:nvPr/>
        </p:nvSpPr>
        <p:spPr>
          <a:xfrm>
            <a:off x="594360" y="1874520"/>
            <a:ext cx="5257800" cy="1417320"/>
          </a:xfrm>
          <a:prstGeom prst="roundRect">
            <a:avLst>
              <a:gd name="adj" fmla="val 9032"/>
            </a:avLst>
          </a:prstGeom>
          <a:solidFill>
            <a:srgbClr val="0B1634"/>
          </a:solidFill>
          <a:ln w="9525">
            <a:solidFill>
              <a:srgbClr val="1E3570"/>
            </a:solidFill>
            <a:prstDash val="solid"/>
          </a:ln>
        </p:spPr>
      </p:sp>
      <p:sp>
        <p:nvSpPr>
          <p:cNvPr id="19" name="Text 13"/>
          <p:cNvSpPr txBox="1"/>
          <p:nvPr/>
        </p:nvSpPr>
        <p:spPr>
          <a:xfrm>
            <a:off x="868680" y="2057400"/>
            <a:ext cx="4709160" cy="274320"/>
          </a:xfrm>
          <a:prstGeom prst="rect">
            <a:avLst/>
          </a:prstGeom>
          <a:noFill/>
          <a:ln/>
        </p:spPr>
        <p:txBody>
          <a:bodyPr wrap="square" lIns="0" tIns="0" rIns="0" bIns="0" rtlCol="0" anchor="t"/>
          <a:lstStyle/>
          <a:p>
            <a:pPr rtl="1" algn="r" indent="0" marL="0">
              <a:buNone/>
            </a:pPr>
            <a:r>
              <a:rPr lang="ar-SA" altLang="en-US" sz="1200" b="1" dirty="0">
                <a:solidFill>
                  <a:srgbClr val="6E7FAA"/>
                </a:solidFill>
                <a:latin typeface="IBM Plex Sans Arabic" pitchFamily="34" charset="0"/>
                <a:ea typeface="IBM Plex Sans Arabic" pitchFamily="34" charset="-122"/>
                <a:cs typeface="IBM Plex Sans Arabic" pitchFamily="34" charset="-120"/>
              </a:rPr>
              <a:t>السؤال المعتاد في السوق</a:t>
            </a:r>
            <a:endParaRPr lang="ar-SA" sz="1200" dirty="0"/>
          </a:p>
        </p:txBody>
      </p:sp>
      <p:sp>
        <p:nvSpPr>
          <p:cNvPr id="20" name="Text 14"/>
          <p:cNvSpPr txBox="1"/>
          <p:nvPr/>
        </p:nvSpPr>
        <p:spPr>
          <a:xfrm>
            <a:off x="868680" y="2377440"/>
            <a:ext cx="4709160" cy="548640"/>
          </a:xfrm>
          <a:prstGeom prst="rect">
            <a:avLst/>
          </a:prstGeom>
          <a:noFill/>
          <a:ln/>
        </p:spPr>
        <p:txBody>
          <a:bodyPr wrap="square" lIns="0" tIns="0" rIns="0" bIns="0" rtlCol="0" anchor="t"/>
          <a:lstStyle/>
          <a:p>
            <a:pPr rtl="1" algn="r" indent="0" marL="0">
              <a:buNone/>
            </a:pPr>
            <a:r>
              <a:rPr lang="ar-SA" altLang="en-US" sz="2400" b="1" dirty="0">
                <a:solidFill>
                  <a:srgbClr val="6E7FAA"/>
                </a:solidFill>
                <a:latin typeface="IBM Plex Sans Arabic" pitchFamily="34" charset="0"/>
                <a:ea typeface="IBM Plex Sans Arabic" pitchFamily="34" charset="-122"/>
                <a:cs typeface="IBM Plex Sans Arabic" pitchFamily="34" charset="-120"/>
              </a:rPr>
              <a:t>من هو أفضل مرشح؟</a:t>
            </a:r>
            <a:endParaRPr lang="ar-SA" sz="2400" dirty="0"/>
          </a:p>
        </p:txBody>
      </p:sp>
      <p:sp>
        <p:nvSpPr>
          <p:cNvPr id="21" name="Shape 15"/>
          <p:cNvSpPr/>
          <p:nvPr/>
        </p:nvSpPr>
        <p:spPr>
          <a:xfrm>
            <a:off x="868680" y="2834640"/>
            <a:ext cx="1600200" cy="292608"/>
          </a:xfrm>
          <a:prstGeom prst="roundRect">
            <a:avLst>
              <a:gd name="adj" fmla="val 50000"/>
            </a:avLst>
          </a:prstGeom>
          <a:solidFill>
            <a:srgbClr val="10204A"/>
          </a:solidFill>
          <a:ln w="9525">
            <a:solidFill>
              <a:srgbClr val="1E3570"/>
            </a:solidFill>
            <a:prstDash val="solid"/>
          </a:ln>
        </p:spPr>
      </p:sp>
      <p:sp>
        <p:nvSpPr>
          <p:cNvPr id="22" name="Text 16"/>
          <p:cNvSpPr txBox="1"/>
          <p:nvPr/>
        </p:nvSpPr>
        <p:spPr>
          <a:xfrm>
            <a:off x="868680" y="2834640"/>
            <a:ext cx="1600200" cy="292608"/>
          </a:xfrm>
          <a:prstGeom prst="rect">
            <a:avLst/>
          </a:prstGeom>
          <a:noFill/>
          <a:ln/>
        </p:spPr>
        <p:txBody>
          <a:bodyPr wrap="square" lIns="0" tIns="0" rIns="0" bIns="0" rtlCol="0" anchor="ctr"/>
          <a:lstStyle/>
          <a:p>
            <a:pPr rtl="1" algn="ctr" indent="0" marL="0">
              <a:buNone/>
            </a:pPr>
            <a:r>
              <a:rPr lang="ar-SA" altLang="en-US" sz="1000" dirty="0">
                <a:solidFill>
                  <a:srgbClr val="6E7FAA"/>
                </a:solidFill>
                <a:latin typeface="IBM Plex Sans Arabic" pitchFamily="34" charset="0"/>
                <a:ea typeface="IBM Plex Sans Arabic" pitchFamily="34" charset="-122"/>
                <a:cs typeface="IBM Plex Sans Arabic" pitchFamily="34" charset="-120"/>
              </a:rPr>
              <a:t>Candidate-first</a:t>
            </a:r>
            <a:endParaRPr lang="ar-SA" sz="1000" dirty="0"/>
          </a:p>
        </p:txBody>
      </p:sp>
      <p:sp>
        <p:nvSpPr>
          <p:cNvPr id="23" name="Shape 17"/>
          <p:cNvSpPr/>
          <p:nvPr/>
        </p:nvSpPr>
        <p:spPr>
          <a:xfrm>
            <a:off x="2967228" y="3456432"/>
            <a:ext cx="512064" cy="512064"/>
          </a:xfrm>
          <a:prstGeom prst="ellipse">
            <a:avLst/>
          </a:prstGeom>
          <a:solidFill>
            <a:srgbClr val="1F6FEB"/>
          </a:solidFill>
          <a:ln w="9525">
            <a:solidFill>
              <a:srgbClr val="2AA6F7"/>
            </a:solidFill>
            <a:prstDash val="solid"/>
          </a:ln>
        </p:spPr>
      </p:sp>
      <p:pic>
        <p:nvPicPr>
          <p:cNvPr id="24" name="Image 4" descr="preencoded.png">    </p:cNvPr>
          <p:cNvPicPr>
            <a:picLocks noChangeAspect="1"/>
          </p:cNvPicPr>
          <p:nvPr/>
        </p:nvPicPr>
        <p:blipFill>
          <a:blip r:embed="rId6"/>
          <a:stretch>
            <a:fillRect/>
          </a:stretch>
        </p:blipFill>
        <p:spPr>
          <a:xfrm>
            <a:off x="3100365" y="3589569"/>
            <a:ext cx="245791" cy="245791"/>
          </a:xfrm>
          <a:prstGeom prst="rect">
            <a:avLst/>
          </a:prstGeom>
        </p:spPr>
      </p:pic>
      <p:sp>
        <p:nvSpPr>
          <p:cNvPr id="25" name="Shape 18"/>
          <p:cNvSpPr/>
          <p:nvPr/>
        </p:nvSpPr>
        <p:spPr>
          <a:xfrm>
            <a:off x="594360" y="4114800"/>
            <a:ext cx="5257800" cy="1965960"/>
          </a:xfrm>
          <a:prstGeom prst="roundRect">
            <a:avLst>
              <a:gd name="adj" fmla="val 6512"/>
            </a:avLst>
          </a:prstGeom>
          <a:solidFill>
            <a:srgbClr val="0C2152"/>
          </a:solidFill>
          <a:ln w="15875">
            <a:solidFill>
              <a:srgbClr val="3EE0F5"/>
            </a:solidFill>
            <a:prstDash val="solid"/>
          </a:ln>
        </p:spPr>
      </p:sp>
      <p:sp>
        <p:nvSpPr>
          <p:cNvPr id="26" name="Text 19"/>
          <p:cNvSpPr txBox="1"/>
          <p:nvPr/>
        </p:nvSpPr>
        <p:spPr>
          <a:xfrm>
            <a:off x="868680" y="4297680"/>
            <a:ext cx="4709160" cy="274320"/>
          </a:xfrm>
          <a:prstGeom prst="rect">
            <a:avLst/>
          </a:prstGeom>
          <a:noFill/>
          <a:ln/>
        </p:spPr>
        <p:txBody>
          <a:bodyPr wrap="square" lIns="0" tIns="0" rIns="0" bIns="0" rtlCol="0" anchor="t"/>
          <a:lstStyle/>
          <a:p>
            <a:pPr rtl="1" algn="r" indent="0" marL="0">
              <a:buNone/>
            </a:pPr>
            <a:r>
              <a:rPr lang="ar-SA" altLang="en-US" sz="1200" b="1" dirty="0">
                <a:solidFill>
                  <a:srgbClr val="3EE0F5"/>
                </a:solidFill>
                <a:latin typeface="IBM Plex Sans Arabic" pitchFamily="34" charset="0"/>
                <a:ea typeface="IBM Plex Sans Arabic" pitchFamily="34" charset="-122"/>
                <a:cs typeface="IBM Plex Sans Arabic" pitchFamily="34" charset="-120"/>
              </a:rPr>
              <a:t>سؤالنا</a:t>
            </a:r>
            <a:endParaRPr lang="ar-SA" sz="1200" dirty="0"/>
          </a:p>
        </p:txBody>
      </p:sp>
      <p:sp>
        <p:nvSpPr>
          <p:cNvPr id="27" name="Text 20"/>
          <p:cNvSpPr txBox="1"/>
          <p:nvPr/>
        </p:nvSpPr>
        <p:spPr>
          <a:xfrm>
            <a:off x="868680" y="4617720"/>
            <a:ext cx="4709160" cy="914400"/>
          </a:xfrm>
          <a:prstGeom prst="rect">
            <a:avLst/>
          </a:prstGeom>
          <a:noFill/>
          <a:ln/>
        </p:spPr>
        <p:txBody>
          <a:bodyPr wrap="square" lIns="0" tIns="0" rIns="0" bIns="0" rtlCol="0" anchor="t"/>
          <a:lstStyle/>
          <a:p>
            <a:pPr rtl="1" algn="r" indent="0" marL="0">
              <a:lnSpc>
                <a:spcPct val="105000"/>
              </a:lnSpc>
              <a:buNone/>
            </a:pPr>
            <a:r>
              <a:rPr lang="ar-SA" altLang="en-US" sz="2200" b="1" dirty="0">
                <a:solidFill>
                  <a:srgbClr val="F3F6FD"/>
                </a:solidFill>
                <a:latin typeface="IBM Plex Sans Arabic" pitchFamily="34" charset="0"/>
                <a:ea typeface="IBM Plex Sans Arabic" pitchFamily="34" charset="-122"/>
                <a:cs typeface="IBM Plex Sans Arabic" pitchFamily="34" charset="-120"/>
              </a:rPr>
              <a:t>ما الذي يعمل فعلًا داخل نظام التوظيف… وما الذي يجب معايرته؟</a:t>
            </a:r>
            <a:endParaRPr lang="ar-SA" sz="2200" dirty="0"/>
          </a:p>
        </p:txBody>
      </p:sp>
      <p:sp>
        <p:nvSpPr>
          <p:cNvPr id="28" name="Shape 21"/>
          <p:cNvSpPr/>
          <p:nvPr/>
        </p:nvSpPr>
        <p:spPr>
          <a:xfrm>
            <a:off x="868680" y="5605272"/>
            <a:ext cx="1463040" cy="292608"/>
          </a:xfrm>
          <a:prstGeom prst="roundRect">
            <a:avLst>
              <a:gd name="adj" fmla="val 50000"/>
            </a:avLst>
          </a:prstGeom>
          <a:solidFill>
            <a:srgbClr val="0A2A5C"/>
          </a:solidFill>
          <a:ln w="9525">
            <a:solidFill>
              <a:srgbClr val="3EE0F5"/>
            </a:solidFill>
            <a:prstDash val="solid"/>
          </a:ln>
        </p:spPr>
      </p:sp>
      <p:sp>
        <p:nvSpPr>
          <p:cNvPr id="29" name="Text 22"/>
          <p:cNvSpPr txBox="1"/>
          <p:nvPr/>
        </p:nvSpPr>
        <p:spPr>
          <a:xfrm>
            <a:off x="868680" y="5605272"/>
            <a:ext cx="1463040" cy="292608"/>
          </a:xfrm>
          <a:prstGeom prst="rect">
            <a:avLst/>
          </a:prstGeom>
          <a:noFill/>
          <a:ln/>
        </p:spPr>
        <p:txBody>
          <a:bodyPr wrap="square" lIns="0" tIns="0" rIns="0" bIns="0" rtlCol="0" anchor="ctr"/>
          <a:lstStyle/>
          <a:p>
            <a:pPr rtl="1" algn="ctr" indent="0" marL="0">
              <a:buNone/>
            </a:pPr>
            <a:r>
              <a:rPr lang="ar-SA" altLang="en-US" sz="1000" dirty="0">
                <a:solidFill>
                  <a:srgbClr val="3EE0F5"/>
                </a:solidFill>
                <a:latin typeface="IBM Plex Sans Arabic" pitchFamily="34" charset="0"/>
                <a:ea typeface="IBM Plex Sans Arabic" pitchFamily="34" charset="-122"/>
                <a:cs typeface="IBM Plex Sans Arabic" pitchFamily="34" charset="-120"/>
              </a:rPr>
              <a:t>System-first</a:t>
            </a:r>
            <a:endParaRPr lang="ar-SA"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508760" y="457200"/>
            <a:ext cx="10088575" cy="274320"/>
          </a:xfrm>
          <a:prstGeom prst="rect">
            <a:avLst/>
          </a:prstGeom>
          <a:noFill/>
          <a:ln/>
        </p:spPr>
        <p:txBody>
          <a:bodyPr wrap="square" lIns="0" tIns="0" rIns="0" bIns="0" rtlCol="0" anchor="t"/>
          <a:lstStyle/>
          <a:p>
            <a:pPr rtl="1" algn="r" indent="0" marL="0">
              <a:buNone/>
            </a:pPr>
            <a:r>
              <a:rPr lang="ar-SA" altLang="en-US" sz="1200" b="1" spc="100" kern="0" dirty="0">
                <a:solidFill>
                  <a:srgbClr val="3EE0F5"/>
                </a:solidFill>
                <a:latin typeface="IBM Plex Sans Arabic" pitchFamily="34" charset="0"/>
                <a:ea typeface="IBM Plex Sans Arabic" pitchFamily="34" charset="-122"/>
                <a:cs typeface="IBM Plex Sans Arabic" pitchFamily="34" charset="-120"/>
              </a:rPr>
              <a:t>01  ·  WHY — المشكلة الحالية</a:t>
            </a:r>
            <a:endParaRPr lang="ar-SA" sz="1200" dirty="0"/>
          </a:p>
        </p:txBody>
      </p:sp>
      <p:sp>
        <p:nvSpPr>
          <p:cNvPr id="3" name="Text 1"/>
          <p:cNvSpPr txBox="1"/>
          <p:nvPr/>
        </p:nvSpPr>
        <p:spPr>
          <a:xfrm>
            <a:off x="1508760" y="731520"/>
            <a:ext cx="10088575" cy="640080"/>
          </a:xfrm>
          <a:prstGeom prst="rect">
            <a:avLst/>
          </a:prstGeom>
          <a:noFill/>
          <a:ln/>
        </p:spPr>
        <p:txBody>
          <a:bodyPr wrap="square" lIns="0" tIns="0" rIns="0" bIns="0" rtlCol="0" anchor="t"/>
          <a:lstStyle/>
          <a:p>
            <a:pPr rtl="1" algn="r" indent="0" marL="0">
              <a:buNone/>
            </a:pPr>
            <a:r>
              <a:rPr lang="ar-SA" altLang="en-US" sz="3200" b="1" dirty="0">
                <a:solidFill>
                  <a:srgbClr val="F3F6FD"/>
                </a:solidFill>
                <a:latin typeface="IBM Plex Sans Arabic" pitchFamily="34" charset="0"/>
                <a:ea typeface="IBM Plex Sans Arabic" pitchFamily="34" charset="-122"/>
                <a:cs typeface="IBM Plex Sans Arabic" pitchFamily="34" charset="-120"/>
              </a:rPr>
              <a:t>أين يتعطّل نظام التوظيف اليوم؟</a:t>
            </a:r>
            <a:endParaRPr lang="ar-SA" sz="3200" dirty="0"/>
          </a:p>
        </p:txBody>
      </p:sp>
      <p:pic>
        <p:nvPicPr>
          <p:cNvPr id="4" name="Image 0" descr="/tmp/claude-0/-home-user-ghassankmiqdad/d1991e4f-aee0-5e68-9a9d-3fc00accdf9d/scratchpad/build/assets/mark_sm.png">    </p:cNvPr>
          <p:cNvPicPr>
            <a:picLocks noChangeAspect="1"/>
          </p:cNvPicPr>
          <p:nvPr/>
        </p:nvPicPr>
        <p:blipFill>
          <a:blip r:embed="rId2"/>
          <a:stretch>
            <a:fillRect/>
          </a:stretch>
        </p:blipFill>
        <p:spPr>
          <a:xfrm>
            <a:off x="594360" y="475488"/>
            <a:ext cx="566928" cy="443515"/>
          </a:xfrm>
          <a:prstGeom prst="rect">
            <a:avLst/>
          </a:prstGeom>
        </p:spPr>
      </p:pic>
      <p:sp>
        <p:nvSpPr>
          <p:cNvPr id="5" name="Text 2"/>
          <p:cNvSpPr txBox="1"/>
          <p:nvPr/>
        </p:nvSpPr>
        <p:spPr>
          <a:xfrm>
            <a:off x="7939735" y="6400800"/>
            <a:ext cx="3657600" cy="228600"/>
          </a:xfrm>
          <a:prstGeom prst="rect">
            <a:avLst/>
          </a:prstGeom>
          <a:noFill/>
          <a:ln/>
        </p:spPr>
        <p:txBody>
          <a:bodyPr wrap="square" lIns="0" tIns="0" rIns="0" bIns="0" rtlCol="0" anchor="t"/>
          <a:lstStyle/>
          <a:p>
            <a:pPr rtl="1" algn="r" indent="0" marL="0">
              <a:buNone/>
            </a:pPr>
            <a:r>
              <a:rPr lang="ar-SA" altLang="en-US" sz="900" dirty="0">
                <a:solidFill>
                  <a:srgbClr val="6E7FAA"/>
                </a:solidFill>
                <a:latin typeface="IBM Plex Sans Arabic" pitchFamily="34" charset="0"/>
                <a:ea typeface="IBM Plex Sans Arabic" pitchFamily="34" charset="-122"/>
                <a:cs typeface="IBM Plex Sans Arabic" pitchFamily="34" charset="-120"/>
              </a:rPr>
              <a:t>NestHire · اجتماع الانطلاق</a:t>
            </a:r>
            <a:endParaRPr lang="ar-SA" sz="900" dirty="0"/>
          </a:p>
        </p:txBody>
      </p:sp>
      <p:sp>
        <p:nvSpPr>
          <p:cNvPr id="6" name="Text 3"/>
          <p:cNvSpPr txBox="1"/>
          <p:nvPr/>
        </p:nvSpPr>
        <p:spPr>
          <a:xfrm>
            <a:off x="594360" y="6400800"/>
            <a:ext cx="1097280" cy="228600"/>
          </a:xfrm>
          <a:prstGeom prst="rect">
            <a:avLst/>
          </a:prstGeom>
          <a:noFill/>
          <a:ln/>
        </p:spPr>
        <p:txBody>
          <a:bodyPr wrap="square" lIns="0" tIns="0" rIns="0" bIns="0" rtlCol="0" anchor="t"/>
          <a:lstStyle/>
          <a:p>
            <a:pPr algn="l" indent="0" marL="0">
              <a:buNone/>
            </a:pPr>
            <a:r>
              <a:rPr lang="ar-SA" altLang="en-US" sz="900" dirty="0">
                <a:solidFill>
                  <a:srgbClr val="6E7FAA"/>
                </a:solidFill>
                <a:latin typeface="IBM Plex Sans Arabic" pitchFamily="34" charset="0"/>
                <a:ea typeface="IBM Plex Sans Arabic" pitchFamily="34" charset="-122"/>
                <a:cs typeface="IBM Plex Sans Arabic" pitchFamily="34" charset="-120"/>
              </a:rPr>
              <a:t>03 / 18</a:t>
            </a:r>
            <a:endParaRPr lang="ar-SA" sz="900" dirty="0"/>
          </a:p>
        </p:txBody>
      </p:sp>
      <p:sp>
        <p:nvSpPr>
          <p:cNvPr id="7" name="Shape 4"/>
          <p:cNvSpPr/>
          <p:nvPr/>
        </p:nvSpPr>
        <p:spPr>
          <a:xfrm>
            <a:off x="9052331" y="1874520"/>
            <a:ext cx="2545004" cy="3246120"/>
          </a:xfrm>
          <a:prstGeom prst="roundRect">
            <a:avLst>
              <a:gd name="adj" fmla="val 5030"/>
            </a:avLst>
          </a:prstGeom>
          <a:solidFill>
            <a:srgbClr val="0B1634"/>
          </a:solidFill>
          <a:ln w="9525">
            <a:solidFill>
              <a:srgbClr val="1E3570"/>
            </a:solidFill>
            <a:prstDash val="solid"/>
          </a:ln>
        </p:spPr>
      </p:sp>
      <p:sp>
        <p:nvSpPr>
          <p:cNvPr id="8" name="Text 5"/>
          <p:cNvSpPr txBox="1"/>
          <p:nvPr/>
        </p:nvSpPr>
        <p:spPr>
          <a:xfrm>
            <a:off x="9326651" y="2130552"/>
            <a:ext cx="1996364" cy="640080"/>
          </a:xfrm>
          <a:prstGeom prst="rect">
            <a:avLst/>
          </a:prstGeom>
          <a:noFill/>
          <a:ln/>
        </p:spPr>
        <p:txBody>
          <a:bodyPr wrap="square" lIns="0" tIns="0" rIns="0" bIns="0" rtlCol="0" anchor="t"/>
          <a:lstStyle/>
          <a:p>
            <a:pPr rtl="1" algn="r" indent="0" marL="0">
              <a:buNone/>
            </a:pPr>
            <a:r>
              <a:rPr lang="ar-SA" altLang="en-US" sz="3800" b="1" dirty="0">
                <a:solidFill>
                  <a:srgbClr val="3EE0F5"/>
                </a:solidFill>
                <a:latin typeface="IBM Plex Sans Arabic" pitchFamily="34" charset="0"/>
                <a:ea typeface="IBM Plex Sans Arabic" pitchFamily="34" charset="-122"/>
                <a:cs typeface="IBM Plex Sans Arabic" pitchFamily="34" charset="-120"/>
              </a:rPr>
              <a:t>01</a:t>
            </a:r>
            <a:endParaRPr lang="ar-SA" sz="3800" dirty="0"/>
          </a:p>
        </p:txBody>
      </p:sp>
      <p:sp>
        <p:nvSpPr>
          <p:cNvPr id="9" name="Shape 6"/>
          <p:cNvSpPr/>
          <p:nvPr/>
        </p:nvSpPr>
        <p:spPr>
          <a:xfrm>
            <a:off x="9326651" y="2167128"/>
            <a:ext cx="566928" cy="566928"/>
          </a:xfrm>
          <a:prstGeom prst="ellipse">
            <a:avLst/>
          </a:prstGeom>
          <a:solidFill>
            <a:srgbClr val="10204A"/>
          </a:solidFill>
          <a:ln w="9525">
            <a:solidFill>
              <a:srgbClr val="1E3570"/>
            </a:solidFill>
            <a:prstDash val="solid"/>
          </a:ln>
        </p:spPr>
      </p:sp>
      <p:pic>
        <p:nvPicPr>
          <p:cNvPr id="10" name="Image 1" descr="preencoded.png">    </p:cNvPr>
          <p:cNvPicPr>
            <a:picLocks noChangeAspect="1"/>
          </p:cNvPicPr>
          <p:nvPr/>
        </p:nvPicPr>
        <p:blipFill>
          <a:blip r:embed="rId3"/>
          <a:stretch>
            <a:fillRect/>
          </a:stretch>
        </p:blipFill>
        <p:spPr>
          <a:xfrm>
            <a:off x="9474053" y="2314529"/>
            <a:ext cx="272125" cy="272125"/>
          </a:xfrm>
          <a:prstGeom prst="rect">
            <a:avLst/>
          </a:prstGeom>
        </p:spPr>
      </p:pic>
      <p:sp>
        <p:nvSpPr>
          <p:cNvPr id="11" name="Text 7"/>
          <p:cNvSpPr txBox="1"/>
          <p:nvPr/>
        </p:nvSpPr>
        <p:spPr>
          <a:xfrm>
            <a:off x="9326651" y="3063240"/>
            <a:ext cx="1996364" cy="457200"/>
          </a:xfrm>
          <a:prstGeom prst="rect">
            <a:avLst/>
          </a:prstGeom>
          <a:noFill/>
          <a:ln/>
        </p:spPr>
        <p:txBody>
          <a:bodyPr wrap="square" lIns="0" tIns="0" rIns="0" bIns="0" rtlCol="0" anchor="t"/>
          <a:lstStyle/>
          <a:p>
            <a:pPr rtl="1" algn="r" indent="0" marL="0">
              <a:buNone/>
            </a:pPr>
            <a:r>
              <a:rPr lang="ar-SA" altLang="en-US" sz="1900" b="1" dirty="0">
                <a:solidFill>
                  <a:srgbClr val="F3F6FD"/>
                </a:solidFill>
                <a:latin typeface="IBM Plex Sans Arabic" pitchFamily="34" charset="0"/>
                <a:ea typeface="IBM Plex Sans Arabic" pitchFamily="34" charset="-122"/>
                <a:cs typeface="IBM Plex Sans Arabic" pitchFamily="34" charset="-120"/>
              </a:rPr>
              <a:t>بيانات مجزّأة</a:t>
            </a:r>
            <a:endParaRPr lang="ar-SA" sz="1900" dirty="0"/>
          </a:p>
        </p:txBody>
      </p:sp>
      <p:sp>
        <p:nvSpPr>
          <p:cNvPr id="12" name="Text 8"/>
          <p:cNvSpPr txBox="1"/>
          <p:nvPr/>
        </p:nvSpPr>
        <p:spPr>
          <a:xfrm>
            <a:off x="9326651" y="3566160"/>
            <a:ext cx="1996364" cy="1417320"/>
          </a:xfrm>
          <a:prstGeom prst="rect">
            <a:avLst/>
          </a:prstGeom>
          <a:noFill/>
          <a:ln/>
        </p:spPr>
        <p:txBody>
          <a:bodyPr wrap="square" lIns="0" tIns="0" rIns="0" bIns="0" rtlCol="0" anchor="t"/>
          <a:lstStyle/>
          <a:p>
            <a:pPr rtl="1" algn="r" indent="0" marL="0">
              <a:lnSpc>
                <a:spcPct val="115000"/>
              </a:lnSpc>
              <a:buNone/>
            </a:pPr>
            <a:r>
              <a:rPr lang="ar-SA" altLang="en-US" sz="1500" dirty="0">
                <a:solidFill>
                  <a:srgbClr val="A9B7DA"/>
                </a:solidFill>
                <a:latin typeface="IBM Plex Sans Arabic" pitchFamily="34" charset="0"/>
                <a:ea typeface="IBM Plex Sans Arabic" pitchFamily="34" charset="-122"/>
                <a:cs typeface="IBM Plex Sans Arabic" pitchFamily="34" charset="-120"/>
              </a:rPr>
              <a:t>إشارات التوظيف ونتائج الموظفين موزّعة بين ATS وHRIS وأنظمة التقييم والأداء.</a:t>
            </a:r>
            <a:endParaRPr lang="ar-SA" sz="1500" dirty="0"/>
          </a:p>
        </p:txBody>
      </p:sp>
      <p:sp>
        <p:nvSpPr>
          <p:cNvPr id="13" name="Shape 9"/>
          <p:cNvSpPr/>
          <p:nvPr/>
        </p:nvSpPr>
        <p:spPr>
          <a:xfrm>
            <a:off x="6233008" y="1874520"/>
            <a:ext cx="2545004" cy="3246120"/>
          </a:xfrm>
          <a:prstGeom prst="roundRect">
            <a:avLst>
              <a:gd name="adj" fmla="val 5030"/>
            </a:avLst>
          </a:prstGeom>
          <a:solidFill>
            <a:srgbClr val="0B1634"/>
          </a:solidFill>
          <a:ln w="9525">
            <a:solidFill>
              <a:srgbClr val="1E3570"/>
            </a:solidFill>
            <a:prstDash val="solid"/>
          </a:ln>
        </p:spPr>
      </p:sp>
      <p:sp>
        <p:nvSpPr>
          <p:cNvPr id="14" name="Text 10"/>
          <p:cNvSpPr txBox="1"/>
          <p:nvPr/>
        </p:nvSpPr>
        <p:spPr>
          <a:xfrm>
            <a:off x="6507328" y="2130552"/>
            <a:ext cx="1996364" cy="640080"/>
          </a:xfrm>
          <a:prstGeom prst="rect">
            <a:avLst/>
          </a:prstGeom>
          <a:noFill/>
          <a:ln/>
        </p:spPr>
        <p:txBody>
          <a:bodyPr wrap="square" lIns="0" tIns="0" rIns="0" bIns="0" rtlCol="0" anchor="t"/>
          <a:lstStyle/>
          <a:p>
            <a:pPr rtl="1" algn="r" indent="0" marL="0">
              <a:buNone/>
            </a:pPr>
            <a:r>
              <a:rPr lang="ar-SA" altLang="en-US" sz="3800" b="1" dirty="0">
                <a:solidFill>
                  <a:srgbClr val="3EE0F5"/>
                </a:solidFill>
                <a:latin typeface="IBM Plex Sans Arabic" pitchFamily="34" charset="0"/>
                <a:ea typeface="IBM Plex Sans Arabic" pitchFamily="34" charset="-122"/>
                <a:cs typeface="IBM Plex Sans Arabic" pitchFamily="34" charset="-120"/>
              </a:rPr>
              <a:t>02</a:t>
            </a:r>
            <a:endParaRPr lang="ar-SA" sz="3800" dirty="0"/>
          </a:p>
        </p:txBody>
      </p:sp>
      <p:sp>
        <p:nvSpPr>
          <p:cNvPr id="15" name="Shape 11"/>
          <p:cNvSpPr/>
          <p:nvPr/>
        </p:nvSpPr>
        <p:spPr>
          <a:xfrm>
            <a:off x="6507328" y="2167128"/>
            <a:ext cx="566928" cy="566928"/>
          </a:xfrm>
          <a:prstGeom prst="ellipse">
            <a:avLst/>
          </a:prstGeom>
          <a:solidFill>
            <a:srgbClr val="10204A"/>
          </a:solidFill>
          <a:ln w="9525">
            <a:solidFill>
              <a:srgbClr val="1E3570"/>
            </a:solidFill>
            <a:prstDash val="solid"/>
          </a:ln>
        </p:spPr>
      </p:sp>
      <p:pic>
        <p:nvPicPr>
          <p:cNvPr id="16" name="Image 2" descr="preencoded.png">    </p:cNvPr>
          <p:cNvPicPr>
            <a:picLocks noChangeAspect="1"/>
          </p:cNvPicPr>
          <p:nvPr/>
        </p:nvPicPr>
        <p:blipFill>
          <a:blip r:embed="rId4"/>
          <a:stretch>
            <a:fillRect/>
          </a:stretch>
        </p:blipFill>
        <p:spPr>
          <a:xfrm>
            <a:off x="6654729" y="2314529"/>
            <a:ext cx="272125" cy="272125"/>
          </a:xfrm>
          <a:prstGeom prst="rect">
            <a:avLst/>
          </a:prstGeom>
        </p:spPr>
      </p:pic>
      <p:sp>
        <p:nvSpPr>
          <p:cNvPr id="17" name="Text 12"/>
          <p:cNvSpPr txBox="1"/>
          <p:nvPr/>
        </p:nvSpPr>
        <p:spPr>
          <a:xfrm>
            <a:off x="6507328" y="3063240"/>
            <a:ext cx="1996364" cy="457200"/>
          </a:xfrm>
          <a:prstGeom prst="rect">
            <a:avLst/>
          </a:prstGeom>
          <a:noFill/>
          <a:ln/>
        </p:spPr>
        <p:txBody>
          <a:bodyPr wrap="square" lIns="0" tIns="0" rIns="0" bIns="0" rtlCol="0" anchor="t"/>
          <a:lstStyle/>
          <a:p>
            <a:pPr rtl="1" algn="r" indent="0" marL="0">
              <a:buNone/>
            </a:pPr>
            <a:r>
              <a:rPr lang="ar-SA" altLang="en-US" sz="1900" b="1" dirty="0">
                <a:solidFill>
                  <a:srgbClr val="F3F6FD"/>
                </a:solidFill>
                <a:latin typeface="IBM Plex Sans Arabic" pitchFamily="34" charset="0"/>
                <a:ea typeface="IBM Plex Sans Arabic" pitchFamily="34" charset="-122"/>
                <a:cs typeface="IBM Plex Sans Arabic" pitchFamily="34" charset="-120"/>
              </a:rPr>
              <a:t>حلقة غير مغلقة</a:t>
            </a:r>
            <a:endParaRPr lang="ar-SA" sz="1900" dirty="0"/>
          </a:p>
        </p:txBody>
      </p:sp>
      <p:sp>
        <p:nvSpPr>
          <p:cNvPr id="18" name="Text 13"/>
          <p:cNvSpPr txBox="1"/>
          <p:nvPr/>
        </p:nvSpPr>
        <p:spPr>
          <a:xfrm>
            <a:off x="6507328" y="3566160"/>
            <a:ext cx="1996364" cy="1417320"/>
          </a:xfrm>
          <a:prstGeom prst="rect">
            <a:avLst/>
          </a:prstGeom>
          <a:noFill/>
          <a:ln/>
        </p:spPr>
        <p:txBody>
          <a:bodyPr wrap="square" lIns="0" tIns="0" rIns="0" bIns="0" rtlCol="0" anchor="t"/>
          <a:lstStyle/>
          <a:p>
            <a:pPr rtl="1" algn="r" indent="0" marL="0">
              <a:lnSpc>
                <a:spcPct val="115000"/>
              </a:lnSpc>
              <a:buNone/>
            </a:pPr>
            <a:r>
              <a:rPr lang="ar-SA" altLang="en-US" sz="1500" dirty="0">
                <a:solidFill>
                  <a:srgbClr val="A9B7DA"/>
                </a:solidFill>
                <a:latin typeface="IBM Plex Sans Arabic" pitchFamily="34" charset="0"/>
                <a:ea typeface="IBM Plex Sans Arabic" pitchFamily="34" charset="-122"/>
                <a:cs typeface="IBM Plex Sans Arabic" pitchFamily="34" charset="-120"/>
              </a:rPr>
              <a:t>صعوبة ربط المرشح بالموظف، وبنتيجته الفعلية بعد التوظيف.</a:t>
            </a:r>
            <a:endParaRPr lang="ar-SA" sz="1500" dirty="0"/>
          </a:p>
        </p:txBody>
      </p:sp>
      <p:sp>
        <p:nvSpPr>
          <p:cNvPr id="19" name="Shape 14"/>
          <p:cNvSpPr/>
          <p:nvPr/>
        </p:nvSpPr>
        <p:spPr>
          <a:xfrm>
            <a:off x="3413684" y="1874520"/>
            <a:ext cx="2545004" cy="3246120"/>
          </a:xfrm>
          <a:prstGeom prst="roundRect">
            <a:avLst>
              <a:gd name="adj" fmla="val 5030"/>
            </a:avLst>
          </a:prstGeom>
          <a:solidFill>
            <a:srgbClr val="0B1634"/>
          </a:solidFill>
          <a:ln w="9525">
            <a:solidFill>
              <a:srgbClr val="1E3570"/>
            </a:solidFill>
            <a:prstDash val="solid"/>
          </a:ln>
        </p:spPr>
      </p:sp>
      <p:sp>
        <p:nvSpPr>
          <p:cNvPr id="20" name="Text 15"/>
          <p:cNvSpPr txBox="1"/>
          <p:nvPr/>
        </p:nvSpPr>
        <p:spPr>
          <a:xfrm>
            <a:off x="3688004" y="2130552"/>
            <a:ext cx="1996364" cy="640080"/>
          </a:xfrm>
          <a:prstGeom prst="rect">
            <a:avLst/>
          </a:prstGeom>
          <a:noFill/>
          <a:ln/>
        </p:spPr>
        <p:txBody>
          <a:bodyPr wrap="square" lIns="0" tIns="0" rIns="0" bIns="0" rtlCol="0" anchor="t"/>
          <a:lstStyle/>
          <a:p>
            <a:pPr rtl="1" algn="r" indent="0" marL="0">
              <a:buNone/>
            </a:pPr>
            <a:r>
              <a:rPr lang="ar-SA" altLang="en-US" sz="3800" b="1" dirty="0">
                <a:solidFill>
                  <a:srgbClr val="3EE0F5"/>
                </a:solidFill>
                <a:latin typeface="IBM Plex Sans Arabic" pitchFamily="34" charset="0"/>
                <a:ea typeface="IBM Plex Sans Arabic" pitchFamily="34" charset="-122"/>
                <a:cs typeface="IBM Plex Sans Arabic" pitchFamily="34" charset="-120"/>
              </a:rPr>
              <a:t>03</a:t>
            </a:r>
            <a:endParaRPr lang="ar-SA" sz="3800" dirty="0"/>
          </a:p>
        </p:txBody>
      </p:sp>
      <p:sp>
        <p:nvSpPr>
          <p:cNvPr id="21" name="Shape 16"/>
          <p:cNvSpPr/>
          <p:nvPr/>
        </p:nvSpPr>
        <p:spPr>
          <a:xfrm>
            <a:off x="3688004" y="2167128"/>
            <a:ext cx="566928" cy="566928"/>
          </a:xfrm>
          <a:prstGeom prst="ellipse">
            <a:avLst/>
          </a:prstGeom>
          <a:solidFill>
            <a:srgbClr val="10204A"/>
          </a:solidFill>
          <a:ln w="9525">
            <a:solidFill>
              <a:srgbClr val="1E3570"/>
            </a:solidFill>
            <a:prstDash val="solid"/>
          </a:ln>
        </p:spPr>
      </p:sp>
      <p:pic>
        <p:nvPicPr>
          <p:cNvPr id="22" name="Image 3" descr="preencoded.png">    </p:cNvPr>
          <p:cNvPicPr>
            <a:picLocks noChangeAspect="1"/>
          </p:cNvPicPr>
          <p:nvPr/>
        </p:nvPicPr>
        <p:blipFill>
          <a:blip r:embed="rId5"/>
          <a:stretch>
            <a:fillRect/>
          </a:stretch>
        </p:blipFill>
        <p:spPr>
          <a:xfrm>
            <a:off x="3835405" y="2314529"/>
            <a:ext cx="272125" cy="272125"/>
          </a:xfrm>
          <a:prstGeom prst="rect">
            <a:avLst/>
          </a:prstGeom>
        </p:spPr>
      </p:pic>
      <p:sp>
        <p:nvSpPr>
          <p:cNvPr id="23" name="Text 17"/>
          <p:cNvSpPr txBox="1"/>
          <p:nvPr/>
        </p:nvSpPr>
        <p:spPr>
          <a:xfrm>
            <a:off x="3688004" y="3063240"/>
            <a:ext cx="1996364" cy="457200"/>
          </a:xfrm>
          <a:prstGeom prst="rect">
            <a:avLst/>
          </a:prstGeom>
          <a:noFill/>
          <a:ln/>
        </p:spPr>
        <p:txBody>
          <a:bodyPr wrap="square" lIns="0" tIns="0" rIns="0" bIns="0" rtlCol="0" anchor="t"/>
          <a:lstStyle/>
          <a:p>
            <a:pPr rtl="1" algn="r" indent="0" marL="0">
              <a:buNone/>
            </a:pPr>
            <a:r>
              <a:rPr lang="ar-SA" altLang="en-US" sz="1900" b="1" dirty="0">
                <a:solidFill>
                  <a:srgbClr val="F3F6FD"/>
                </a:solidFill>
                <a:latin typeface="IBM Plex Sans Arabic" pitchFamily="34" charset="0"/>
                <a:ea typeface="IBM Plex Sans Arabic" pitchFamily="34" charset="-122"/>
                <a:cs typeface="IBM Plex Sans Arabic" pitchFamily="34" charset="-120"/>
              </a:rPr>
              <a:t>تغييرات بلا قياس</a:t>
            </a:r>
            <a:endParaRPr lang="ar-SA" sz="1900" dirty="0"/>
          </a:p>
        </p:txBody>
      </p:sp>
      <p:sp>
        <p:nvSpPr>
          <p:cNvPr id="24" name="Text 18"/>
          <p:cNvSpPr txBox="1"/>
          <p:nvPr/>
        </p:nvSpPr>
        <p:spPr>
          <a:xfrm>
            <a:off x="3688004" y="3566160"/>
            <a:ext cx="1996364" cy="1417320"/>
          </a:xfrm>
          <a:prstGeom prst="rect">
            <a:avLst/>
          </a:prstGeom>
          <a:noFill/>
          <a:ln/>
        </p:spPr>
        <p:txBody>
          <a:bodyPr wrap="square" lIns="0" tIns="0" rIns="0" bIns="0" rtlCol="0" anchor="t"/>
          <a:lstStyle/>
          <a:p>
            <a:pPr rtl="1" algn="r" indent="0" marL="0">
              <a:lnSpc>
                <a:spcPct val="115000"/>
              </a:lnSpc>
              <a:buNone/>
            </a:pPr>
            <a:r>
              <a:rPr lang="ar-SA" altLang="en-US" sz="1500" dirty="0">
                <a:solidFill>
                  <a:srgbClr val="A9B7DA"/>
                </a:solidFill>
                <a:latin typeface="IBM Plex Sans Arabic" pitchFamily="34" charset="0"/>
                <a:ea typeface="IBM Plex Sans Arabic" pitchFamily="34" charset="-122"/>
                <a:cs typeface="IBM Plex Sans Arabic" pitchFamily="34" charset="-120"/>
              </a:rPr>
              <a:t>تتغيّر Rubrics المقابلات والتقييمات دون معرفة إن أحدثت فرقًا في النتائج.</a:t>
            </a:r>
            <a:endParaRPr lang="ar-SA" sz="1500" dirty="0"/>
          </a:p>
        </p:txBody>
      </p:sp>
      <p:sp>
        <p:nvSpPr>
          <p:cNvPr id="25" name="Shape 19"/>
          <p:cNvSpPr/>
          <p:nvPr/>
        </p:nvSpPr>
        <p:spPr>
          <a:xfrm>
            <a:off x="594360" y="1874520"/>
            <a:ext cx="2545004" cy="3246120"/>
          </a:xfrm>
          <a:prstGeom prst="roundRect">
            <a:avLst>
              <a:gd name="adj" fmla="val 5030"/>
            </a:avLst>
          </a:prstGeom>
          <a:solidFill>
            <a:srgbClr val="0B1634"/>
          </a:solidFill>
          <a:ln w="9525">
            <a:solidFill>
              <a:srgbClr val="1E3570"/>
            </a:solidFill>
            <a:prstDash val="solid"/>
          </a:ln>
        </p:spPr>
      </p:sp>
      <p:sp>
        <p:nvSpPr>
          <p:cNvPr id="26" name="Text 20"/>
          <p:cNvSpPr txBox="1"/>
          <p:nvPr/>
        </p:nvSpPr>
        <p:spPr>
          <a:xfrm>
            <a:off x="868680" y="2130552"/>
            <a:ext cx="1996364" cy="640080"/>
          </a:xfrm>
          <a:prstGeom prst="rect">
            <a:avLst/>
          </a:prstGeom>
          <a:noFill/>
          <a:ln/>
        </p:spPr>
        <p:txBody>
          <a:bodyPr wrap="square" lIns="0" tIns="0" rIns="0" bIns="0" rtlCol="0" anchor="t"/>
          <a:lstStyle/>
          <a:p>
            <a:pPr rtl="1" algn="r" indent="0" marL="0">
              <a:buNone/>
            </a:pPr>
            <a:r>
              <a:rPr lang="ar-SA" altLang="en-US" sz="3800" b="1" dirty="0">
                <a:solidFill>
                  <a:srgbClr val="3EE0F5"/>
                </a:solidFill>
                <a:latin typeface="IBM Plex Sans Arabic" pitchFamily="34" charset="0"/>
                <a:ea typeface="IBM Plex Sans Arabic" pitchFamily="34" charset="-122"/>
                <a:cs typeface="IBM Plex Sans Arabic" pitchFamily="34" charset="-120"/>
              </a:rPr>
              <a:t>04</a:t>
            </a:r>
            <a:endParaRPr lang="ar-SA" sz="3800" dirty="0"/>
          </a:p>
        </p:txBody>
      </p:sp>
      <p:sp>
        <p:nvSpPr>
          <p:cNvPr id="27" name="Shape 21"/>
          <p:cNvSpPr/>
          <p:nvPr/>
        </p:nvSpPr>
        <p:spPr>
          <a:xfrm>
            <a:off x="868680" y="2167128"/>
            <a:ext cx="566928" cy="566928"/>
          </a:xfrm>
          <a:prstGeom prst="ellipse">
            <a:avLst/>
          </a:prstGeom>
          <a:solidFill>
            <a:srgbClr val="10204A"/>
          </a:solidFill>
          <a:ln w="9525">
            <a:solidFill>
              <a:srgbClr val="1E3570"/>
            </a:solidFill>
            <a:prstDash val="solid"/>
          </a:ln>
        </p:spPr>
      </p:sp>
      <p:pic>
        <p:nvPicPr>
          <p:cNvPr id="28" name="Image 4" descr="preencoded.png">    </p:cNvPr>
          <p:cNvPicPr>
            <a:picLocks noChangeAspect="1"/>
          </p:cNvPicPr>
          <p:nvPr/>
        </p:nvPicPr>
        <p:blipFill>
          <a:blip r:embed="rId6"/>
          <a:stretch>
            <a:fillRect/>
          </a:stretch>
        </p:blipFill>
        <p:spPr>
          <a:xfrm>
            <a:off x="1016081" y="2314529"/>
            <a:ext cx="272125" cy="272125"/>
          </a:xfrm>
          <a:prstGeom prst="rect">
            <a:avLst/>
          </a:prstGeom>
        </p:spPr>
      </p:pic>
      <p:sp>
        <p:nvSpPr>
          <p:cNvPr id="29" name="Text 22"/>
          <p:cNvSpPr txBox="1"/>
          <p:nvPr/>
        </p:nvSpPr>
        <p:spPr>
          <a:xfrm>
            <a:off x="868680" y="3063240"/>
            <a:ext cx="1996364" cy="457200"/>
          </a:xfrm>
          <a:prstGeom prst="rect">
            <a:avLst/>
          </a:prstGeom>
          <a:noFill/>
          <a:ln/>
        </p:spPr>
        <p:txBody>
          <a:bodyPr wrap="square" lIns="0" tIns="0" rIns="0" bIns="0" rtlCol="0" anchor="t"/>
          <a:lstStyle/>
          <a:p>
            <a:pPr rtl="1" algn="r" indent="0" marL="0">
              <a:buNone/>
            </a:pPr>
            <a:r>
              <a:rPr lang="ar-SA" altLang="en-US" sz="1900" b="1" dirty="0">
                <a:solidFill>
                  <a:srgbClr val="F3F6FD"/>
                </a:solidFill>
                <a:latin typeface="IBM Plex Sans Arabic" pitchFamily="34" charset="0"/>
                <a:ea typeface="IBM Plex Sans Arabic" pitchFamily="34" charset="-122"/>
                <a:cs typeface="IBM Plex Sans Arabic" pitchFamily="34" charset="-120"/>
              </a:rPr>
              <a:t>استنتاجات هشّة</a:t>
            </a:r>
            <a:endParaRPr lang="ar-SA" sz="1900" dirty="0"/>
          </a:p>
        </p:txBody>
      </p:sp>
      <p:sp>
        <p:nvSpPr>
          <p:cNvPr id="30" name="Text 23"/>
          <p:cNvSpPr txBox="1"/>
          <p:nvPr/>
        </p:nvSpPr>
        <p:spPr>
          <a:xfrm>
            <a:off x="868680" y="3566160"/>
            <a:ext cx="1996364" cy="1417320"/>
          </a:xfrm>
          <a:prstGeom prst="rect">
            <a:avLst/>
          </a:prstGeom>
          <a:noFill/>
          <a:ln/>
        </p:spPr>
        <p:txBody>
          <a:bodyPr wrap="square" lIns="0" tIns="0" rIns="0" bIns="0" rtlCol="0" anchor="t"/>
          <a:lstStyle/>
          <a:p>
            <a:pPr rtl="1" algn="r" indent="0" marL="0">
              <a:lnSpc>
                <a:spcPct val="115000"/>
              </a:lnSpc>
              <a:buNone/>
            </a:pPr>
            <a:r>
              <a:rPr lang="ar-SA" altLang="en-US" sz="1500" dirty="0">
                <a:solidFill>
                  <a:srgbClr val="A9B7DA"/>
                </a:solidFill>
                <a:latin typeface="IBM Plex Sans Arabic" pitchFamily="34" charset="0"/>
                <a:ea typeface="IBM Plex Sans Arabic" pitchFamily="34" charset="-122"/>
                <a:cs typeface="IBM Plex Sans Arabic" pitchFamily="34" charset="-120"/>
              </a:rPr>
              <a:t>Cohorts صغيرة، وعوامل مثل المدير والـOnboarding، وارتباط يُقرأ كأنه سببية.</a:t>
            </a:r>
            <a:endParaRPr lang="ar-SA" sz="1500" dirty="0"/>
          </a:p>
        </p:txBody>
      </p:sp>
      <p:sp>
        <p:nvSpPr>
          <p:cNvPr id="31" name="Shape 24"/>
          <p:cNvSpPr/>
          <p:nvPr/>
        </p:nvSpPr>
        <p:spPr>
          <a:xfrm>
            <a:off x="594360" y="5394960"/>
            <a:ext cx="11002975" cy="713232"/>
          </a:xfrm>
          <a:prstGeom prst="roundRect">
            <a:avLst>
              <a:gd name="adj" fmla="val 17949"/>
            </a:avLst>
          </a:prstGeom>
          <a:solidFill>
            <a:srgbClr val="10204A"/>
          </a:solidFill>
          <a:ln w="9525">
            <a:solidFill>
              <a:srgbClr val="1E3570"/>
            </a:solidFill>
            <a:prstDash val="solid"/>
          </a:ln>
        </p:spPr>
      </p:sp>
      <p:sp>
        <p:nvSpPr>
          <p:cNvPr id="32" name="Shape 25"/>
          <p:cNvSpPr/>
          <p:nvPr/>
        </p:nvSpPr>
        <p:spPr>
          <a:xfrm>
            <a:off x="11030407" y="5513832"/>
            <a:ext cx="475488" cy="475488"/>
          </a:xfrm>
          <a:prstGeom prst="ellipse">
            <a:avLst/>
          </a:prstGeom>
          <a:solidFill>
            <a:srgbClr val="050B1E"/>
          </a:solidFill>
          <a:ln w="9525">
            <a:solidFill>
              <a:srgbClr val="FFB547"/>
            </a:solidFill>
            <a:prstDash val="solid"/>
          </a:ln>
        </p:spPr>
      </p:sp>
      <p:pic>
        <p:nvPicPr>
          <p:cNvPr id="33" name="Image 5" descr="preencoded.png">    </p:cNvPr>
          <p:cNvPicPr>
            <a:picLocks noChangeAspect="1"/>
          </p:cNvPicPr>
          <p:nvPr/>
        </p:nvPicPr>
        <p:blipFill>
          <a:blip r:embed="rId7"/>
          <a:stretch>
            <a:fillRect/>
          </a:stretch>
        </p:blipFill>
        <p:spPr>
          <a:xfrm>
            <a:off x="11154034" y="5637459"/>
            <a:ext cx="228234" cy="228234"/>
          </a:xfrm>
          <a:prstGeom prst="rect">
            <a:avLst/>
          </a:prstGeom>
        </p:spPr>
      </p:pic>
      <p:sp>
        <p:nvSpPr>
          <p:cNvPr id="34" name="Text 26"/>
          <p:cNvSpPr txBox="1"/>
          <p:nvPr/>
        </p:nvSpPr>
        <p:spPr>
          <a:xfrm>
            <a:off x="868680" y="5394960"/>
            <a:ext cx="9905695" cy="713232"/>
          </a:xfrm>
          <a:prstGeom prst="rect">
            <a:avLst/>
          </a:prstGeom>
          <a:noFill/>
          <a:ln/>
        </p:spPr>
        <p:txBody>
          <a:bodyPr wrap="square" lIns="0" tIns="0" rIns="0" bIns="0" rtlCol="0" anchor="ctr"/>
          <a:lstStyle/>
          <a:p>
            <a:pPr rtl="1" algn="r" indent="0" marL="0">
              <a:buNone/>
            </a:pPr>
            <a:r>
              <a:rPr lang="ar-SA" altLang="en-US" sz="1700" b="1" dirty="0">
                <a:solidFill>
                  <a:srgbClr val="FFB547"/>
                </a:solidFill>
                <a:latin typeface="IBM Plex Sans Arabic" pitchFamily="34" charset="0"/>
                <a:ea typeface="IBM Plex Sans Arabic" pitchFamily="34" charset="-122"/>
                <a:cs typeface="IBM Plex Sans Arabic" pitchFamily="34" charset="-120"/>
              </a:rPr>
              <a:t>النتيجة: </a:t>
            </a:r>
            <a:pPr rtl="1" algn="r" indent="0" marL="0">
              <a:buNone/>
            </a:pPr>
            <a:r>
              <a:rPr lang="ar-SA" altLang="en-US" sz="1700" dirty="0">
                <a:solidFill>
                  <a:srgbClr val="F3F6FD"/>
                </a:solidFill>
                <a:latin typeface="IBM Plex Sans Arabic" pitchFamily="34" charset="0"/>
                <a:ea typeface="IBM Plex Sans Arabic" pitchFamily="34" charset="-122"/>
                <a:cs typeface="IBM Plex Sans Arabic" pitchFamily="34" charset="-120"/>
              </a:rPr>
              <a:t>بيانات كثيرة… دون Insight قابل للتنفيذ، وتغييرات في التوظيف لا يُقاس أثرها.</a:t>
            </a:r>
            <a:endParaRPr lang="ar-SA"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508760" y="457200"/>
            <a:ext cx="10088575" cy="274320"/>
          </a:xfrm>
          <a:prstGeom prst="rect">
            <a:avLst/>
          </a:prstGeom>
          <a:noFill/>
          <a:ln/>
        </p:spPr>
        <p:txBody>
          <a:bodyPr wrap="square" lIns="0" tIns="0" rIns="0" bIns="0" rtlCol="0" anchor="t"/>
          <a:lstStyle/>
          <a:p>
            <a:pPr rtl="1" algn="r" indent="0" marL="0">
              <a:buNone/>
            </a:pPr>
            <a:r>
              <a:rPr lang="ar-SA" altLang="en-US" sz="1200" b="1" spc="100" kern="0" dirty="0">
                <a:solidFill>
                  <a:srgbClr val="3EE0F5"/>
                </a:solidFill>
                <a:latin typeface="IBM Plex Sans Arabic" pitchFamily="34" charset="0"/>
                <a:ea typeface="IBM Plex Sans Arabic" pitchFamily="34" charset="-122"/>
                <a:cs typeface="IBM Plex Sans Arabic" pitchFamily="34" charset="-120"/>
              </a:rPr>
              <a:t>02  ·  WHAT — ما فكرتنا؟</a:t>
            </a:r>
            <a:endParaRPr lang="ar-SA" sz="1200" dirty="0"/>
          </a:p>
        </p:txBody>
      </p:sp>
      <p:sp>
        <p:nvSpPr>
          <p:cNvPr id="3" name="Text 1"/>
          <p:cNvSpPr txBox="1"/>
          <p:nvPr/>
        </p:nvSpPr>
        <p:spPr>
          <a:xfrm>
            <a:off x="1508760" y="731520"/>
            <a:ext cx="10088575" cy="640080"/>
          </a:xfrm>
          <a:prstGeom prst="rect">
            <a:avLst/>
          </a:prstGeom>
          <a:noFill/>
          <a:ln/>
        </p:spPr>
        <p:txBody>
          <a:bodyPr wrap="square" lIns="0" tIns="0" rIns="0" bIns="0" rtlCol="0" anchor="t"/>
          <a:lstStyle/>
          <a:p>
            <a:pPr rtl="1" algn="r" indent="0" marL="0">
              <a:buNone/>
            </a:pPr>
            <a:r>
              <a:rPr lang="ar-SA" altLang="en-US" sz="3200" b="1" dirty="0">
                <a:solidFill>
                  <a:srgbClr val="F3F6FD"/>
                </a:solidFill>
                <a:latin typeface="IBM Plex Sans Arabic" pitchFamily="34" charset="0"/>
                <a:ea typeface="IBM Plex Sans Arabic" pitchFamily="34" charset="-122"/>
                <a:cs typeface="IBM Plex Sans Arabic" pitchFamily="34" charset="-120"/>
              </a:rPr>
              <a:t>فكرتنا في دقيقة</a:t>
            </a:r>
            <a:endParaRPr lang="ar-SA" sz="3200" dirty="0"/>
          </a:p>
        </p:txBody>
      </p:sp>
      <p:sp>
        <p:nvSpPr>
          <p:cNvPr id="4" name="Text 2"/>
          <p:cNvSpPr txBox="1"/>
          <p:nvPr/>
        </p:nvSpPr>
        <p:spPr>
          <a:xfrm>
            <a:off x="594360" y="1353312"/>
            <a:ext cx="11002975" cy="365760"/>
          </a:xfrm>
          <a:prstGeom prst="rect">
            <a:avLst/>
          </a:prstGeom>
          <a:noFill/>
          <a:ln/>
        </p:spPr>
        <p:txBody>
          <a:bodyPr wrap="square" lIns="0" tIns="0" rIns="0" bIns="0" rtlCol="0" anchor="t"/>
          <a:lstStyle/>
          <a:p>
            <a:pPr rtl="1" algn="r" indent="0" marL="0">
              <a:buNone/>
            </a:pPr>
            <a:r>
              <a:rPr lang="ar-SA" altLang="en-US" sz="1500" dirty="0">
                <a:solidFill>
                  <a:srgbClr val="A9B7DA"/>
                </a:solidFill>
                <a:latin typeface="IBM Plex Sans Arabic" pitchFamily="34" charset="0"/>
                <a:ea typeface="IBM Plex Sans Arabic" pitchFamily="34" charset="-122"/>
                <a:cs typeface="IBM Plex Sans Arabic" pitchFamily="34" charset="-120"/>
              </a:rPr>
              <a:t>الوحدة الأساسية للتحليل:  Role + Cohort + Signal + Outcome</a:t>
            </a:r>
            <a:endParaRPr lang="ar-SA" sz="1500" dirty="0"/>
          </a:p>
        </p:txBody>
      </p:sp>
      <p:pic>
        <p:nvPicPr>
          <p:cNvPr id="5" name="Image 0" descr="/tmp/claude-0/-home-user-ghassankmiqdad/d1991e4f-aee0-5e68-9a9d-3fc00accdf9d/scratchpad/build/assets/mark_sm.png">    </p:cNvPr>
          <p:cNvPicPr>
            <a:picLocks noChangeAspect="1"/>
          </p:cNvPicPr>
          <p:nvPr/>
        </p:nvPicPr>
        <p:blipFill>
          <a:blip r:embed="rId2"/>
          <a:stretch>
            <a:fillRect/>
          </a:stretch>
        </p:blipFill>
        <p:spPr>
          <a:xfrm>
            <a:off x="594360" y="475488"/>
            <a:ext cx="566928" cy="443515"/>
          </a:xfrm>
          <a:prstGeom prst="rect">
            <a:avLst/>
          </a:prstGeom>
        </p:spPr>
      </p:pic>
      <p:sp>
        <p:nvSpPr>
          <p:cNvPr id="6" name="Text 3"/>
          <p:cNvSpPr txBox="1"/>
          <p:nvPr/>
        </p:nvSpPr>
        <p:spPr>
          <a:xfrm>
            <a:off x="7939735" y="6400800"/>
            <a:ext cx="3657600" cy="228600"/>
          </a:xfrm>
          <a:prstGeom prst="rect">
            <a:avLst/>
          </a:prstGeom>
          <a:noFill/>
          <a:ln/>
        </p:spPr>
        <p:txBody>
          <a:bodyPr wrap="square" lIns="0" tIns="0" rIns="0" bIns="0" rtlCol="0" anchor="t"/>
          <a:lstStyle/>
          <a:p>
            <a:pPr rtl="1" algn="r" indent="0" marL="0">
              <a:buNone/>
            </a:pPr>
            <a:r>
              <a:rPr lang="ar-SA" altLang="en-US" sz="900" dirty="0">
                <a:solidFill>
                  <a:srgbClr val="6E7FAA"/>
                </a:solidFill>
                <a:latin typeface="IBM Plex Sans Arabic" pitchFamily="34" charset="0"/>
                <a:ea typeface="IBM Plex Sans Arabic" pitchFamily="34" charset="-122"/>
                <a:cs typeface="IBM Plex Sans Arabic" pitchFamily="34" charset="-120"/>
              </a:rPr>
              <a:t>NestHire · اجتماع الانطلاق</a:t>
            </a:r>
            <a:endParaRPr lang="ar-SA" sz="900" dirty="0"/>
          </a:p>
        </p:txBody>
      </p:sp>
      <p:sp>
        <p:nvSpPr>
          <p:cNvPr id="7" name="Text 4"/>
          <p:cNvSpPr txBox="1"/>
          <p:nvPr/>
        </p:nvSpPr>
        <p:spPr>
          <a:xfrm>
            <a:off x="594360" y="6400800"/>
            <a:ext cx="1097280" cy="228600"/>
          </a:xfrm>
          <a:prstGeom prst="rect">
            <a:avLst/>
          </a:prstGeom>
          <a:noFill/>
          <a:ln/>
        </p:spPr>
        <p:txBody>
          <a:bodyPr wrap="square" lIns="0" tIns="0" rIns="0" bIns="0" rtlCol="0" anchor="t"/>
          <a:lstStyle/>
          <a:p>
            <a:pPr algn="l" indent="0" marL="0">
              <a:buNone/>
            </a:pPr>
            <a:r>
              <a:rPr lang="ar-SA" altLang="en-US" sz="900" dirty="0">
                <a:solidFill>
                  <a:srgbClr val="6E7FAA"/>
                </a:solidFill>
                <a:latin typeface="IBM Plex Sans Arabic" pitchFamily="34" charset="0"/>
                <a:ea typeface="IBM Plex Sans Arabic" pitchFamily="34" charset="-122"/>
                <a:cs typeface="IBM Plex Sans Arabic" pitchFamily="34" charset="-120"/>
              </a:rPr>
              <a:t>04 / 18</a:t>
            </a:r>
            <a:endParaRPr lang="ar-SA" sz="900" dirty="0"/>
          </a:p>
        </p:txBody>
      </p:sp>
      <p:sp>
        <p:nvSpPr>
          <p:cNvPr id="8" name="Shape 5"/>
          <p:cNvSpPr/>
          <p:nvPr/>
        </p:nvSpPr>
        <p:spPr>
          <a:xfrm>
            <a:off x="8386877" y="1920240"/>
            <a:ext cx="3210458" cy="2697480"/>
          </a:xfrm>
          <a:prstGeom prst="roundRect">
            <a:avLst>
              <a:gd name="adj" fmla="val 4746"/>
            </a:avLst>
          </a:prstGeom>
          <a:solidFill>
            <a:srgbClr val="0B1634"/>
          </a:solidFill>
          <a:ln w="9525">
            <a:solidFill>
              <a:srgbClr val="1E3570"/>
            </a:solidFill>
            <a:prstDash val="solid"/>
          </a:ln>
        </p:spPr>
      </p:sp>
      <p:sp>
        <p:nvSpPr>
          <p:cNvPr id="9" name="Shape 6"/>
          <p:cNvSpPr/>
          <p:nvPr/>
        </p:nvSpPr>
        <p:spPr>
          <a:xfrm>
            <a:off x="10756087" y="2194560"/>
            <a:ext cx="566928" cy="566928"/>
          </a:xfrm>
          <a:prstGeom prst="ellipse">
            <a:avLst/>
          </a:prstGeom>
          <a:solidFill>
            <a:srgbClr val="10204A"/>
          </a:solidFill>
          <a:ln w="9525">
            <a:solidFill>
              <a:srgbClr val="1E3570"/>
            </a:solidFill>
            <a:prstDash val="solid"/>
          </a:ln>
        </p:spPr>
      </p:sp>
      <p:pic>
        <p:nvPicPr>
          <p:cNvPr id="10" name="Image 1" descr="preencoded.png">    </p:cNvPr>
          <p:cNvPicPr>
            <a:picLocks noChangeAspect="1"/>
          </p:cNvPicPr>
          <p:nvPr/>
        </p:nvPicPr>
        <p:blipFill>
          <a:blip r:embed="rId3"/>
          <a:stretch>
            <a:fillRect/>
          </a:stretch>
        </p:blipFill>
        <p:spPr>
          <a:xfrm>
            <a:off x="10903488" y="2341961"/>
            <a:ext cx="272125" cy="272125"/>
          </a:xfrm>
          <a:prstGeom prst="rect">
            <a:avLst/>
          </a:prstGeom>
        </p:spPr>
      </p:pic>
      <p:sp>
        <p:nvSpPr>
          <p:cNvPr id="11" name="Text 7"/>
          <p:cNvSpPr txBox="1"/>
          <p:nvPr/>
        </p:nvSpPr>
        <p:spPr>
          <a:xfrm>
            <a:off x="8661197" y="2194560"/>
            <a:ext cx="1838858" cy="411480"/>
          </a:xfrm>
          <a:prstGeom prst="rect">
            <a:avLst/>
          </a:prstGeom>
          <a:noFill/>
          <a:ln/>
        </p:spPr>
        <p:txBody>
          <a:bodyPr wrap="square" lIns="0" tIns="0" rIns="0" bIns="0" rtlCol="0" anchor="t"/>
          <a:lstStyle/>
          <a:p>
            <a:pPr rtl="1" algn="r" indent="0" marL="0">
              <a:buNone/>
            </a:pPr>
            <a:r>
              <a:rPr lang="ar-SA" altLang="en-US" sz="2100" b="1" dirty="0">
                <a:solidFill>
                  <a:srgbClr val="F3F6FD"/>
                </a:solidFill>
                <a:latin typeface="IBM Plex Sans Arabic" pitchFamily="34" charset="0"/>
                <a:ea typeface="IBM Plex Sans Arabic" pitchFamily="34" charset="-122"/>
                <a:cs typeface="IBM Plex Sans Arabic" pitchFamily="34" charset="-120"/>
              </a:rPr>
              <a:t>المشكلة</a:t>
            </a:r>
            <a:endParaRPr lang="ar-SA" sz="2100" dirty="0"/>
          </a:p>
        </p:txBody>
      </p:sp>
      <p:sp>
        <p:nvSpPr>
          <p:cNvPr id="12" name="Text 8"/>
          <p:cNvSpPr txBox="1"/>
          <p:nvPr/>
        </p:nvSpPr>
        <p:spPr>
          <a:xfrm>
            <a:off x="8661197" y="2578608"/>
            <a:ext cx="1838858" cy="274320"/>
          </a:xfrm>
          <a:prstGeom prst="rect">
            <a:avLst/>
          </a:prstGeom>
          <a:noFill/>
          <a:ln/>
        </p:spPr>
        <p:txBody>
          <a:bodyPr wrap="square" lIns="0" tIns="0" rIns="0" bIns="0" rtlCol="0" anchor="t"/>
          <a:lstStyle/>
          <a:p>
            <a:pPr rtl="1" algn="r" indent="0" marL="0">
              <a:buNone/>
            </a:pPr>
            <a:r>
              <a:rPr lang="ar-SA" altLang="en-US" sz="1200" b="1" dirty="0">
                <a:solidFill>
                  <a:srgbClr val="3EE0F5"/>
                </a:solidFill>
                <a:latin typeface="IBM Plex Sans Arabic" pitchFamily="34" charset="0"/>
                <a:ea typeface="IBM Plex Sans Arabic" pitchFamily="34" charset="-122"/>
                <a:cs typeface="IBM Plex Sans Arabic" pitchFamily="34" charset="-120"/>
              </a:rPr>
              <a:t>Problem</a:t>
            </a:r>
            <a:endParaRPr lang="ar-SA" sz="1200" dirty="0"/>
          </a:p>
        </p:txBody>
      </p:sp>
      <p:sp>
        <p:nvSpPr>
          <p:cNvPr id="13" name="Text 9"/>
          <p:cNvSpPr txBox="1"/>
          <p:nvPr/>
        </p:nvSpPr>
        <p:spPr>
          <a:xfrm>
            <a:off x="8661197" y="3063240"/>
            <a:ext cx="2661818" cy="1188720"/>
          </a:xfrm>
          <a:prstGeom prst="rect">
            <a:avLst/>
          </a:prstGeom>
          <a:noFill/>
          <a:ln/>
        </p:spPr>
        <p:txBody>
          <a:bodyPr wrap="square" lIns="0" tIns="0" rIns="0" bIns="0" rtlCol="0" anchor="t"/>
          <a:lstStyle/>
          <a:p>
            <a:pPr rtl="1" algn="r" indent="0" marL="0">
              <a:lnSpc>
                <a:spcPct val="115000"/>
              </a:lnSpc>
              <a:buNone/>
            </a:pPr>
            <a:r>
              <a:rPr lang="ar-SA" altLang="en-US" sz="1500" dirty="0">
                <a:solidFill>
                  <a:srgbClr val="A9B7DA"/>
                </a:solidFill>
                <a:latin typeface="IBM Plex Sans Arabic" pitchFamily="34" charset="0"/>
                <a:ea typeface="IBM Plex Sans Arabic" pitchFamily="34" charset="-122"/>
                <a:cs typeface="IBM Plex Sans Arabic" pitchFamily="34" charset="-120"/>
              </a:rPr>
              <a:t>المؤسسات لا تعرف أي Hiring Signals ترتبط فعليًا بنجاح الدور.</a:t>
            </a:r>
            <a:endParaRPr lang="ar-SA" sz="1500" dirty="0"/>
          </a:p>
        </p:txBody>
      </p:sp>
      <p:sp>
        <p:nvSpPr>
          <p:cNvPr id="14" name="Shape 10"/>
          <p:cNvSpPr/>
          <p:nvPr/>
        </p:nvSpPr>
        <p:spPr>
          <a:xfrm>
            <a:off x="7824521" y="3049524"/>
            <a:ext cx="438912" cy="438912"/>
          </a:xfrm>
          <a:prstGeom prst="ellipse">
            <a:avLst/>
          </a:prstGeom>
          <a:solidFill>
            <a:srgbClr val="1F6FEB"/>
          </a:solidFill>
          <a:ln w="9525">
            <a:solidFill>
              <a:srgbClr val="2AA6F7"/>
            </a:solidFill>
            <a:prstDash val="solid"/>
          </a:ln>
        </p:spPr>
      </p:sp>
      <p:pic>
        <p:nvPicPr>
          <p:cNvPr id="15" name="Image 2" descr="preencoded.png">    </p:cNvPr>
          <p:cNvPicPr>
            <a:picLocks noChangeAspect="1"/>
          </p:cNvPicPr>
          <p:nvPr/>
        </p:nvPicPr>
        <p:blipFill>
          <a:blip r:embed="rId4"/>
          <a:stretch>
            <a:fillRect/>
          </a:stretch>
        </p:blipFill>
        <p:spPr>
          <a:xfrm>
            <a:off x="7938638" y="3163641"/>
            <a:ext cx="210678" cy="210678"/>
          </a:xfrm>
          <a:prstGeom prst="rect">
            <a:avLst/>
          </a:prstGeom>
        </p:spPr>
      </p:pic>
      <p:sp>
        <p:nvSpPr>
          <p:cNvPr id="16" name="Shape 11"/>
          <p:cNvSpPr/>
          <p:nvPr/>
        </p:nvSpPr>
        <p:spPr>
          <a:xfrm>
            <a:off x="4490618" y="1920240"/>
            <a:ext cx="3210458" cy="2697480"/>
          </a:xfrm>
          <a:prstGeom prst="roundRect">
            <a:avLst>
              <a:gd name="adj" fmla="val 4746"/>
            </a:avLst>
          </a:prstGeom>
          <a:solidFill>
            <a:srgbClr val="0C2152"/>
          </a:solidFill>
          <a:ln w="15875">
            <a:solidFill>
              <a:srgbClr val="3EE0F5"/>
            </a:solidFill>
            <a:prstDash val="solid"/>
          </a:ln>
        </p:spPr>
      </p:sp>
      <p:pic>
        <p:nvPicPr>
          <p:cNvPr id="17" name="Image 3" descr="/tmp/claude-0/-home-user-ghassankmiqdad/d1991e4f-aee0-5e68-9a9d-3fc00accdf9d/scratchpad/build/assets/mark_sm.png">    </p:cNvPr>
          <p:cNvPicPr>
            <a:picLocks noChangeAspect="1"/>
          </p:cNvPicPr>
          <p:nvPr/>
        </p:nvPicPr>
        <p:blipFill>
          <a:blip r:embed="rId5"/>
          <a:stretch>
            <a:fillRect/>
          </a:stretch>
        </p:blipFill>
        <p:spPr>
          <a:xfrm>
            <a:off x="6740957" y="2194560"/>
            <a:ext cx="685800" cy="536510"/>
          </a:xfrm>
          <a:prstGeom prst="rect">
            <a:avLst/>
          </a:prstGeom>
        </p:spPr>
      </p:pic>
      <p:sp>
        <p:nvSpPr>
          <p:cNvPr id="18" name="Text 12"/>
          <p:cNvSpPr txBox="1"/>
          <p:nvPr/>
        </p:nvSpPr>
        <p:spPr>
          <a:xfrm>
            <a:off x="4764938" y="2194560"/>
            <a:ext cx="1838858" cy="411480"/>
          </a:xfrm>
          <a:prstGeom prst="rect">
            <a:avLst/>
          </a:prstGeom>
          <a:noFill/>
          <a:ln/>
        </p:spPr>
        <p:txBody>
          <a:bodyPr wrap="square" lIns="0" tIns="0" rIns="0" bIns="0" rtlCol="0" anchor="t"/>
          <a:lstStyle/>
          <a:p>
            <a:pPr rtl="1" algn="r" indent="0" marL="0">
              <a:buNone/>
            </a:pPr>
            <a:r>
              <a:rPr lang="ar-SA" altLang="en-US" sz="2100" b="1" dirty="0">
                <a:solidFill>
                  <a:srgbClr val="F3F6FD"/>
                </a:solidFill>
                <a:latin typeface="IBM Plex Sans Arabic" pitchFamily="34" charset="0"/>
                <a:ea typeface="IBM Plex Sans Arabic" pitchFamily="34" charset="-122"/>
                <a:cs typeface="IBM Plex Sans Arabic" pitchFamily="34" charset="-120"/>
              </a:rPr>
              <a:t>الحل</a:t>
            </a:r>
            <a:endParaRPr lang="ar-SA" sz="2100" dirty="0"/>
          </a:p>
        </p:txBody>
      </p:sp>
      <p:sp>
        <p:nvSpPr>
          <p:cNvPr id="19" name="Text 13"/>
          <p:cNvSpPr txBox="1"/>
          <p:nvPr/>
        </p:nvSpPr>
        <p:spPr>
          <a:xfrm>
            <a:off x="4764938" y="2578608"/>
            <a:ext cx="1838858" cy="274320"/>
          </a:xfrm>
          <a:prstGeom prst="rect">
            <a:avLst/>
          </a:prstGeom>
          <a:noFill/>
          <a:ln/>
        </p:spPr>
        <p:txBody>
          <a:bodyPr wrap="square" lIns="0" tIns="0" rIns="0" bIns="0" rtlCol="0" anchor="t"/>
          <a:lstStyle/>
          <a:p>
            <a:pPr rtl="1" algn="r" indent="0" marL="0">
              <a:buNone/>
            </a:pPr>
            <a:r>
              <a:rPr lang="ar-SA" altLang="en-US" sz="1200" b="1" dirty="0">
                <a:solidFill>
                  <a:srgbClr val="3EE0F5"/>
                </a:solidFill>
                <a:latin typeface="IBM Plex Sans Arabic" pitchFamily="34" charset="0"/>
                <a:ea typeface="IBM Plex Sans Arabic" pitchFamily="34" charset="-122"/>
                <a:cs typeface="IBM Plex Sans Arabic" pitchFamily="34" charset="-120"/>
              </a:rPr>
              <a:t>Solution</a:t>
            </a:r>
            <a:endParaRPr lang="ar-SA" sz="1200" dirty="0"/>
          </a:p>
        </p:txBody>
      </p:sp>
      <p:sp>
        <p:nvSpPr>
          <p:cNvPr id="20" name="Text 14"/>
          <p:cNvSpPr txBox="1"/>
          <p:nvPr/>
        </p:nvSpPr>
        <p:spPr>
          <a:xfrm>
            <a:off x="4764938" y="2944368"/>
            <a:ext cx="2661818" cy="329184"/>
          </a:xfrm>
          <a:prstGeom prst="rect">
            <a:avLst/>
          </a:prstGeom>
          <a:noFill/>
          <a:ln/>
        </p:spPr>
        <p:txBody>
          <a:bodyPr wrap="square" lIns="0" tIns="0" rIns="0" bIns="0" rtlCol="0" anchor="t"/>
          <a:lstStyle/>
          <a:p>
            <a:pPr algn="r" indent="0" marL="0">
              <a:buNone/>
            </a:pPr>
            <a:r>
              <a:rPr lang="ar-SA" altLang="en-US" sz="1800" b="1" dirty="0">
                <a:solidFill>
                  <a:srgbClr val="3EE0F5"/>
                </a:solidFill>
                <a:latin typeface="IBM Plex Sans Arabic" pitchFamily="34" charset="0"/>
                <a:ea typeface="IBM Plex Sans Arabic" pitchFamily="34" charset="-122"/>
                <a:cs typeface="IBM Plex Sans Arabic" pitchFamily="34" charset="-120"/>
              </a:rPr>
              <a:t>NestHire</a:t>
            </a:r>
            <a:endParaRPr lang="ar-SA" sz="1800" dirty="0"/>
          </a:p>
        </p:txBody>
      </p:sp>
      <p:sp>
        <p:nvSpPr>
          <p:cNvPr id="21" name="Text 15"/>
          <p:cNvSpPr txBox="1"/>
          <p:nvPr/>
        </p:nvSpPr>
        <p:spPr>
          <a:xfrm>
            <a:off x="4764938" y="3264408"/>
            <a:ext cx="2661818" cy="274320"/>
          </a:xfrm>
          <a:prstGeom prst="rect">
            <a:avLst/>
          </a:prstGeom>
          <a:noFill/>
          <a:ln/>
        </p:spPr>
        <p:txBody>
          <a:bodyPr wrap="square" lIns="0" tIns="0" rIns="0" bIns="0" rtlCol="0" anchor="t"/>
          <a:lstStyle/>
          <a:p>
            <a:pPr algn="r" indent="0" marL="0">
              <a:buNone/>
            </a:pPr>
            <a:r>
              <a:rPr lang="ar-SA" altLang="en-US" sz="1250" b="1" dirty="0">
                <a:solidFill>
                  <a:srgbClr val="F3F6FD"/>
                </a:solidFill>
                <a:latin typeface="IBM Plex Sans Arabic" pitchFamily="34" charset="0"/>
                <a:ea typeface="IBM Plex Sans Arabic" pitchFamily="34" charset="-122"/>
                <a:cs typeface="IBM Plex Sans Arabic" pitchFamily="34" charset="-120"/>
              </a:rPr>
              <a:t>Hiring Decision Calibration Engine</a:t>
            </a:r>
            <a:endParaRPr lang="ar-SA" sz="1250" dirty="0"/>
          </a:p>
        </p:txBody>
      </p:sp>
      <p:sp>
        <p:nvSpPr>
          <p:cNvPr id="22" name="Text 16"/>
          <p:cNvSpPr txBox="1"/>
          <p:nvPr/>
        </p:nvSpPr>
        <p:spPr>
          <a:xfrm>
            <a:off x="4764938" y="3611880"/>
            <a:ext cx="2661818" cy="1188720"/>
          </a:xfrm>
          <a:prstGeom prst="rect">
            <a:avLst/>
          </a:prstGeom>
          <a:noFill/>
          <a:ln/>
        </p:spPr>
        <p:txBody>
          <a:bodyPr wrap="square" lIns="0" tIns="0" rIns="0" bIns="0" rtlCol="0" anchor="t"/>
          <a:lstStyle/>
          <a:p>
            <a:pPr rtl="1" algn="r" indent="0" marL="0">
              <a:lnSpc>
                <a:spcPct val="115000"/>
              </a:lnSpc>
              <a:buNone/>
            </a:pPr>
            <a:r>
              <a:rPr lang="ar-SA" altLang="en-US" sz="1500" dirty="0">
                <a:solidFill>
                  <a:srgbClr val="A9B7DA"/>
                </a:solidFill>
                <a:latin typeface="IBM Plex Sans Arabic" pitchFamily="34" charset="0"/>
                <a:ea typeface="IBM Plex Sans Arabic" pitchFamily="34" charset="-122"/>
                <a:cs typeface="IBM Plex Sans Arabic" pitchFamily="34" charset="-120"/>
              </a:rPr>
              <a:t>يربط أدلة المرشح وقرارات التعيين بنتائج ما بعد التوظيف.</a:t>
            </a:r>
            <a:endParaRPr lang="ar-SA" sz="1500" dirty="0"/>
          </a:p>
        </p:txBody>
      </p:sp>
      <p:sp>
        <p:nvSpPr>
          <p:cNvPr id="23" name="Shape 17"/>
          <p:cNvSpPr/>
          <p:nvPr/>
        </p:nvSpPr>
        <p:spPr>
          <a:xfrm>
            <a:off x="3928262" y="3049524"/>
            <a:ext cx="438912" cy="438912"/>
          </a:xfrm>
          <a:prstGeom prst="ellipse">
            <a:avLst/>
          </a:prstGeom>
          <a:solidFill>
            <a:srgbClr val="1F6FEB"/>
          </a:solidFill>
          <a:ln w="9525">
            <a:solidFill>
              <a:srgbClr val="2AA6F7"/>
            </a:solidFill>
            <a:prstDash val="solid"/>
          </a:ln>
        </p:spPr>
      </p:sp>
      <p:pic>
        <p:nvPicPr>
          <p:cNvPr id="24" name="Image 4" descr="preencoded.png">    </p:cNvPr>
          <p:cNvPicPr>
            <a:picLocks noChangeAspect="1"/>
          </p:cNvPicPr>
          <p:nvPr/>
        </p:nvPicPr>
        <p:blipFill>
          <a:blip r:embed="rId6"/>
          <a:stretch>
            <a:fillRect/>
          </a:stretch>
        </p:blipFill>
        <p:spPr>
          <a:xfrm>
            <a:off x="4042380" y="3163641"/>
            <a:ext cx="210678" cy="210678"/>
          </a:xfrm>
          <a:prstGeom prst="rect">
            <a:avLst/>
          </a:prstGeom>
        </p:spPr>
      </p:pic>
      <p:sp>
        <p:nvSpPr>
          <p:cNvPr id="25" name="Shape 18"/>
          <p:cNvSpPr/>
          <p:nvPr/>
        </p:nvSpPr>
        <p:spPr>
          <a:xfrm>
            <a:off x="594360" y="1920240"/>
            <a:ext cx="3210458" cy="2697480"/>
          </a:xfrm>
          <a:prstGeom prst="roundRect">
            <a:avLst>
              <a:gd name="adj" fmla="val 4746"/>
            </a:avLst>
          </a:prstGeom>
          <a:solidFill>
            <a:srgbClr val="0B1634"/>
          </a:solidFill>
          <a:ln w="9525">
            <a:solidFill>
              <a:srgbClr val="1E3570"/>
            </a:solidFill>
            <a:prstDash val="solid"/>
          </a:ln>
        </p:spPr>
      </p:sp>
      <p:sp>
        <p:nvSpPr>
          <p:cNvPr id="26" name="Shape 19"/>
          <p:cNvSpPr/>
          <p:nvPr/>
        </p:nvSpPr>
        <p:spPr>
          <a:xfrm>
            <a:off x="2963570" y="2194560"/>
            <a:ext cx="566928" cy="566928"/>
          </a:xfrm>
          <a:prstGeom prst="ellipse">
            <a:avLst/>
          </a:prstGeom>
          <a:solidFill>
            <a:srgbClr val="10204A"/>
          </a:solidFill>
          <a:ln w="9525">
            <a:solidFill>
              <a:srgbClr val="1E3570"/>
            </a:solidFill>
            <a:prstDash val="solid"/>
          </a:ln>
        </p:spPr>
      </p:sp>
      <p:pic>
        <p:nvPicPr>
          <p:cNvPr id="27" name="Image 5" descr="preencoded.png">    </p:cNvPr>
          <p:cNvPicPr>
            <a:picLocks noChangeAspect="1"/>
          </p:cNvPicPr>
          <p:nvPr/>
        </p:nvPicPr>
        <p:blipFill>
          <a:blip r:embed="rId7"/>
          <a:stretch>
            <a:fillRect/>
          </a:stretch>
        </p:blipFill>
        <p:spPr>
          <a:xfrm>
            <a:off x="3110972" y="2341961"/>
            <a:ext cx="272125" cy="272125"/>
          </a:xfrm>
          <a:prstGeom prst="rect">
            <a:avLst/>
          </a:prstGeom>
        </p:spPr>
      </p:pic>
      <p:sp>
        <p:nvSpPr>
          <p:cNvPr id="28" name="Text 20"/>
          <p:cNvSpPr txBox="1"/>
          <p:nvPr/>
        </p:nvSpPr>
        <p:spPr>
          <a:xfrm>
            <a:off x="868680" y="2194560"/>
            <a:ext cx="1838858" cy="411480"/>
          </a:xfrm>
          <a:prstGeom prst="rect">
            <a:avLst/>
          </a:prstGeom>
          <a:noFill/>
          <a:ln/>
        </p:spPr>
        <p:txBody>
          <a:bodyPr wrap="square" lIns="0" tIns="0" rIns="0" bIns="0" rtlCol="0" anchor="t"/>
          <a:lstStyle/>
          <a:p>
            <a:pPr rtl="1" algn="r" indent="0" marL="0">
              <a:buNone/>
            </a:pPr>
            <a:r>
              <a:rPr lang="ar-SA" altLang="en-US" sz="2100" b="1" dirty="0">
                <a:solidFill>
                  <a:srgbClr val="F3F6FD"/>
                </a:solidFill>
                <a:latin typeface="IBM Plex Sans Arabic" pitchFamily="34" charset="0"/>
                <a:ea typeface="IBM Plex Sans Arabic" pitchFamily="34" charset="-122"/>
                <a:cs typeface="IBM Plex Sans Arabic" pitchFamily="34" charset="-120"/>
              </a:rPr>
              <a:t>القيمة</a:t>
            </a:r>
            <a:endParaRPr lang="ar-SA" sz="2100" dirty="0"/>
          </a:p>
        </p:txBody>
      </p:sp>
      <p:sp>
        <p:nvSpPr>
          <p:cNvPr id="29" name="Text 21"/>
          <p:cNvSpPr txBox="1"/>
          <p:nvPr/>
        </p:nvSpPr>
        <p:spPr>
          <a:xfrm>
            <a:off x="868680" y="2578608"/>
            <a:ext cx="1838858" cy="274320"/>
          </a:xfrm>
          <a:prstGeom prst="rect">
            <a:avLst/>
          </a:prstGeom>
          <a:noFill/>
          <a:ln/>
        </p:spPr>
        <p:txBody>
          <a:bodyPr wrap="square" lIns="0" tIns="0" rIns="0" bIns="0" rtlCol="0" anchor="t"/>
          <a:lstStyle/>
          <a:p>
            <a:pPr rtl="1" algn="r" indent="0" marL="0">
              <a:buNone/>
            </a:pPr>
            <a:r>
              <a:rPr lang="ar-SA" altLang="en-US" sz="1200" b="1" dirty="0">
                <a:solidFill>
                  <a:srgbClr val="3EE0F5"/>
                </a:solidFill>
                <a:latin typeface="IBM Plex Sans Arabic" pitchFamily="34" charset="0"/>
                <a:ea typeface="IBM Plex Sans Arabic" pitchFamily="34" charset="-122"/>
                <a:cs typeface="IBM Plex Sans Arabic" pitchFamily="34" charset="-120"/>
              </a:rPr>
              <a:t>Value</a:t>
            </a:r>
            <a:endParaRPr lang="ar-SA" sz="1200" dirty="0"/>
          </a:p>
        </p:txBody>
      </p:sp>
      <p:sp>
        <p:nvSpPr>
          <p:cNvPr id="30" name="Text 22"/>
          <p:cNvSpPr txBox="1"/>
          <p:nvPr/>
        </p:nvSpPr>
        <p:spPr>
          <a:xfrm>
            <a:off x="868680" y="3063240"/>
            <a:ext cx="2661818" cy="1188720"/>
          </a:xfrm>
          <a:prstGeom prst="rect">
            <a:avLst/>
          </a:prstGeom>
          <a:noFill/>
          <a:ln/>
        </p:spPr>
        <p:txBody>
          <a:bodyPr wrap="square" lIns="0" tIns="0" rIns="0" bIns="0" rtlCol="0" anchor="t"/>
          <a:lstStyle/>
          <a:p>
            <a:pPr rtl="1" algn="r" indent="0" marL="0">
              <a:lnSpc>
                <a:spcPct val="115000"/>
              </a:lnSpc>
              <a:buNone/>
            </a:pPr>
            <a:r>
              <a:rPr lang="ar-SA" altLang="en-US" sz="1500" dirty="0">
                <a:solidFill>
                  <a:srgbClr val="A9B7DA"/>
                </a:solidFill>
                <a:latin typeface="IBM Plex Sans Arabic" pitchFamily="34" charset="0"/>
                <a:ea typeface="IBM Plex Sans Arabic" pitchFamily="34" charset="-122"/>
                <a:cs typeface="IBM Plex Sans Arabic" pitchFamily="34" charset="-120"/>
              </a:rPr>
              <a:t>معرفة ما يعمل وما يجب تغييره… ثم قياس أثر التغيير في الدفعة التالية.</a:t>
            </a:r>
            <a:endParaRPr lang="ar-SA" sz="1500" dirty="0"/>
          </a:p>
        </p:txBody>
      </p:sp>
      <p:sp>
        <p:nvSpPr>
          <p:cNvPr id="31" name="Text 23"/>
          <p:cNvSpPr txBox="1"/>
          <p:nvPr/>
        </p:nvSpPr>
        <p:spPr>
          <a:xfrm>
            <a:off x="594360" y="4846320"/>
            <a:ext cx="11002975" cy="365760"/>
          </a:xfrm>
          <a:prstGeom prst="rect">
            <a:avLst/>
          </a:prstGeom>
          <a:noFill/>
          <a:ln/>
        </p:spPr>
        <p:txBody>
          <a:bodyPr wrap="square" lIns="0" tIns="0" rIns="0" bIns="0" rtlCol="0" anchor="t"/>
          <a:lstStyle/>
          <a:p>
            <a:pPr rtl="1" algn="r" indent="0" marL="0">
              <a:buNone/>
            </a:pPr>
            <a:r>
              <a:rPr lang="ar-SA" altLang="en-US" sz="1500" b="1" dirty="0">
                <a:solidFill>
                  <a:srgbClr val="3EE0F5"/>
                </a:solidFill>
                <a:latin typeface="IBM Plex Sans Arabic" pitchFamily="34" charset="0"/>
                <a:ea typeface="IBM Plex Sans Arabic" pitchFamily="34" charset="-122"/>
                <a:cs typeface="IBM Plex Sans Arabic" pitchFamily="34" charset="-120"/>
              </a:rPr>
              <a:t>Positioning: </a:t>
            </a:r>
            <a:pPr rtl="1" algn="r" indent="0" marL="0">
              <a:buNone/>
            </a:pPr>
            <a:r>
              <a:rPr lang="ar-SA" altLang="en-US" sz="1500" dirty="0">
                <a:solidFill>
                  <a:srgbClr val="F3F6FD"/>
                </a:solidFill>
                <a:latin typeface="IBM Plex Sans Arabic" pitchFamily="34" charset="0"/>
                <a:ea typeface="IBM Plex Sans Arabic" pitchFamily="34" charset="-122"/>
                <a:cs typeface="IBM Plex Sans Arabic" pitchFamily="34" charset="-120"/>
              </a:rPr>
              <a:t>طبقة Intelligence محايدة فوق ATS/HRIS والأنظمة الحالية — Vendor-agnostic، وليست بديلًا عنها.</a:t>
            </a:r>
            <a:endParaRPr lang="ar-SA" sz="1500" dirty="0"/>
          </a:p>
        </p:txBody>
      </p:sp>
      <p:sp>
        <p:nvSpPr>
          <p:cNvPr id="32" name="Shape 24"/>
          <p:cNvSpPr/>
          <p:nvPr/>
        </p:nvSpPr>
        <p:spPr>
          <a:xfrm>
            <a:off x="8983751" y="5440680"/>
            <a:ext cx="2613584" cy="566928"/>
          </a:xfrm>
          <a:prstGeom prst="roundRect">
            <a:avLst>
              <a:gd name="adj" fmla="val 50000"/>
            </a:avLst>
          </a:prstGeom>
          <a:solidFill>
            <a:srgbClr val="0B1634"/>
          </a:solidFill>
          <a:ln w="9525">
            <a:solidFill>
              <a:srgbClr val="1E3570"/>
            </a:solidFill>
            <a:prstDash val="solid"/>
          </a:ln>
        </p:spPr>
      </p:sp>
      <p:pic>
        <p:nvPicPr>
          <p:cNvPr id="33" name="Image 6" descr="preencoded.png">    </p:cNvPr>
          <p:cNvPicPr>
            <a:picLocks noChangeAspect="1"/>
          </p:cNvPicPr>
          <p:nvPr/>
        </p:nvPicPr>
        <p:blipFill>
          <a:blip r:embed="rId8"/>
          <a:stretch>
            <a:fillRect/>
          </a:stretch>
        </p:blipFill>
        <p:spPr>
          <a:xfrm>
            <a:off x="11140135" y="5577840"/>
            <a:ext cx="292608" cy="292608"/>
          </a:xfrm>
          <a:prstGeom prst="rect">
            <a:avLst/>
          </a:prstGeom>
        </p:spPr>
      </p:pic>
      <p:sp>
        <p:nvSpPr>
          <p:cNvPr id="34" name="Text 25"/>
          <p:cNvSpPr txBox="1"/>
          <p:nvPr/>
        </p:nvSpPr>
        <p:spPr>
          <a:xfrm>
            <a:off x="9166631" y="5440680"/>
            <a:ext cx="1882064" cy="566928"/>
          </a:xfrm>
          <a:prstGeom prst="rect">
            <a:avLst/>
          </a:prstGeom>
          <a:noFill/>
          <a:ln/>
        </p:spPr>
        <p:txBody>
          <a:bodyPr wrap="square" lIns="0" tIns="0" rIns="0" bIns="0" rtlCol="0" anchor="ctr"/>
          <a:lstStyle/>
          <a:p>
            <a:pPr rtl="1" algn="r" indent="0" marL="0">
              <a:buNone/>
            </a:pPr>
            <a:r>
              <a:rPr lang="ar-SA" altLang="en-US" sz="1350" b="1" dirty="0">
                <a:solidFill>
                  <a:srgbClr val="A9B7DA"/>
                </a:solidFill>
                <a:latin typeface="IBM Plex Sans Arabic" pitchFamily="34" charset="0"/>
                <a:ea typeface="IBM Plex Sans Arabic" pitchFamily="34" charset="-122"/>
                <a:cs typeface="IBM Plex Sans Arabic" pitchFamily="34" charset="-120"/>
              </a:rPr>
              <a:t>ليس ATS جديدًا</a:t>
            </a:r>
            <a:endParaRPr lang="ar-SA" sz="1350" dirty="0"/>
          </a:p>
        </p:txBody>
      </p:sp>
      <p:sp>
        <p:nvSpPr>
          <p:cNvPr id="35" name="Shape 26"/>
          <p:cNvSpPr/>
          <p:nvPr/>
        </p:nvSpPr>
        <p:spPr>
          <a:xfrm>
            <a:off x="6187288" y="5440680"/>
            <a:ext cx="2613584" cy="566928"/>
          </a:xfrm>
          <a:prstGeom prst="roundRect">
            <a:avLst>
              <a:gd name="adj" fmla="val 50000"/>
            </a:avLst>
          </a:prstGeom>
          <a:solidFill>
            <a:srgbClr val="0B1634"/>
          </a:solidFill>
          <a:ln w="9525">
            <a:solidFill>
              <a:srgbClr val="1E3570"/>
            </a:solidFill>
            <a:prstDash val="solid"/>
          </a:ln>
        </p:spPr>
      </p:sp>
      <p:pic>
        <p:nvPicPr>
          <p:cNvPr id="36" name="Image 7" descr="preencoded.png">    </p:cNvPr>
          <p:cNvPicPr>
            <a:picLocks noChangeAspect="1"/>
          </p:cNvPicPr>
          <p:nvPr/>
        </p:nvPicPr>
        <p:blipFill>
          <a:blip r:embed="rId9"/>
          <a:stretch>
            <a:fillRect/>
          </a:stretch>
        </p:blipFill>
        <p:spPr>
          <a:xfrm>
            <a:off x="8343671" y="5577840"/>
            <a:ext cx="292608" cy="292608"/>
          </a:xfrm>
          <a:prstGeom prst="rect">
            <a:avLst/>
          </a:prstGeom>
        </p:spPr>
      </p:pic>
      <p:sp>
        <p:nvSpPr>
          <p:cNvPr id="37" name="Text 27"/>
          <p:cNvSpPr txBox="1"/>
          <p:nvPr/>
        </p:nvSpPr>
        <p:spPr>
          <a:xfrm>
            <a:off x="6370168" y="5440680"/>
            <a:ext cx="1882064" cy="566928"/>
          </a:xfrm>
          <a:prstGeom prst="rect">
            <a:avLst/>
          </a:prstGeom>
          <a:noFill/>
          <a:ln/>
        </p:spPr>
        <p:txBody>
          <a:bodyPr wrap="square" lIns="0" tIns="0" rIns="0" bIns="0" rtlCol="0" anchor="ctr"/>
          <a:lstStyle/>
          <a:p>
            <a:pPr rtl="1" algn="r" indent="0" marL="0">
              <a:buNone/>
            </a:pPr>
            <a:r>
              <a:rPr lang="ar-SA" altLang="en-US" sz="1350" b="1" dirty="0">
                <a:solidFill>
                  <a:srgbClr val="A9B7DA"/>
                </a:solidFill>
                <a:latin typeface="IBM Plex Sans Arabic" pitchFamily="34" charset="0"/>
                <a:ea typeface="IBM Plex Sans Arabic" pitchFamily="34" charset="-122"/>
                <a:cs typeface="IBM Plex Sans Arabic" pitchFamily="34" charset="-120"/>
              </a:rPr>
              <a:t>ليس CV Screener</a:t>
            </a:r>
            <a:endParaRPr lang="ar-SA" sz="1350" dirty="0"/>
          </a:p>
        </p:txBody>
      </p:sp>
      <p:sp>
        <p:nvSpPr>
          <p:cNvPr id="38" name="Shape 28"/>
          <p:cNvSpPr/>
          <p:nvPr/>
        </p:nvSpPr>
        <p:spPr>
          <a:xfrm>
            <a:off x="3390824" y="5440680"/>
            <a:ext cx="2613584" cy="566928"/>
          </a:xfrm>
          <a:prstGeom prst="roundRect">
            <a:avLst>
              <a:gd name="adj" fmla="val 50000"/>
            </a:avLst>
          </a:prstGeom>
          <a:solidFill>
            <a:srgbClr val="0B1634"/>
          </a:solidFill>
          <a:ln w="9525">
            <a:solidFill>
              <a:srgbClr val="1E3570"/>
            </a:solidFill>
            <a:prstDash val="solid"/>
          </a:ln>
        </p:spPr>
      </p:sp>
      <p:pic>
        <p:nvPicPr>
          <p:cNvPr id="39" name="Image 8" descr="preencoded.png">    </p:cNvPr>
          <p:cNvPicPr>
            <a:picLocks noChangeAspect="1"/>
          </p:cNvPicPr>
          <p:nvPr/>
        </p:nvPicPr>
        <p:blipFill>
          <a:blip r:embed="rId10"/>
          <a:stretch>
            <a:fillRect/>
          </a:stretch>
        </p:blipFill>
        <p:spPr>
          <a:xfrm>
            <a:off x="5547208" y="5577840"/>
            <a:ext cx="292608" cy="292608"/>
          </a:xfrm>
          <a:prstGeom prst="rect">
            <a:avLst/>
          </a:prstGeom>
        </p:spPr>
      </p:pic>
      <p:sp>
        <p:nvSpPr>
          <p:cNvPr id="40" name="Text 29"/>
          <p:cNvSpPr txBox="1"/>
          <p:nvPr/>
        </p:nvSpPr>
        <p:spPr>
          <a:xfrm>
            <a:off x="3573704" y="5440680"/>
            <a:ext cx="1882064" cy="566928"/>
          </a:xfrm>
          <a:prstGeom prst="rect">
            <a:avLst/>
          </a:prstGeom>
          <a:noFill/>
          <a:ln/>
        </p:spPr>
        <p:txBody>
          <a:bodyPr wrap="square" lIns="0" tIns="0" rIns="0" bIns="0" rtlCol="0" anchor="ctr"/>
          <a:lstStyle/>
          <a:p>
            <a:pPr rtl="1" algn="r" indent="0" marL="0">
              <a:buNone/>
            </a:pPr>
            <a:r>
              <a:rPr lang="ar-SA" altLang="en-US" sz="1350" b="1" dirty="0">
                <a:solidFill>
                  <a:srgbClr val="A9B7DA"/>
                </a:solidFill>
                <a:latin typeface="IBM Plex Sans Arabic" pitchFamily="34" charset="0"/>
                <a:ea typeface="IBM Plex Sans Arabic" pitchFamily="34" charset="-122"/>
                <a:cs typeface="IBM Plex Sans Arabic" pitchFamily="34" charset="-120"/>
              </a:rPr>
              <a:t>ليس AI Recruiter</a:t>
            </a:r>
            <a:endParaRPr lang="ar-SA" sz="1350" dirty="0"/>
          </a:p>
        </p:txBody>
      </p:sp>
      <p:sp>
        <p:nvSpPr>
          <p:cNvPr id="41" name="Shape 30"/>
          <p:cNvSpPr/>
          <p:nvPr/>
        </p:nvSpPr>
        <p:spPr>
          <a:xfrm>
            <a:off x="594360" y="5440680"/>
            <a:ext cx="2613584" cy="566928"/>
          </a:xfrm>
          <a:prstGeom prst="roundRect">
            <a:avLst>
              <a:gd name="adj" fmla="val 50000"/>
            </a:avLst>
          </a:prstGeom>
          <a:solidFill>
            <a:srgbClr val="0B1634"/>
          </a:solidFill>
          <a:ln w="9525">
            <a:solidFill>
              <a:srgbClr val="1E3570"/>
            </a:solidFill>
            <a:prstDash val="solid"/>
          </a:ln>
        </p:spPr>
      </p:sp>
      <p:pic>
        <p:nvPicPr>
          <p:cNvPr id="42" name="Image 9" descr="preencoded.png">    </p:cNvPr>
          <p:cNvPicPr>
            <a:picLocks noChangeAspect="1"/>
          </p:cNvPicPr>
          <p:nvPr/>
        </p:nvPicPr>
        <p:blipFill>
          <a:blip r:embed="rId11"/>
          <a:stretch>
            <a:fillRect/>
          </a:stretch>
        </p:blipFill>
        <p:spPr>
          <a:xfrm>
            <a:off x="2750744" y="5577840"/>
            <a:ext cx="292608" cy="292608"/>
          </a:xfrm>
          <a:prstGeom prst="rect">
            <a:avLst/>
          </a:prstGeom>
        </p:spPr>
      </p:pic>
      <p:sp>
        <p:nvSpPr>
          <p:cNvPr id="43" name="Text 31"/>
          <p:cNvSpPr txBox="1"/>
          <p:nvPr/>
        </p:nvSpPr>
        <p:spPr>
          <a:xfrm>
            <a:off x="777240" y="5440680"/>
            <a:ext cx="1882064" cy="566928"/>
          </a:xfrm>
          <a:prstGeom prst="rect">
            <a:avLst/>
          </a:prstGeom>
          <a:noFill/>
          <a:ln/>
        </p:spPr>
        <p:txBody>
          <a:bodyPr wrap="square" lIns="0" tIns="0" rIns="0" bIns="0" rtlCol="0" anchor="ctr"/>
          <a:lstStyle/>
          <a:p>
            <a:pPr rtl="1" algn="r" indent="0" marL="0">
              <a:buNone/>
            </a:pPr>
            <a:r>
              <a:rPr lang="ar-SA" altLang="en-US" sz="1350" b="1" dirty="0">
                <a:solidFill>
                  <a:srgbClr val="A9B7DA"/>
                </a:solidFill>
                <a:latin typeface="IBM Plex Sans Arabic" pitchFamily="34" charset="0"/>
                <a:ea typeface="IBM Plex Sans Arabic" pitchFamily="34" charset="-122"/>
                <a:cs typeface="IBM Plex Sans Arabic" pitchFamily="34" charset="-120"/>
              </a:rPr>
              <a:t>لا يتخذ قرار التوظيف النهائي</a:t>
            </a:r>
            <a:endParaRPr lang="ar-SA"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508760" y="457200"/>
            <a:ext cx="10088575" cy="274320"/>
          </a:xfrm>
          <a:prstGeom prst="rect">
            <a:avLst/>
          </a:prstGeom>
          <a:noFill/>
          <a:ln/>
        </p:spPr>
        <p:txBody>
          <a:bodyPr wrap="square" lIns="0" tIns="0" rIns="0" bIns="0" rtlCol="0" anchor="t"/>
          <a:lstStyle/>
          <a:p>
            <a:pPr rtl="1" algn="r" indent="0" marL="0">
              <a:buNone/>
            </a:pPr>
            <a:r>
              <a:rPr lang="ar-SA" altLang="en-US" sz="1200" b="1" spc="100" kern="0" dirty="0">
                <a:solidFill>
                  <a:srgbClr val="3EE0F5"/>
                </a:solidFill>
                <a:latin typeface="IBM Plex Sans Arabic" pitchFamily="34" charset="0"/>
                <a:ea typeface="IBM Plex Sans Arabic" pitchFamily="34" charset="-122"/>
                <a:cs typeface="IBM Plex Sans Arabic" pitchFamily="34" charset="-120"/>
              </a:rPr>
              <a:t>03  ·  HOW — كيف سيعمل المنتج؟</a:t>
            </a:r>
            <a:endParaRPr lang="ar-SA" sz="1200" dirty="0"/>
          </a:p>
        </p:txBody>
      </p:sp>
      <p:sp>
        <p:nvSpPr>
          <p:cNvPr id="3" name="Text 1"/>
          <p:cNvSpPr txBox="1"/>
          <p:nvPr/>
        </p:nvSpPr>
        <p:spPr>
          <a:xfrm>
            <a:off x="1508760" y="731520"/>
            <a:ext cx="10088575" cy="640080"/>
          </a:xfrm>
          <a:prstGeom prst="rect">
            <a:avLst/>
          </a:prstGeom>
          <a:noFill/>
          <a:ln/>
        </p:spPr>
        <p:txBody>
          <a:bodyPr wrap="square" lIns="0" tIns="0" rIns="0" bIns="0" rtlCol="0" anchor="t"/>
          <a:lstStyle/>
          <a:p>
            <a:pPr rtl="1" algn="r" indent="0" marL="0">
              <a:buNone/>
            </a:pPr>
            <a:r>
              <a:rPr lang="ar-SA" altLang="en-US" sz="3200" b="1" dirty="0">
                <a:solidFill>
                  <a:srgbClr val="F3F6FD"/>
                </a:solidFill>
                <a:latin typeface="IBM Plex Sans Arabic" pitchFamily="34" charset="0"/>
                <a:ea typeface="IBM Plex Sans Arabic" pitchFamily="34" charset="-122"/>
                <a:cs typeface="IBM Plex Sans Arabic" pitchFamily="34" charset="-120"/>
              </a:rPr>
              <a:t>حلقة واحدة تتعلّم مع كل دفعة توظيف</a:t>
            </a:r>
            <a:endParaRPr lang="ar-SA" sz="3200" dirty="0"/>
          </a:p>
        </p:txBody>
      </p:sp>
      <p:sp>
        <p:nvSpPr>
          <p:cNvPr id="4" name="Text 2"/>
          <p:cNvSpPr txBox="1"/>
          <p:nvPr/>
        </p:nvSpPr>
        <p:spPr>
          <a:xfrm>
            <a:off x="594360" y="1353312"/>
            <a:ext cx="11002975" cy="365760"/>
          </a:xfrm>
          <a:prstGeom prst="rect">
            <a:avLst/>
          </a:prstGeom>
          <a:noFill/>
          <a:ln/>
        </p:spPr>
        <p:txBody>
          <a:bodyPr wrap="square" lIns="0" tIns="0" rIns="0" bIns="0" rtlCol="0" anchor="t"/>
          <a:lstStyle/>
          <a:p>
            <a:pPr rtl="1" algn="r" indent="0" marL="0">
              <a:buNone/>
            </a:pPr>
            <a:r>
              <a:rPr lang="ar-SA" altLang="en-US" sz="1500" dirty="0">
                <a:solidFill>
                  <a:srgbClr val="A9B7DA"/>
                </a:solidFill>
                <a:latin typeface="IBM Plex Sans Arabic" pitchFamily="34" charset="0"/>
                <a:ea typeface="IBM Plex Sans Arabic" pitchFamily="34" charset="-122"/>
                <a:cs typeface="IBM Plex Sans Arabic" pitchFamily="34" charset="-120"/>
              </a:rPr>
              <a:t>الدليل  ←  القرار  ←  النتيجة  ←  المعايرة  ←  التغيير  ←  الدفعة التالية</a:t>
            </a:r>
            <a:endParaRPr lang="ar-SA" sz="1500" dirty="0"/>
          </a:p>
        </p:txBody>
      </p:sp>
      <p:pic>
        <p:nvPicPr>
          <p:cNvPr id="5" name="Image 0" descr="/tmp/claude-0/-home-user-ghassankmiqdad/d1991e4f-aee0-5e68-9a9d-3fc00accdf9d/scratchpad/build/assets/mark_sm.png">    </p:cNvPr>
          <p:cNvPicPr>
            <a:picLocks noChangeAspect="1"/>
          </p:cNvPicPr>
          <p:nvPr/>
        </p:nvPicPr>
        <p:blipFill>
          <a:blip r:embed="rId2"/>
          <a:stretch>
            <a:fillRect/>
          </a:stretch>
        </p:blipFill>
        <p:spPr>
          <a:xfrm>
            <a:off x="594360" y="475488"/>
            <a:ext cx="566928" cy="443515"/>
          </a:xfrm>
          <a:prstGeom prst="rect">
            <a:avLst/>
          </a:prstGeom>
        </p:spPr>
      </p:pic>
      <p:sp>
        <p:nvSpPr>
          <p:cNvPr id="6" name="Text 3"/>
          <p:cNvSpPr txBox="1"/>
          <p:nvPr/>
        </p:nvSpPr>
        <p:spPr>
          <a:xfrm>
            <a:off x="7939735" y="6400800"/>
            <a:ext cx="3657600" cy="228600"/>
          </a:xfrm>
          <a:prstGeom prst="rect">
            <a:avLst/>
          </a:prstGeom>
          <a:noFill/>
          <a:ln/>
        </p:spPr>
        <p:txBody>
          <a:bodyPr wrap="square" lIns="0" tIns="0" rIns="0" bIns="0" rtlCol="0" anchor="t"/>
          <a:lstStyle/>
          <a:p>
            <a:pPr rtl="1" algn="r" indent="0" marL="0">
              <a:buNone/>
            </a:pPr>
            <a:r>
              <a:rPr lang="ar-SA" altLang="en-US" sz="900" dirty="0">
                <a:solidFill>
                  <a:srgbClr val="6E7FAA"/>
                </a:solidFill>
                <a:latin typeface="IBM Plex Sans Arabic" pitchFamily="34" charset="0"/>
                <a:ea typeface="IBM Plex Sans Arabic" pitchFamily="34" charset="-122"/>
                <a:cs typeface="IBM Plex Sans Arabic" pitchFamily="34" charset="-120"/>
              </a:rPr>
              <a:t>NestHire · اجتماع الانطلاق</a:t>
            </a:r>
            <a:endParaRPr lang="ar-SA" sz="900" dirty="0"/>
          </a:p>
        </p:txBody>
      </p:sp>
      <p:sp>
        <p:nvSpPr>
          <p:cNvPr id="7" name="Text 4"/>
          <p:cNvSpPr txBox="1"/>
          <p:nvPr/>
        </p:nvSpPr>
        <p:spPr>
          <a:xfrm>
            <a:off x="594360" y="6400800"/>
            <a:ext cx="1097280" cy="228600"/>
          </a:xfrm>
          <a:prstGeom prst="rect">
            <a:avLst/>
          </a:prstGeom>
          <a:noFill/>
          <a:ln/>
        </p:spPr>
        <p:txBody>
          <a:bodyPr wrap="square" lIns="0" tIns="0" rIns="0" bIns="0" rtlCol="0" anchor="t"/>
          <a:lstStyle/>
          <a:p>
            <a:pPr algn="l" indent="0" marL="0">
              <a:buNone/>
            </a:pPr>
            <a:r>
              <a:rPr lang="ar-SA" altLang="en-US" sz="900" dirty="0">
                <a:solidFill>
                  <a:srgbClr val="6E7FAA"/>
                </a:solidFill>
                <a:latin typeface="IBM Plex Sans Arabic" pitchFamily="34" charset="0"/>
                <a:ea typeface="IBM Plex Sans Arabic" pitchFamily="34" charset="-122"/>
                <a:cs typeface="IBM Plex Sans Arabic" pitchFamily="34" charset="-120"/>
              </a:rPr>
              <a:t>05 / 18</a:t>
            </a:r>
            <a:endParaRPr lang="ar-SA" sz="900" dirty="0"/>
          </a:p>
        </p:txBody>
      </p:sp>
      <p:sp>
        <p:nvSpPr>
          <p:cNvPr id="8" name="Shape 5"/>
          <p:cNvSpPr/>
          <p:nvPr/>
        </p:nvSpPr>
        <p:spPr>
          <a:xfrm>
            <a:off x="9120911" y="1920240"/>
            <a:ext cx="2476424" cy="3246120"/>
          </a:xfrm>
          <a:prstGeom prst="roundRect">
            <a:avLst>
              <a:gd name="adj" fmla="val 5169"/>
            </a:avLst>
          </a:prstGeom>
          <a:solidFill>
            <a:srgbClr val="0B1634"/>
          </a:solidFill>
          <a:ln w="9525">
            <a:solidFill>
              <a:srgbClr val="1E3570"/>
            </a:solidFill>
            <a:prstDash val="solid"/>
          </a:ln>
        </p:spPr>
      </p:sp>
      <p:sp>
        <p:nvSpPr>
          <p:cNvPr id="9" name="Shape 6"/>
          <p:cNvSpPr/>
          <p:nvPr/>
        </p:nvSpPr>
        <p:spPr>
          <a:xfrm>
            <a:off x="10801807" y="2148840"/>
            <a:ext cx="566928" cy="566928"/>
          </a:xfrm>
          <a:prstGeom prst="ellipse">
            <a:avLst/>
          </a:prstGeom>
          <a:solidFill>
            <a:srgbClr val="10204A"/>
          </a:solidFill>
          <a:ln w="9525">
            <a:solidFill>
              <a:srgbClr val="1E3570"/>
            </a:solidFill>
            <a:prstDash val="solid"/>
          </a:ln>
        </p:spPr>
      </p:sp>
      <p:pic>
        <p:nvPicPr>
          <p:cNvPr id="10" name="Image 1" descr="preencoded.png">    </p:cNvPr>
          <p:cNvPicPr>
            <a:picLocks noChangeAspect="1"/>
          </p:cNvPicPr>
          <p:nvPr/>
        </p:nvPicPr>
        <p:blipFill>
          <a:blip r:embed="rId3"/>
          <a:stretch>
            <a:fillRect/>
          </a:stretch>
        </p:blipFill>
        <p:spPr>
          <a:xfrm>
            <a:off x="10949208" y="2296241"/>
            <a:ext cx="272125" cy="272125"/>
          </a:xfrm>
          <a:prstGeom prst="rect">
            <a:avLst/>
          </a:prstGeom>
        </p:spPr>
      </p:pic>
      <p:sp>
        <p:nvSpPr>
          <p:cNvPr id="11" name="Text 7"/>
          <p:cNvSpPr txBox="1"/>
          <p:nvPr/>
        </p:nvSpPr>
        <p:spPr>
          <a:xfrm>
            <a:off x="9349511" y="2139696"/>
            <a:ext cx="1333424" cy="365760"/>
          </a:xfrm>
          <a:prstGeom prst="rect">
            <a:avLst/>
          </a:prstGeom>
          <a:noFill/>
          <a:ln/>
        </p:spPr>
        <p:txBody>
          <a:bodyPr wrap="square" lIns="0" tIns="0" rIns="0" bIns="0" rtlCol="0" anchor="t"/>
          <a:lstStyle/>
          <a:p>
            <a:pPr rtl="1" algn="r" indent="0" marL="0">
              <a:buNone/>
            </a:pPr>
            <a:r>
              <a:rPr lang="ar-SA" altLang="en-US" sz="1900" b="1" dirty="0">
                <a:solidFill>
                  <a:srgbClr val="F3F6FD"/>
                </a:solidFill>
                <a:latin typeface="IBM Plex Sans Arabic" pitchFamily="34" charset="0"/>
                <a:ea typeface="IBM Plex Sans Arabic" pitchFamily="34" charset="-122"/>
                <a:cs typeface="IBM Plex Sans Arabic" pitchFamily="34" charset="-120"/>
              </a:rPr>
              <a:t>المدخلات</a:t>
            </a:r>
            <a:endParaRPr lang="ar-SA" sz="1900" dirty="0"/>
          </a:p>
        </p:txBody>
      </p:sp>
      <p:sp>
        <p:nvSpPr>
          <p:cNvPr id="12" name="Text 8"/>
          <p:cNvSpPr txBox="1"/>
          <p:nvPr/>
        </p:nvSpPr>
        <p:spPr>
          <a:xfrm>
            <a:off x="9349511" y="2487168"/>
            <a:ext cx="1333424" cy="256032"/>
          </a:xfrm>
          <a:prstGeom prst="rect">
            <a:avLst/>
          </a:prstGeom>
          <a:noFill/>
          <a:ln/>
        </p:spPr>
        <p:txBody>
          <a:bodyPr wrap="square" lIns="0" tIns="0" rIns="0" bIns="0" rtlCol="0" anchor="t"/>
          <a:lstStyle/>
          <a:p>
            <a:pPr algn="r" indent="0" marL="0">
              <a:buNone/>
            </a:pPr>
            <a:r>
              <a:rPr lang="ar-SA" altLang="en-US" sz="1150" b="1" dirty="0">
                <a:solidFill>
                  <a:srgbClr val="3EE0F5"/>
                </a:solidFill>
                <a:latin typeface="IBM Plex Sans Arabic" pitchFamily="34" charset="0"/>
                <a:ea typeface="IBM Plex Sans Arabic" pitchFamily="34" charset="-122"/>
                <a:cs typeface="IBM Plex Sans Arabic" pitchFamily="34" charset="-120"/>
              </a:rPr>
              <a:t>Input  ·  01</a:t>
            </a:r>
            <a:endParaRPr lang="ar-SA" sz="1150" dirty="0"/>
          </a:p>
        </p:txBody>
      </p:sp>
      <p:sp>
        <p:nvSpPr>
          <p:cNvPr id="13" name="Text 9"/>
          <p:cNvSpPr txBox="1"/>
          <p:nvPr/>
        </p:nvSpPr>
        <p:spPr>
          <a:xfrm>
            <a:off x="9349511" y="2926080"/>
            <a:ext cx="2019224" cy="1600200"/>
          </a:xfrm>
          <a:prstGeom prst="rect">
            <a:avLst/>
          </a:prstGeom>
          <a:noFill/>
          <a:ln/>
        </p:spPr>
        <p:txBody>
          <a:bodyPr wrap="square" lIns="0" tIns="0" rIns="0" bIns="0" rtlCol="0" anchor="t"/>
          <a:lstStyle/>
          <a:p>
            <a:pPr rtl="1" algn="r" marL="177800" indent="-177800">
              <a:lnSpc>
                <a:spcPct val="105000"/>
              </a:lnSpc>
              <a:spcAft>
                <a:spcPts val="600"/>
              </a:spcAft>
              <a:buSzPct val="100000"/>
              <a:buChar char="●"/>
            </a:pPr>
            <a:r>
              <a:rPr lang="ar-SA" altLang="en-US" sz="1350" dirty="0">
                <a:solidFill>
                  <a:srgbClr val="F3F6FD"/>
                </a:solidFill>
                <a:latin typeface="IBM Plex Sans Arabic" pitchFamily="34" charset="0"/>
                <a:ea typeface="IBM Plex Sans Arabic" pitchFamily="34" charset="-122"/>
                <a:cs typeface="IBM Plex Sans Arabic" pitchFamily="34" charset="-120"/>
              </a:rPr>
              <a:t>تعريف نجاح الدور</a:t>
            </a:r>
            <a:endParaRPr lang="ar-SA" sz="1350" dirty="0"/>
          </a:p>
          <a:p>
            <a:pPr rtl="1" algn="r" marL="177800" indent="-177800">
              <a:lnSpc>
                <a:spcPct val="105000"/>
              </a:lnSpc>
              <a:spcAft>
                <a:spcPts val="600"/>
              </a:spcAft>
              <a:buSzPct val="100000"/>
              <a:buChar char="●"/>
            </a:pPr>
            <a:r>
              <a:rPr lang="ar-SA" altLang="en-US" sz="1350" dirty="0">
                <a:solidFill>
                  <a:srgbClr val="F3F6FD"/>
                </a:solidFill>
                <a:latin typeface="IBM Plex Sans Arabic" pitchFamily="34" charset="0"/>
                <a:ea typeface="IBM Plex Sans Arabic" pitchFamily="34" charset="-122"/>
                <a:cs typeface="IBM Plex Sans Arabic" pitchFamily="34" charset="-120"/>
              </a:rPr>
              <a:t>جمع إشارات المرشح والتوظيف</a:t>
            </a:r>
            <a:endParaRPr lang="ar-SA" sz="1350" dirty="0"/>
          </a:p>
        </p:txBody>
      </p:sp>
      <p:sp>
        <p:nvSpPr>
          <p:cNvPr id="14" name="Shape 10"/>
          <p:cNvSpPr/>
          <p:nvPr/>
        </p:nvSpPr>
        <p:spPr>
          <a:xfrm>
            <a:off x="9303791" y="4599432"/>
            <a:ext cx="2110664" cy="384048"/>
          </a:xfrm>
          <a:prstGeom prst="roundRect">
            <a:avLst>
              <a:gd name="adj" fmla="val 50000"/>
            </a:avLst>
          </a:prstGeom>
          <a:solidFill>
            <a:srgbClr val="050B1E"/>
          </a:solidFill>
          <a:ln w="9525">
            <a:solidFill>
              <a:srgbClr val="1E3570"/>
            </a:solidFill>
            <a:prstDash val="solid"/>
          </a:ln>
        </p:spPr>
      </p:sp>
      <p:sp>
        <p:nvSpPr>
          <p:cNvPr id="15" name="Text 11"/>
          <p:cNvSpPr txBox="1"/>
          <p:nvPr/>
        </p:nvSpPr>
        <p:spPr>
          <a:xfrm>
            <a:off x="9303791" y="4599432"/>
            <a:ext cx="2110664" cy="384048"/>
          </a:xfrm>
          <a:prstGeom prst="rect">
            <a:avLst/>
          </a:prstGeom>
          <a:noFill/>
          <a:ln/>
        </p:spPr>
        <p:txBody>
          <a:bodyPr wrap="square" lIns="0" tIns="0" rIns="0" bIns="0" rtlCol="0" anchor="ctr"/>
          <a:lstStyle/>
          <a:p>
            <a:pPr algn="ctr" indent="0" marL="0">
              <a:buNone/>
            </a:pPr>
            <a:r>
              <a:rPr lang="ar-SA" altLang="en-US" sz="1100" b="1" dirty="0">
                <a:solidFill>
                  <a:srgbClr val="2AA6F7"/>
                </a:solidFill>
                <a:latin typeface="IBM Plex Sans Arabic" pitchFamily="34" charset="0"/>
                <a:ea typeface="IBM Plex Sans Arabic" pitchFamily="34" charset="-122"/>
                <a:cs typeface="IBM Plex Sans Arabic" pitchFamily="34" charset="-120"/>
              </a:rPr>
              <a:t>Success Model · Signal Inventory</a:t>
            </a:r>
            <a:endParaRPr lang="ar-SA" sz="1100" dirty="0"/>
          </a:p>
        </p:txBody>
      </p:sp>
      <p:sp>
        <p:nvSpPr>
          <p:cNvPr id="16" name="Shape 12"/>
          <p:cNvSpPr/>
          <p:nvPr/>
        </p:nvSpPr>
        <p:spPr>
          <a:xfrm>
            <a:off x="8764295" y="3369564"/>
            <a:ext cx="347472" cy="347472"/>
          </a:xfrm>
          <a:prstGeom prst="ellipse">
            <a:avLst/>
          </a:prstGeom>
          <a:solidFill>
            <a:srgbClr val="050B1E"/>
          </a:solidFill>
          <a:ln w="9525">
            <a:solidFill>
              <a:srgbClr val="2AA6F7"/>
            </a:solidFill>
            <a:prstDash val="solid"/>
          </a:ln>
        </p:spPr>
      </p:sp>
      <p:pic>
        <p:nvPicPr>
          <p:cNvPr id="17" name="Image 2" descr="preencoded.png">    </p:cNvPr>
          <p:cNvPicPr>
            <a:picLocks noChangeAspect="1"/>
          </p:cNvPicPr>
          <p:nvPr/>
        </p:nvPicPr>
        <p:blipFill>
          <a:blip r:embed="rId4"/>
          <a:stretch>
            <a:fillRect/>
          </a:stretch>
        </p:blipFill>
        <p:spPr>
          <a:xfrm>
            <a:off x="8826840" y="3432109"/>
            <a:ext cx="222382" cy="222382"/>
          </a:xfrm>
          <a:prstGeom prst="rect">
            <a:avLst/>
          </a:prstGeom>
        </p:spPr>
      </p:pic>
      <p:sp>
        <p:nvSpPr>
          <p:cNvPr id="18" name="Shape 13"/>
          <p:cNvSpPr/>
          <p:nvPr/>
        </p:nvSpPr>
        <p:spPr>
          <a:xfrm>
            <a:off x="6278728" y="1920240"/>
            <a:ext cx="2476424" cy="3246120"/>
          </a:xfrm>
          <a:prstGeom prst="roundRect">
            <a:avLst>
              <a:gd name="adj" fmla="val 5169"/>
            </a:avLst>
          </a:prstGeom>
          <a:solidFill>
            <a:srgbClr val="0B1634"/>
          </a:solidFill>
          <a:ln w="9525">
            <a:solidFill>
              <a:srgbClr val="1E3570"/>
            </a:solidFill>
            <a:prstDash val="solid"/>
          </a:ln>
        </p:spPr>
      </p:sp>
      <p:sp>
        <p:nvSpPr>
          <p:cNvPr id="19" name="Shape 14"/>
          <p:cNvSpPr/>
          <p:nvPr/>
        </p:nvSpPr>
        <p:spPr>
          <a:xfrm>
            <a:off x="7959623" y="2148840"/>
            <a:ext cx="566928" cy="566928"/>
          </a:xfrm>
          <a:prstGeom prst="ellipse">
            <a:avLst/>
          </a:prstGeom>
          <a:solidFill>
            <a:srgbClr val="10204A"/>
          </a:solidFill>
          <a:ln w="9525">
            <a:solidFill>
              <a:srgbClr val="1E3570"/>
            </a:solidFill>
            <a:prstDash val="solid"/>
          </a:ln>
        </p:spPr>
      </p:sp>
      <p:pic>
        <p:nvPicPr>
          <p:cNvPr id="20" name="Image 3" descr="preencoded.png">    </p:cNvPr>
          <p:cNvPicPr>
            <a:picLocks noChangeAspect="1"/>
          </p:cNvPicPr>
          <p:nvPr/>
        </p:nvPicPr>
        <p:blipFill>
          <a:blip r:embed="rId5"/>
          <a:stretch>
            <a:fillRect/>
          </a:stretch>
        </p:blipFill>
        <p:spPr>
          <a:xfrm>
            <a:off x="8107025" y="2296241"/>
            <a:ext cx="272125" cy="272125"/>
          </a:xfrm>
          <a:prstGeom prst="rect">
            <a:avLst/>
          </a:prstGeom>
        </p:spPr>
      </p:pic>
      <p:sp>
        <p:nvSpPr>
          <p:cNvPr id="21" name="Text 15"/>
          <p:cNvSpPr txBox="1"/>
          <p:nvPr/>
        </p:nvSpPr>
        <p:spPr>
          <a:xfrm>
            <a:off x="6507328" y="2139696"/>
            <a:ext cx="1333424" cy="365760"/>
          </a:xfrm>
          <a:prstGeom prst="rect">
            <a:avLst/>
          </a:prstGeom>
          <a:noFill/>
          <a:ln/>
        </p:spPr>
        <p:txBody>
          <a:bodyPr wrap="square" lIns="0" tIns="0" rIns="0" bIns="0" rtlCol="0" anchor="t"/>
          <a:lstStyle/>
          <a:p>
            <a:pPr rtl="1" algn="r" indent="0" marL="0">
              <a:buNone/>
            </a:pPr>
            <a:r>
              <a:rPr lang="ar-SA" altLang="en-US" sz="1900" b="1" dirty="0">
                <a:solidFill>
                  <a:srgbClr val="F3F6FD"/>
                </a:solidFill>
                <a:latin typeface="IBM Plex Sans Arabic" pitchFamily="34" charset="0"/>
                <a:ea typeface="IBM Plex Sans Arabic" pitchFamily="34" charset="-122"/>
                <a:cs typeface="IBM Plex Sans Arabic" pitchFamily="34" charset="-120"/>
              </a:rPr>
              <a:t>المعالجة</a:t>
            </a:r>
            <a:endParaRPr lang="ar-SA" sz="1900" dirty="0"/>
          </a:p>
        </p:txBody>
      </p:sp>
      <p:sp>
        <p:nvSpPr>
          <p:cNvPr id="22" name="Text 16"/>
          <p:cNvSpPr txBox="1"/>
          <p:nvPr/>
        </p:nvSpPr>
        <p:spPr>
          <a:xfrm>
            <a:off x="6507328" y="2487168"/>
            <a:ext cx="1333424" cy="256032"/>
          </a:xfrm>
          <a:prstGeom prst="rect">
            <a:avLst/>
          </a:prstGeom>
          <a:noFill/>
          <a:ln/>
        </p:spPr>
        <p:txBody>
          <a:bodyPr wrap="square" lIns="0" tIns="0" rIns="0" bIns="0" rtlCol="0" anchor="t"/>
          <a:lstStyle/>
          <a:p>
            <a:pPr algn="r" indent="0" marL="0">
              <a:buNone/>
            </a:pPr>
            <a:r>
              <a:rPr lang="ar-SA" altLang="en-US" sz="1150" b="1" dirty="0">
                <a:solidFill>
                  <a:srgbClr val="3EE0F5"/>
                </a:solidFill>
                <a:latin typeface="IBM Plex Sans Arabic" pitchFamily="34" charset="0"/>
                <a:ea typeface="IBM Plex Sans Arabic" pitchFamily="34" charset="-122"/>
                <a:cs typeface="IBM Plex Sans Arabic" pitchFamily="34" charset="-120"/>
              </a:rPr>
              <a:t>Processing  ·  02</a:t>
            </a:r>
            <a:endParaRPr lang="ar-SA" sz="1150" dirty="0"/>
          </a:p>
        </p:txBody>
      </p:sp>
      <p:sp>
        <p:nvSpPr>
          <p:cNvPr id="23" name="Text 17"/>
          <p:cNvSpPr txBox="1"/>
          <p:nvPr/>
        </p:nvSpPr>
        <p:spPr>
          <a:xfrm>
            <a:off x="6507328" y="2926080"/>
            <a:ext cx="2019224" cy="1600200"/>
          </a:xfrm>
          <a:prstGeom prst="rect">
            <a:avLst/>
          </a:prstGeom>
          <a:noFill/>
          <a:ln/>
        </p:spPr>
        <p:txBody>
          <a:bodyPr wrap="square" lIns="0" tIns="0" rIns="0" bIns="0" rtlCol="0" anchor="t"/>
          <a:lstStyle/>
          <a:p>
            <a:pPr rtl="1" algn="r" marL="177800" indent="-177800">
              <a:lnSpc>
                <a:spcPct val="105000"/>
              </a:lnSpc>
              <a:spcAft>
                <a:spcPts val="600"/>
              </a:spcAft>
              <a:buSzPct val="100000"/>
              <a:buChar char="●"/>
            </a:pPr>
            <a:r>
              <a:rPr lang="ar-SA" altLang="en-US" sz="1350" dirty="0">
                <a:solidFill>
                  <a:srgbClr val="F3F6FD"/>
                </a:solidFill>
                <a:latin typeface="IBM Plex Sans Arabic" pitchFamily="34" charset="0"/>
                <a:ea typeface="IBM Plex Sans Arabic" pitchFamily="34" charset="-122"/>
                <a:cs typeface="IBM Plex Sans Arabic" pitchFamily="34" charset="-120"/>
              </a:rPr>
              <a:t>تنظيف وتوحيد البيانات</a:t>
            </a:r>
            <a:endParaRPr lang="ar-SA" sz="1350" dirty="0"/>
          </a:p>
          <a:p>
            <a:pPr rtl="1" algn="r" marL="177800" indent="-177800">
              <a:lnSpc>
                <a:spcPct val="105000"/>
              </a:lnSpc>
              <a:spcAft>
                <a:spcPts val="600"/>
              </a:spcAft>
              <a:buSzPct val="100000"/>
              <a:buChar char="●"/>
            </a:pPr>
            <a:r>
              <a:rPr lang="ar-SA" altLang="en-US" sz="1350" dirty="0">
                <a:solidFill>
                  <a:srgbClr val="F3F6FD"/>
                </a:solidFill>
                <a:latin typeface="IBM Plex Sans Arabic" pitchFamily="34" charset="0"/>
                <a:ea typeface="IBM Plex Sans Arabic" pitchFamily="34" charset="-122"/>
                <a:cs typeface="IBM Plex Sans Arabic" pitchFamily="34" charset="-120"/>
              </a:rPr>
              <a:t>ربط كل Claim بدليله ومصدره</a:t>
            </a:r>
            <a:endParaRPr lang="ar-SA" sz="1350" dirty="0"/>
          </a:p>
          <a:p>
            <a:pPr rtl="1" algn="r" marL="177800" indent="-177800">
              <a:lnSpc>
                <a:spcPct val="105000"/>
              </a:lnSpc>
              <a:spcAft>
                <a:spcPts val="600"/>
              </a:spcAft>
              <a:buSzPct val="100000"/>
              <a:buChar char="●"/>
            </a:pPr>
            <a:r>
              <a:rPr lang="ar-SA" altLang="en-US" sz="1350" dirty="0">
                <a:solidFill>
                  <a:srgbClr val="F3F6FD"/>
                </a:solidFill>
                <a:latin typeface="IBM Plex Sans Arabic" pitchFamily="34" charset="0"/>
                <a:ea typeface="IBM Plex Sans Arabic" pitchFamily="34" charset="-122"/>
                <a:cs typeface="IBM Plex Sans Arabic" pitchFamily="34" charset="-120"/>
              </a:rPr>
              <a:t>تسجيل قرار التعيين</a:t>
            </a:r>
            <a:endParaRPr lang="ar-SA" sz="1350" dirty="0"/>
          </a:p>
          <a:p>
            <a:pPr rtl="1" algn="r" marL="177800" indent="-177800">
              <a:lnSpc>
                <a:spcPct val="105000"/>
              </a:lnSpc>
              <a:spcAft>
                <a:spcPts val="600"/>
              </a:spcAft>
              <a:buSzPct val="100000"/>
              <a:buChar char="●"/>
            </a:pPr>
            <a:r>
              <a:rPr lang="ar-SA" altLang="en-US" sz="1350" dirty="0">
                <a:solidFill>
                  <a:srgbClr val="F3F6FD"/>
                </a:solidFill>
                <a:latin typeface="IBM Plex Sans Arabic" pitchFamily="34" charset="0"/>
                <a:ea typeface="IBM Plex Sans Arabic" pitchFamily="34" charset="-122"/>
                <a:cs typeface="IBM Plex Sans Arabic" pitchFamily="34" charset="-120"/>
              </a:rPr>
              <a:t>ربط الموظف بنتيجته</a:t>
            </a:r>
            <a:endParaRPr lang="ar-SA" sz="1350" dirty="0"/>
          </a:p>
        </p:txBody>
      </p:sp>
      <p:sp>
        <p:nvSpPr>
          <p:cNvPr id="24" name="Shape 18"/>
          <p:cNvSpPr/>
          <p:nvPr/>
        </p:nvSpPr>
        <p:spPr>
          <a:xfrm>
            <a:off x="6461608" y="4599432"/>
            <a:ext cx="2110664" cy="384048"/>
          </a:xfrm>
          <a:prstGeom prst="roundRect">
            <a:avLst>
              <a:gd name="adj" fmla="val 50000"/>
            </a:avLst>
          </a:prstGeom>
          <a:solidFill>
            <a:srgbClr val="050B1E"/>
          </a:solidFill>
          <a:ln w="9525">
            <a:solidFill>
              <a:srgbClr val="1E3570"/>
            </a:solidFill>
            <a:prstDash val="solid"/>
          </a:ln>
        </p:spPr>
      </p:sp>
      <p:sp>
        <p:nvSpPr>
          <p:cNvPr id="25" name="Text 19"/>
          <p:cNvSpPr txBox="1"/>
          <p:nvPr/>
        </p:nvSpPr>
        <p:spPr>
          <a:xfrm>
            <a:off x="6461608" y="4599432"/>
            <a:ext cx="2110664" cy="384048"/>
          </a:xfrm>
          <a:prstGeom prst="rect">
            <a:avLst/>
          </a:prstGeom>
          <a:noFill/>
          <a:ln/>
        </p:spPr>
        <p:txBody>
          <a:bodyPr wrap="square" lIns="0" tIns="0" rIns="0" bIns="0" rtlCol="0" anchor="ctr"/>
          <a:lstStyle/>
          <a:p>
            <a:pPr algn="ctr" indent="0" marL="0">
              <a:buNone/>
            </a:pPr>
            <a:r>
              <a:rPr lang="ar-SA" altLang="en-US" sz="1100" b="1" dirty="0">
                <a:solidFill>
                  <a:srgbClr val="2AA6F7"/>
                </a:solidFill>
                <a:latin typeface="IBM Plex Sans Arabic" pitchFamily="34" charset="0"/>
                <a:ea typeface="IBM Plex Sans Arabic" pitchFamily="34" charset="-122"/>
                <a:cs typeface="IBM Plex Sans Arabic" pitchFamily="34" charset="-120"/>
              </a:rPr>
              <a:t>Evidence · Decision · Outcome</a:t>
            </a:r>
            <a:endParaRPr lang="ar-SA" sz="1100" dirty="0"/>
          </a:p>
        </p:txBody>
      </p:sp>
      <p:sp>
        <p:nvSpPr>
          <p:cNvPr id="26" name="Shape 20"/>
          <p:cNvSpPr/>
          <p:nvPr/>
        </p:nvSpPr>
        <p:spPr>
          <a:xfrm>
            <a:off x="5922112" y="3369564"/>
            <a:ext cx="347472" cy="347472"/>
          </a:xfrm>
          <a:prstGeom prst="ellipse">
            <a:avLst/>
          </a:prstGeom>
          <a:solidFill>
            <a:srgbClr val="050B1E"/>
          </a:solidFill>
          <a:ln w="9525">
            <a:solidFill>
              <a:srgbClr val="2AA6F7"/>
            </a:solidFill>
            <a:prstDash val="solid"/>
          </a:ln>
        </p:spPr>
      </p:sp>
      <p:pic>
        <p:nvPicPr>
          <p:cNvPr id="27" name="Image 4" descr="preencoded.png">    </p:cNvPr>
          <p:cNvPicPr>
            <a:picLocks noChangeAspect="1"/>
          </p:cNvPicPr>
          <p:nvPr/>
        </p:nvPicPr>
        <p:blipFill>
          <a:blip r:embed="rId6"/>
          <a:stretch>
            <a:fillRect/>
          </a:stretch>
        </p:blipFill>
        <p:spPr>
          <a:xfrm>
            <a:off x="5984657" y="3432109"/>
            <a:ext cx="222382" cy="222382"/>
          </a:xfrm>
          <a:prstGeom prst="rect">
            <a:avLst/>
          </a:prstGeom>
        </p:spPr>
      </p:pic>
      <p:sp>
        <p:nvSpPr>
          <p:cNvPr id="28" name="Shape 21"/>
          <p:cNvSpPr/>
          <p:nvPr/>
        </p:nvSpPr>
        <p:spPr>
          <a:xfrm>
            <a:off x="3436544" y="1920240"/>
            <a:ext cx="2476424" cy="3246120"/>
          </a:xfrm>
          <a:prstGeom prst="roundRect">
            <a:avLst>
              <a:gd name="adj" fmla="val 5169"/>
            </a:avLst>
          </a:prstGeom>
          <a:solidFill>
            <a:srgbClr val="0C2152"/>
          </a:solidFill>
          <a:ln w="15875">
            <a:solidFill>
              <a:srgbClr val="3EE0F5"/>
            </a:solidFill>
            <a:prstDash val="solid"/>
          </a:ln>
        </p:spPr>
      </p:sp>
      <p:sp>
        <p:nvSpPr>
          <p:cNvPr id="29" name="Shape 22"/>
          <p:cNvSpPr/>
          <p:nvPr/>
        </p:nvSpPr>
        <p:spPr>
          <a:xfrm>
            <a:off x="5117440" y="2148840"/>
            <a:ext cx="566928" cy="566928"/>
          </a:xfrm>
          <a:prstGeom prst="ellipse">
            <a:avLst/>
          </a:prstGeom>
          <a:solidFill>
            <a:srgbClr val="1F6FEB"/>
          </a:solidFill>
          <a:ln w="9525">
            <a:solidFill>
              <a:srgbClr val="2AA6F7"/>
            </a:solidFill>
            <a:prstDash val="solid"/>
          </a:ln>
        </p:spPr>
      </p:sp>
      <p:pic>
        <p:nvPicPr>
          <p:cNvPr id="30" name="Image 5" descr="preencoded.png">    </p:cNvPr>
          <p:cNvPicPr>
            <a:picLocks noChangeAspect="1"/>
          </p:cNvPicPr>
          <p:nvPr/>
        </p:nvPicPr>
        <p:blipFill>
          <a:blip r:embed="rId7"/>
          <a:stretch>
            <a:fillRect/>
          </a:stretch>
        </p:blipFill>
        <p:spPr>
          <a:xfrm>
            <a:off x="5264841" y="2296241"/>
            <a:ext cx="272125" cy="272125"/>
          </a:xfrm>
          <a:prstGeom prst="rect">
            <a:avLst/>
          </a:prstGeom>
        </p:spPr>
      </p:pic>
      <p:sp>
        <p:nvSpPr>
          <p:cNvPr id="31" name="Text 23"/>
          <p:cNvSpPr txBox="1"/>
          <p:nvPr/>
        </p:nvSpPr>
        <p:spPr>
          <a:xfrm>
            <a:off x="3665144" y="2139696"/>
            <a:ext cx="1333424" cy="365760"/>
          </a:xfrm>
          <a:prstGeom prst="rect">
            <a:avLst/>
          </a:prstGeom>
          <a:noFill/>
          <a:ln/>
        </p:spPr>
        <p:txBody>
          <a:bodyPr wrap="square" lIns="0" tIns="0" rIns="0" bIns="0" rtlCol="0" anchor="t"/>
          <a:lstStyle/>
          <a:p>
            <a:pPr rtl="1" algn="r" indent="0" marL="0">
              <a:buNone/>
            </a:pPr>
            <a:r>
              <a:rPr lang="ar-SA" altLang="en-US" sz="1900" b="1" dirty="0">
                <a:solidFill>
                  <a:srgbClr val="F3F6FD"/>
                </a:solidFill>
                <a:latin typeface="IBM Plex Sans Arabic" pitchFamily="34" charset="0"/>
                <a:ea typeface="IBM Plex Sans Arabic" pitchFamily="34" charset="-122"/>
                <a:cs typeface="IBM Plex Sans Arabic" pitchFamily="34" charset="-120"/>
              </a:rPr>
              <a:t>الذكاء</a:t>
            </a:r>
            <a:endParaRPr lang="ar-SA" sz="1900" dirty="0"/>
          </a:p>
        </p:txBody>
      </p:sp>
      <p:sp>
        <p:nvSpPr>
          <p:cNvPr id="32" name="Text 24"/>
          <p:cNvSpPr txBox="1"/>
          <p:nvPr/>
        </p:nvSpPr>
        <p:spPr>
          <a:xfrm>
            <a:off x="3665144" y="2487168"/>
            <a:ext cx="1333424" cy="256032"/>
          </a:xfrm>
          <a:prstGeom prst="rect">
            <a:avLst/>
          </a:prstGeom>
          <a:noFill/>
          <a:ln/>
        </p:spPr>
        <p:txBody>
          <a:bodyPr wrap="square" lIns="0" tIns="0" rIns="0" bIns="0" rtlCol="0" anchor="t"/>
          <a:lstStyle/>
          <a:p>
            <a:pPr algn="r" indent="0" marL="0">
              <a:buNone/>
            </a:pPr>
            <a:r>
              <a:rPr lang="ar-SA" altLang="en-US" sz="1150" b="1" dirty="0">
                <a:solidFill>
                  <a:srgbClr val="3EE0F5"/>
                </a:solidFill>
                <a:latin typeface="IBM Plex Sans Arabic" pitchFamily="34" charset="0"/>
                <a:ea typeface="IBM Plex Sans Arabic" pitchFamily="34" charset="-122"/>
                <a:cs typeface="IBM Plex Sans Arabic" pitchFamily="34" charset="-120"/>
              </a:rPr>
              <a:t>Intelligence  ·  03</a:t>
            </a:r>
            <a:endParaRPr lang="ar-SA" sz="1150" dirty="0"/>
          </a:p>
        </p:txBody>
      </p:sp>
      <p:sp>
        <p:nvSpPr>
          <p:cNvPr id="33" name="Text 25"/>
          <p:cNvSpPr txBox="1"/>
          <p:nvPr/>
        </p:nvSpPr>
        <p:spPr>
          <a:xfrm>
            <a:off x="3665144" y="2926080"/>
            <a:ext cx="2019224" cy="1600200"/>
          </a:xfrm>
          <a:prstGeom prst="rect">
            <a:avLst/>
          </a:prstGeom>
          <a:noFill/>
          <a:ln/>
        </p:spPr>
        <p:txBody>
          <a:bodyPr wrap="square" lIns="0" tIns="0" rIns="0" bIns="0" rtlCol="0" anchor="t"/>
          <a:lstStyle/>
          <a:p>
            <a:pPr rtl="1" algn="r" marL="177800" indent="-177800">
              <a:lnSpc>
                <a:spcPct val="105000"/>
              </a:lnSpc>
              <a:spcAft>
                <a:spcPts val="600"/>
              </a:spcAft>
              <a:buSzPct val="100000"/>
              <a:buChar char="●"/>
            </a:pPr>
            <a:r>
              <a:rPr lang="ar-SA" altLang="en-US" sz="1350" dirty="0">
                <a:solidFill>
                  <a:srgbClr val="F3F6FD"/>
                </a:solidFill>
                <a:latin typeface="IBM Plex Sans Arabic" pitchFamily="34" charset="0"/>
                <a:ea typeface="IBM Plex Sans Arabic" pitchFamily="34" charset="-122"/>
                <a:cs typeface="IBM Plex Sans Arabic" pitchFamily="34" charset="-120"/>
              </a:rPr>
              <a:t>تحليل العلاقة بين Signal وOutcome</a:t>
            </a:r>
            <a:endParaRPr lang="ar-SA" sz="1350" dirty="0"/>
          </a:p>
          <a:p>
            <a:pPr rtl="1" algn="r" marL="177800" indent="-177800">
              <a:lnSpc>
                <a:spcPct val="105000"/>
              </a:lnSpc>
              <a:spcAft>
                <a:spcPts val="600"/>
              </a:spcAft>
              <a:buSzPct val="100000"/>
              <a:buChar char="●"/>
            </a:pPr>
            <a:r>
              <a:rPr lang="ar-SA" altLang="en-US" sz="1350" dirty="0">
                <a:solidFill>
                  <a:srgbClr val="F3F6FD"/>
                </a:solidFill>
                <a:latin typeface="IBM Plex Sans Arabic" pitchFamily="34" charset="0"/>
                <a:ea typeface="IBM Plex Sans Arabic" pitchFamily="34" charset="-122"/>
                <a:cs typeface="IBM Plex Sans Arabic" pitchFamily="34" charset="-120"/>
              </a:rPr>
              <a:t>صياغة Finding مع حدوده ودرجة الثقة</a:t>
            </a:r>
            <a:endParaRPr lang="ar-SA" sz="1350" dirty="0"/>
          </a:p>
        </p:txBody>
      </p:sp>
      <p:sp>
        <p:nvSpPr>
          <p:cNvPr id="34" name="Shape 26"/>
          <p:cNvSpPr/>
          <p:nvPr/>
        </p:nvSpPr>
        <p:spPr>
          <a:xfrm>
            <a:off x="3619424" y="4599432"/>
            <a:ext cx="2110664" cy="384048"/>
          </a:xfrm>
          <a:prstGeom prst="roundRect">
            <a:avLst>
              <a:gd name="adj" fmla="val 50000"/>
            </a:avLst>
          </a:prstGeom>
          <a:solidFill>
            <a:srgbClr val="050B1E"/>
          </a:solidFill>
          <a:ln w="9525">
            <a:solidFill>
              <a:srgbClr val="1E3570"/>
            </a:solidFill>
            <a:prstDash val="solid"/>
          </a:ln>
        </p:spPr>
      </p:sp>
      <p:sp>
        <p:nvSpPr>
          <p:cNvPr id="35" name="Text 27"/>
          <p:cNvSpPr txBox="1"/>
          <p:nvPr/>
        </p:nvSpPr>
        <p:spPr>
          <a:xfrm>
            <a:off x="3619424" y="4599432"/>
            <a:ext cx="2110664" cy="384048"/>
          </a:xfrm>
          <a:prstGeom prst="rect">
            <a:avLst/>
          </a:prstGeom>
          <a:noFill/>
          <a:ln/>
        </p:spPr>
        <p:txBody>
          <a:bodyPr wrap="square" lIns="0" tIns="0" rIns="0" bIns="0" rtlCol="0" anchor="ctr"/>
          <a:lstStyle/>
          <a:p>
            <a:pPr algn="ctr" indent="0" marL="0">
              <a:buNone/>
            </a:pPr>
            <a:r>
              <a:rPr lang="ar-SA" altLang="en-US" sz="1100" b="1" dirty="0">
                <a:solidFill>
                  <a:srgbClr val="2AA6F7"/>
                </a:solidFill>
                <a:latin typeface="IBM Plex Sans Arabic" pitchFamily="34" charset="0"/>
                <a:ea typeface="IBM Plex Sans Arabic" pitchFamily="34" charset="-122"/>
                <a:cs typeface="IBM Plex Sans Arabic" pitchFamily="34" charset="-120"/>
              </a:rPr>
              <a:t>Calibration Finding</a:t>
            </a:r>
            <a:endParaRPr lang="ar-SA" sz="1100" dirty="0"/>
          </a:p>
        </p:txBody>
      </p:sp>
      <p:sp>
        <p:nvSpPr>
          <p:cNvPr id="36" name="Shape 28"/>
          <p:cNvSpPr/>
          <p:nvPr/>
        </p:nvSpPr>
        <p:spPr>
          <a:xfrm>
            <a:off x="3079928" y="3369564"/>
            <a:ext cx="347472" cy="347472"/>
          </a:xfrm>
          <a:prstGeom prst="ellipse">
            <a:avLst/>
          </a:prstGeom>
          <a:solidFill>
            <a:srgbClr val="050B1E"/>
          </a:solidFill>
          <a:ln w="9525">
            <a:solidFill>
              <a:srgbClr val="2AA6F7"/>
            </a:solidFill>
            <a:prstDash val="solid"/>
          </a:ln>
        </p:spPr>
      </p:sp>
      <p:pic>
        <p:nvPicPr>
          <p:cNvPr id="37" name="Image 6" descr="preencoded.png">    </p:cNvPr>
          <p:cNvPicPr>
            <a:picLocks noChangeAspect="1"/>
          </p:cNvPicPr>
          <p:nvPr/>
        </p:nvPicPr>
        <p:blipFill>
          <a:blip r:embed="rId8"/>
          <a:stretch>
            <a:fillRect/>
          </a:stretch>
        </p:blipFill>
        <p:spPr>
          <a:xfrm>
            <a:off x="3142473" y="3432109"/>
            <a:ext cx="222382" cy="222382"/>
          </a:xfrm>
          <a:prstGeom prst="rect">
            <a:avLst/>
          </a:prstGeom>
        </p:spPr>
      </p:pic>
      <p:sp>
        <p:nvSpPr>
          <p:cNvPr id="38" name="Shape 29"/>
          <p:cNvSpPr/>
          <p:nvPr/>
        </p:nvSpPr>
        <p:spPr>
          <a:xfrm>
            <a:off x="594360" y="1920240"/>
            <a:ext cx="2476424" cy="3246120"/>
          </a:xfrm>
          <a:prstGeom prst="roundRect">
            <a:avLst>
              <a:gd name="adj" fmla="val 5169"/>
            </a:avLst>
          </a:prstGeom>
          <a:solidFill>
            <a:srgbClr val="0B1634"/>
          </a:solidFill>
          <a:ln w="9525">
            <a:solidFill>
              <a:srgbClr val="1E3570"/>
            </a:solidFill>
            <a:prstDash val="solid"/>
          </a:ln>
        </p:spPr>
      </p:sp>
      <p:sp>
        <p:nvSpPr>
          <p:cNvPr id="39" name="Shape 30"/>
          <p:cNvSpPr/>
          <p:nvPr/>
        </p:nvSpPr>
        <p:spPr>
          <a:xfrm>
            <a:off x="2275256" y="2148840"/>
            <a:ext cx="566928" cy="566928"/>
          </a:xfrm>
          <a:prstGeom prst="ellipse">
            <a:avLst/>
          </a:prstGeom>
          <a:solidFill>
            <a:srgbClr val="10204A"/>
          </a:solidFill>
          <a:ln w="9525">
            <a:solidFill>
              <a:srgbClr val="1E3570"/>
            </a:solidFill>
            <a:prstDash val="solid"/>
          </a:ln>
        </p:spPr>
      </p:sp>
      <p:pic>
        <p:nvPicPr>
          <p:cNvPr id="40" name="Image 7" descr="preencoded.png">    </p:cNvPr>
          <p:cNvPicPr>
            <a:picLocks noChangeAspect="1"/>
          </p:cNvPicPr>
          <p:nvPr/>
        </p:nvPicPr>
        <p:blipFill>
          <a:blip r:embed="rId9"/>
          <a:stretch>
            <a:fillRect/>
          </a:stretch>
        </p:blipFill>
        <p:spPr>
          <a:xfrm>
            <a:off x="2422657" y="2296241"/>
            <a:ext cx="272125" cy="272125"/>
          </a:xfrm>
          <a:prstGeom prst="rect">
            <a:avLst/>
          </a:prstGeom>
        </p:spPr>
      </p:pic>
      <p:sp>
        <p:nvSpPr>
          <p:cNvPr id="41" name="Text 31"/>
          <p:cNvSpPr txBox="1"/>
          <p:nvPr/>
        </p:nvSpPr>
        <p:spPr>
          <a:xfrm>
            <a:off x="822960" y="2139696"/>
            <a:ext cx="1333424" cy="365760"/>
          </a:xfrm>
          <a:prstGeom prst="rect">
            <a:avLst/>
          </a:prstGeom>
          <a:noFill/>
          <a:ln/>
        </p:spPr>
        <p:txBody>
          <a:bodyPr wrap="square" lIns="0" tIns="0" rIns="0" bIns="0" rtlCol="0" anchor="t"/>
          <a:lstStyle/>
          <a:p>
            <a:pPr rtl="1" algn="r" indent="0" marL="0">
              <a:buNone/>
            </a:pPr>
            <a:r>
              <a:rPr lang="ar-SA" altLang="en-US" sz="1900" b="1" dirty="0">
                <a:solidFill>
                  <a:srgbClr val="F3F6FD"/>
                </a:solidFill>
                <a:latin typeface="IBM Plex Sans Arabic" pitchFamily="34" charset="0"/>
                <a:ea typeface="IBM Plex Sans Arabic" pitchFamily="34" charset="-122"/>
                <a:cs typeface="IBM Plex Sans Arabic" pitchFamily="34" charset="-120"/>
              </a:rPr>
              <a:t>القرار</a:t>
            </a:r>
            <a:endParaRPr lang="ar-SA" sz="1900" dirty="0"/>
          </a:p>
        </p:txBody>
      </p:sp>
      <p:sp>
        <p:nvSpPr>
          <p:cNvPr id="42" name="Text 32"/>
          <p:cNvSpPr txBox="1"/>
          <p:nvPr/>
        </p:nvSpPr>
        <p:spPr>
          <a:xfrm>
            <a:off x="822960" y="2487168"/>
            <a:ext cx="1333424" cy="256032"/>
          </a:xfrm>
          <a:prstGeom prst="rect">
            <a:avLst/>
          </a:prstGeom>
          <a:noFill/>
          <a:ln/>
        </p:spPr>
        <p:txBody>
          <a:bodyPr wrap="square" lIns="0" tIns="0" rIns="0" bIns="0" rtlCol="0" anchor="t"/>
          <a:lstStyle/>
          <a:p>
            <a:pPr algn="r" indent="0" marL="0">
              <a:buNone/>
            </a:pPr>
            <a:r>
              <a:rPr lang="ar-SA" altLang="en-US" sz="1150" b="1" dirty="0">
                <a:solidFill>
                  <a:srgbClr val="3EE0F5"/>
                </a:solidFill>
                <a:latin typeface="IBM Plex Sans Arabic" pitchFamily="34" charset="0"/>
                <a:ea typeface="IBM Plex Sans Arabic" pitchFamily="34" charset="-122"/>
                <a:cs typeface="IBM Plex Sans Arabic" pitchFamily="34" charset="-120"/>
              </a:rPr>
              <a:t>Decision  ·  04</a:t>
            </a:r>
            <a:endParaRPr lang="ar-SA" sz="1150" dirty="0"/>
          </a:p>
        </p:txBody>
      </p:sp>
      <p:sp>
        <p:nvSpPr>
          <p:cNvPr id="43" name="Text 33"/>
          <p:cNvSpPr txBox="1"/>
          <p:nvPr/>
        </p:nvSpPr>
        <p:spPr>
          <a:xfrm>
            <a:off x="822960" y="2926080"/>
            <a:ext cx="2019224" cy="1600200"/>
          </a:xfrm>
          <a:prstGeom prst="rect">
            <a:avLst/>
          </a:prstGeom>
          <a:noFill/>
          <a:ln/>
        </p:spPr>
        <p:txBody>
          <a:bodyPr wrap="square" lIns="0" tIns="0" rIns="0" bIns="0" rtlCol="0" anchor="t"/>
          <a:lstStyle/>
          <a:p>
            <a:pPr rtl="1" algn="r" marL="177800" indent="-177800">
              <a:lnSpc>
                <a:spcPct val="105000"/>
              </a:lnSpc>
              <a:spcAft>
                <a:spcPts val="600"/>
              </a:spcAft>
              <a:buSzPct val="100000"/>
              <a:buChar char="●"/>
            </a:pPr>
            <a:r>
              <a:rPr lang="ar-SA" altLang="en-US" sz="1350" dirty="0">
                <a:solidFill>
                  <a:srgbClr val="F3F6FD"/>
                </a:solidFill>
                <a:latin typeface="IBM Plex Sans Arabic" pitchFamily="34" charset="0"/>
                <a:ea typeface="IBM Plex Sans Arabic" pitchFamily="34" charset="-122"/>
                <a:cs typeface="IBM Plex Sans Arabic" pitchFamily="34" charset="-120"/>
              </a:rPr>
              <a:t>مراجعة بشرية: قبول · رفض · أدلة إضافية</a:t>
            </a:r>
            <a:endParaRPr lang="ar-SA" sz="1350" dirty="0"/>
          </a:p>
          <a:p>
            <a:pPr rtl="1" algn="r" marL="177800" indent="-177800">
              <a:lnSpc>
                <a:spcPct val="105000"/>
              </a:lnSpc>
              <a:spcAft>
                <a:spcPts val="600"/>
              </a:spcAft>
              <a:buSzPct val="100000"/>
              <a:buChar char="●"/>
            </a:pPr>
            <a:r>
              <a:rPr lang="ar-SA" altLang="en-US" sz="1350" dirty="0">
                <a:solidFill>
                  <a:srgbClr val="F3F6FD"/>
                </a:solidFill>
                <a:latin typeface="IBM Plex Sans Arabic" pitchFamily="34" charset="0"/>
                <a:ea typeface="IBM Plex Sans Arabic" pitchFamily="34" charset="-122"/>
                <a:cs typeface="IBM Plex Sans Arabic" pitchFamily="34" charset="-120"/>
              </a:rPr>
              <a:t>تغيير موثّق في الـRubric أو العملية</a:t>
            </a:r>
            <a:endParaRPr lang="ar-SA" sz="1350" dirty="0"/>
          </a:p>
          <a:p>
            <a:pPr rtl="1" algn="r" marL="177800" indent="-177800">
              <a:lnSpc>
                <a:spcPct val="105000"/>
              </a:lnSpc>
              <a:spcAft>
                <a:spcPts val="600"/>
              </a:spcAft>
              <a:buSzPct val="100000"/>
              <a:buChar char="●"/>
            </a:pPr>
            <a:r>
              <a:rPr lang="ar-SA" altLang="en-US" sz="1350" dirty="0">
                <a:solidFill>
                  <a:srgbClr val="F3F6FD"/>
                </a:solidFill>
                <a:latin typeface="IBM Plex Sans Arabic" pitchFamily="34" charset="0"/>
                <a:ea typeface="IBM Plex Sans Arabic" pitchFamily="34" charset="-122"/>
                <a:cs typeface="IBM Plex Sans Arabic" pitchFamily="34" charset="-120"/>
              </a:rPr>
              <a:t>قياس الدفعة التالية</a:t>
            </a:r>
            <a:endParaRPr lang="ar-SA" sz="1350" dirty="0"/>
          </a:p>
        </p:txBody>
      </p:sp>
      <p:sp>
        <p:nvSpPr>
          <p:cNvPr id="44" name="Shape 34"/>
          <p:cNvSpPr/>
          <p:nvPr/>
        </p:nvSpPr>
        <p:spPr>
          <a:xfrm>
            <a:off x="777240" y="4599432"/>
            <a:ext cx="2110664" cy="384048"/>
          </a:xfrm>
          <a:prstGeom prst="roundRect">
            <a:avLst>
              <a:gd name="adj" fmla="val 50000"/>
            </a:avLst>
          </a:prstGeom>
          <a:solidFill>
            <a:srgbClr val="050B1E"/>
          </a:solidFill>
          <a:ln w="9525">
            <a:solidFill>
              <a:srgbClr val="1E3570"/>
            </a:solidFill>
            <a:prstDash val="solid"/>
          </a:ln>
        </p:spPr>
      </p:sp>
      <p:sp>
        <p:nvSpPr>
          <p:cNvPr id="45" name="Text 35"/>
          <p:cNvSpPr txBox="1"/>
          <p:nvPr/>
        </p:nvSpPr>
        <p:spPr>
          <a:xfrm>
            <a:off x="777240" y="4599432"/>
            <a:ext cx="2110664" cy="384048"/>
          </a:xfrm>
          <a:prstGeom prst="rect">
            <a:avLst/>
          </a:prstGeom>
          <a:noFill/>
          <a:ln/>
        </p:spPr>
        <p:txBody>
          <a:bodyPr wrap="square" lIns="0" tIns="0" rIns="0" bIns="0" rtlCol="0" anchor="ctr"/>
          <a:lstStyle/>
          <a:p>
            <a:pPr algn="ctr" indent="0" marL="0">
              <a:buNone/>
            </a:pPr>
            <a:r>
              <a:rPr lang="ar-SA" altLang="en-US" sz="1100" b="1" dirty="0">
                <a:solidFill>
                  <a:srgbClr val="2AA6F7"/>
                </a:solidFill>
                <a:latin typeface="IBM Plex Sans Arabic" pitchFamily="34" charset="0"/>
                <a:ea typeface="IBM Plex Sans Arabic" pitchFamily="34" charset="-122"/>
                <a:cs typeface="IBM Plex Sans Arabic" pitchFamily="34" charset="-120"/>
              </a:rPr>
              <a:t>Calibration Change</a:t>
            </a:r>
            <a:endParaRPr lang="ar-SA" sz="1100" dirty="0"/>
          </a:p>
        </p:txBody>
      </p:sp>
      <p:sp>
        <p:nvSpPr>
          <p:cNvPr id="46" name="Shape 36"/>
          <p:cNvSpPr/>
          <p:nvPr/>
        </p:nvSpPr>
        <p:spPr>
          <a:xfrm>
            <a:off x="1417320" y="5440680"/>
            <a:ext cx="9357055" cy="603504"/>
          </a:xfrm>
          <a:prstGeom prst="roundRect">
            <a:avLst>
              <a:gd name="adj" fmla="val 50000"/>
            </a:avLst>
          </a:prstGeom>
          <a:solidFill>
            <a:srgbClr val="10204A"/>
          </a:solidFill>
          <a:ln w="9525">
            <a:solidFill>
              <a:srgbClr val="2AA6F7"/>
            </a:solidFill>
            <a:prstDash val="dash"/>
          </a:ln>
        </p:spPr>
      </p:sp>
      <p:sp>
        <p:nvSpPr>
          <p:cNvPr id="47" name="Shape 37"/>
          <p:cNvSpPr/>
          <p:nvPr/>
        </p:nvSpPr>
        <p:spPr>
          <a:xfrm>
            <a:off x="1832572" y="5166360"/>
            <a:ext cx="91" cy="274320"/>
          </a:xfrm>
          <a:prstGeom prst="line">
            <a:avLst/>
          </a:prstGeom>
          <a:noFill/>
          <a:ln w="15875">
            <a:solidFill>
              <a:srgbClr val="2AA6F7"/>
            </a:solidFill>
            <a:prstDash val="solid"/>
            <a:tailEnd type="triangle"/>
          </a:ln>
        </p:spPr>
      </p:sp>
      <p:sp>
        <p:nvSpPr>
          <p:cNvPr id="48" name="Shape 38"/>
          <p:cNvSpPr/>
          <p:nvPr/>
        </p:nvSpPr>
        <p:spPr>
          <a:xfrm flipV="1">
            <a:off x="10359123" y="5166360"/>
            <a:ext cx="91" cy="274320"/>
          </a:xfrm>
          <a:prstGeom prst="line">
            <a:avLst/>
          </a:prstGeom>
          <a:noFill/>
          <a:ln w="15875">
            <a:solidFill>
              <a:srgbClr val="2AA6F7"/>
            </a:solidFill>
            <a:prstDash val="solid"/>
            <a:tailEnd type="triangle"/>
          </a:ln>
        </p:spPr>
      </p:sp>
      <p:pic>
        <p:nvPicPr>
          <p:cNvPr id="49" name="Image 8" descr="preencoded.png">    </p:cNvPr>
          <p:cNvPicPr>
            <a:picLocks noChangeAspect="1"/>
          </p:cNvPicPr>
          <p:nvPr/>
        </p:nvPicPr>
        <p:blipFill>
          <a:blip r:embed="rId10"/>
          <a:stretch>
            <a:fillRect/>
          </a:stretch>
        </p:blipFill>
        <p:spPr>
          <a:xfrm>
            <a:off x="8229600" y="5596128"/>
            <a:ext cx="292608" cy="292608"/>
          </a:xfrm>
          <a:prstGeom prst="rect">
            <a:avLst/>
          </a:prstGeom>
        </p:spPr>
      </p:pic>
      <p:sp>
        <p:nvSpPr>
          <p:cNvPr id="50" name="Text 39"/>
          <p:cNvSpPr txBox="1"/>
          <p:nvPr/>
        </p:nvSpPr>
        <p:spPr>
          <a:xfrm>
            <a:off x="3108960" y="5440680"/>
            <a:ext cx="4983480" cy="603504"/>
          </a:xfrm>
          <a:prstGeom prst="rect">
            <a:avLst/>
          </a:prstGeom>
          <a:noFill/>
          <a:ln/>
        </p:spPr>
        <p:txBody>
          <a:bodyPr wrap="square" lIns="0" tIns="0" rIns="0" bIns="0" rtlCol="0" anchor="ctr"/>
          <a:lstStyle/>
          <a:p>
            <a:pPr rtl="1" algn="r" indent="0" marL="0">
              <a:buNone/>
            </a:pPr>
            <a:r>
              <a:rPr lang="ar-SA" altLang="en-US" sz="1400" b="1" dirty="0">
                <a:solidFill>
                  <a:srgbClr val="3EE0F5"/>
                </a:solidFill>
                <a:latin typeface="IBM Plex Sans Arabic" pitchFamily="34" charset="0"/>
                <a:ea typeface="IBM Plex Sans Arabic" pitchFamily="34" charset="-122"/>
                <a:cs typeface="IBM Plex Sans Arabic" pitchFamily="34" charset="-120"/>
              </a:rPr>
              <a:t>الدفعة التالية · Next Cohort — </a:t>
            </a:r>
            <a:pPr rtl="1" algn="r" indent="0" marL="0">
              <a:buNone/>
            </a:pPr>
            <a:r>
              <a:rPr lang="ar-SA" altLang="en-US" sz="1400" dirty="0">
                <a:solidFill>
                  <a:srgbClr val="F3F6FD"/>
                </a:solidFill>
                <a:latin typeface="IBM Plex Sans Arabic" pitchFamily="34" charset="0"/>
                <a:ea typeface="IBM Plex Sans Arabic" pitchFamily="34" charset="-122"/>
                <a:cs typeface="IBM Plex Sans Arabic" pitchFamily="34" charset="-120"/>
              </a:rPr>
              <a:t>نقيس أثر التغيير، ثم نعيد المعايرة.</a:t>
            </a:r>
            <a:endParaRPr lang="ar-SA"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508760" y="457200"/>
            <a:ext cx="10088575" cy="274320"/>
          </a:xfrm>
          <a:prstGeom prst="rect">
            <a:avLst/>
          </a:prstGeom>
          <a:noFill/>
          <a:ln/>
        </p:spPr>
        <p:txBody>
          <a:bodyPr wrap="square" lIns="0" tIns="0" rIns="0" bIns="0" rtlCol="0" anchor="t"/>
          <a:lstStyle/>
          <a:p>
            <a:pPr rtl="1" algn="r" indent="0" marL="0">
              <a:buNone/>
            </a:pPr>
            <a:r>
              <a:rPr lang="ar-SA" altLang="en-US" sz="1200" b="1" spc="100" kern="0" dirty="0">
                <a:solidFill>
                  <a:srgbClr val="3EE0F5"/>
                </a:solidFill>
                <a:latin typeface="IBM Plex Sans Arabic" pitchFamily="34" charset="0"/>
                <a:ea typeface="IBM Plex Sans Arabic" pitchFamily="34" charset="-122"/>
                <a:cs typeface="IBM Plex Sans Arabic" pitchFamily="34" charset="-120"/>
              </a:rPr>
              <a:t>04  ·  WHO — لمن نبني؟</a:t>
            </a:r>
            <a:endParaRPr lang="ar-SA" sz="1200" dirty="0"/>
          </a:p>
        </p:txBody>
      </p:sp>
      <p:sp>
        <p:nvSpPr>
          <p:cNvPr id="3" name="Text 1"/>
          <p:cNvSpPr txBox="1"/>
          <p:nvPr/>
        </p:nvSpPr>
        <p:spPr>
          <a:xfrm>
            <a:off x="1508760" y="731520"/>
            <a:ext cx="10088575" cy="640080"/>
          </a:xfrm>
          <a:prstGeom prst="rect">
            <a:avLst/>
          </a:prstGeom>
          <a:noFill/>
          <a:ln/>
        </p:spPr>
        <p:txBody>
          <a:bodyPr wrap="square" lIns="0" tIns="0" rIns="0" bIns="0" rtlCol="0" anchor="t"/>
          <a:lstStyle/>
          <a:p>
            <a:pPr rtl="1" algn="r" indent="0" marL="0">
              <a:buNone/>
            </a:pPr>
            <a:r>
              <a:rPr lang="ar-SA" altLang="en-US" sz="3200" b="1" dirty="0">
                <a:solidFill>
                  <a:srgbClr val="F3F6FD"/>
                </a:solidFill>
                <a:latin typeface="IBM Plex Sans Arabic" pitchFamily="34" charset="0"/>
                <a:ea typeface="IBM Plex Sans Arabic" pitchFamily="34" charset="-122"/>
                <a:cs typeface="IBM Plex Sans Arabic" pitchFamily="34" charset="-120"/>
              </a:rPr>
              <a:t>المستخدمون المستهدفون</a:t>
            </a:r>
            <a:endParaRPr lang="ar-SA" sz="3200" dirty="0"/>
          </a:p>
        </p:txBody>
      </p:sp>
      <p:pic>
        <p:nvPicPr>
          <p:cNvPr id="4" name="Image 0" descr="/tmp/claude-0/-home-user-ghassankmiqdad/d1991e4f-aee0-5e68-9a9d-3fc00accdf9d/scratchpad/build/assets/mark_sm.png">    </p:cNvPr>
          <p:cNvPicPr>
            <a:picLocks noChangeAspect="1"/>
          </p:cNvPicPr>
          <p:nvPr/>
        </p:nvPicPr>
        <p:blipFill>
          <a:blip r:embed="rId2"/>
          <a:stretch>
            <a:fillRect/>
          </a:stretch>
        </p:blipFill>
        <p:spPr>
          <a:xfrm>
            <a:off x="594360" y="475488"/>
            <a:ext cx="566928" cy="443515"/>
          </a:xfrm>
          <a:prstGeom prst="rect">
            <a:avLst/>
          </a:prstGeom>
        </p:spPr>
      </p:pic>
      <p:sp>
        <p:nvSpPr>
          <p:cNvPr id="5" name="Text 2"/>
          <p:cNvSpPr txBox="1"/>
          <p:nvPr/>
        </p:nvSpPr>
        <p:spPr>
          <a:xfrm>
            <a:off x="7939735" y="6400800"/>
            <a:ext cx="3657600" cy="228600"/>
          </a:xfrm>
          <a:prstGeom prst="rect">
            <a:avLst/>
          </a:prstGeom>
          <a:noFill/>
          <a:ln/>
        </p:spPr>
        <p:txBody>
          <a:bodyPr wrap="square" lIns="0" tIns="0" rIns="0" bIns="0" rtlCol="0" anchor="t"/>
          <a:lstStyle/>
          <a:p>
            <a:pPr rtl="1" algn="r" indent="0" marL="0">
              <a:buNone/>
            </a:pPr>
            <a:r>
              <a:rPr lang="ar-SA" altLang="en-US" sz="900" dirty="0">
                <a:solidFill>
                  <a:srgbClr val="6E7FAA"/>
                </a:solidFill>
                <a:latin typeface="IBM Plex Sans Arabic" pitchFamily="34" charset="0"/>
                <a:ea typeface="IBM Plex Sans Arabic" pitchFamily="34" charset="-122"/>
                <a:cs typeface="IBM Plex Sans Arabic" pitchFamily="34" charset="-120"/>
              </a:rPr>
              <a:t>NestHire · اجتماع الانطلاق</a:t>
            </a:r>
            <a:endParaRPr lang="ar-SA" sz="900" dirty="0"/>
          </a:p>
        </p:txBody>
      </p:sp>
      <p:sp>
        <p:nvSpPr>
          <p:cNvPr id="6" name="Text 3"/>
          <p:cNvSpPr txBox="1"/>
          <p:nvPr/>
        </p:nvSpPr>
        <p:spPr>
          <a:xfrm>
            <a:off x="594360" y="6400800"/>
            <a:ext cx="1097280" cy="228600"/>
          </a:xfrm>
          <a:prstGeom prst="rect">
            <a:avLst/>
          </a:prstGeom>
          <a:noFill/>
          <a:ln/>
        </p:spPr>
        <p:txBody>
          <a:bodyPr wrap="square" lIns="0" tIns="0" rIns="0" bIns="0" rtlCol="0" anchor="t"/>
          <a:lstStyle/>
          <a:p>
            <a:pPr algn="l" indent="0" marL="0">
              <a:buNone/>
            </a:pPr>
            <a:r>
              <a:rPr lang="ar-SA" altLang="en-US" sz="900" dirty="0">
                <a:solidFill>
                  <a:srgbClr val="6E7FAA"/>
                </a:solidFill>
                <a:latin typeface="IBM Plex Sans Arabic" pitchFamily="34" charset="0"/>
                <a:ea typeface="IBM Plex Sans Arabic" pitchFamily="34" charset="-122"/>
                <a:cs typeface="IBM Plex Sans Arabic" pitchFamily="34" charset="-120"/>
              </a:rPr>
              <a:t>06 / 18</a:t>
            </a:r>
            <a:endParaRPr lang="ar-SA" sz="900" dirty="0"/>
          </a:p>
        </p:txBody>
      </p:sp>
      <p:sp>
        <p:nvSpPr>
          <p:cNvPr id="7" name="Shape 4"/>
          <p:cNvSpPr/>
          <p:nvPr/>
        </p:nvSpPr>
        <p:spPr>
          <a:xfrm>
            <a:off x="9038615" y="1783080"/>
            <a:ext cx="2558720" cy="3840480"/>
          </a:xfrm>
          <a:prstGeom prst="roundRect">
            <a:avLst>
              <a:gd name="adj" fmla="val 5003"/>
            </a:avLst>
          </a:prstGeom>
          <a:solidFill>
            <a:srgbClr val="0B1634"/>
          </a:solidFill>
          <a:ln w="9525">
            <a:solidFill>
              <a:srgbClr val="1E3570"/>
            </a:solidFill>
            <a:prstDash val="solid"/>
          </a:ln>
        </p:spPr>
      </p:sp>
      <p:sp>
        <p:nvSpPr>
          <p:cNvPr id="8" name="Shape 5"/>
          <p:cNvSpPr/>
          <p:nvPr/>
        </p:nvSpPr>
        <p:spPr>
          <a:xfrm>
            <a:off x="10820095" y="2011680"/>
            <a:ext cx="548640" cy="548640"/>
          </a:xfrm>
          <a:prstGeom prst="ellipse">
            <a:avLst/>
          </a:prstGeom>
          <a:solidFill>
            <a:srgbClr val="10204A"/>
          </a:solidFill>
          <a:ln w="9525">
            <a:solidFill>
              <a:srgbClr val="1E3570"/>
            </a:solidFill>
            <a:prstDash val="solid"/>
          </a:ln>
        </p:spPr>
      </p:sp>
      <p:pic>
        <p:nvPicPr>
          <p:cNvPr id="9" name="Image 1" descr="preencoded.png">    </p:cNvPr>
          <p:cNvPicPr>
            <a:picLocks noChangeAspect="1"/>
          </p:cNvPicPr>
          <p:nvPr/>
        </p:nvPicPr>
        <p:blipFill>
          <a:blip r:embed="rId3"/>
          <a:stretch>
            <a:fillRect/>
          </a:stretch>
        </p:blipFill>
        <p:spPr>
          <a:xfrm>
            <a:off x="10962742" y="2154326"/>
            <a:ext cx="263347" cy="263347"/>
          </a:xfrm>
          <a:prstGeom prst="rect">
            <a:avLst/>
          </a:prstGeom>
        </p:spPr>
      </p:pic>
      <p:sp>
        <p:nvSpPr>
          <p:cNvPr id="10" name="Text 6"/>
          <p:cNvSpPr txBox="1"/>
          <p:nvPr/>
        </p:nvSpPr>
        <p:spPr>
          <a:xfrm>
            <a:off x="9267215" y="2651760"/>
            <a:ext cx="2101520" cy="548640"/>
          </a:xfrm>
          <a:prstGeom prst="rect">
            <a:avLst/>
          </a:prstGeom>
          <a:noFill/>
          <a:ln/>
        </p:spPr>
        <p:txBody>
          <a:bodyPr wrap="square" lIns="0" tIns="0" rIns="0" bIns="0" rtlCol="0" anchor="t"/>
          <a:lstStyle/>
          <a:p>
            <a:pPr algn="r" indent="0" marL="0">
              <a:buNone/>
            </a:pPr>
            <a:r>
              <a:rPr lang="ar-SA" altLang="en-US" sz="1550" b="1" dirty="0">
                <a:solidFill>
                  <a:srgbClr val="F3F6FD"/>
                </a:solidFill>
                <a:latin typeface="IBM Plex Sans Arabic" pitchFamily="34" charset="0"/>
                <a:ea typeface="IBM Plex Sans Arabic" pitchFamily="34" charset="-122"/>
                <a:cs typeface="IBM Plex Sans Arabic" pitchFamily="34" charset="-120"/>
              </a:rPr>
              <a:t>TA Operations Leader</a:t>
            </a:r>
            <a:endParaRPr lang="ar-SA" sz="1550" dirty="0"/>
          </a:p>
        </p:txBody>
      </p:sp>
      <p:sp>
        <p:nvSpPr>
          <p:cNvPr id="11" name="Shape 7"/>
          <p:cNvSpPr/>
          <p:nvPr/>
        </p:nvSpPr>
        <p:spPr>
          <a:xfrm>
            <a:off x="9267215" y="2075688"/>
            <a:ext cx="1161288" cy="292608"/>
          </a:xfrm>
          <a:prstGeom prst="roundRect">
            <a:avLst>
              <a:gd name="adj" fmla="val 50000"/>
            </a:avLst>
          </a:prstGeom>
          <a:solidFill>
            <a:srgbClr val="0A2A5C"/>
          </a:solidFill>
          <a:ln w="9525">
            <a:solidFill>
              <a:srgbClr val="1E3570"/>
            </a:solidFill>
            <a:prstDash val="solid"/>
          </a:ln>
        </p:spPr>
      </p:sp>
      <p:sp>
        <p:nvSpPr>
          <p:cNvPr id="12" name="Text 8"/>
          <p:cNvSpPr txBox="1"/>
          <p:nvPr/>
        </p:nvSpPr>
        <p:spPr>
          <a:xfrm>
            <a:off x="9267215" y="2075688"/>
            <a:ext cx="1161288" cy="292608"/>
          </a:xfrm>
          <a:prstGeom prst="rect">
            <a:avLst/>
          </a:prstGeom>
          <a:noFill/>
          <a:ln/>
        </p:spPr>
        <p:txBody>
          <a:bodyPr wrap="square" lIns="0" tIns="0" rIns="0" bIns="0" rtlCol="0" anchor="ctr"/>
          <a:lstStyle/>
          <a:p>
            <a:pPr rtl="1" algn="ctr" indent="0" marL="0">
              <a:buNone/>
            </a:pPr>
            <a:r>
              <a:rPr lang="ar-SA" altLang="en-US" sz="950" dirty="0">
                <a:solidFill>
                  <a:srgbClr val="3EE0F5"/>
                </a:solidFill>
                <a:latin typeface="IBM Plex Sans Arabic" pitchFamily="34" charset="0"/>
                <a:ea typeface="IBM Plex Sans Arabic" pitchFamily="34" charset="-122"/>
                <a:cs typeface="IBM Plex Sans Arabic" pitchFamily="34" charset="-120"/>
              </a:rPr>
              <a:t>Primary User</a:t>
            </a:r>
            <a:endParaRPr lang="ar-SA" sz="950" dirty="0"/>
          </a:p>
        </p:txBody>
      </p:sp>
      <p:sp>
        <p:nvSpPr>
          <p:cNvPr id="13" name="Text 9"/>
          <p:cNvSpPr txBox="1"/>
          <p:nvPr/>
        </p:nvSpPr>
        <p:spPr>
          <a:xfrm>
            <a:off x="9267215" y="3264408"/>
            <a:ext cx="2101520" cy="256032"/>
          </a:xfrm>
          <a:prstGeom prst="rect">
            <a:avLst/>
          </a:prstGeom>
          <a:noFill/>
          <a:ln/>
        </p:spPr>
        <p:txBody>
          <a:bodyPr wrap="square" lIns="0" tIns="0" rIns="0" bIns="0" rtlCol="0" anchor="t"/>
          <a:lstStyle/>
          <a:p>
            <a:pPr rtl="1" algn="r" indent="0" marL="0">
              <a:buNone/>
            </a:pPr>
            <a:r>
              <a:rPr lang="ar-SA" altLang="en-US" sz="1150" b="1" dirty="0">
                <a:solidFill>
                  <a:srgbClr val="6E7FAA"/>
                </a:solidFill>
                <a:latin typeface="IBM Plex Sans Arabic" pitchFamily="34" charset="0"/>
                <a:ea typeface="IBM Plex Sans Arabic" pitchFamily="34" charset="-122"/>
                <a:cs typeface="IBM Plex Sans Arabic" pitchFamily="34" charset="-120"/>
              </a:rPr>
              <a:t>من؟</a:t>
            </a:r>
            <a:endParaRPr lang="ar-SA" sz="1150" dirty="0"/>
          </a:p>
        </p:txBody>
      </p:sp>
      <p:sp>
        <p:nvSpPr>
          <p:cNvPr id="14" name="Text 10"/>
          <p:cNvSpPr txBox="1"/>
          <p:nvPr/>
        </p:nvSpPr>
        <p:spPr>
          <a:xfrm>
            <a:off x="9267215" y="3511296"/>
            <a:ext cx="2101520" cy="512064"/>
          </a:xfrm>
          <a:prstGeom prst="rect">
            <a:avLst/>
          </a:prstGeom>
          <a:noFill/>
          <a:ln/>
        </p:spPr>
        <p:txBody>
          <a:bodyPr wrap="square" lIns="0" tIns="0" rIns="0" bIns="0" rtlCol="0" anchor="t"/>
          <a:lstStyle/>
          <a:p>
            <a:pPr rtl="1" algn="r" indent="0" marL="0">
              <a:lnSpc>
                <a:spcPct val="105000"/>
              </a:lnSpc>
              <a:buNone/>
            </a:pPr>
            <a:r>
              <a:rPr lang="ar-SA" altLang="en-US" sz="1300" dirty="0">
                <a:solidFill>
                  <a:srgbClr val="A9B7DA"/>
                </a:solidFill>
                <a:latin typeface="IBM Plex Sans Arabic" pitchFamily="34" charset="0"/>
                <a:ea typeface="IBM Plex Sans Arabic" pitchFamily="34" charset="-122"/>
                <a:cs typeface="IBM Plex Sans Arabic" pitchFamily="34" charset="-120"/>
              </a:rPr>
              <a:t>قائد عمليات الاستقطاب والتوظيف</a:t>
            </a:r>
            <a:endParaRPr lang="ar-SA" sz="1300" dirty="0"/>
          </a:p>
        </p:txBody>
      </p:sp>
      <p:sp>
        <p:nvSpPr>
          <p:cNvPr id="15" name="Text 11"/>
          <p:cNvSpPr txBox="1"/>
          <p:nvPr/>
        </p:nvSpPr>
        <p:spPr>
          <a:xfrm>
            <a:off x="9267215" y="4041648"/>
            <a:ext cx="2101520" cy="256032"/>
          </a:xfrm>
          <a:prstGeom prst="rect">
            <a:avLst/>
          </a:prstGeom>
          <a:noFill/>
          <a:ln/>
        </p:spPr>
        <p:txBody>
          <a:bodyPr wrap="square" lIns="0" tIns="0" rIns="0" bIns="0" rtlCol="0" anchor="t"/>
          <a:lstStyle/>
          <a:p>
            <a:pPr rtl="1" algn="r" indent="0" marL="0">
              <a:buNone/>
            </a:pPr>
            <a:r>
              <a:rPr lang="ar-SA" altLang="en-US" sz="1150" b="1" dirty="0">
                <a:solidFill>
                  <a:srgbClr val="6E7FAA"/>
                </a:solidFill>
                <a:latin typeface="IBM Plex Sans Arabic" pitchFamily="34" charset="0"/>
                <a:ea typeface="IBM Plex Sans Arabic" pitchFamily="34" charset="-122"/>
                <a:cs typeface="IBM Plex Sans Arabic" pitchFamily="34" charset="-120"/>
              </a:rPr>
              <a:t>ماذا يحتاج؟</a:t>
            </a:r>
            <a:endParaRPr lang="ar-SA" sz="1150" dirty="0"/>
          </a:p>
        </p:txBody>
      </p:sp>
      <p:sp>
        <p:nvSpPr>
          <p:cNvPr id="16" name="Text 12"/>
          <p:cNvSpPr txBox="1"/>
          <p:nvPr/>
        </p:nvSpPr>
        <p:spPr>
          <a:xfrm>
            <a:off x="9267215" y="4288536"/>
            <a:ext cx="2101520" cy="512064"/>
          </a:xfrm>
          <a:prstGeom prst="rect">
            <a:avLst/>
          </a:prstGeom>
          <a:noFill/>
          <a:ln/>
        </p:spPr>
        <p:txBody>
          <a:bodyPr wrap="square" lIns="0" tIns="0" rIns="0" bIns="0" rtlCol="0" anchor="t"/>
          <a:lstStyle/>
          <a:p>
            <a:pPr rtl="1" algn="r" indent="0" marL="0">
              <a:lnSpc>
                <a:spcPct val="105000"/>
              </a:lnSpc>
              <a:buNone/>
            </a:pPr>
            <a:r>
              <a:rPr lang="ar-SA" altLang="en-US" sz="1300" dirty="0">
                <a:solidFill>
                  <a:srgbClr val="A9B7DA"/>
                </a:solidFill>
                <a:latin typeface="IBM Plex Sans Arabic" pitchFamily="34" charset="0"/>
                <a:ea typeface="IBM Plex Sans Arabic" pitchFamily="34" charset="-122"/>
                <a:cs typeface="IBM Plex Sans Arabic" pitchFamily="34" charset="-120"/>
              </a:rPr>
              <a:t>تحسين عملية التوظيف؛ لديه بيانات كثيرة دون Insight</a:t>
            </a:r>
            <a:endParaRPr lang="ar-SA" sz="1300" dirty="0"/>
          </a:p>
        </p:txBody>
      </p:sp>
      <p:sp>
        <p:nvSpPr>
          <p:cNvPr id="17" name="Text 13"/>
          <p:cNvSpPr txBox="1"/>
          <p:nvPr/>
        </p:nvSpPr>
        <p:spPr>
          <a:xfrm>
            <a:off x="9267215" y="4818888"/>
            <a:ext cx="2101520" cy="256032"/>
          </a:xfrm>
          <a:prstGeom prst="rect">
            <a:avLst/>
          </a:prstGeom>
          <a:noFill/>
          <a:ln/>
        </p:spPr>
        <p:txBody>
          <a:bodyPr wrap="square" lIns="0" tIns="0" rIns="0" bIns="0" rtlCol="0" anchor="t"/>
          <a:lstStyle/>
          <a:p>
            <a:pPr rtl="1" algn="r" indent="0" marL="0">
              <a:buNone/>
            </a:pPr>
            <a:r>
              <a:rPr lang="ar-SA" altLang="en-US" sz="1150" b="1" dirty="0">
                <a:solidFill>
                  <a:srgbClr val="3EE0F5"/>
                </a:solidFill>
                <a:latin typeface="IBM Plex Sans Arabic" pitchFamily="34" charset="0"/>
                <a:ea typeface="IBM Plex Sans Arabic" pitchFamily="34" charset="-122"/>
                <a:cs typeface="IBM Plex Sans Arabic" pitchFamily="34" charset="-120"/>
              </a:rPr>
              <a:t>كيف نساعده؟</a:t>
            </a:r>
            <a:endParaRPr lang="ar-SA" sz="1150" dirty="0"/>
          </a:p>
        </p:txBody>
      </p:sp>
      <p:sp>
        <p:nvSpPr>
          <p:cNvPr id="18" name="Text 14"/>
          <p:cNvSpPr txBox="1"/>
          <p:nvPr/>
        </p:nvSpPr>
        <p:spPr>
          <a:xfrm>
            <a:off x="9267215" y="5065776"/>
            <a:ext cx="2101520" cy="512064"/>
          </a:xfrm>
          <a:prstGeom prst="rect">
            <a:avLst/>
          </a:prstGeom>
          <a:noFill/>
          <a:ln/>
        </p:spPr>
        <p:txBody>
          <a:bodyPr wrap="square" lIns="0" tIns="0" rIns="0" bIns="0" rtlCol="0" anchor="t"/>
          <a:lstStyle/>
          <a:p>
            <a:pPr rtl="1" algn="r" indent="0" marL="0">
              <a:lnSpc>
                <a:spcPct val="105000"/>
              </a:lnSpc>
              <a:buNone/>
            </a:pPr>
            <a:r>
              <a:rPr lang="ar-SA" altLang="en-US" sz="1300" b="1" dirty="0">
                <a:solidFill>
                  <a:srgbClr val="F3F6FD"/>
                </a:solidFill>
                <a:latin typeface="IBM Plex Sans Arabic" pitchFamily="34" charset="0"/>
                <a:ea typeface="IBM Plex Sans Arabic" pitchFamily="34" charset="-122"/>
                <a:cs typeface="IBM Plex Sans Arabic" pitchFamily="34" charset="-120"/>
              </a:rPr>
              <a:t>تحديد Change قابل للتطبيق</a:t>
            </a:r>
            <a:endParaRPr lang="ar-SA" sz="1300" dirty="0"/>
          </a:p>
        </p:txBody>
      </p:sp>
      <p:sp>
        <p:nvSpPr>
          <p:cNvPr id="19" name="Shape 15"/>
          <p:cNvSpPr/>
          <p:nvPr/>
        </p:nvSpPr>
        <p:spPr>
          <a:xfrm>
            <a:off x="6223864" y="1783080"/>
            <a:ext cx="2558720" cy="3840480"/>
          </a:xfrm>
          <a:prstGeom prst="roundRect">
            <a:avLst>
              <a:gd name="adj" fmla="val 5003"/>
            </a:avLst>
          </a:prstGeom>
          <a:solidFill>
            <a:srgbClr val="0B1634"/>
          </a:solidFill>
          <a:ln w="9525">
            <a:solidFill>
              <a:srgbClr val="1E3570"/>
            </a:solidFill>
            <a:prstDash val="solid"/>
          </a:ln>
        </p:spPr>
      </p:sp>
      <p:sp>
        <p:nvSpPr>
          <p:cNvPr id="20" name="Shape 16"/>
          <p:cNvSpPr/>
          <p:nvPr/>
        </p:nvSpPr>
        <p:spPr>
          <a:xfrm>
            <a:off x="8005343" y="2011680"/>
            <a:ext cx="548640" cy="548640"/>
          </a:xfrm>
          <a:prstGeom prst="ellipse">
            <a:avLst/>
          </a:prstGeom>
          <a:solidFill>
            <a:srgbClr val="10204A"/>
          </a:solidFill>
          <a:ln w="9525">
            <a:solidFill>
              <a:srgbClr val="1E3570"/>
            </a:solidFill>
            <a:prstDash val="solid"/>
          </a:ln>
        </p:spPr>
      </p:sp>
      <p:pic>
        <p:nvPicPr>
          <p:cNvPr id="21" name="Image 2" descr="preencoded.png">    </p:cNvPr>
          <p:cNvPicPr>
            <a:picLocks noChangeAspect="1"/>
          </p:cNvPicPr>
          <p:nvPr/>
        </p:nvPicPr>
        <p:blipFill>
          <a:blip r:embed="rId4"/>
          <a:stretch>
            <a:fillRect/>
          </a:stretch>
        </p:blipFill>
        <p:spPr>
          <a:xfrm>
            <a:off x="8147990" y="2154326"/>
            <a:ext cx="263347" cy="263347"/>
          </a:xfrm>
          <a:prstGeom prst="rect">
            <a:avLst/>
          </a:prstGeom>
        </p:spPr>
      </p:pic>
      <p:sp>
        <p:nvSpPr>
          <p:cNvPr id="22" name="Text 17"/>
          <p:cNvSpPr txBox="1"/>
          <p:nvPr/>
        </p:nvSpPr>
        <p:spPr>
          <a:xfrm>
            <a:off x="6452464" y="2651760"/>
            <a:ext cx="2101520" cy="548640"/>
          </a:xfrm>
          <a:prstGeom prst="rect">
            <a:avLst/>
          </a:prstGeom>
          <a:noFill/>
          <a:ln/>
        </p:spPr>
        <p:txBody>
          <a:bodyPr wrap="square" lIns="0" tIns="0" rIns="0" bIns="0" rtlCol="0" anchor="t"/>
          <a:lstStyle/>
          <a:p>
            <a:pPr algn="r" indent="0" marL="0">
              <a:buNone/>
            </a:pPr>
            <a:r>
              <a:rPr lang="ar-SA" altLang="en-US" sz="1550" b="1" dirty="0">
                <a:solidFill>
                  <a:srgbClr val="F3F6FD"/>
                </a:solidFill>
                <a:latin typeface="IBM Plex Sans Arabic" pitchFamily="34" charset="0"/>
                <a:ea typeface="IBM Plex Sans Arabic" pitchFamily="34" charset="-122"/>
                <a:cs typeface="IBM Plex Sans Arabic" pitchFamily="34" charset="-120"/>
              </a:rPr>
              <a:t>People Analytics Leader</a:t>
            </a:r>
            <a:endParaRPr lang="ar-SA" sz="1550" dirty="0"/>
          </a:p>
        </p:txBody>
      </p:sp>
      <p:sp>
        <p:nvSpPr>
          <p:cNvPr id="23" name="Shape 18"/>
          <p:cNvSpPr/>
          <p:nvPr/>
        </p:nvSpPr>
        <p:spPr>
          <a:xfrm>
            <a:off x="6452464" y="2075688"/>
            <a:ext cx="1552880" cy="292608"/>
          </a:xfrm>
          <a:prstGeom prst="roundRect">
            <a:avLst>
              <a:gd name="adj" fmla="val 50000"/>
            </a:avLst>
          </a:prstGeom>
          <a:solidFill>
            <a:srgbClr val="0A2A5C"/>
          </a:solidFill>
          <a:ln w="9525">
            <a:solidFill>
              <a:srgbClr val="1E3570"/>
            </a:solidFill>
            <a:prstDash val="solid"/>
          </a:ln>
        </p:spPr>
      </p:sp>
      <p:sp>
        <p:nvSpPr>
          <p:cNvPr id="24" name="Text 19"/>
          <p:cNvSpPr txBox="1"/>
          <p:nvPr/>
        </p:nvSpPr>
        <p:spPr>
          <a:xfrm>
            <a:off x="6452464" y="2075688"/>
            <a:ext cx="1552880" cy="292608"/>
          </a:xfrm>
          <a:prstGeom prst="rect">
            <a:avLst/>
          </a:prstGeom>
          <a:noFill/>
          <a:ln/>
        </p:spPr>
        <p:txBody>
          <a:bodyPr wrap="square" lIns="0" tIns="0" rIns="0" bIns="0" rtlCol="0" anchor="ctr"/>
          <a:lstStyle/>
          <a:p>
            <a:pPr rtl="1" algn="ctr" indent="0" marL="0">
              <a:buNone/>
            </a:pPr>
            <a:r>
              <a:rPr lang="ar-SA" altLang="en-US" sz="950" dirty="0">
                <a:solidFill>
                  <a:srgbClr val="3EE0F5"/>
                </a:solidFill>
                <a:latin typeface="IBM Plex Sans Arabic" pitchFamily="34" charset="0"/>
                <a:ea typeface="IBM Plex Sans Arabic" pitchFamily="34" charset="-122"/>
                <a:cs typeface="IBM Plex Sans Arabic" pitchFamily="34" charset="-120"/>
              </a:rPr>
              <a:t>Primary Buyer · User</a:t>
            </a:r>
            <a:endParaRPr lang="ar-SA" sz="950" dirty="0"/>
          </a:p>
        </p:txBody>
      </p:sp>
      <p:sp>
        <p:nvSpPr>
          <p:cNvPr id="25" name="Text 20"/>
          <p:cNvSpPr txBox="1"/>
          <p:nvPr/>
        </p:nvSpPr>
        <p:spPr>
          <a:xfrm>
            <a:off x="6452464" y="3264408"/>
            <a:ext cx="2101520" cy="256032"/>
          </a:xfrm>
          <a:prstGeom prst="rect">
            <a:avLst/>
          </a:prstGeom>
          <a:noFill/>
          <a:ln/>
        </p:spPr>
        <p:txBody>
          <a:bodyPr wrap="square" lIns="0" tIns="0" rIns="0" bIns="0" rtlCol="0" anchor="t"/>
          <a:lstStyle/>
          <a:p>
            <a:pPr rtl="1" algn="r" indent="0" marL="0">
              <a:buNone/>
            </a:pPr>
            <a:r>
              <a:rPr lang="ar-SA" altLang="en-US" sz="1150" b="1" dirty="0">
                <a:solidFill>
                  <a:srgbClr val="6E7FAA"/>
                </a:solidFill>
                <a:latin typeface="IBM Plex Sans Arabic" pitchFamily="34" charset="0"/>
                <a:ea typeface="IBM Plex Sans Arabic" pitchFamily="34" charset="-122"/>
                <a:cs typeface="IBM Plex Sans Arabic" pitchFamily="34" charset="-120"/>
              </a:rPr>
              <a:t>من؟</a:t>
            </a:r>
            <a:endParaRPr lang="ar-SA" sz="1150" dirty="0"/>
          </a:p>
        </p:txBody>
      </p:sp>
      <p:sp>
        <p:nvSpPr>
          <p:cNvPr id="26" name="Text 21"/>
          <p:cNvSpPr txBox="1"/>
          <p:nvPr/>
        </p:nvSpPr>
        <p:spPr>
          <a:xfrm>
            <a:off x="6452464" y="3511296"/>
            <a:ext cx="2101520" cy="512064"/>
          </a:xfrm>
          <a:prstGeom prst="rect">
            <a:avLst/>
          </a:prstGeom>
          <a:noFill/>
          <a:ln/>
        </p:spPr>
        <p:txBody>
          <a:bodyPr wrap="square" lIns="0" tIns="0" rIns="0" bIns="0" rtlCol="0" anchor="t"/>
          <a:lstStyle/>
          <a:p>
            <a:pPr rtl="1" algn="r" indent="0" marL="0">
              <a:lnSpc>
                <a:spcPct val="105000"/>
              </a:lnSpc>
              <a:buNone/>
            </a:pPr>
            <a:r>
              <a:rPr lang="ar-SA" altLang="en-US" sz="1300" dirty="0">
                <a:solidFill>
                  <a:srgbClr val="A9B7DA"/>
                </a:solidFill>
                <a:latin typeface="IBM Plex Sans Arabic" pitchFamily="34" charset="0"/>
                <a:ea typeface="IBM Plex Sans Arabic" pitchFamily="34" charset="-122"/>
                <a:cs typeface="IBM Plex Sans Arabic" pitchFamily="34" charset="-120"/>
              </a:rPr>
              <a:t>قائد تحليلات الموارد البشرية</a:t>
            </a:r>
            <a:endParaRPr lang="ar-SA" sz="1300" dirty="0"/>
          </a:p>
        </p:txBody>
      </p:sp>
      <p:sp>
        <p:nvSpPr>
          <p:cNvPr id="27" name="Text 22"/>
          <p:cNvSpPr txBox="1"/>
          <p:nvPr/>
        </p:nvSpPr>
        <p:spPr>
          <a:xfrm>
            <a:off x="6452464" y="4041648"/>
            <a:ext cx="2101520" cy="256032"/>
          </a:xfrm>
          <a:prstGeom prst="rect">
            <a:avLst/>
          </a:prstGeom>
          <a:noFill/>
          <a:ln/>
        </p:spPr>
        <p:txBody>
          <a:bodyPr wrap="square" lIns="0" tIns="0" rIns="0" bIns="0" rtlCol="0" anchor="t"/>
          <a:lstStyle/>
          <a:p>
            <a:pPr rtl="1" algn="r" indent="0" marL="0">
              <a:buNone/>
            </a:pPr>
            <a:r>
              <a:rPr lang="ar-SA" altLang="en-US" sz="1150" b="1" dirty="0">
                <a:solidFill>
                  <a:srgbClr val="6E7FAA"/>
                </a:solidFill>
                <a:latin typeface="IBM Plex Sans Arabic" pitchFamily="34" charset="0"/>
                <a:ea typeface="IBM Plex Sans Arabic" pitchFamily="34" charset="-122"/>
                <a:cs typeface="IBM Plex Sans Arabic" pitchFamily="34" charset="-120"/>
              </a:rPr>
              <a:t>ماذا يحتاج؟</a:t>
            </a:r>
            <a:endParaRPr lang="ar-SA" sz="1150" dirty="0"/>
          </a:p>
        </p:txBody>
      </p:sp>
      <p:sp>
        <p:nvSpPr>
          <p:cNvPr id="28" name="Text 23"/>
          <p:cNvSpPr txBox="1"/>
          <p:nvPr/>
        </p:nvSpPr>
        <p:spPr>
          <a:xfrm>
            <a:off x="6452464" y="4288536"/>
            <a:ext cx="2101520" cy="512064"/>
          </a:xfrm>
          <a:prstGeom prst="rect">
            <a:avLst/>
          </a:prstGeom>
          <a:noFill/>
          <a:ln/>
        </p:spPr>
        <p:txBody>
          <a:bodyPr wrap="square" lIns="0" tIns="0" rIns="0" bIns="0" rtlCol="0" anchor="t"/>
          <a:lstStyle/>
          <a:p>
            <a:pPr rtl="1" algn="r" indent="0" marL="0">
              <a:lnSpc>
                <a:spcPct val="105000"/>
              </a:lnSpc>
              <a:buNone/>
            </a:pPr>
            <a:r>
              <a:rPr lang="ar-SA" altLang="en-US" sz="1300" dirty="0">
                <a:solidFill>
                  <a:srgbClr val="A9B7DA"/>
                </a:solidFill>
                <a:latin typeface="IBM Plex Sans Arabic" pitchFamily="34" charset="0"/>
                <a:ea typeface="IBM Plex Sans Arabic" pitchFamily="34" charset="-122"/>
                <a:cs typeface="IBM Plex Sans Arabic" pitchFamily="34" charset="-120"/>
              </a:rPr>
              <a:t>ربط بيانات ما قبل التوظيف بالنتائج رغم تشتّتها</a:t>
            </a:r>
            <a:endParaRPr lang="ar-SA" sz="1300" dirty="0"/>
          </a:p>
        </p:txBody>
      </p:sp>
      <p:sp>
        <p:nvSpPr>
          <p:cNvPr id="29" name="Text 24"/>
          <p:cNvSpPr txBox="1"/>
          <p:nvPr/>
        </p:nvSpPr>
        <p:spPr>
          <a:xfrm>
            <a:off x="6452464" y="4818888"/>
            <a:ext cx="2101520" cy="256032"/>
          </a:xfrm>
          <a:prstGeom prst="rect">
            <a:avLst/>
          </a:prstGeom>
          <a:noFill/>
          <a:ln/>
        </p:spPr>
        <p:txBody>
          <a:bodyPr wrap="square" lIns="0" tIns="0" rIns="0" bIns="0" rtlCol="0" anchor="t"/>
          <a:lstStyle/>
          <a:p>
            <a:pPr rtl="1" algn="r" indent="0" marL="0">
              <a:buNone/>
            </a:pPr>
            <a:r>
              <a:rPr lang="ar-SA" altLang="en-US" sz="1150" b="1" dirty="0">
                <a:solidFill>
                  <a:srgbClr val="3EE0F5"/>
                </a:solidFill>
                <a:latin typeface="IBM Plex Sans Arabic" pitchFamily="34" charset="0"/>
                <a:ea typeface="IBM Plex Sans Arabic" pitchFamily="34" charset="-122"/>
                <a:cs typeface="IBM Plex Sans Arabic" pitchFamily="34" charset="-120"/>
              </a:rPr>
              <a:t>كيف نساعده؟</a:t>
            </a:r>
            <a:endParaRPr lang="ar-SA" sz="1150" dirty="0"/>
          </a:p>
        </p:txBody>
      </p:sp>
      <p:sp>
        <p:nvSpPr>
          <p:cNvPr id="30" name="Text 25"/>
          <p:cNvSpPr txBox="1"/>
          <p:nvPr/>
        </p:nvSpPr>
        <p:spPr>
          <a:xfrm>
            <a:off x="6452464" y="5065776"/>
            <a:ext cx="2101520" cy="512064"/>
          </a:xfrm>
          <a:prstGeom prst="rect">
            <a:avLst/>
          </a:prstGeom>
          <a:noFill/>
          <a:ln/>
        </p:spPr>
        <p:txBody>
          <a:bodyPr wrap="square" lIns="0" tIns="0" rIns="0" bIns="0" rtlCol="0" anchor="t"/>
          <a:lstStyle/>
          <a:p>
            <a:pPr rtl="1" algn="r" indent="0" marL="0">
              <a:lnSpc>
                <a:spcPct val="105000"/>
              </a:lnSpc>
              <a:buNone/>
            </a:pPr>
            <a:r>
              <a:rPr lang="ar-SA" altLang="en-US" sz="1300" b="1" dirty="0">
                <a:solidFill>
                  <a:srgbClr val="F3F6FD"/>
                </a:solidFill>
                <a:latin typeface="IBM Plex Sans Arabic" pitchFamily="34" charset="0"/>
                <a:ea typeface="IBM Plex Sans Arabic" pitchFamily="34" charset="-122"/>
                <a:cs typeface="IBM Plex Sans Arabic" pitchFamily="34" charset="-120"/>
              </a:rPr>
              <a:t>تحليل قابل للتدقيق</a:t>
            </a:r>
            <a:endParaRPr lang="ar-SA" sz="1300" dirty="0"/>
          </a:p>
        </p:txBody>
      </p:sp>
      <p:sp>
        <p:nvSpPr>
          <p:cNvPr id="31" name="Shape 26"/>
          <p:cNvSpPr/>
          <p:nvPr/>
        </p:nvSpPr>
        <p:spPr>
          <a:xfrm>
            <a:off x="3409112" y="1783080"/>
            <a:ext cx="2558720" cy="3840480"/>
          </a:xfrm>
          <a:prstGeom prst="roundRect">
            <a:avLst>
              <a:gd name="adj" fmla="val 5003"/>
            </a:avLst>
          </a:prstGeom>
          <a:solidFill>
            <a:srgbClr val="0B1634"/>
          </a:solidFill>
          <a:ln w="9525">
            <a:solidFill>
              <a:srgbClr val="1E3570"/>
            </a:solidFill>
            <a:prstDash val="solid"/>
          </a:ln>
        </p:spPr>
      </p:sp>
      <p:sp>
        <p:nvSpPr>
          <p:cNvPr id="32" name="Shape 27"/>
          <p:cNvSpPr/>
          <p:nvPr/>
        </p:nvSpPr>
        <p:spPr>
          <a:xfrm>
            <a:off x="5190592" y="2011680"/>
            <a:ext cx="548640" cy="548640"/>
          </a:xfrm>
          <a:prstGeom prst="ellipse">
            <a:avLst/>
          </a:prstGeom>
          <a:solidFill>
            <a:srgbClr val="10204A"/>
          </a:solidFill>
          <a:ln w="9525">
            <a:solidFill>
              <a:srgbClr val="1E3570"/>
            </a:solidFill>
            <a:prstDash val="solid"/>
          </a:ln>
        </p:spPr>
      </p:sp>
      <p:pic>
        <p:nvPicPr>
          <p:cNvPr id="33" name="Image 3" descr="preencoded.png">    </p:cNvPr>
          <p:cNvPicPr>
            <a:picLocks noChangeAspect="1"/>
          </p:cNvPicPr>
          <p:nvPr/>
        </p:nvPicPr>
        <p:blipFill>
          <a:blip r:embed="rId5"/>
          <a:stretch>
            <a:fillRect/>
          </a:stretch>
        </p:blipFill>
        <p:spPr>
          <a:xfrm>
            <a:off x="5333238" y="2154326"/>
            <a:ext cx="263347" cy="263347"/>
          </a:xfrm>
          <a:prstGeom prst="rect">
            <a:avLst/>
          </a:prstGeom>
        </p:spPr>
      </p:pic>
      <p:sp>
        <p:nvSpPr>
          <p:cNvPr id="34" name="Text 28"/>
          <p:cNvSpPr txBox="1"/>
          <p:nvPr/>
        </p:nvSpPr>
        <p:spPr>
          <a:xfrm>
            <a:off x="3637712" y="2651760"/>
            <a:ext cx="2101520" cy="548640"/>
          </a:xfrm>
          <a:prstGeom prst="rect">
            <a:avLst/>
          </a:prstGeom>
          <a:noFill/>
          <a:ln/>
        </p:spPr>
        <p:txBody>
          <a:bodyPr wrap="square" lIns="0" tIns="0" rIns="0" bIns="0" rtlCol="0" anchor="t"/>
          <a:lstStyle/>
          <a:p>
            <a:pPr algn="r" indent="0" marL="0">
              <a:buNone/>
            </a:pPr>
            <a:r>
              <a:rPr lang="ar-SA" altLang="en-US" sz="1550" b="1" dirty="0">
                <a:solidFill>
                  <a:srgbClr val="F3F6FD"/>
                </a:solidFill>
                <a:latin typeface="IBM Plex Sans Arabic" pitchFamily="34" charset="0"/>
                <a:ea typeface="IBM Plex Sans Arabic" pitchFamily="34" charset="-122"/>
                <a:cs typeface="IBM Plex Sans Arabic" pitchFamily="34" charset="-120"/>
              </a:rPr>
              <a:t>Hiring Program Owner</a:t>
            </a:r>
            <a:endParaRPr lang="ar-SA" sz="1550" dirty="0"/>
          </a:p>
        </p:txBody>
      </p:sp>
      <p:sp>
        <p:nvSpPr>
          <p:cNvPr id="35" name="Shape 29"/>
          <p:cNvSpPr/>
          <p:nvPr/>
        </p:nvSpPr>
        <p:spPr>
          <a:xfrm>
            <a:off x="3637712" y="2075688"/>
            <a:ext cx="1161288" cy="292608"/>
          </a:xfrm>
          <a:prstGeom prst="roundRect">
            <a:avLst>
              <a:gd name="adj" fmla="val 50000"/>
            </a:avLst>
          </a:prstGeom>
          <a:solidFill>
            <a:srgbClr val="0A2A5C"/>
          </a:solidFill>
          <a:ln w="9525">
            <a:solidFill>
              <a:srgbClr val="1E3570"/>
            </a:solidFill>
            <a:prstDash val="solid"/>
          </a:ln>
        </p:spPr>
      </p:sp>
      <p:sp>
        <p:nvSpPr>
          <p:cNvPr id="36" name="Text 30"/>
          <p:cNvSpPr txBox="1"/>
          <p:nvPr/>
        </p:nvSpPr>
        <p:spPr>
          <a:xfrm>
            <a:off x="3637712" y="2075688"/>
            <a:ext cx="1161288" cy="292608"/>
          </a:xfrm>
          <a:prstGeom prst="rect">
            <a:avLst/>
          </a:prstGeom>
          <a:noFill/>
          <a:ln/>
        </p:spPr>
        <p:txBody>
          <a:bodyPr wrap="square" lIns="0" tIns="0" rIns="0" bIns="0" rtlCol="0" anchor="ctr"/>
          <a:lstStyle/>
          <a:p>
            <a:pPr rtl="1" algn="ctr" indent="0" marL="0">
              <a:buNone/>
            </a:pPr>
            <a:r>
              <a:rPr lang="ar-SA" altLang="en-US" sz="950" dirty="0">
                <a:solidFill>
                  <a:srgbClr val="3EE0F5"/>
                </a:solidFill>
                <a:latin typeface="IBM Plex Sans Arabic" pitchFamily="34" charset="0"/>
                <a:ea typeface="IBM Plex Sans Arabic" pitchFamily="34" charset="-122"/>
                <a:cs typeface="IBM Plex Sans Arabic" pitchFamily="34" charset="-120"/>
              </a:rPr>
              <a:t>Primary User</a:t>
            </a:r>
            <a:endParaRPr lang="ar-SA" sz="950" dirty="0"/>
          </a:p>
        </p:txBody>
      </p:sp>
      <p:sp>
        <p:nvSpPr>
          <p:cNvPr id="37" name="Text 31"/>
          <p:cNvSpPr txBox="1"/>
          <p:nvPr/>
        </p:nvSpPr>
        <p:spPr>
          <a:xfrm>
            <a:off x="3637712" y="3264408"/>
            <a:ext cx="2101520" cy="256032"/>
          </a:xfrm>
          <a:prstGeom prst="rect">
            <a:avLst/>
          </a:prstGeom>
          <a:noFill/>
          <a:ln/>
        </p:spPr>
        <p:txBody>
          <a:bodyPr wrap="square" lIns="0" tIns="0" rIns="0" bIns="0" rtlCol="0" anchor="t"/>
          <a:lstStyle/>
          <a:p>
            <a:pPr rtl="1" algn="r" indent="0" marL="0">
              <a:buNone/>
            </a:pPr>
            <a:r>
              <a:rPr lang="ar-SA" altLang="en-US" sz="1150" b="1" dirty="0">
                <a:solidFill>
                  <a:srgbClr val="6E7FAA"/>
                </a:solidFill>
                <a:latin typeface="IBM Plex Sans Arabic" pitchFamily="34" charset="0"/>
                <a:ea typeface="IBM Plex Sans Arabic" pitchFamily="34" charset="-122"/>
                <a:cs typeface="IBM Plex Sans Arabic" pitchFamily="34" charset="-120"/>
              </a:rPr>
              <a:t>من؟</a:t>
            </a:r>
            <a:endParaRPr lang="ar-SA" sz="1150" dirty="0"/>
          </a:p>
        </p:txBody>
      </p:sp>
      <p:sp>
        <p:nvSpPr>
          <p:cNvPr id="38" name="Text 32"/>
          <p:cNvSpPr txBox="1"/>
          <p:nvPr/>
        </p:nvSpPr>
        <p:spPr>
          <a:xfrm>
            <a:off x="3637712" y="3511296"/>
            <a:ext cx="2101520" cy="512064"/>
          </a:xfrm>
          <a:prstGeom prst="rect">
            <a:avLst/>
          </a:prstGeom>
          <a:noFill/>
          <a:ln/>
        </p:spPr>
        <p:txBody>
          <a:bodyPr wrap="square" lIns="0" tIns="0" rIns="0" bIns="0" rtlCol="0" anchor="t"/>
          <a:lstStyle/>
          <a:p>
            <a:pPr rtl="1" algn="r" indent="0" marL="0">
              <a:lnSpc>
                <a:spcPct val="105000"/>
              </a:lnSpc>
              <a:buNone/>
            </a:pPr>
            <a:r>
              <a:rPr lang="ar-SA" altLang="en-US" sz="1300" dirty="0">
                <a:solidFill>
                  <a:srgbClr val="A9B7DA"/>
                </a:solidFill>
                <a:latin typeface="IBM Plex Sans Arabic" pitchFamily="34" charset="0"/>
                <a:ea typeface="IBM Plex Sans Arabic" pitchFamily="34" charset="-122"/>
                <a:cs typeface="IBM Plex Sans Arabic" pitchFamily="34" charset="-120"/>
              </a:rPr>
              <a:t>مالك برنامج التوظيف لدور محدد</a:t>
            </a:r>
            <a:endParaRPr lang="ar-SA" sz="1300" dirty="0"/>
          </a:p>
        </p:txBody>
      </p:sp>
      <p:sp>
        <p:nvSpPr>
          <p:cNvPr id="39" name="Text 33"/>
          <p:cNvSpPr txBox="1"/>
          <p:nvPr/>
        </p:nvSpPr>
        <p:spPr>
          <a:xfrm>
            <a:off x="3637712" y="4041648"/>
            <a:ext cx="2101520" cy="256032"/>
          </a:xfrm>
          <a:prstGeom prst="rect">
            <a:avLst/>
          </a:prstGeom>
          <a:noFill/>
          <a:ln/>
        </p:spPr>
        <p:txBody>
          <a:bodyPr wrap="square" lIns="0" tIns="0" rIns="0" bIns="0" rtlCol="0" anchor="t"/>
          <a:lstStyle/>
          <a:p>
            <a:pPr rtl="1" algn="r" indent="0" marL="0">
              <a:buNone/>
            </a:pPr>
            <a:r>
              <a:rPr lang="ar-SA" altLang="en-US" sz="1150" b="1" dirty="0">
                <a:solidFill>
                  <a:srgbClr val="6E7FAA"/>
                </a:solidFill>
                <a:latin typeface="IBM Plex Sans Arabic" pitchFamily="34" charset="0"/>
                <a:ea typeface="IBM Plex Sans Arabic" pitchFamily="34" charset="-122"/>
                <a:cs typeface="IBM Plex Sans Arabic" pitchFamily="34" charset="-120"/>
              </a:rPr>
              <a:t>ماذا يحتاج؟</a:t>
            </a:r>
            <a:endParaRPr lang="ar-SA" sz="1150" dirty="0"/>
          </a:p>
        </p:txBody>
      </p:sp>
      <p:sp>
        <p:nvSpPr>
          <p:cNvPr id="40" name="Text 34"/>
          <p:cNvSpPr txBox="1"/>
          <p:nvPr/>
        </p:nvSpPr>
        <p:spPr>
          <a:xfrm>
            <a:off x="3637712" y="4288536"/>
            <a:ext cx="2101520" cy="512064"/>
          </a:xfrm>
          <a:prstGeom prst="rect">
            <a:avLst/>
          </a:prstGeom>
          <a:noFill/>
          <a:ln/>
        </p:spPr>
        <p:txBody>
          <a:bodyPr wrap="square" lIns="0" tIns="0" rIns="0" bIns="0" rtlCol="0" anchor="t"/>
          <a:lstStyle/>
          <a:p>
            <a:pPr rtl="1" algn="r" indent="0" marL="0">
              <a:lnSpc>
                <a:spcPct val="105000"/>
              </a:lnSpc>
              <a:buNone/>
            </a:pPr>
            <a:r>
              <a:rPr lang="ar-SA" altLang="en-US" sz="1300" dirty="0">
                <a:solidFill>
                  <a:srgbClr val="A9B7DA"/>
                </a:solidFill>
                <a:latin typeface="IBM Plex Sans Arabic" pitchFamily="34" charset="0"/>
                <a:ea typeface="IBM Plex Sans Arabic" pitchFamily="34" charset="-122"/>
                <a:cs typeface="IBM Plex Sans Arabic" pitchFamily="34" charset="-120"/>
              </a:rPr>
              <a:t>معرفة أي معايير الـRubric مفيدة فعلًا</a:t>
            </a:r>
            <a:endParaRPr lang="ar-SA" sz="1300" dirty="0"/>
          </a:p>
        </p:txBody>
      </p:sp>
      <p:sp>
        <p:nvSpPr>
          <p:cNvPr id="41" name="Text 35"/>
          <p:cNvSpPr txBox="1"/>
          <p:nvPr/>
        </p:nvSpPr>
        <p:spPr>
          <a:xfrm>
            <a:off x="3637712" y="4818888"/>
            <a:ext cx="2101520" cy="256032"/>
          </a:xfrm>
          <a:prstGeom prst="rect">
            <a:avLst/>
          </a:prstGeom>
          <a:noFill/>
          <a:ln/>
        </p:spPr>
        <p:txBody>
          <a:bodyPr wrap="square" lIns="0" tIns="0" rIns="0" bIns="0" rtlCol="0" anchor="t"/>
          <a:lstStyle/>
          <a:p>
            <a:pPr rtl="1" algn="r" indent="0" marL="0">
              <a:buNone/>
            </a:pPr>
            <a:r>
              <a:rPr lang="ar-SA" altLang="en-US" sz="1150" b="1" dirty="0">
                <a:solidFill>
                  <a:srgbClr val="3EE0F5"/>
                </a:solidFill>
                <a:latin typeface="IBM Plex Sans Arabic" pitchFamily="34" charset="0"/>
                <a:ea typeface="IBM Plex Sans Arabic" pitchFamily="34" charset="-122"/>
                <a:cs typeface="IBM Plex Sans Arabic" pitchFamily="34" charset="-120"/>
              </a:rPr>
              <a:t>كيف نساعده؟</a:t>
            </a:r>
            <a:endParaRPr lang="ar-SA" sz="1150" dirty="0"/>
          </a:p>
        </p:txBody>
      </p:sp>
      <p:sp>
        <p:nvSpPr>
          <p:cNvPr id="42" name="Text 36"/>
          <p:cNvSpPr txBox="1"/>
          <p:nvPr/>
        </p:nvSpPr>
        <p:spPr>
          <a:xfrm>
            <a:off x="3637712" y="5065776"/>
            <a:ext cx="2101520" cy="512064"/>
          </a:xfrm>
          <a:prstGeom prst="rect">
            <a:avLst/>
          </a:prstGeom>
          <a:noFill/>
          <a:ln/>
        </p:spPr>
        <p:txBody>
          <a:bodyPr wrap="square" lIns="0" tIns="0" rIns="0" bIns="0" rtlCol="0" anchor="t"/>
          <a:lstStyle/>
          <a:p>
            <a:pPr rtl="1" algn="r" indent="0" marL="0">
              <a:lnSpc>
                <a:spcPct val="105000"/>
              </a:lnSpc>
              <a:buNone/>
            </a:pPr>
            <a:r>
              <a:rPr lang="ar-SA" altLang="en-US" sz="1300" b="1" dirty="0">
                <a:solidFill>
                  <a:srgbClr val="F3F6FD"/>
                </a:solidFill>
                <a:latin typeface="IBM Plex Sans Arabic" pitchFamily="34" charset="0"/>
                <a:ea typeface="IBM Plex Sans Arabic" pitchFamily="34" charset="-122"/>
                <a:cs typeface="IBM Plex Sans Arabic" pitchFamily="34" charset="-120"/>
              </a:rPr>
              <a:t>معايرة مع قياس الأثر</a:t>
            </a:r>
            <a:endParaRPr lang="ar-SA" sz="1300" dirty="0"/>
          </a:p>
        </p:txBody>
      </p:sp>
      <p:sp>
        <p:nvSpPr>
          <p:cNvPr id="43" name="Shape 37"/>
          <p:cNvSpPr/>
          <p:nvPr/>
        </p:nvSpPr>
        <p:spPr>
          <a:xfrm>
            <a:off x="594360" y="1783080"/>
            <a:ext cx="2558720" cy="3840480"/>
          </a:xfrm>
          <a:prstGeom prst="roundRect">
            <a:avLst>
              <a:gd name="adj" fmla="val 5003"/>
            </a:avLst>
          </a:prstGeom>
          <a:solidFill>
            <a:srgbClr val="0B1634"/>
          </a:solidFill>
          <a:ln w="9525">
            <a:solidFill>
              <a:srgbClr val="1E3570"/>
            </a:solidFill>
            <a:prstDash val="solid"/>
          </a:ln>
        </p:spPr>
      </p:sp>
      <p:sp>
        <p:nvSpPr>
          <p:cNvPr id="44" name="Shape 38"/>
          <p:cNvSpPr/>
          <p:nvPr/>
        </p:nvSpPr>
        <p:spPr>
          <a:xfrm>
            <a:off x="2375840" y="2011680"/>
            <a:ext cx="548640" cy="548640"/>
          </a:xfrm>
          <a:prstGeom prst="ellipse">
            <a:avLst/>
          </a:prstGeom>
          <a:solidFill>
            <a:srgbClr val="10204A"/>
          </a:solidFill>
          <a:ln w="9525">
            <a:solidFill>
              <a:srgbClr val="1E3570"/>
            </a:solidFill>
            <a:prstDash val="solid"/>
          </a:ln>
        </p:spPr>
      </p:sp>
      <p:pic>
        <p:nvPicPr>
          <p:cNvPr id="45" name="Image 4" descr="preencoded.png">    </p:cNvPr>
          <p:cNvPicPr>
            <a:picLocks noChangeAspect="1"/>
          </p:cNvPicPr>
          <p:nvPr/>
        </p:nvPicPr>
        <p:blipFill>
          <a:blip r:embed="rId6"/>
          <a:stretch>
            <a:fillRect/>
          </a:stretch>
        </p:blipFill>
        <p:spPr>
          <a:xfrm>
            <a:off x="2518486" y="2154326"/>
            <a:ext cx="263347" cy="263347"/>
          </a:xfrm>
          <a:prstGeom prst="rect">
            <a:avLst/>
          </a:prstGeom>
        </p:spPr>
      </p:pic>
      <p:sp>
        <p:nvSpPr>
          <p:cNvPr id="46" name="Text 39"/>
          <p:cNvSpPr txBox="1"/>
          <p:nvPr/>
        </p:nvSpPr>
        <p:spPr>
          <a:xfrm>
            <a:off x="822960" y="2651760"/>
            <a:ext cx="2101520" cy="548640"/>
          </a:xfrm>
          <a:prstGeom prst="rect">
            <a:avLst/>
          </a:prstGeom>
          <a:noFill/>
          <a:ln/>
        </p:spPr>
        <p:txBody>
          <a:bodyPr wrap="square" lIns="0" tIns="0" rIns="0" bIns="0" rtlCol="0" anchor="t"/>
          <a:lstStyle/>
          <a:p>
            <a:pPr algn="r" indent="0" marL="0">
              <a:buNone/>
            </a:pPr>
            <a:r>
              <a:rPr lang="ar-SA" altLang="en-US" sz="1550" b="1" dirty="0">
                <a:solidFill>
                  <a:srgbClr val="F3F6FD"/>
                </a:solidFill>
                <a:latin typeface="IBM Plex Sans Arabic" pitchFamily="34" charset="0"/>
                <a:ea typeface="IBM Plex Sans Arabic" pitchFamily="34" charset="-122"/>
                <a:cs typeface="IBM Plex Sans Arabic" pitchFamily="34" charset="-120"/>
              </a:rPr>
              <a:t>CHRO</a:t>
            </a:r>
            <a:endParaRPr lang="ar-SA" sz="1550" dirty="0"/>
          </a:p>
        </p:txBody>
      </p:sp>
      <p:sp>
        <p:nvSpPr>
          <p:cNvPr id="47" name="Shape 40"/>
          <p:cNvSpPr/>
          <p:nvPr/>
        </p:nvSpPr>
        <p:spPr>
          <a:xfrm>
            <a:off x="822960" y="2075688"/>
            <a:ext cx="1552880" cy="292608"/>
          </a:xfrm>
          <a:prstGeom prst="roundRect">
            <a:avLst>
              <a:gd name="adj" fmla="val 50000"/>
            </a:avLst>
          </a:prstGeom>
          <a:solidFill>
            <a:srgbClr val="0A2A5C"/>
          </a:solidFill>
          <a:ln w="9525">
            <a:solidFill>
              <a:srgbClr val="1E3570"/>
            </a:solidFill>
            <a:prstDash val="solid"/>
          </a:ln>
        </p:spPr>
      </p:sp>
      <p:sp>
        <p:nvSpPr>
          <p:cNvPr id="48" name="Text 41"/>
          <p:cNvSpPr txBox="1"/>
          <p:nvPr/>
        </p:nvSpPr>
        <p:spPr>
          <a:xfrm>
            <a:off x="822960" y="2075688"/>
            <a:ext cx="1552880" cy="292608"/>
          </a:xfrm>
          <a:prstGeom prst="rect">
            <a:avLst/>
          </a:prstGeom>
          <a:noFill/>
          <a:ln/>
        </p:spPr>
        <p:txBody>
          <a:bodyPr wrap="square" lIns="0" tIns="0" rIns="0" bIns="0" rtlCol="0" anchor="ctr"/>
          <a:lstStyle/>
          <a:p>
            <a:pPr rtl="1" algn="ctr" indent="0" marL="0">
              <a:buNone/>
            </a:pPr>
            <a:r>
              <a:rPr lang="ar-SA" altLang="en-US" sz="950" dirty="0">
                <a:solidFill>
                  <a:srgbClr val="3EE0F5"/>
                </a:solidFill>
                <a:latin typeface="IBM Plex Sans Arabic" pitchFamily="34" charset="0"/>
                <a:ea typeface="IBM Plex Sans Arabic" pitchFamily="34" charset="-122"/>
                <a:cs typeface="IBM Plex Sans Arabic" pitchFamily="34" charset="-120"/>
              </a:rPr>
              <a:t>Economic Buyer محتمل</a:t>
            </a:r>
            <a:endParaRPr lang="ar-SA" sz="950" dirty="0"/>
          </a:p>
        </p:txBody>
      </p:sp>
      <p:sp>
        <p:nvSpPr>
          <p:cNvPr id="49" name="Text 42"/>
          <p:cNvSpPr txBox="1"/>
          <p:nvPr/>
        </p:nvSpPr>
        <p:spPr>
          <a:xfrm>
            <a:off x="822960" y="3264408"/>
            <a:ext cx="2101520" cy="256032"/>
          </a:xfrm>
          <a:prstGeom prst="rect">
            <a:avLst/>
          </a:prstGeom>
          <a:noFill/>
          <a:ln/>
        </p:spPr>
        <p:txBody>
          <a:bodyPr wrap="square" lIns="0" tIns="0" rIns="0" bIns="0" rtlCol="0" anchor="t"/>
          <a:lstStyle/>
          <a:p>
            <a:pPr rtl="1" algn="r" indent="0" marL="0">
              <a:buNone/>
            </a:pPr>
            <a:r>
              <a:rPr lang="ar-SA" altLang="en-US" sz="1150" b="1" dirty="0">
                <a:solidFill>
                  <a:srgbClr val="6E7FAA"/>
                </a:solidFill>
                <a:latin typeface="IBM Plex Sans Arabic" pitchFamily="34" charset="0"/>
                <a:ea typeface="IBM Plex Sans Arabic" pitchFamily="34" charset="-122"/>
                <a:cs typeface="IBM Plex Sans Arabic" pitchFamily="34" charset="-120"/>
              </a:rPr>
              <a:t>من؟</a:t>
            </a:r>
            <a:endParaRPr lang="ar-SA" sz="1150" dirty="0"/>
          </a:p>
        </p:txBody>
      </p:sp>
      <p:sp>
        <p:nvSpPr>
          <p:cNvPr id="50" name="Text 43"/>
          <p:cNvSpPr txBox="1"/>
          <p:nvPr/>
        </p:nvSpPr>
        <p:spPr>
          <a:xfrm>
            <a:off x="822960" y="3511296"/>
            <a:ext cx="2101520" cy="512064"/>
          </a:xfrm>
          <a:prstGeom prst="rect">
            <a:avLst/>
          </a:prstGeom>
          <a:noFill/>
          <a:ln/>
        </p:spPr>
        <p:txBody>
          <a:bodyPr wrap="square" lIns="0" tIns="0" rIns="0" bIns="0" rtlCol="0" anchor="t"/>
          <a:lstStyle/>
          <a:p>
            <a:pPr rtl="1" algn="r" indent="0" marL="0">
              <a:lnSpc>
                <a:spcPct val="105000"/>
              </a:lnSpc>
              <a:buNone/>
            </a:pPr>
            <a:r>
              <a:rPr lang="ar-SA" altLang="en-US" sz="1300" dirty="0">
                <a:solidFill>
                  <a:srgbClr val="A9B7DA"/>
                </a:solidFill>
                <a:latin typeface="IBM Plex Sans Arabic" pitchFamily="34" charset="0"/>
                <a:ea typeface="IBM Plex Sans Arabic" pitchFamily="34" charset="-122"/>
                <a:cs typeface="IBM Plex Sans Arabic" pitchFamily="34" charset="-120"/>
              </a:rPr>
              <a:t>الرئيس التنفيذي للموارد البشرية</a:t>
            </a:r>
            <a:endParaRPr lang="ar-SA" sz="1300" dirty="0"/>
          </a:p>
        </p:txBody>
      </p:sp>
      <p:sp>
        <p:nvSpPr>
          <p:cNvPr id="51" name="Text 44"/>
          <p:cNvSpPr txBox="1"/>
          <p:nvPr/>
        </p:nvSpPr>
        <p:spPr>
          <a:xfrm>
            <a:off x="822960" y="4041648"/>
            <a:ext cx="2101520" cy="256032"/>
          </a:xfrm>
          <a:prstGeom prst="rect">
            <a:avLst/>
          </a:prstGeom>
          <a:noFill/>
          <a:ln/>
        </p:spPr>
        <p:txBody>
          <a:bodyPr wrap="square" lIns="0" tIns="0" rIns="0" bIns="0" rtlCol="0" anchor="t"/>
          <a:lstStyle/>
          <a:p>
            <a:pPr rtl="1" algn="r" indent="0" marL="0">
              <a:buNone/>
            </a:pPr>
            <a:r>
              <a:rPr lang="ar-SA" altLang="en-US" sz="1150" b="1" dirty="0">
                <a:solidFill>
                  <a:srgbClr val="6E7FAA"/>
                </a:solidFill>
                <a:latin typeface="IBM Plex Sans Arabic" pitchFamily="34" charset="0"/>
                <a:ea typeface="IBM Plex Sans Arabic" pitchFamily="34" charset="-122"/>
                <a:cs typeface="IBM Plex Sans Arabic" pitchFamily="34" charset="-120"/>
              </a:rPr>
              <a:t>ماذا يحتاج؟</a:t>
            </a:r>
            <a:endParaRPr lang="ar-SA" sz="1150" dirty="0"/>
          </a:p>
        </p:txBody>
      </p:sp>
      <p:sp>
        <p:nvSpPr>
          <p:cNvPr id="52" name="Text 45"/>
          <p:cNvSpPr txBox="1"/>
          <p:nvPr/>
        </p:nvSpPr>
        <p:spPr>
          <a:xfrm>
            <a:off x="822960" y="4288536"/>
            <a:ext cx="2101520" cy="512064"/>
          </a:xfrm>
          <a:prstGeom prst="rect">
            <a:avLst/>
          </a:prstGeom>
          <a:noFill/>
          <a:ln/>
        </p:spPr>
        <p:txBody>
          <a:bodyPr wrap="square" lIns="0" tIns="0" rIns="0" bIns="0" rtlCol="0" anchor="t"/>
          <a:lstStyle/>
          <a:p>
            <a:pPr rtl="1" algn="r" indent="0" marL="0">
              <a:lnSpc>
                <a:spcPct val="105000"/>
              </a:lnSpc>
              <a:buNone/>
            </a:pPr>
            <a:r>
              <a:rPr lang="ar-SA" altLang="en-US" sz="1300" dirty="0">
                <a:solidFill>
                  <a:srgbClr val="A9B7DA"/>
                </a:solidFill>
                <a:latin typeface="IBM Plex Sans Arabic" pitchFamily="34" charset="0"/>
                <a:ea typeface="IBM Plex Sans Arabic" pitchFamily="34" charset="-122"/>
                <a:cs typeface="IBM Plex Sans Arabic" pitchFamily="34" charset="-120"/>
              </a:rPr>
              <a:t>إثبات أثر التوظيف أمام الإدارة</a:t>
            </a:r>
            <a:endParaRPr lang="ar-SA" sz="1300" dirty="0"/>
          </a:p>
        </p:txBody>
      </p:sp>
      <p:sp>
        <p:nvSpPr>
          <p:cNvPr id="53" name="Text 46"/>
          <p:cNvSpPr txBox="1"/>
          <p:nvPr/>
        </p:nvSpPr>
        <p:spPr>
          <a:xfrm>
            <a:off x="822960" y="4818888"/>
            <a:ext cx="2101520" cy="256032"/>
          </a:xfrm>
          <a:prstGeom prst="rect">
            <a:avLst/>
          </a:prstGeom>
          <a:noFill/>
          <a:ln/>
        </p:spPr>
        <p:txBody>
          <a:bodyPr wrap="square" lIns="0" tIns="0" rIns="0" bIns="0" rtlCol="0" anchor="t"/>
          <a:lstStyle/>
          <a:p>
            <a:pPr rtl="1" algn="r" indent="0" marL="0">
              <a:buNone/>
            </a:pPr>
            <a:r>
              <a:rPr lang="ar-SA" altLang="en-US" sz="1150" b="1" dirty="0">
                <a:solidFill>
                  <a:srgbClr val="3EE0F5"/>
                </a:solidFill>
                <a:latin typeface="IBM Plex Sans Arabic" pitchFamily="34" charset="0"/>
                <a:ea typeface="IBM Plex Sans Arabic" pitchFamily="34" charset="-122"/>
                <a:cs typeface="IBM Plex Sans Arabic" pitchFamily="34" charset="-120"/>
              </a:rPr>
              <a:t>كيف نساعده؟</a:t>
            </a:r>
            <a:endParaRPr lang="ar-SA" sz="1150" dirty="0"/>
          </a:p>
        </p:txBody>
      </p:sp>
      <p:sp>
        <p:nvSpPr>
          <p:cNvPr id="54" name="Text 47"/>
          <p:cNvSpPr txBox="1"/>
          <p:nvPr/>
        </p:nvSpPr>
        <p:spPr>
          <a:xfrm>
            <a:off x="822960" y="5065776"/>
            <a:ext cx="2101520" cy="512064"/>
          </a:xfrm>
          <a:prstGeom prst="rect">
            <a:avLst/>
          </a:prstGeom>
          <a:noFill/>
          <a:ln/>
        </p:spPr>
        <p:txBody>
          <a:bodyPr wrap="square" lIns="0" tIns="0" rIns="0" bIns="0" rtlCol="0" anchor="t"/>
          <a:lstStyle/>
          <a:p>
            <a:pPr rtl="1" algn="r" indent="0" marL="0">
              <a:lnSpc>
                <a:spcPct val="105000"/>
              </a:lnSpc>
              <a:buNone/>
            </a:pPr>
            <a:r>
              <a:rPr lang="ar-SA" altLang="en-US" sz="1300" b="1" dirty="0">
                <a:solidFill>
                  <a:srgbClr val="F3F6FD"/>
                </a:solidFill>
                <a:latin typeface="IBM Plex Sans Arabic" pitchFamily="34" charset="0"/>
                <a:ea typeface="IBM Plex Sans Arabic" pitchFamily="34" charset="-122"/>
                <a:cs typeface="IBM Plex Sans Arabic" pitchFamily="34" charset="-120"/>
              </a:rPr>
              <a:t>Evidence واضحة وموثوقة، لا مجرد Dashboard</a:t>
            </a:r>
            <a:endParaRPr lang="ar-SA" sz="1300" dirty="0"/>
          </a:p>
        </p:txBody>
      </p:sp>
      <p:sp>
        <p:nvSpPr>
          <p:cNvPr id="55" name="Shape 48"/>
          <p:cNvSpPr/>
          <p:nvPr/>
        </p:nvSpPr>
        <p:spPr>
          <a:xfrm>
            <a:off x="10271455" y="5806440"/>
            <a:ext cx="1325880" cy="329184"/>
          </a:xfrm>
          <a:prstGeom prst="roundRect">
            <a:avLst>
              <a:gd name="adj" fmla="val 50000"/>
            </a:avLst>
          </a:prstGeom>
          <a:solidFill>
            <a:srgbClr val="2A1F0A"/>
          </a:solidFill>
          <a:ln w="9525">
            <a:solidFill>
              <a:srgbClr val="FFB547"/>
            </a:solidFill>
            <a:prstDash val="solid"/>
          </a:ln>
        </p:spPr>
      </p:sp>
      <p:sp>
        <p:nvSpPr>
          <p:cNvPr id="56" name="Text 49"/>
          <p:cNvSpPr txBox="1"/>
          <p:nvPr/>
        </p:nvSpPr>
        <p:spPr>
          <a:xfrm>
            <a:off x="10271455" y="5806440"/>
            <a:ext cx="1325880" cy="329184"/>
          </a:xfrm>
          <a:prstGeom prst="rect">
            <a:avLst/>
          </a:prstGeom>
          <a:noFill/>
          <a:ln/>
        </p:spPr>
        <p:txBody>
          <a:bodyPr wrap="square" lIns="0" tIns="0" rIns="0" bIns="0" rtlCol="0" anchor="ctr"/>
          <a:lstStyle/>
          <a:p>
            <a:pPr rtl="1" algn="ctr" indent="0" marL="0">
              <a:buNone/>
            </a:pPr>
            <a:r>
              <a:rPr lang="ar-SA" altLang="en-US" sz="1050" b="1" dirty="0">
                <a:solidFill>
                  <a:srgbClr val="FFB547"/>
                </a:solidFill>
                <a:latin typeface="IBM Plex Sans Arabic" pitchFamily="34" charset="0"/>
                <a:ea typeface="IBM Plex Sans Arabic" pitchFamily="34" charset="-122"/>
                <a:cs typeface="IBM Plex Sans Arabic" pitchFamily="34" charset="-120"/>
              </a:rPr>
              <a:t>Hypothesis</a:t>
            </a:r>
            <a:endParaRPr lang="ar-SA" sz="1050" dirty="0"/>
          </a:p>
        </p:txBody>
      </p:sp>
      <p:sp>
        <p:nvSpPr>
          <p:cNvPr id="57" name="Text 50"/>
          <p:cNvSpPr txBox="1"/>
          <p:nvPr/>
        </p:nvSpPr>
        <p:spPr>
          <a:xfrm>
            <a:off x="594360" y="5788152"/>
            <a:ext cx="9494215" cy="384048"/>
          </a:xfrm>
          <a:prstGeom prst="rect">
            <a:avLst/>
          </a:prstGeom>
          <a:noFill/>
          <a:ln/>
        </p:spPr>
        <p:txBody>
          <a:bodyPr wrap="square" lIns="0" tIns="0" rIns="0" bIns="0" rtlCol="0" anchor="ctr"/>
          <a:lstStyle/>
          <a:p>
            <a:pPr rtl="1" algn="r" indent="0" marL="0">
              <a:buNone/>
            </a:pPr>
            <a:r>
              <a:rPr lang="ar-SA" altLang="en-US" sz="1200" dirty="0">
                <a:solidFill>
                  <a:srgbClr val="A9B7DA"/>
                </a:solidFill>
                <a:latin typeface="IBM Plex Sans Arabic" pitchFamily="34" charset="0"/>
                <a:ea typeface="IBM Plex Sans Arabic" pitchFamily="34" charset="-122"/>
                <a:cs typeface="IBM Plex Sans Arabic" pitchFamily="34" charset="-120"/>
              </a:rPr>
              <a:t>Personas فرضيات أولية من الوثيقة، تُختبر عبر Customer Discovery قبل اعتمادها. أصحاب المصلحة الثانويون: Hiring Managers · HRIS/IT · Compliance.</a:t>
            </a:r>
            <a:endParaRPr lang="ar-SA"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508760" y="457200"/>
            <a:ext cx="10088575" cy="274320"/>
          </a:xfrm>
          <a:prstGeom prst="rect">
            <a:avLst/>
          </a:prstGeom>
          <a:noFill/>
          <a:ln/>
        </p:spPr>
        <p:txBody>
          <a:bodyPr wrap="square" lIns="0" tIns="0" rIns="0" bIns="0" rtlCol="0" anchor="t"/>
          <a:lstStyle/>
          <a:p>
            <a:pPr rtl="1" algn="r" indent="0" marL="0">
              <a:buNone/>
            </a:pPr>
            <a:r>
              <a:rPr lang="ar-SA" altLang="en-US" sz="1200" b="1" spc="100" kern="0" dirty="0">
                <a:solidFill>
                  <a:srgbClr val="3EE0F5"/>
                </a:solidFill>
                <a:latin typeface="IBM Plex Sans Arabic" pitchFamily="34" charset="0"/>
                <a:ea typeface="IBM Plex Sans Arabic" pitchFamily="34" charset="-122"/>
                <a:cs typeface="IBM Plex Sans Arabic" pitchFamily="34" charset="-120"/>
              </a:rPr>
              <a:t>02  ·  WHAT — أهم خصائص المنتج</a:t>
            </a:r>
            <a:endParaRPr lang="ar-SA" sz="1200" dirty="0"/>
          </a:p>
        </p:txBody>
      </p:sp>
      <p:sp>
        <p:nvSpPr>
          <p:cNvPr id="3" name="Text 1"/>
          <p:cNvSpPr txBox="1"/>
          <p:nvPr/>
        </p:nvSpPr>
        <p:spPr>
          <a:xfrm>
            <a:off x="1508760" y="731520"/>
            <a:ext cx="10088575" cy="640080"/>
          </a:xfrm>
          <a:prstGeom prst="rect">
            <a:avLst/>
          </a:prstGeom>
          <a:noFill/>
          <a:ln/>
        </p:spPr>
        <p:txBody>
          <a:bodyPr wrap="square" lIns="0" tIns="0" rIns="0" bIns="0" rtlCol="0" anchor="t"/>
          <a:lstStyle/>
          <a:p>
            <a:pPr rtl="1" algn="r" indent="0" marL="0">
              <a:buNone/>
            </a:pPr>
            <a:r>
              <a:rPr lang="ar-SA" altLang="en-US" sz="3200" b="1" dirty="0">
                <a:solidFill>
                  <a:srgbClr val="F3F6FD"/>
                </a:solidFill>
                <a:latin typeface="IBM Plex Sans Arabic" pitchFamily="34" charset="0"/>
                <a:ea typeface="IBM Plex Sans Arabic" pitchFamily="34" charset="-122"/>
                <a:cs typeface="IBM Plex Sans Arabic" pitchFamily="34" charset="-120"/>
              </a:rPr>
              <a:t>ست قدرات تصنع الحلقة</a:t>
            </a:r>
            <a:endParaRPr lang="ar-SA" sz="3200" dirty="0"/>
          </a:p>
        </p:txBody>
      </p:sp>
      <p:sp>
        <p:nvSpPr>
          <p:cNvPr id="4" name="Text 2"/>
          <p:cNvSpPr txBox="1"/>
          <p:nvPr/>
        </p:nvSpPr>
        <p:spPr>
          <a:xfrm>
            <a:off x="594360" y="1353312"/>
            <a:ext cx="11002975" cy="365760"/>
          </a:xfrm>
          <a:prstGeom prst="rect">
            <a:avLst/>
          </a:prstGeom>
          <a:noFill/>
          <a:ln/>
        </p:spPr>
        <p:txBody>
          <a:bodyPr wrap="square" lIns="0" tIns="0" rIns="0" bIns="0" rtlCol="0" anchor="t"/>
          <a:lstStyle/>
          <a:p>
            <a:pPr rtl="1" algn="r" indent="0" marL="0">
              <a:buNone/>
            </a:pPr>
            <a:r>
              <a:rPr lang="ar-SA" altLang="en-US" sz="1500" dirty="0">
                <a:solidFill>
                  <a:srgbClr val="A9B7DA"/>
                </a:solidFill>
                <a:latin typeface="IBM Plex Sans Arabic" pitchFamily="34" charset="0"/>
                <a:ea typeface="IBM Plex Sans Arabic" pitchFamily="34" charset="-122"/>
                <a:cs typeface="IBM Plex Sans Arabic" pitchFamily="34" charset="-120"/>
              </a:rPr>
              <a:t>أهم لحظة قيمة: Finding موثّق يكشف شيئًا لم يكن واضحًا من قبل — لا مجرد نجاح الـParsing.</a:t>
            </a:r>
            <a:endParaRPr lang="ar-SA" sz="1500" dirty="0"/>
          </a:p>
        </p:txBody>
      </p:sp>
      <p:pic>
        <p:nvPicPr>
          <p:cNvPr id="5" name="Image 0" descr="/tmp/claude-0/-home-user-ghassankmiqdad/d1991e4f-aee0-5e68-9a9d-3fc00accdf9d/scratchpad/build/assets/mark_sm.png">    </p:cNvPr>
          <p:cNvPicPr>
            <a:picLocks noChangeAspect="1"/>
          </p:cNvPicPr>
          <p:nvPr/>
        </p:nvPicPr>
        <p:blipFill>
          <a:blip r:embed="rId2"/>
          <a:stretch>
            <a:fillRect/>
          </a:stretch>
        </p:blipFill>
        <p:spPr>
          <a:xfrm>
            <a:off x="594360" y="475488"/>
            <a:ext cx="566928" cy="443515"/>
          </a:xfrm>
          <a:prstGeom prst="rect">
            <a:avLst/>
          </a:prstGeom>
        </p:spPr>
      </p:pic>
      <p:sp>
        <p:nvSpPr>
          <p:cNvPr id="6" name="Text 3"/>
          <p:cNvSpPr txBox="1"/>
          <p:nvPr/>
        </p:nvSpPr>
        <p:spPr>
          <a:xfrm>
            <a:off x="7939735" y="6400800"/>
            <a:ext cx="3657600" cy="228600"/>
          </a:xfrm>
          <a:prstGeom prst="rect">
            <a:avLst/>
          </a:prstGeom>
          <a:noFill/>
          <a:ln/>
        </p:spPr>
        <p:txBody>
          <a:bodyPr wrap="square" lIns="0" tIns="0" rIns="0" bIns="0" rtlCol="0" anchor="t"/>
          <a:lstStyle/>
          <a:p>
            <a:pPr rtl="1" algn="r" indent="0" marL="0">
              <a:buNone/>
            </a:pPr>
            <a:r>
              <a:rPr lang="ar-SA" altLang="en-US" sz="900" dirty="0">
                <a:solidFill>
                  <a:srgbClr val="6E7FAA"/>
                </a:solidFill>
                <a:latin typeface="IBM Plex Sans Arabic" pitchFamily="34" charset="0"/>
                <a:ea typeface="IBM Plex Sans Arabic" pitchFamily="34" charset="-122"/>
                <a:cs typeface="IBM Plex Sans Arabic" pitchFamily="34" charset="-120"/>
              </a:rPr>
              <a:t>NestHire · اجتماع الانطلاق</a:t>
            </a:r>
            <a:endParaRPr lang="ar-SA" sz="900" dirty="0"/>
          </a:p>
        </p:txBody>
      </p:sp>
      <p:sp>
        <p:nvSpPr>
          <p:cNvPr id="7" name="Text 4"/>
          <p:cNvSpPr txBox="1"/>
          <p:nvPr/>
        </p:nvSpPr>
        <p:spPr>
          <a:xfrm>
            <a:off x="594360" y="6400800"/>
            <a:ext cx="1097280" cy="228600"/>
          </a:xfrm>
          <a:prstGeom prst="rect">
            <a:avLst/>
          </a:prstGeom>
          <a:noFill/>
          <a:ln/>
        </p:spPr>
        <p:txBody>
          <a:bodyPr wrap="square" lIns="0" tIns="0" rIns="0" bIns="0" rtlCol="0" anchor="t"/>
          <a:lstStyle/>
          <a:p>
            <a:pPr algn="l" indent="0" marL="0">
              <a:buNone/>
            </a:pPr>
            <a:r>
              <a:rPr lang="ar-SA" altLang="en-US" sz="900" dirty="0">
                <a:solidFill>
                  <a:srgbClr val="6E7FAA"/>
                </a:solidFill>
                <a:latin typeface="IBM Plex Sans Arabic" pitchFamily="34" charset="0"/>
                <a:ea typeface="IBM Plex Sans Arabic" pitchFamily="34" charset="-122"/>
                <a:cs typeface="IBM Plex Sans Arabic" pitchFamily="34" charset="-120"/>
              </a:rPr>
              <a:t>07 / 18</a:t>
            </a:r>
            <a:endParaRPr lang="ar-SA" sz="900" dirty="0"/>
          </a:p>
        </p:txBody>
      </p:sp>
      <p:sp>
        <p:nvSpPr>
          <p:cNvPr id="8" name="Shape 5"/>
          <p:cNvSpPr/>
          <p:nvPr/>
        </p:nvSpPr>
        <p:spPr>
          <a:xfrm>
            <a:off x="8112557" y="1874520"/>
            <a:ext cx="3484778" cy="2011680"/>
          </a:xfrm>
          <a:prstGeom prst="roundRect">
            <a:avLst>
              <a:gd name="adj" fmla="val 6364"/>
            </a:avLst>
          </a:prstGeom>
          <a:solidFill>
            <a:srgbClr val="0B1634"/>
          </a:solidFill>
          <a:ln w="9525">
            <a:solidFill>
              <a:srgbClr val="1E3570"/>
            </a:solidFill>
            <a:prstDash val="solid"/>
          </a:ln>
        </p:spPr>
      </p:sp>
      <p:sp>
        <p:nvSpPr>
          <p:cNvPr id="9" name="Shape 6"/>
          <p:cNvSpPr/>
          <p:nvPr/>
        </p:nvSpPr>
        <p:spPr>
          <a:xfrm>
            <a:off x="10856671" y="2103120"/>
            <a:ext cx="512064" cy="512064"/>
          </a:xfrm>
          <a:prstGeom prst="ellipse">
            <a:avLst/>
          </a:prstGeom>
          <a:solidFill>
            <a:srgbClr val="10204A"/>
          </a:solidFill>
          <a:ln w="9525">
            <a:solidFill>
              <a:srgbClr val="1E3570"/>
            </a:solidFill>
            <a:prstDash val="solid"/>
          </a:ln>
        </p:spPr>
      </p:sp>
      <p:pic>
        <p:nvPicPr>
          <p:cNvPr id="10" name="Image 1" descr="preencoded.png">    </p:cNvPr>
          <p:cNvPicPr>
            <a:picLocks noChangeAspect="1"/>
          </p:cNvPicPr>
          <p:nvPr/>
        </p:nvPicPr>
        <p:blipFill>
          <a:blip r:embed="rId3"/>
          <a:stretch>
            <a:fillRect/>
          </a:stretch>
        </p:blipFill>
        <p:spPr>
          <a:xfrm>
            <a:off x="10989808" y="2236257"/>
            <a:ext cx="245791" cy="245791"/>
          </a:xfrm>
          <a:prstGeom prst="rect">
            <a:avLst/>
          </a:prstGeom>
        </p:spPr>
      </p:pic>
      <p:sp>
        <p:nvSpPr>
          <p:cNvPr id="11" name="Text 7"/>
          <p:cNvSpPr txBox="1"/>
          <p:nvPr/>
        </p:nvSpPr>
        <p:spPr>
          <a:xfrm>
            <a:off x="8341157" y="2121408"/>
            <a:ext cx="2524658" cy="566928"/>
          </a:xfrm>
          <a:prstGeom prst="rect">
            <a:avLst/>
          </a:prstGeom>
          <a:noFill/>
          <a:ln/>
        </p:spPr>
        <p:txBody>
          <a:bodyPr wrap="square" lIns="0" tIns="0" rIns="0" bIns="0" rtlCol="0" anchor="t"/>
          <a:lstStyle/>
          <a:p>
            <a:pPr algn="r" indent="0" marL="0">
              <a:buNone/>
            </a:pPr>
            <a:r>
              <a:rPr lang="ar-SA" altLang="en-US" sz="1550" b="1" dirty="0">
                <a:solidFill>
                  <a:srgbClr val="F3F6FD"/>
                </a:solidFill>
                <a:latin typeface="IBM Plex Sans Arabic" pitchFamily="34" charset="0"/>
                <a:ea typeface="IBM Plex Sans Arabic" pitchFamily="34" charset="-122"/>
                <a:cs typeface="IBM Plex Sans Arabic" pitchFamily="34" charset="-120"/>
              </a:rPr>
              <a:t>Role Success Model</a:t>
            </a:r>
            <a:endParaRPr lang="ar-SA" sz="1550" dirty="0"/>
          </a:p>
        </p:txBody>
      </p:sp>
      <p:sp>
        <p:nvSpPr>
          <p:cNvPr id="12" name="Text 8"/>
          <p:cNvSpPr txBox="1"/>
          <p:nvPr/>
        </p:nvSpPr>
        <p:spPr>
          <a:xfrm>
            <a:off x="8341157" y="2770632"/>
            <a:ext cx="3027578" cy="603504"/>
          </a:xfrm>
          <a:prstGeom prst="rect">
            <a:avLst/>
          </a:prstGeom>
          <a:noFill/>
          <a:ln/>
        </p:spPr>
        <p:txBody>
          <a:bodyPr wrap="square" lIns="0" tIns="0" rIns="0" bIns="0" rtlCol="0" anchor="t"/>
          <a:lstStyle/>
          <a:p>
            <a:pPr rtl="1" algn="r" indent="0" marL="0">
              <a:lnSpc>
                <a:spcPct val="105000"/>
              </a:lnSpc>
              <a:buNone/>
            </a:pPr>
            <a:r>
              <a:rPr lang="ar-SA" altLang="en-US" sz="1300" dirty="0">
                <a:solidFill>
                  <a:srgbClr val="A9B7DA"/>
                </a:solidFill>
                <a:latin typeface="IBM Plex Sans Arabic" pitchFamily="34" charset="0"/>
                <a:ea typeface="IBM Plex Sans Arabic" pitchFamily="34" charset="-122"/>
                <a:cs typeface="IBM Plex Sans Arabic" pitchFamily="34" charset="-120"/>
              </a:rPr>
              <a:t>تعريف النجاح لكل دور: معايير، مقياس، ونافذة قياس.</a:t>
            </a:r>
            <a:endParaRPr lang="ar-SA" sz="1300" dirty="0"/>
          </a:p>
        </p:txBody>
      </p:sp>
      <p:sp>
        <p:nvSpPr>
          <p:cNvPr id="13" name="Text 9"/>
          <p:cNvSpPr txBox="1"/>
          <p:nvPr/>
        </p:nvSpPr>
        <p:spPr>
          <a:xfrm>
            <a:off x="8341157" y="3410712"/>
            <a:ext cx="3027578" cy="292608"/>
          </a:xfrm>
          <a:prstGeom prst="rect">
            <a:avLst/>
          </a:prstGeom>
          <a:noFill/>
          <a:ln/>
        </p:spPr>
        <p:txBody>
          <a:bodyPr wrap="square" lIns="0" tIns="0" rIns="0" bIns="0" rtlCol="0" anchor="t"/>
          <a:lstStyle/>
          <a:p>
            <a:pPr rtl="1" algn="r" indent="0" marL="0">
              <a:buNone/>
            </a:pPr>
            <a:r>
              <a:rPr lang="ar-SA" altLang="en-US" sz="1300" b="1" dirty="0">
                <a:solidFill>
                  <a:srgbClr val="3EE0F5"/>
                </a:solidFill>
                <a:latin typeface="IBM Plex Sans Arabic" pitchFamily="34" charset="0"/>
                <a:ea typeface="IBM Plex Sans Arabic" pitchFamily="34" charset="-122"/>
                <a:cs typeface="IBM Plex Sans Arabic" pitchFamily="34" charset="-120"/>
              </a:rPr>
              <a:t>القيمة: </a:t>
            </a:r>
            <a:pPr rtl="1" algn="r" indent="0" marL="0">
              <a:buNone/>
            </a:pPr>
            <a:r>
              <a:rPr lang="ar-SA" altLang="en-US" sz="1300" b="1" dirty="0">
                <a:solidFill>
                  <a:srgbClr val="F3F6FD"/>
                </a:solidFill>
                <a:latin typeface="IBM Plex Sans Arabic" pitchFamily="34" charset="0"/>
                <a:ea typeface="IBM Plex Sans Arabic" pitchFamily="34" charset="-122"/>
                <a:cs typeface="IBM Plex Sans Arabic" pitchFamily="34" charset="-120"/>
              </a:rPr>
              <a:t>أساس قابل للمراجعة لكل تحليل</a:t>
            </a:r>
            <a:endParaRPr lang="ar-SA" sz="1300" dirty="0"/>
          </a:p>
        </p:txBody>
      </p:sp>
      <p:sp>
        <p:nvSpPr>
          <p:cNvPr id="14" name="Shape 10"/>
          <p:cNvSpPr/>
          <p:nvPr/>
        </p:nvSpPr>
        <p:spPr>
          <a:xfrm>
            <a:off x="4353458" y="1874520"/>
            <a:ext cx="3484778" cy="2011680"/>
          </a:xfrm>
          <a:prstGeom prst="roundRect">
            <a:avLst>
              <a:gd name="adj" fmla="val 6364"/>
            </a:avLst>
          </a:prstGeom>
          <a:solidFill>
            <a:srgbClr val="0B1634"/>
          </a:solidFill>
          <a:ln w="9525">
            <a:solidFill>
              <a:srgbClr val="1E3570"/>
            </a:solidFill>
            <a:prstDash val="solid"/>
          </a:ln>
        </p:spPr>
      </p:sp>
      <p:sp>
        <p:nvSpPr>
          <p:cNvPr id="15" name="Shape 11"/>
          <p:cNvSpPr/>
          <p:nvPr/>
        </p:nvSpPr>
        <p:spPr>
          <a:xfrm>
            <a:off x="7097573" y="2103120"/>
            <a:ext cx="512064" cy="512064"/>
          </a:xfrm>
          <a:prstGeom prst="ellipse">
            <a:avLst/>
          </a:prstGeom>
          <a:solidFill>
            <a:srgbClr val="10204A"/>
          </a:solidFill>
          <a:ln w="9525">
            <a:solidFill>
              <a:srgbClr val="1E3570"/>
            </a:solidFill>
            <a:prstDash val="solid"/>
          </a:ln>
        </p:spPr>
      </p:sp>
      <p:pic>
        <p:nvPicPr>
          <p:cNvPr id="16" name="Image 2" descr="preencoded.png">    </p:cNvPr>
          <p:cNvPicPr>
            <a:picLocks noChangeAspect="1"/>
          </p:cNvPicPr>
          <p:nvPr/>
        </p:nvPicPr>
        <p:blipFill>
          <a:blip r:embed="rId4"/>
          <a:stretch>
            <a:fillRect/>
          </a:stretch>
        </p:blipFill>
        <p:spPr>
          <a:xfrm>
            <a:off x="7230709" y="2236257"/>
            <a:ext cx="245791" cy="245791"/>
          </a:xfrm>
          <a:prstGeom prst="rect">
            <a:avLst/>
          </a:prstGeom>
        </p:spPr>
      </p:pic>
      <p:sp>
        <p:nvSpPr>
          <p:cNvPr id="17" name="Text 12"/>
          <p:cNvSpPr txBox="1"/>
          <p:nvPr/>
        </p:nvSpPr>
        <p:spPr>
          <a:xfrm>
            <a:off x="4582058" y="2121408"/>
            <a:ext cx="2524658" cy="566928"/>
          </a:xfrm>
          <a:prstGeom prst="rect">
            <a:avLst/>
          </a:prstGeom>
          <a:noFill/>
          <a:ln/>
        </p:spPr>
        <p:txBody>
          <a:bodyPr wrap="square" lIns="0" tIns="0" rIns="0" bIns="0" rtlCol="0" anchor="t"/>
          <a:lstStyle/>
          <a:p>
            <a:pPr algn="r" indent="0" marL="0">
              <a:buNone/>
            </a:pPr>
            <a:r>
              <a:rPr lang="ar-SA" altLang="en-US" sz="1550" b="1" dirty="0">
                <a:solidFill>
                  <a:srgbClr val="F3F6FD"/>
                </a:solidFill>
                <a:latin typeface="IBM Plex Sans Arabic" pitchFamily="34" charset="0"/>
                <a:ea typeface="IBM Plex Sans Arabic" pitchFamily="34" charset="-122"/>
                <a:cs typeface="IBM Plex Sans Arabic" pitchFamily="34" charset="-120"/>
              </a:rPr>
              <a:t>Data Intake + Normalization</a:t>
            </a:r>
            <a:endParaRPr lang="ar-SA" sz="1550" dirty="0"/>
          </a:p>
        </p:txBody>
      </p:sp>
      <p:sp>
        <p:nvSpPr>
          <p:cNvPr id="18" name="Text 13"/>
          <p:cNvSpPr txBox="1"/>
          <p:nvPr/>
        </p:nvSpPr>
        <p:spPr>
          <a:xfrm>
            <a:off x="4582058" y="2770632"/>
            <a:ext cx="3027578" cy="603504"/>
          </a:xfrm>
          <a:prstGeom prst="rect">
            <a:avLst/>
          </a:prstGeom>
          <a:noFill/>
          <a:ln/>
        </p:spPr>
        <p:txBody>
          <a:bodyPr wrap="square" lIns="0" tIns="0" rIns="0" bIns="0" rtlCol="0" anchor="t"/>
          <a:lstStyle/>
          <a:p>
            <a:pPr rtl="1" algn="r" indent="0" marL="0">
              <a:lnSpc>
                <a:spcPct val="105000"/>
              </a:lnSpc>
              <a:buNone/>
            </a:pPr>
            <a:r>
              <a:rPr lang="ar-SA" altLang="en-US" sz="1300" dirty="0">
                <a:solidFill>
                  <a:srgbClr val="A9B7DA"/>
                </a:solidFill>
                <a:latin typeface="IBM Plex Sans Arabic" pitchFamily="34" charset="0"/>
                <a:ea typeface="IBM Plex Sans Arabic" pitchFamily="34" charset="-122"/>
                <a:cs typeface="IBM Plex Sans Arabic" pitchFamily="34" charset="-120"/>
              </a:rPr>
              <a:t>استيراد CSV آمن، وتوحيد إشارات المقابلة والتقييم.</a:t>
            </a:r>
            <a:endParaRPr lang="ar-SA" sz="1300" dirty="0"/>
          </a:p>
        </p:txBody>
      </p:sp>
      <p:sp>
        <p:nvSpPr>
          <p:cNvPr id="19" name="Text 14"/>
          <p:cNvSpPr txBox="1"/>
          <p:nvPr/>
        </p:nvSpPr>
        <p:spPr>
          <a:xfrm>
            <a:off x="4582058" y="3410712"/>
            <a:ext cx="3027578" cy="292608"/>
          </a:xfrm>
          <a:prstGeom prst="rect">
            <a:avLst/>
          </a:prstGeom>
          <a:noFill/>
          <a:ln/>
        </p:spPr>
        <p:txBody>
          <a:bodyPr wrap="square" lIns="0" tIns="0" rIns="0" bIns="0" rtlCol="0" anchor="t"/>
          <a:lstStyle/>
          <a:p>
            <a:pPr rtl="1" algn="r" indent="0" marL="0">
              <a:buNone/>
            </a:pPr>
            <a:r>
              <a:rPr lang="ar-SA" altLang="en-US" sz="1300" b="1" dirty="0">
                <a:solidFill>
                  <a:srgbClr val="3EE0F5"/>
                </a:solidFill>
                <a:latin typeface="IBM Plex Sans Arabic" pitchFamily="34" charset="0"/>
                <a:ea typeface="IBM Plex Sans Arabic" pitchFamily="34" charset="-122"/>
                <a:cs typeface="IBM Plex Sans Arabic" pitchFamily="34" charset="-120"/>
              </a:rPr>
              <a:t>القيمة: </a:t>
            </a:r>
            <a:pPr rtl="1" algn="r" indent="0" marL="0">
              <a:buNone/>
            </a:pPr>
            <a:r>
              <a:rPr lang="ar-SA" altLang="en-US" sz="1300" b="1" dirty="0">
                <a:solidFill>
                  <a:srgbClr val="F3F6FD"/>
                </a:solidFill>
                <a:latin typeface="IBM Plex Sans Arabic" pitchFamily="34" charset="0"/>
                <a:ea typeface="IBM Plex Sans Arabic" pitchFamily="34" charset="-122"/>
                <a:cs typeface="IBM Plex Sans Arabic" pitchFamily="34" charset="-120"/>
              </a:rPr>
              <a:t>Signals موحّدة وقابلة للمقارنة</a:t>
            </a:r>
            <a:endParaRPr lang="ar-SA" sz="1300" dirty="0"/>
          </a:p>
        </p:txBody>
      </p:sp>
      <p:sp>
        <p:nvSpPr>
          <p:cNvPr id="20" name="Shape 15"/>
          <p:cNvSpPr/>
          <p:nvPr/>
        </p:nvSpPr>
        <p:spPr>
          <a:xfrm>
            <a:off x="594360" y="1874520"/>
            <a:ext cx="3484778" cy="2011680"/>
          </a:xfrm>
          <a:prstGeom prst="roundRect">
            <a:avLst>
              <a:gd name="adj" fmla="val 6364"/>
            </a:avLst>
          </a:prstGeom>
          <a:solidFill>
            <a:srgbClr val="0B1634"/>
          </a:solidFill>
          <a:ln w="9525">
            <a:solidFill>
              <a:srgbClr val="1E3570"/>
            </a:solidFill>
            <a:prstDash val="solid"/>
          </a:ln>
        </p:spPr>
      </p:sp>
      <p:sp>
        <p:nvSpPr>
          <p:cNvPr id="21" name="Shape 16"/>
          <p:cNvSpPr/>
          <p:nvPr/>
        </p:nvSpPr>
        <p:spPr>
          <a:xfrm>
            <a:off x="3338474" y="2103120"/>
            <a:ext cx="512064" cy="512064"/>
          </a:xfrm>
          <a:prstGeom prst="ellipse">
            <a:avLst/>
          </a:prstGeom>
          <a:solidFill>
            <a:srgbClr val="10204A"/>
          </a:solidFill>
          <a:ln w="9525">
            <a:solidFill>
              <a:srgbClr val="1E3570"/>
            </a:solidFill>
            <a:prstDash val="solid"/>
          </a:ln>
        </p:spPr>
      </p:sp>
      <p:pic>
        <p:nvPicPr>
          <p:cNvPr id="22" name="Image 3" descr="preencoded.png">    </p:cNvPr>
          <p:cNvPicPr>
            <a:picLocks noChangeAspect="1"/>
          </p:cNvPicPr>
          <p:nvPr/>
        </p:nvPicPr>
        <p:blipFill>
          <a:blip r:embed="rId5"/>
          <a:stretch>
            <a:fillRect/>
          </a:stretch>
        </p:blipFill>
        <p:spPr>
          <a:xfrm>
            <a:off x="3471611" y="2236257"/>
            <a:ext cx="245791" cy="245791"/>
          </a:xfrm>
          <a:prstGeom prst="rect">
            <a:avLst/>
          </a:prstGeom>
        </p:spPr>
      </p:pic>
      <p:sp>
        <p:nvSpPr>
          <p:cNvPr id="23" name="Text 17"/>
          <p:cNvSpPr txBox="1"/>
          <p:nvPr/>
        </p:nvSpPr>
        <p:spPr>
          <a:xfrm>
            <a:off x="822960" y="2121408"/>
            <a:ext cx="2524658" cy="566928"/>
          </a:xfrm>
          <a:prstGeom prst="rect">
            <a:avLst/>
          </a:prstGeom>
          <a:noFill/>
          <a:ln/>
        </p:spPr>
        <p:txBody>
          <a:bodyPr wrap="square" lIns="0" tIns="0" rIns="0" bIns="0" rtlCol="0" anchor="t"/>
          <a:lstStyle/>
          <a:p>
            <a:pPr algn="r" indent="0" marL="0">
              <a:buNone/>
            </a:pPr>
            <a:r>
              <a:rPr lang="ar-SA" altLang="en-US" sz="1550" b="1" dirty="0">
                <a:solidFill>
                  <a:srgbClr val="F3F6FD"/>
                </a:solidFill>
                <a:latin typeface="IBM Plex Sans Arabic" pitchFamily="34" charset="0"/>
                <a:ea typeface="IBM Plex Sans Arabic" pitchFamily="34" charset="-122"/>
                <a:cs typeface="IBM Plex Sans Arabic" pitchFamily="34" charset="-120"/>
              </a:rPr>
              <a:t>Evidence Layer</a:t>
            </a:r>
            <a:endParaRPr lang="ar-SA" sz="1550" dirty="0"/>
          </a:p>
        </p:txBody>
      </p:sp>
      <p:sp>
        <p:nvSpPr>
          <p:cNvPr id="24" name="Text 18"/>
          <p:cNvSpPr txBox="1"/>
          <p:nvPr/>
        </p:nvSpPr>
        <p:spPr>
          <a:xfrm>
            <a:off x="822960" y="2770632"/>
            <a:ext cx="3027578" cy="603504"/>
          </a:xfrm>
          <a:prstGeom prst="rect">
            <a:avLst/>
          </a:prstGeom>
          <a:noFill/>
          <a:ln/>
        </p:spPr>
        <p:txBody>
          <a:bodyPr wrap="square" lIns="0" tIns="0" rIns="0" bIns="0" rtlCol="0" anchor="t"/>
          <a:lstStyle/>
          <a:p>
            <a:pPr algn="r" indent="0" marL="0">
              <a:lnSpc>
                <a:spcPct val="105000"/>
              </a:lnSpc>
              <a:buNone/>
            </a:pPr>
            <a:r>
              <a:rPr lang="ar-SA" altLang="en-US" sz="1300" dirty="0">
                <a:solidFill>
                  <a:srgbClr val="A9B7DA"/>
                </a:solidFill>
                <a:latin typeface="IBM Plex Sans Arabic" pitchFamily="34" charset="0"/>
                <a:ea typeface="IBM Plex Sans Arabic" pitchFamily="34" charset="-122"/>
                <a:cs typeface="IBM Plex Sans Arabic" pitchFamily="34" charset="-120"/>
              </a:rPr>
              <a:t>Claim + Source + Context + Confidence + Freshness</a:t>
            </a:r>
            <a:endParaRPr lang="ar-SA" sz="1300" dirty="0"/>
          </a:p>
        </p:txBody>
      </p:sp>
      <p:sp>
        <p:nvSpPr>
          <p:cNvPr id="25" name="Text 19"/>
          <p:cNvSpPr txBox="1"/>
          <p:nvPr/>
        </p:nvSpPr>
        <p:spPr>
          <a:xfrm>
            <a:off x="822960" y="3410712"/>
            <a:ext cx="3027578" cy="292608"/>
          </a:xfrm>
          <a:prstGeom prst="rect">
            <a:avLst/>
          </a:prstGeom>
          <a:noFill/>
          <a:ln/>
        </p:spPr>
        <p:txBody>
          <a:bodyPr wrap="square" lIns="0" tIns="0" rIns="0" bIns="0" rtlCol="0" anchor="t"/>
          <a:lstStyle/>
          <a:p>
            <a:pPr rtl="1" algn="r" indent="0" marL="0">
              <a:buNone/>
            </a:pPr>
            <a:r>
              <a:rPr lang="ar-SA" altLang="en-US" sz="1300" b="1" dirty="0">
                <a:solidFill>
                  <a:srgbClr val="3EE0F5"/>
                </a:solidFill>
                <a:latin typeface="IBM Plex Sans Arabic" pitchFamily="34" charset="0"/>
                <a:ea typeface="IBM Plex Sans Arabic" pitchFamily="34" charset="-122"/>
                <a:cs typeface="IBM Plex Sans Arabic" pitchFamily="34" charset="-120"/>
              </a:rPr>
              <a:t>القيمة: </a:t>
            </a:r>
            <a:pPr rtl="1" algn="r" indent="0" marL="0">
              <a:buNone/>
            </a:pPr>
            <a:r>
              <a:rPr lang="ar-SA" altLang="en-US" sz="1300" b="1" dirty="0">
                <a:solidFill>
                  <a:srgbClr val="F3F6FD"/>
                </a:solidFill>
                <a:latin typeface="IBM Plex Sans Arabic" pitchFamily="34" charset="0"/>
                <a:ea typeface="IBM Plex Sans Arabic" pitchFamily="34" charset="-122"/>
                <a:cs typeface="IBM Plex Sans Arabic" pitchFamily="34" charset="-120"/>
              </a:rPr>
              <a:t>لا ادّعاء دون دليل</a:t>
            </a:r>
            <a:endParaRPr lang="ar-SA" sz="1300" dirty="0"/>
          </a:p>
        </p:txBody>
      </p:sp>
      <p:sp>
        <p:nvSpPr>
          <p:cNvPr id="26" name="Shape 20"/>
          <p:cNvSpPr/>
          <p:nvPr/>
        </p:nvSpPr>
        <p:spPr>
          <a:xfrm>
            <a:off x="8112557" y="4142232"/>
            <a:ext cx="3484778" cy="2011680"/>
          </a:xfrm>
          <a:prstGeom prst="roundRect">
            <a:avLst>
              <a:gd name="adj" fmla="val 6364"/>
            </a:avLst>
          </a:prstGeom>
          <a:solidFill>
            <a:srgbClr val="0B1634"/>
          </a:solidFill>
          <a:ln w="9525">
            <a:solidFill>
              <a:srgbClr val="1E3570"/>
            </a:solidFill>
            <a:prstDash val="solid"/>
          </a:ln>
        </p:spPr>
      </p:sp>
      <p:sp>
        <p:nvSpPr>
          <p:cNvPr id="27" name="Shape 21"/>
          <p:cNvSpPr/>
          <p:nvPr/>
        </p:nvSpPr>
        <p:spPr>
          <a:xfrm>
            <a:off x="10856671" y="4370832"/>
            <a:ext cx="512064" cy="512064"/>
          </a:xfrm>
          <a:prstGeom prst="ellipse">
            <a:avLst/>
          </a:prstGeom>
          <a:solidFill>
            <a:srgbClr val="10204A"/>
          </a:solidFill>
          <a:ln w="9525">
            <a:solidFill>
              <a:srgbClr val="1E3570"/>
            </a:solidFill>
            <a:prstDash val="solid"/>
          </a:ln>
        </p:spPr>
      </p:sp>
      <p:pic>
        <p:nvPicPr>
          <p:cNvPr id="28" name="Image 4" descr="preencoded.png">    </p:cNvPr>
          <p:cNvPicPr>
            <a:picLocks noChangeAspect="1"/>
          </p:cNvPicPr>
          <p:nvPr/>
        </p:nvPicPr>
        <p:blipFill>
          <a:blip r:embed="rId6"/>
          <a:stretch>
            <a:fillRect/>
          </a:stretch>
        </p:blipFill>
        <p:spPr>
          <a:xfrm>
            <a:off x="10989808" y="4503969"/>
            <a:ext cx="245791" cy="245791"/>
          </a:xfrm>
          <a:prstGeom prst="rect">
            <a:avLst/>
          </a:prstGeom>
        </p:spPr>
      </p:pic>
      <p:sp>
        <p:nvSpPr>
          <p:cNvPr id="29" name="Text 22"/>
          <p:cNvSpPr txBox="1"/>
          <p:nvPr/>
        </p:nvSpPr>
        <p:spPr>
          <a:xfrm>
            <a:off x="8341157" y="4389120"/>
            <a:ext cx="2524658" cy="566928"/>
          </a:xfrm>
          <a:prstGeom prst="rect">
            <a:avLst/>
          </a:prstGeom>
          <a:noFill/>
          <a:ln/>
        </p:spPr>
        <p:txBody>
          <a:bodyPr wrap="square" lIns="0" tIns="0" rIns="0" bIns="0" rtlCol="0" anchor="t"/>
          <a:lstStyle/>
          <a:p>
            <a:pPr algn="r" indent="0" marL="0">
              <a:buNone/>
            </a:pPr>
            <a:r>
              <a:rPr lang="ar-SA" altLang="en-US" sz="1550" b="1" dirty="0">
                <a:solidFill>
                  <a:srgbClr val="F3F6FD"/>
                </a:solidFill>
                <a:latin typeface="IBM Plex Sans Arabic" pitchFamily="34" charset="0"/>
                <a:ea typeface="IBM Plex Sans Arabic" pitchFamily="34" charset="-122"/>
                <a:cs typeface="IBM Plex Sans Arabic" pitchFamily="34" charset="-120"/>
              </a:rPr>
              <a:t>Outcome Mapping</a:t>
            </a:r>
            <a:endParaRPr lang="ar-SA" sz="1550" dirty="0"/>
          </a:p>
        </p:txBody>
      </p:sp>
      <p:sp>
        <p:nvSpPr>
          <p:cNvPr id="30" name="Text 23"/>
          <p:cNvSpPr txBox="1"/>
          <p:nvPr/>
        </p:nvSpPr>
        <p:spPr>
          <a:xfrm>
            <a:off x="8341157" y="5038344"/>
            <a:ext cx="3027578" cy="603504"/>
          </a:xfrm>
          <a:prstGeom prst="rect">
            <a:avLst/>
          </a:prstGeom>
          <a:noFill/>
          <a:ln/>
        </p:spPr>
        <p:txBody>
          <a:bodyPr wrap="square" lIns="0" tIns="0" rIns="0" bIns="0" rtlCol="0" anchor="t"/>
          <a:lstStyle/>
          <a:p>
            <a:pPr rtl="1" algn="r" indent="0" marL="0">
              <a:lnSpc>
                <a:spcPct val="105000"/>
              </a:lnSpc>
              <a:buNone/>
            </a:pPr>
            <a:r>
              <a:rPr lang="ar-SA" altLang="en-US" sz="1300" dirty="0">
                <a:solidFill>
                  <a:srgbClr val="A9B7DA"/>
                </a:solidFill>
                <a:latin typeface="IBM Plex Sans Arabic" pitchFamily="34" charset="0"/>
                <a:ea typeface="IBM Plex Sans Arabic" pitchFamily="34" charset="-122"/>
                <a:cs typeface="IBM Plex Sans Arabic" pitchFamily="34" charset="-120"/>
              </a:rPr>
              <a:t>ربط الموظف بنتيجة ما بعد التوظيف ضمن الدور والدفعة.</a:t>
            </a:r>
            <a:endParaRPr lang="ar-SA" sz="1300" dirty="0"/>
          </a:p>
        </p:txBody>
      </p:sp>
      <p:sp>
        <p:nvSpPr>
          <p:cNvPr id="31" name="Text 24"/>
          <p:cNvSpPr txBox="1"/>
          <p:nvPr/>
        </p:nvSpPr>
        <p:spPr>
          <a:xfrm>
            <a:off x="8341157" y="5678424"/>
            <a:ext cx="3027578" cy="292608"/>
          </a:xfrm>
          <a:prstGeom prst="rect">
            <a:avLst/>
          </a:prstGeom>
          <a:noFill/>
          <a:ln/>
        </p:spPr>
        <p:txBody>
          <a:bodyPr wrap="square" lIns="0" tIns="0" rIns="0" bIns="0" rtlCol="0" anchor="t"/>
          <a:lstStyle/>
          <a:p>
            <a:pPr rtl="1" algn="r" indent="0" marL="0">
              <a:buNone/>
            </a:pPr>
            <a:r>
              <a:rPr lang="ar-SA" altLang="en-US" sz="1300" b="1" dirty="0">
                <a:solidFill>
                  <a:srgbClr val="3EE0F5"/>
                </a:solidFill>
                <a:latin typeface="IBM Plex Sans Arabic" pitchFamily="34" charset="0"/>
                <a:ea typeface="IBM Plex Sans Arabic" pitchFamily="34" charset="-122"/>
                <a:cs typeface="IBM Plex Sans Arabic" pitchFamily="34" charset="-120"/>
              </a:rPr>
              <a:t>القيمة: </a:t>
            </a:r>
            <a:pPr rtl="1" algn="r" indent="0" marL="0">
              <a:buNone/>
            </a:pPr>
            <a:r>
              <a:rPr lang="ar-SA" altLang="en-US" sz="1300" b="1" dirty="0">
                <a:solidFill>
                  <a:srgbClr val="F3F6FD"/>
                </a:solidFill>
                <a:latin typeface="IBM Plex Sans Arabic" pitchFamily="34" charset="0"/>
                <a:ea typeface="IBM Plex Sans Arabic" pitchFamily="34" charset="-122"/>
                <a:cs typeface="IBM Plex Sans Arabic" pitchFamily="34" charset="-120"/>
              </a:rPr>
              <a:t>إغلاق الحلقة بين القرار والنتيجة</a:t>
            </a:r>
            <a:endParaRPr lang="ar-SA" sz="1300" dirty="0"/>
          </a:p>
        </p:txBody>
      </p:sp>
      <p:sp>
        <p:nvSpPr>
          <p:cNvPr id="32" name="Shape 25"/>
          <p:cNvSpPr/>
          <p:nvPr/>
        </p:nvSpPr>
        <p:spPr>
          <a:xfrm>
            <a:off x="4353458" y="4142232"/>
            <a:ext cx="3484778" cy="2011680"/>
          </a:xfrm>
          <a:prstGeom prst="roundRect">
            <a:avLst>
              <a:gd name="adj" fmla="val 6364"/>
            </a:avLst>
          </a:prstGeom>
          <a:solidFill>
            <a:srgbClr val="0B1634"/>
          </a:solidFill>
          <a:ln w="9525">
            <a:solidFill>
              <a:srgbClr val="1E3570"/>
            </a:solidFill>
            <a:prstDash val="solid"/>
          </a:ln>
        </p:spPr>
      </p:sp>
      <p:sp>
        <p:nvSpPr>
          <p:cNvPr id="33" name="Shape 26"/>
          <p:cNvSpPr/>
          <p:nvPr/>
        </p:nvSpPr>
        <p:spPr>
          <a:xfrm>
            <a:off x="7097573" y="4370832"/>
            <a:ext cx="512064" cy="512064"/>
          </a:xfrm>
          <a:prstGeom prst="ellipse">
            <a:avLst/>
          </a:prstGeom>
          <a:solidFill>
            <a:srgbClr val="10204A"/>
          </a:solidFill>
          <a:ln w="9525">
            <a:solidFill>
              <a:srgbClr val="1E3570"/>
            </a:solidFill>
            <a:prstDash val="solid"/>
          </a:ln>
        </p:spPr>
      </p:sp>
      <p:pic>
        <p:nvPicPr>
          <p:cNvPr id="34" name="Image 5" descr="preencoded.png">    </p:cNvPr>
          <p:cNvPicPr>
            <a:picLocks noChangeAspect="1"/>
          </p:cNvPicPr>
          <p:nvPr/>
        </p:nvPicPr>
        <p:blipFill>
          <a:blip r:embed="rId7"/>
          <a:stretch>
            <a:fillRect/>
          </a:stretch>
        </p:blipFill>
        <p:spPr>
          <a:xfrm>
            <a:off x="7230709" y="4503969"/>
            <a:ext cx="245791" cy="245791"/>
          </a:xfrm>
          <a:prstGeom prst="rect">
            <a:avLst/>
          </a:prstGeom>
        </p:spPr>
      </p:pic>
      <p:sp>
        <p:nvSpPr>
          <p:cNvPr id="35" name="Text 27"/>
          <p:cNvSpPr txBox="1"/>
          <p:nvPr/>
        </p:nvSpPr>
        <p:spPr>
          <a:xfrm>
            <a:off x="4582058" y="4389120"/>
            <a:ext cx="2524658" cy="566928"/>
          </a:xfrm>
          <a:prstGeom prst="rect">
            <a:avLst/>
          </a:prstGeom>
          <a:noFill/>
          <a:ln/>
        </p:spPr>
        <p:txBody>
          <a:bodyPr wrap="square" lIns="0" tIns="0" rIns="0" bIns="0" rtlCol="0" anchor="t"/>
          <a:lstStyle/>
          <a:p>
            <a:pPr algn="r" indent="0" marL="0">
              <a:buNone/>
            </a:pPr>
            <a:r>
              <a:rPr lang="ar-SA" altLang="en-US" sz="1550" b="1" dirty="0">
                <a:solidFill>
                  <a:srgbClr val="F3F6FD"/>
                </a:solidFill>
                <a:latin typeface="IBM Plex Sans Arabic" pitchFamily="34" charset="0"/>
                <a:ea typeface="IBM Plex Sans Arabic" pitchFamily="34" charset="-122"/>
                <a:cs typeface="IBM Plex Sans Arabic" pitchFamily="34" charset="-120"/>
              </a:rPr>
              <a:t>Calibration Engine + Findings</a:t>
            </a:r>
            <a:endParaRPr lang="ar-SA" sz="1550" dirty="0"/>
          </a:p>
        </p:txBody>
      </p:sp>
      <p:sp>
        <p:nvSpPr>
          <p:cNvPr id="36" name="Text 28"/>
          <p:cNvSpPr txBox="1"/>
          <p:nvPr/>
        </p:nvSpPr>
        <p:spPr>
          <a:xfrm>
            <a:off x="4582058" y="5038344"/>
            <a:ext cx="3027578" cy="603504"/>
          </a:xfrm>
          <a:prstGeom prst="rect">
            <a:avLst/>
          </a:prstGeom>
          <a:noFill/>
          <a:ln/>
        </p:spPr>
        <p:txBody>
          <a:bodyPr wrap="square" lIns="0" tIns="0" rIns="0" bIns="0" rtlCol="0" anchor="t"/>
          <a:lstStyle/>
          <a:p>
            <a:pPr rtl="1" algn="r" indent="0" marL="0">
              <a:lnSpc>
                <a:spcPct val="105000"/>
              </a:lnSpc>
              <a:buNone/>
            </a:pPr>
            <a:r>
              <a:rPr lang="ar-SA" altLang="en-US" sz="1300" dirty="0">
                <a:solidFill>
                  <a:srgbClr val="A9B7DA"/>
                </a:solidFill>
                <a:latin typeface="IBM Plex Sans Arabic" pitchFamily="34" charset="0"/>
                <a:ea typeface="IBM Plex Sans Arabic" pitchFamily="34" charset="-122"/>
                <a:cs typeface="IBM Plex Sans Arabic" pitchFamily="34" charset="-120"/>
              </a:rPr>
              <a:t>تحليل علاقة Signal بـOutcome مع الحدود ودرجة الثقة.</a:t>
            </a:r>
            <a:endParaRPr lang="ar-SA" sz="1300" dirty="0"/>
          </a:p>
        </p:txBody>
      </p:sp>
      <p:sp>
        <p:nvSpPr>
          <p:cNvPr id="37" name="Text 29"/>
          <p:cNvSpPr txBox="1"/>
          <p:nvPr/>
        </p:nvSpPr>
        <p:spPr>
          <a:xfrm>
            <a:off x="4582058" y="5678424"/>
            <a:ext cx="3027578" cy="292608"/>
          </a:xfrm>
          <a:prstGeom prst="rect">
            <a:avLst/>
          </a:prstGeom>
          <a:noFill/>
          <a:ln/>
        </p:spPr>
        <p:txBody>
          <a:bodyPr wrap="square" lIns="0" tIns="0" rIns="0" bIns="0" rtlCol="0" anchor="t"/>
          <a:lstStyle/>
          <a:p>
            <a:pPr rtl="1" algn="r" indent="0" marL="0">
              <a:buNone/>
            </a:pPr>
            <a:r>
              <a:rPr lang="ar-SA" altLang="en-US" sz="1300" b="1" dirty="0">
                <a:solidFill>
                  <a:srgbClr val="3EE0F5"/>
                </a:solidFill>
                <a:latin typeface="IBM Plex Sans Arabic" pitchFamily="34" charset="0"/>
                <a:ea typeface="IBM Plex Sans Arabic" pitchFamily="34" charset="-122"/>
                <a:cs typeface="IBM Plex Sans Arabic" pitchFamily="34" charset="-120"/>
              </a:rPr>
              <a:t>القيمة: </a:t>
            </a:r>
            <a:pPr rtl="1" algn="r" indent="0" marL="0">
              <a:buNone/>
            </a:pPr>
            <a:r>
              <a:rPr lang="ar-SA" altLang="en-US" sz="1300" b="1" dirty="0">
                <a:solidFill>
                  <a:srgbClr val="F3F6FD"/>
                </a:solidFill>
                <a:latin typeface="IBM Plex Sans Arabic" pitchFamily="34" charset="0"/>
                <a:ea typeface="IBM Plex Sans Arabic" pitchFamily="34" charset="-122"/>
                <a:cs typeface="IBM Plex Sans Arabic" pitchFamily="34" charset="-120"/>
              </a:rPr>
              <a:t>Finding موثّق قابل للتنفيذ</a:t>
            </a:r>
            <a:endParaRPr lang="ar-SA" sz="1300" dirty="0"/>
          </a:p>
        </p:txBody>
      </p:sp>
      <p:sp>
        <p:nvSpPr>
          <p:cNvPr id="38" name="Shape 30"/>
          <p:cNvSpPr/>
          <p:nvPr/>
        </p:nvSpPr>
        <p:spPr>
          <a:xfrm>
            <a:off x="594360" y="4142232"/>
            <a:ext cx="3484778" cy="2011680"/>
          </a:xfrm>
          <a:prstGeom prst="roundRect">
            <a:avLst>
              <a:gd name="adj" fmla="val 6364"/>
            </a:avLst>
          </a:prstGeom>
          <a:solidFill>
            <a:srgbClr val="0B1634"/>
          </a:solidFill>
          <a:ln w="9525">
            <a:solidFill>
              <a:srgbClr val="1E3570"/>
            </a:solidFill>
            <a:prstDash val="solid"/>
          </a:ln>
        </p:spPr>
      </p:sp>
      <p:sp>
        <p:nvSpPr>
          <p:cNvPr id="39" name="Shape 31"/>
          <p:cNvSpPr/>
          <p:nvPr/>
        </p:nvSpPr>
        <p:spPr>
          <a:xfrm>
            <a:off x="3338474" y="4370832"/>
            <a:ext cx="512064" cy="512064"/>
          </a:xfrm>
          <a:prstGeom prst="ellipse">
            <a:avLst/>
          </a:prstGeom>
          <a:solidFill>
            <a:srgbClr val="10204A"/>
          </a:solidFill>
          <a:ln w="9525">
            <a:solidFill>
              <a:srgbClr val="1E3570"/>
            </a:solidFill>
            <a:prstDash val="solid"/>
          </a:ln>
        </p:spPr>
      </p:sp>
      <p:pic>
        <p:nvPicPr>
          <p:cNvPr id="40" name="Image 6" descr="preencoded.png">    </p:cNvPr>
          <p:cNvPicPr>
            <a:picLocks noChangeAspect="1"/>
          </p:cNvPicPr>
          <p:nvPr/>
        </p:nvPicPr>
        <p:blipFill>
          <a:blip r:embed="rId8"/>
          <a:stretch>
            <a:fillRect/>
          </a:stretch>
        </p:blipFill>
        <p:spPr>
          <a:xfrm>
            <a:off x="3471611" y="4503969"/>
            <a:ext cx="245791" cy="245791"/>
          </a:xfrm>
          <a:prstGeom prst="rect">
            <a:avLst/>
          </a:prstGeom>
        </p:spPr>
      </p:pic>
      <p:sp>
        <p:nvSpPr>
          <p:cNvPr id="41" name="Text 32"/>
          <p:cNvSpPr txBox="1"/>
          <p:nvPr/>
        </p:nvSpPr>
        <p:spPr>
          <a:xfrm>
            <a:off x="822960" y="4389120"/>
            <a:ext cx="2524658" cy="566928"/>
          </a:xfrm>
          <a:prstGeom prst="rect">
            <a:avLst/>
          </a:prstGeom>
          <a:noFill/>
          <a:ln/>
        </p:spPr>
        <p:txBody>
          <a:bodyPr wrap="square" lIns="0" tIns="0" rIns="0" bIns="0" rtlCol="0" anchor="t"/>
          <a:lstStyle/>
          <a:p>
            <a:pPr algn="r" indent="0" marL="0">
              <a:buNone/>
            </a:pPr>
            <a:r>
              <a:rPr lang="ar-SA" altLang="en-US" sz="1550" b="1" dirty="0">
                <a:solidFill>
                  <a:srgbClr val="F3F6FD"/>
                </a:solidFill>
                <a:latin typeface="IBM Plex Sans Arabic" pitchFamily="34" charset="0"/>
                <a:ea typeface="IBM Plex Sans Arabic" pitchFamily="34" charset="-122"/>
                <a:cs typeface="IBM Plex Sans Arabic" pitchFamily="34" charset="-120"/>
              </a:rPr>
              <a:t>Human Review + History</a:t>
            </a:r>
            <a:endParaRPr lang="ar-SA" sz="1550" dirty="0"/>
          </a:p>
        </p:txBody>
      </p:sp>
      <p:sp>
        <p:nvSpPr>
          <p:cNvPr id="42" name="Text 33"/>
          <p:cNvSpPr txBox="1"/>
          <p:nvPr/>
        </p:nvSpPr>
        <p:spPr>
          <a:xfrm>
            <a:off x="822960" y="5038344"/>
            <a:ext cx="3027578" cy="603504"/>
          </a:xfrm>
          <a:prstGeom prst="rect">
            <a:avLst/>
          </a:prstGeom>
          <a:noFill/>
          <a:ln/>
        </p:spPr>
        <p:txBody>
          <a:bodyPr wrap="square" lIns="0" tIns="0" rIns="0" bIns="0" rtlCol="0" anchor="t"/>
          <a:lstStyle/>
          <a:p>
            <a:pPr rtl="1" algn="r" indent="0" marL="0">
              <a:lnSpc>
                <a:spcPct val="105000"/>
              </a:lnSpc>
              <a:buNone/>
            </a:pPr>
            <a:r>
              <a:rPr lang="ar-SA" altLang="en-US" sz="1300" dirty="0">
                <a:solidFill>
                  <a:srgbClr val="A9B7DA"/>
                </a:solidFill>
                <a:latin typeface="IBM Plex Sans Arabic" pitchFamily="34" charset="0"/>
                <a:ea typeface="IBM Plex Sans Arabic" pitchFamily="34" charset="-122"/>
                <a:cs typeface="IBM Plex Sans Arabic" pitchFamily="34" charset="-120"/>
              </a:rPr>
              <a:t>قبول · رفض · طلب أدلة، مع حفظ حالة قبل/بعد.</a:t>
            </a:r>
            <a:endParaRPr lang="ar-SA" sz="1300" dirty="0"/>
          </a:p>
        </p:txBody>
      </p:sp>
      <p:sp>
        <p:nvSpPr>
          <p:cNvPr id="43" name="Text 34"/>
          <p:cNvSpPr txBox="1"/>
          <p:nvPr/>
        </p:nvSpPr>
        <p:spPr>
          <a:xfrm>
            <a:off x="822960" y="5678424"/>
            <a:ext cx="3027578" cy="292608"/>
          </a:xfrm>
          <a:prstGeom prst="rect">
            <a:avLst/>
          </a:prstGeom>
          <a:noFill/>
          <a:ln/>
        </p:spPr>
        <p:txBody>
          <a:bodyPr wrap="square" lIns="0" tIns="0" rIns="0" bIns="0" rtlCol="0" anchor="t"/>
          <a:lstStyle/>
          <a:p>
            <a:pPr rtl="1" algn="r" indent="0" marL="0">
              <a:buNone/>
            </a:pPr>
            <a:r>
              <a:rPr lang="ar-SA" altLang="en-US" sz="1300" b="1" dirty="0">
                <a:solidFill>
                  <a:srgbClr val="3EE0F5"/>
                </a:solidFill>
                <a:latin typeface="IBM Plex Sans Arabic" pitchFamily="34" charset="0"/>
                <a:ea typeface="IBM Plex Sans Arabic" pitchFamily="34" charset="-122"/>
                <a:cs typeface="IBM Plex Sans Arabic" pitchFamily="34" charset="-120"/>
              </a:rPr>
              <a:t>القيمة: </a:t>
            </a:r>
            <a:pPr rtl="1" algn="r" indent="0" marL="0">
              <a:buNone/>
            </a:pPr>
            <a:r>
              <a:rPr lang="ar-SA" altLang="en-US" sz="1300" b="1" dirty="0">
                <a:solidFill>
                  <a:srgbClr val="F3F6FD"/>
                </a:solidFill>
                <a:latin typeface="IBM Plex Sans Arabic" pitchFamily="34" charset="0"/>
                <a:ea typeface="IBM Plex Sans Arabic" pitchFamily="34" charset="-122"/>
                <a:cs typeface="IBM Plex Sans Arabic" pitchFamily="34" charset="-120"/>
              </a:rPr>
              <a:t>تغيير مضبوط وقابل للتدقيق</a:t>
            </a:r>
            <a:endParaRPr lang="ar-SA"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508760" y="457200"/>
            <a:ext cx="10088575" cy="274320"/>
          </a:xfrm>
          <a:prstGeom prst="rect">
            <a:avLst/>
          </a:prstGeom>
          <a:noFill/>
          <a:ln/>
        </p:spPr>
        <p:txBody>
          <a:bodyPr wrap="square" lIns="0" tIns="0" rIns="0" bIns="0" rtlCol="0" anchor="t"/>
          <a:lstStyle/>
          <a:p>
            <a:pPr rtl="1" algn="r" indent="0" marL="0">
              <a:buNone/>
            </a:pPr>
            <a:r>
              <a:rPr lang="ar-SA" altLang="en-US" sz="1200" b="1" spc="100" kern="0" dirty="0">
                <a:solidFill>
                  <a:srgbClr val="3EE0F5"/>
                </a:solidFill>
                <a:latin typeface="IBM Plex Sans Arabic" pitchFamily="34" charset="0"/>
                <a:ea typeface="IBM Plex Sans Arabic" pitchFamily="34" charset="-122"/>
                <a:cs typeface="IBM Plex Sans Arabic" pitchFamily="34" charset="-120"/>
              </a:rPr>
              <a:t>05  ·  AI — أين يدخل الذكاء الاصطناعي؟</a:t>
            </a:r>
            <a:endParaRPr lang="ar-SA" sz="1200" dirty="0"/>
          </a:p>
        </p:txBody>
      </p:sp>
      <p:sp>
        <p:nvSpPr>
          <p:cNvPr id="3" name="Text 1"/>
          <p:cNvSpPr txBox="1"/>
          <p:nvPr/>
        </p:nvSpPr>
        <p:spPr>
          <a:xfrm>
            <a:off x="1508760" y="731520"/>
            <a:ext cx="10088575" cy="640080"/>
          </a:xfrm>
          <a:prstGeom prst="rect">
            <a:avLst/>
          </a:prstGeom>
          <a:noFill/>
          <a:ln/>
        </p:spPr>
        <p:txBody>
          <a:bodyPr wrap="square" lIns="0" tIns="0" rIns="0" bIns="0" rtlCol="0" anchor="t"/>
          <a:lstStyle/>
          <a:p>
            <a:pPr rtl="1" algn="r" indent="0" marL="0">
              <a:buNone/>
            </a:pPr>
            <a:r>
              <a:rPr lang="ar-SA" altLang="en-US" sz="3200" b="1" dirty="0">
                <a:solidFill>
                  <a:srgbClr val="F3F6FD"/>
                </a:solidFill>
                <a:latin typeface="IBM Plex Sans Arabic" pitchFamily="34" charset="0"/>
                <a:ea typeface="IBM Plex Sans Arabic" pitchFamily="34" charset="-122"/>
                <a:cs typeface="IBM Plex Sans Arabic" pitchFamily="34" charset="-120"/>
              </a:rPr>
              <a:t>أين يدخل الـAI؟</a:t>
            </a:r>
            <a:endParaRPr lang="ar-SA" sz="3200" dirty="0"/>
          </a:p>
        </p:txBody>
      </p:sp>
      <p:sp>
        <p:nvSpPr>
          <p:cNvPr id="4" name="Text 2"/>
          <p:cNvSpPr txBox="1"/>
          <p:nvPr/>
        </p:nvSpPr>
        <p:spPr>
          <a:xfrm>
            <a:off x="594360" y="1353312"/>
            <a:ext cx="11002975" cy="365760"/>
          </a:xfrm>
          <a:prstGeom prst="rect">
            <a:avLst/>
          </a:prstGeom>
          <a:noFill/>
          <a:ln/>
        </p:spPr>
        <p:txBody>
          <a:bodyPr wrap="square" lIns="0" tIns="0" rIns="0" bIns="0" rtlCol="0" anchor="t"/>
          <a:lstStyle/>
          <a:p>
            <a:pPr rtl="1" algn="r" indent="0" marL="0">
              <a:buNone/>
            </a:pPr>
            <a:r>
              <a:rPr lang="ar-SA" altLang="en-US" sz="1500" dirty="0">
                <a:solidFill>
                  <a:srgbClr val="A9B7DA"/>
                </a:solidFill>
                <a:latin typeface="IBM Plex Sans Arabic" pitchFamily="34" charset="0"/>
                <a:ea typeface="IBM Plex Sans Arabic" pitchFamily="34" charset="-122"/>
                <a:cs typeface="IBM Plex Sans Arabic" pitchFamily="34" charset="-120"/>
              </a:rPr>
              <a:t>مبدأ أساسي: الـLLM ليس محرك الإحصاء. سنستخدم Rules وStatistics، وML فقط حين تكفي البيانات.</a:t>
            </a:r>
            <a:endParaRPr lang="ar-SA" sz="1500" dirty="0"/>
          </a:p>
        </p:txBody>
      </p:sp>
      <p:pic>
        <p:nvPicPr>
          <p:cNvPr id="5" name="Image 0" descr="/tmp/claude-0/-home-user-ghassankmiqdad/d1991e4f-aee0-5e68-9a9d-3fc00accdf9d/scratchpad/build/assets/mark_sm.png">    </p:cNvPr>
          <p:cNvPicPr>
            <a:picLocks noChangeAspect="1"/>
          </p:cNvPicPr>
          <p:nvPr/>
        </p:nvPicPr>
        <p:blipFill>
          <a:blip r:embed="rId2"/>
          <a:stretch>
            <a:fillRect/>
          </a:stretch>
        </p:blipFill>
        <p:spPr>
          <a:xfrm>
            <a:off x="594360" y="475488"/>
            <a:ext cx="566928" cy="443515"/>
          </a:xfrm>
          <a:prstGeom prst="rect">
            <a:avLst/>
          </a:prstGeom>
        </p:spPr>
      </p:pic>
      <p:sp>
        <p:nvSpPr>
          <p:cNvPr id="6" name="Text 3"/>
          <p:cNvSpPr txBox="1"/>
          <p:nvPr/>
        </p:nvSpPr>
        <p:spPr>
          <a:xfrm>
            <a:off x="7939735" y="6400800"/>
            <a:ext cx="3657600" cy="228600"/>
          </a:xfrm>
          <a:prstGeom prst="rect">
            <a:avLst/>
          </a:prstGeom>
          <a:noFill/>
          <a:ln/>
        </p:spPr>
        <p:txBody>
          <a:bodyPr wrap="square" lIns="0" tIns="0" rIns="0" bIns="0" rtlCol="0" anchor="t"/>
          <a:lstStyle/>
          <a:p>
            <a:pPr rtl="1" algn="r" indent="0" marL="0">
              <a:buNone/>
            </a:pPr>
            <a:r>
              <a:rPr lang="ar-SA" altLang="en-US" sz="900" dirty="0">
                <a:solidFill>
                  <a:srgbClr val="6E7FAA"/>
                </a:solidFill>
                <a:latin typeface="IBM Plex Sans Arabic" pitchFamily="34" charset="0"/>
                <a:ea typeface="IBM Plex Sans Arabic" pitchFamily="34" charset="-122"/>
                <a:cs typeface="IBM Plex Sans Arabic" pitchFamily="34" charset="-120"/>
              </a:rPr>
              <a:t>NestHire · اجتماع الانطلاق</a:t>
            </a:r>
            <a:endParaRPr lang="ar-SA" sz="900" dirty="0"/>
          </a:p>
        </p:txBody>
      </p:sp>
      <p:sp>
        <p:nvSpPr>
          <p:cNvPr id="7" name="Text 4"/>
          <p:cNvSpPr txBox="1"/>
          <p:nvPr/>
        </p:nvSpPr>
        <p:spPr>
          <a:xfrm>
            <a:off x="594360" y="6400800"/>
            <a:ext cx="1097280" cy="228600"/>
          </a:xfrm>
          <a:prstGeom prst="rect">
            <a:avLst/>
          </a:prstGeom>
          <a:noFill/>
          <a:ln/>
        </p:spPr>
        <p:txBody>
          <a:bodyPr wrap="square" lIns="0" tIns="0" rIns="0" bIns="0" rtlCol="0" anchor="t"/>
          <a:lstStyle/>
          <a:p>
            <a:pPr algn="l" indent="0" marL="0">
              <a:buNone/>
            </a:pPr>
            <a:r>
              <a:rPr lang="ar-SA" altLang="en-US" sz="900" dirty="0">
                <a:solidFill>
                  <a:srgbClr val="6E7FAA"/>
                </a:solidFill>
                <a:latin typeface="IBM Plex Sans Arabic" pitchFamily="34" charset="0"/>
                <a:ea typeface="IBM Plex Sans Arabic" pitchFamily="34" charset="-122"/>
                <a:cs typeface="IBM Plex Sans Arabic" pitchFamily="34" charset="-120"/>
              </a:rPr>
              <a:t>08 / 18</a:t>
            </a:r>
            <a:endParaRPr lang="ar-SA" sz="900" dirty="0"/>
          </a:p>
        </p:txBody>
      </p:sp>
      <p:sp>
        <p:nvSpPr>
          <p:cNvPr id="8" name="Shape 5"/>
          <p:cNvSpPr/>
          <p:nvPr/>
        </p:nvSpPr>
        <p:spPr>
          <a:xfrm>
            <a:off x="10062698" y="1920240"/>
            <a:ext cx="868680" cy="868680"/>
          </a:xfrm>
          <a:prstGeom prst="ellipse">
            <a:avLst/>
          </a:prstGeom>
          <a:solidFill>
            <a:srgbClr val="10204A"/>
          </a:solidFill>
          <a:ln w="12700">
            <a:solidFill>
              <a:srgbClr val="2AA6F7"/>
            </a:solidFill>
            <a:prstDash val="solid"/>
          </a:ln>
        </p:spPr>
      </p:sp>
      <p:pic>
        <p:nvPicPr>
          <p:cNvPr id="9" name="Image 1" descr="preencoded.png">    </p:cNvPr>
          <p:cNvPicPr>
            <a:picLocks noChangeAspect="1"/>
          </p:cNvPicPr>
          <p:nvPr/>
        </p:nvPicPr>
        <p:blipFill>
          <a:blip r:embed="rId3"/>
          <a:stretch>
            <a:fillRect/>
          </a:stretch>
        </p:blipFill>
        <p:spPr>
          <a:xfrm>
            <a:off x="10288554" y="2146097"/>
            <a:ext cx="416966" cy="416966"/>
          </a:xfrm>
          <a:prstGeom prst="rect">
            <a:avLst/>
          </a:prstGeom>
        </p:spPr>
      </p:pic>
      <p:sp>
        <p:nvSpPr>
          <p:cNvPr id="10" name="Shape 6"/>
          <p:cNvSpPr/>
          <p:nvPr/>
        </p:nvSpPr>
        <p:spPr>
          <a:xfrm flipH="1">
            <a:off x="8840511" y="2354580"/>
            <a:ext cx="1112459" cy="91"/>
          </a:xfrm>
          <a:prstGeom prst="line">
            <a:avLst/>
          </a:prstGeom>
          <a:noFill/>
          <a:ln w="19050">
            <a:solidFill>
              <a:srgbClr val="2AA6F7"/>
            </a:solidFill>
            <a:prstDash val="solid"/>
            <a:tailEnd type="triangle"/>
          </a:ln>
        </p:spPr>
      </p:sp>
      <p:sp>
        <p:nvSpPr>
          <p:cNvPr id="11" name="Text 7"/>
          <p:cNvSpPr txBox="1"/>
          <p:nvPr/>
        </p:nvSpPr>
        <p:spPr>
          <a:xfrm>
            <a:off x="9488180" y="2926080"/>
            <a:ext cx="2017715" cy="329184"/>
          </a:xfrm>
          <a:prstGeom prst="rect">
            <a:avLst/>
          </a:prstGeom>
          <a:noFill/>
          <a:ln/>
        </p:spPr>
        <p:txBody>
          <a:bodyPr wrap="square" lIns="0" tIns="0" rIns="0" bIns="0" rtlCol="0" anchor="t"/>
          <a:lstStyle/>
          <a:p>
            <a:pPr rtl="1" algn="ctr" indent="0" marL="0">
              <a:buNone/>
            </a:pPr>
            <a:r>
              <a:rPr lang="ar-SA" altLang="en-US" sz="1550" b="1" dirty="0">
                <a:solidFill>
                  <a:srgbClr val="F3F6FD"/>
                </a:solidFill>
                <a:latin typeface="IBM Plex Sans Arabic" pitchFamily="34" charset="0"/>
                <a:ea typeface="IBM Plex Sans Arabic" pitchFamily="34" charset="-122"/>
                <a:cs typeface="IBM Plex Sans Arabic" pitchFamily="34" charset="-120"/>
              </a:rPr>
              <a:t>البيانات</a:t>
            </a:r>
            <a:endParaRPr lang="ar-SA" sz="1550" dirty="0"/>
          </a:p>
        </p:txBody>
      </p:sp>
      <p:sp>
        <p:nvSpPr>
          <p:cNvPr id="12" name="Text 8"/>
          <p:cNvSpPr txBox="1"/>
          <p:nvPr/>
        </p:nvSpPr>
        <p:spPr>
          <a:xfrm>
            <a:off x="9488180" y="3246120"/>
            <a:ext cx="2017715" cy="237744"/>
          </a:xfrm>
          <a:prstGeom prst="rect">
            <a:avLst/>
          </a:prstGeom>
          <a:noFill/>
          <a:ln/>
        </p:spPr>
        <p:txBody>
          <a:bodyPr wrap="square" lIns="0" tIns="0" rIns="0" bIns="0" rtlCol="0" anchor="t"/>
          <a:lstStyle/>
          <a:p>
            <a:pPr rtl="1" algn="ctr" indent="0" marL="0">
              <a:buNone/>
            </a:pPr>
            <a:r>
              <a:rPr lang="ar-SA" altLang="en-US" sz="1100" b="1" dirty="0">
                <a:solidFill>
                  <a:srgbClr val="3EE0F5"/>
                </a:solidFill>
                <a:latin typeface="IBM Plex Sans Arabic" pitchFamily="34" charset="0"/>
                <a:ea typeface="IBM Plex Sans Arabic" pitchFamily="34" charset="-122"/>
                <a:cs typeface="IBM Plex Sans Arabic" pitchFamily="34" charset="-120"/>
              </a:rPr>
              <a:t>Data</a:t>
            </a:r>
            <a:endParaRPr lang="ar-SA" sz="1100" dirty="0"/>
          </a:p>
        </p:txBody>
      </p:sp>
      <p:sp>
        <p:nvSpPr>
          <p:cNvPr id="13" name="Text 9"/>
          <p:cNvSpPr txBox="1"/>
          <p:nvPr/>
        </p:nvSpPr>
        <p:spPr>
          <a:xfrm>
            <a:off x="9506468" y="3520440"/>
            <a:ext cx="1981139" cy="685800"/>
          </a:xfrm>
          <a:prstGeom prst="rect">
            <a:avLst/>
          </a:prstGeom>
          <a:noFill/>
          <a:ln/>
        </p:spPr>
        <p:txBody>
          <a:bodyPr wrap="square" lIns="0" tIns="0" rIns="0" bIns="0" rtlCol="0" anchor="t"/>
          <a:lstStyle/>
          <a:p>
            <a:pPr rtl="1" algn="ctr" indent="0" marL="0">
              <a:lnSpc>
                <a:spcPct val="105000"/>
              </a:lnSpc>
              <a:buNone/>
            </a:pPr>
            <a:r>
              <a:rPr lang="ar-SA" altLang="en-US" sz="1200" dirty="0">
                <a:solidFill>
                  <a:srgbClr val="A9B7DA"/>
                </a:solidFill>
                <a:latin typeface="IBM Plex Sans Arabic" pitchFamily="34" charset="0"/>
                <a:ea typeface="IBM Plex Sans Arabic" pitchFamily="34" charset="-122"/>
                <a:cs typeface="IBM Plex Sans Arabic" pitchFamily="34" charset="-120"/>
              </a:rPr>
              <a:t>ملفات وصفوف ونصوص: PDF · DOCX · CSV</a:t>
            </a:r>
            <a:endParaRPr lang="ar-SA" sz="1200" dirty="0"/>
          </a:p>
        </p:txBody>
      </p:sp>
      <p:sp>
        <p:nvSpPr>
          <p:cNvPr id="14" name="Shape 10"/>
          <p:cNvSpPr/>
          <p:nvPr/>
        </p:nvSpPr>
        <p:spPr>
          <a:xfrm>
            <a:off x="7862103" y="1920240"/>
            <a:ext cx="868680" cy="868680"/>
          </a:xfrm>
          <a:prstGeom prst="ellipse">
            <a:avLst/>
          </a:prstGeom>
          <a:solidFill>
            <a:srgbClr val="10204A"/>
          </a:solidFill>
          <a:ln w="12700">
            <a:solidFill>
              <a:srgbClr val="2AA6F7"/>
            </a:solidFill>
            <a:prstDash val="solid"/>
          </a:ln>
        </p:spPr>
      </p:sp>
      <p:pic>
        <p:nvPicPr>
          <p:cNvPr id="15" name="Image 2" descr="preencoded.png">    </p:cNvPr>
          <p:cNvPicPr>
            <a:picLocks noChangeAspect="1"/>
          </p:cNvPicPr>
          <p:nvPr/>
        </p:nvPicPr>
        <p:blipFill>
          <a:blip r:embed="rId4"/>
          <a:stretch>
            <a:fillRect/>
          </a:stretch>
        </p:blipFill>
        <p:spPr>
          <a:xfrm>
            <a:off x="8087959" y="2146097"/>
            <a:ext cx="416966" cy="416966"/>
          </a:xfrm>
          <a:prstGeom prst="rect">
            <a:avLst/>
          </a:prstGeom>
        </p:spPr>
      </p:pic>
      <p:sp>
        <p:nvSpPr>
          <p:cNvPr id="16" name="Shape 11"/>
          <p:cNvSpPr/>
          <p:nvPr/>
        </p:nvSpPr>
        <p:spPr>
          <a:xfrm flipH="1">
            <a:off x="6639916" y="2354580"/>
            <a:ext cx="1112459" cy="91"/>
          </a:xfrm>
          <a:prstGeom prst="line">
            <a:avLst/>
          </a:prstGeom>
          <a:noFill/>
          <a:ln w="19050">
            <a:solidFill>
              <a:srgbClr val="2AA6F7"/>
            </a:solidFill>
            <a:prstDash val="solid"/>
            <a:tailEnd type="triangle"/>
          </a:ln>
        </p:spPr>
      </p:sp>
      <p:sp>
        <p:nvSpPr>
          <p:cNvPr id="17" name="Text 12"/>
          <p:cNvSpPr txBox="1"/>
          <p:nvPr/>
        </p:nvSpPr>
        <p:spPr>
          <a:xfrm>
            <a:off x="7287585" y="2926080"/>
            <a:ext cx="2017715" cy="329184"/>
          </a:xfrm>
          <a:prstGeom prst="rect">
            <a:avLst/>
          </a:prstGeom>
          <a:noFill/>
          <a:ln/>
        </p:spPr>
        <p:txBody>
          <a:bodyPr wrap="square" lIns="0" tIns="0" rIns="0" bIns="0" rtlCol="0" anchor="t"/>
          <a:lstStyle/>
          <a:p>
            <a:pPr rtl="1" algn="ctr" indent="0" marL="0">
              <a:buNone/>
            </a:pPr>
            <a:r>
              <a:rPr lang="ar-SA" altLang="en-US" sz="1550" b="1" dirty="0">
                <a:solidFill>
                  <a:srgbClr val="F3F6FD"/>
                </a:solidFill>
                <a:latin typeface="IBM Plex Sans Arabic" pitchFamily="34" charset="0"/>
                <a:ea typeface="IBM Plex Sans Arabic" pitchFamily="34" charset="-122"/>
                <a:cs typeface="IBM Plex Sans Arabic" pitchFamily="34" charset="-120"/>
              </a:rPr>
              <a:t>LLM + Retrieval</a:t>
            </a:r>
            <a:endParaRPr lang="ar-SA" sz="1550" dirty="0"/>
          </a:p>
        </p:txBody>
      </p:sp>
      <p:sp>
        <p:nvSpPr>
          <p:cNvPr id="18" name="Text 13"/>
          <p:cNvSpPr txBox="1"/>
          <p:nvPr/>
        </p:nvSpPr>
        <p:spPr>
          <a:xfrm>
            <a:off x="7287585" y="3246120"/>
            <a:ext cx="2017715" cy="237744"/>
          </a:xfrm>
          <a:prstGeom prst="rect">
            <a:avLst/>
          </a:prstGeom>
          <a:noFill/>
          <a:ln/>
        </p:spPr>
        <p:txBody>
          <a:bodyPr wrap="square" lIns="0" tIns="0" rIns="0" bIns="0" rtlCol="0" anchor="t"/>
          <a:lstStyle/>
          <a:p>
            <a:pPr rtl="1" algn="ctr" indent="0" marL="0">
              <a:buNone/>
            </a:pPr>
            <a:r>
              <a:rPr lang="ar-SA" altLang="en-US" sz="1100" b="1" dirty="0">
                <a:solidFill>
                  <a:srgbClr val="3EE0F5"/>
                </a:solidFill>
                <a:latin typeface="IBM Plex Sans Arabic" pitchFamily="34" charset="0"/>
                <a:ea typeface="IBM Plex Sans Arabic" pitchFamily="34" charset="-122"/>
                <a:cs typeface="IBM Plex Sans Arabic" pitchFamily="34" charset="-120"/>
              </a:rPr>
              <a:t>AI</a:t>
            </a:r>
            <a:endParaRPr lang="ar-SA" sz="1100" dirty="0"/>
          </a:p>
        </p:txBody>
      </p:sp>
      <p:sp>
        <p:nvSpPr>
          <p:cNvPr id="19" name="Text 14"/>
          <p:cNvSpPr txBox="1"/>
          <p:nvPr/>
        </p:nvSpPr>
        <p:spPr>
          <a:xfrm>
            <a:off x="7305873" y="3520440"/>
            <a:ext cx="1981139" cy="685800"/>
          </a:xfrm>
          <a:prstGeom prst="rect">
            <a:avLst/>
          </a:prstGeom>
          <a:noFill/>
          <a:ln/>
        </p:spPr>
        <p:txBody>
          <a:bodyPr wrap="square" lIns="0" tIns="0" rIns="0" bIns="0" rtlCol="0" anchor="t"/>
          <a:lstStyle/>
          <a:p>
            <a:pPr rtl="1" algn="ctr" indent="0" marL="0">
              <a:lnSpc>
                <a:spcPct val="105000"/>
              </a:lnSpc>
              <a:buNone/>
            </a:pPr>
            <a:r>
              <a:rPr lang="ar-SA" altLang="en-US" sz="1200" dirty="0">
                <a:solidFill>
                  <a:srgbClr val="A9B7DA"/>
                </a:solidFill>
                <a:latin typeface="IBM Plex Sans Arabic" pitchFamily="34" charset="0"/>
                <a:ea typeface="IBM Plex Sans Arabic" pitchFamily="34" charset="-122"/>
                <a:cs typeface="IBM Plex Sans Arabic" pitchFamily="34" charset="-120"/>
              </a:rPr>
              <a:t>سنستخدمه للاستخراج والتوحيد والتفسير، والـEmbeddings لإيجاد الأدلة</a:t>
            </a:r>
            <a:endParaRPr lang="ar-SA" sz="1200" dirty="0"/>
          </a:p>
        </p:txBody>
      </p:sp>
      <p:sp>
        <p:nvSpPr>
          <p:cNvPr id="20" name="Shape 15"/>
          <p:cNvSpPr/>
          <p:nvPr/>
        </p:nvSpPr>
        <p:spPr>
          <a:xfrm>
            <a:off x="5661508" y="1920240"/>
            <a:ext cx="868680" cy="868680"/>
          </a:xfrm>
          <a:prstGeom prst="ellipse">
            <a:avLst/>
          </a:prstGeom>
          <a:solidFill>
            <a:srgbClr val="10204A"/>
          </a:solidFill>
          <a:ln w="12700">
            <a:solidFill>
              <a:srgbClr val="2AA6F7"/>
            </a:solidFill>
            <a:prstDash val="solid"/>
          </a:ln>
        </p:spPr>
      </p:sp>
      <p:pic>
        <p:nvPicPr>
          <p:cNvPr id="21" name="Image 3" descr="preencoded.png">    </p:cNvPr>
          <p:cNvPicPr>
            <a:picLocks noChangeAspect="1"/>
          </p:cNvPicPr>
          <p:nvPr/>
        </p:nvPicPr>
        <p:blipFill>
          <a:blip r:embed="rId5"/>
          <a:stretch>
            <a:fillRect/>
          </a:stretch>
        </p:blipFill>
        <p:spPr>
          <a:xfrm>
            <a:off x="5887364" y="2146097"/>
            <a:ext cx="416966" cy="416966"/>
          </a:xfrm>
          <a:prstGeom prst="rect">
            <a:avLst/>
          </a:prstGeom>
        </p:spPr>
      </p:pic>
      <p:sp>
        <p:nvSpPr>
          <p:cNvPr id="22" name="Shape 16"/>
          <p:cNvSpPr/>
          <p:nvPr/>
        </p:nvSpPr>
        <p:spPr>
          <a:xfrm flipH="1">
            <a:off x="4439321" y="2354580"/>
            <a:ext cx="1112459" cy="91"/>
          </a:xfrm>
          <a:prstGeom prst="line">
            <a:avLst/>
          </a:prstGeom>
          <a:noFill/>
          <a:ln w="19050">
            <a:solidFill>
              <a:srgbClr val="2AA6F7"/>
            </a:solidFill>
            <a:prstDash val="solid"/>
            <a:tailEnd type="triangle"/>
          </a:ln>
        </p:spPr>
      </p:sp>
      <p:sp>
        <p:nvSpPr>
          <p:cNvPr id="23" name="Text 17"/>
          <p:cNvSpPr txBox="1"/>
          <p:nvPr/>
        </p:nvSpPr>
        <p:spPr>
          <a:xfrm>
            <a:off x="5086990" y="2926080"/>
            <a:ext cx="2017715" cy="329184"/>
          </a:xfrm>
          <a:prstGeom prst="rect">
            <a:avLst/>
          </a:prstGeom>
          <a:noFill/>
          <a:ln/>
        </p:spPr>
        <p:txBody>
          <a:bodyPr wrap="square" lIns="0" tIns="0" rIns="0" bIns="0" rtlCol="0" anchor="t"/>
          <a:lstStyle/>
          <a:p>
            <a:pPr rtl="1" algn="ctr" indent="0" marL="0">
              <a:buNone/>
            </a:pPr>
            <a:r>
              <a:rPr lang="ar-SA" altLang="en-US" sz="1550" b="1" dirty="0">
                <a:solidFill>
                  <a:srgbClr val="F3F6FD"/>
                </a:solidFill>
                <a:latin typeface="IBM Plex Sans Arabic" pitchFamily="34" charset="0"/>
                <a:ea typeface="IBM Plex Sans Arabic" pitchFamily="34" charset="-122"/>
                <a:cs typeface="IBM Plex Sans Arabic" pitchFamily="34" charset="-120"/>
              </a:rPr>
              <a:t>التحليل</a:t>
            </a:r>
            <a:endParaRPr lang="ar-SA" sz="1550" dirty="0"/>
          </a:p>
        </p:txBody>
      </p:sp>
      <p:sp>
        <p:nvSpPr>
          <p:cNvPr id="24" name="Text 18"/>
          <p:cNvSpPr txBox="1"/>
          <p:nvPr/>
        </p:nvSpPr>
        <p:spPr>
          <a:xfrm>
            <a:off x="5086990" y="3246120"/>
            <a:ext cx="2017715" cy="237744"/>
          </a:xfrm>
          <a:prstGeom prst="rect">
            <a:avLst/>
          </a:prstGeom>
          <a:noFill/>
          <a:ln/>
        </p:spPr>
        <p:txBody>
          <a:bodyPr wrap="square" lIns="0" tIns="0" rIns="0" bIns="0" rtlCol="0" anchor="t"/>
          <a:lstStyle/>
          <a:p>
            <a:pPr rtl="1" algn="ctr" indent="0" marL="0">
              <a:buNone/>
            </a:pPr>
            <a:r>
              <a:rPr lang="ar-SA" altLang="en-US" sz="1100" b="1" dirty="0">
                <a:solidFill>
                  <a:srgbClr val="3EE0F5"/>
                </a:solidFill>
                <a:latin typeface="IBM Plex Sans Arabic" pitchFamily="34" charset="0"/>
                <a:ea typeface="IBM Plex Sans Arabic" pitchFamily="34" charset="-122"/>
                <a:cs typeface="IBM Plex Sans Arabic" pitchFamily="34" charset="-120"/>
              </a:rPr>
              <a:t>Stats + ML</a:t>
            </a:r>
            <a:endParaRPr lang="ar-SA" sz="1100" dirty="0"/>
          </a:p>
        </p:txBody>
      </p:sp>
      <p:sp>
        <p:nvSpPr>
          <p:cNvPr id="25" name="Text 19"/>
          <p:cNvSpPr txBox="1"/>
          <p:nvPr/>
        </p:nvSpPr>
        <p:spPr>
          <a:xfrm>
            <a:off x="5105278" y="3520440"/>
            <a:ext cx="1981139" cy="685800"/>
          </a:xfrm>
          <a:prstGeom prst="rect">
            <a:avLst/>
          </a:prstGeom>
          <a:noFill/>
          <a:ln/>
        </p:spPr>
        <p:txBody>
          <a:bodyPr wrap="square" lIns="0" tIns="0" rIns="0" bIns="0" rtlCol="0" anchor="t"/>
          <a:lstStyle/>
          <a:p>
            <a:pPr rtl="1" algn="ctr" indent="0" marL="0">
              <a:lnSpc>
                <a:spcPct val="105000"/>
              </a:lnSpc>
              <a:buNone/>
            </a:pPr>
            <a:r>
              <a:rPr lang="ar-SA" altLang="en-US" sz="1200" dirty="0">
                <a:solidFill>
                  <a:srgbClr val="A9B7DA"/>
                </a:solidFill>
                <a:latin typeface="IBM Plex Sans Arabic" pitchFamily="34" charset="0"/>
                <a:ea typeface="IBM Plex Sans Arabic" pitchFamily="34" charset="-122"/>
                <a:cs typeface="IBM Plex Sans Arabic" pitchFamily="34" charset="-120"/>
              </a:rPr>
              <a:t>Descriptive ثم Associational، وPredictive فقط عند التبرير</a:t>
            </a:r>
            <a:endParaRPr lang="ar-SA" sz="1200" dirty="0"/>
          </a:p>
        </p:txBody>
      </p:sp>
      <p:sp>
        <p:nvSpPr>
          <p:cNvPr id="26" name="Shape 20"/>
          <p:cNvSpPr/>
          <p:nvPr/>
        </p:nvSpPr>
        <p:spPr>
          <a:xfrm>
            <a:off x="3460913" y="1920240"/>
            <a:ext cx="868680" cy="868680"/>
          </a:xfrm>
          <a:prstGeom prst="ellipse">
            <a:avLst/>
          </a:prstGeom>
          <a:solidFill>
            <a:srgbClr val="10204A"/>
          </a:solidFill>
          <a:ln w="12700">
            <a:solidFill>
              <a:srgbClr val="2AA6F7"/>
            </a:solidFill>
            <a:prstDash val="solid"/>
          </a:ln>
        </p:spPr>
      </p:sp>
      <p:pic>
        <p:nvPicPr>
          <p:cNvPr id="27" name="Image 4" descr="preencoded.png">    </p:cNvPr>
          <p:cNvPicPr>
            <a:picLocks noChangeAspect="1"/>
          </p:cNvPicPr>
          <p:nvPr/>
        </p:nvPicPr>
        <p:blipFill>
          <a:blip r:embed="rId6"/>
          <a:stretch>
            <a:fillRect/>
          </a:stretch>
        </p:blipFill>
        <p:spPr>
          <a:xfrm>
            <a:off x="3686769" y="2146097"/>
            <a:ext cx="416966" cy="416966"/>
          </a:xfrm>
          <a:prstGeom prst="rect">
            <a:avLst/>
          </a:prstGeom>
        </p:spPr>
      </p:pic>
      <p:sp>
        <p:nvSpPr>
          <p:cNvPr id="28" name="Shape 21"/>
          <p:cNvSpPr/>
          <p:nvPr/>
        </p:nvSpPr>
        <p:spPr>
          <a:xfrm flipH="1">
            <a:off x="2238726" y="2354580"/>
            <a:ext cx="1112459" cy="91"/>
          </a:xfrm>
          <a:prstGeom prst="line">
            <a:avLst/>
          </a:prstGeom>
          <a:noFill/>
          <a:ln w="19050">
            <a:solidFill>
              <a:srgbClr val="2AA6F7"/>
            </a:solidFill>
            <a:prstDash val="solid"/>
            <a:tailEnd type="triangle"/>
          </a:ln>
        </p:spPr>
      </p:sp>
      <p:sp>
        <p:nvSpPr>
          <p:cNvPr id="29" name="Text 22"/>
          <p:cNvSpPr txBox="1"/>
          <p:nvPr/>
        </p:nvSpPr>
        <p:spPr>
          <a:xfrm>
            <a:off x="2886395" y="2926080"/>
            <a:ext cx="2017715" cy="329184"/>
          </a:xfrm>
          <a:prstGeom prst="rect">
            <a:avLst/>
          </a:prstGeom>
          <a:noFill/>
          <a:ln/>
        </p:spPr>
        <p:txBody>
          <a:bodyPr wrap="square" lIns="0" tIns="0" rIns="0" bIns="0" rtlCol="0" anchor="t"/>
          <a:lstStyle/>
          <a:p>
            <a:pPr rtl="1" algn="ctr" indent="0" marL="0">
              <a:buNone/>
            </a:pPr>
            <a:r>
              <a:rPr lang="ar-SA" altLang="en-US" sz="1550" b="1" dirty="0">
                <a:solidFill>
                  <a:srgbClr val="F3F6FD"/>
                </a:solidFill>
                <a:latin typeface="IBM Plex Sans Arabic" pitchFamily="34" charset="0"/>
                <a:ea typeface="IBM Plex Sans Arabic" pitchFamily="34" charset="-122"/>
                <a:cs typeface="IBM Plex Sans Arabic" pitchFamily="34" charset="-120"/>
              </a:rPr>
              <a:t>Finding + Confidence</a:t>
            </a:r>
            <a:endParaRPr lang="ar-SA" sz="1550" dirty="0"/>
          </a:p>
        </p:txBody>
      </p:sp>
      <p:sp>
        <p:nvSpPr>
          <p:cNvPr id="30" name="Text 23"/>
          <p:cNvSpPr txBox="1"/>
          <p:nvPr/>
        </p:nvSpPr>
        <p:spPr>
          <a:xfrm>
            <a:off x="2886395" y="3246120"/>
            <a:ext cx="2017715" cy="237744"/>
          </a:xfrm>
          <a:prstGeom prst="rect">
            <a:avLst/>
          </a:prstGeom>
          <a:noFill/>
          <a:ln/>
        </p:spPr>
        <p:txBody>
          <a:bodyPr wrap="square" lIns="0" tIns="0" rIns="0" bIns="0" rtlCol="0" anchor="t"/>
          <a:lstStyle/>
          <a:p>
            <a:pPr rtl="1" algn="ctr" indent="0" marL="0">
              <a:buNone/>
            </a:pPr>
            <a:r>
              <a:rPr lang="ar-SA" altLang="en-US" sz="1100" b="1" dirty="0">
                <a:solidFill>
                  <a:srgbClr val="3EE0F5"/>
                </a:solidFill>
                <a:latin typeface="IBM Plex Sans Arabic" pitchFamily="34" charset="0"/>
                <a:ea typeface="IBM Plex Sans Arabic" pitchFamily="34" charset="-122"/>
                <a:cs typeface="IBM Plex Sans Arabic" pitchFamily="34" charset="-120"/>
              </a:rPr>
              <a:t>Output</a:t>
            </a:r>
            <a:endParaRPr lang="ar-SA" sz="1100" dirty="0"/>
          </a:p>
        </p:txBody>
      </p:sp>
      <p:sp>
        <p:nvSpPr>
          <p:cNvPr id="31" name="Text 24"/>
          <p:cNvSpPr txBox="1"/>
          <p:nvPr/>
        </p:nvSpPr>
        <p:spPr>
          <a:xfrm>
            <a:off x="2904683" y="3520440"/>
            <a:ext cx="1981139" cy="685800"/>
          </a:xfrm>
          <a:prstGeom prst="rect">
            <a:avLst/>
          </a:prstGeom>
          <a:noFill/>
          <a:ln/>
        </p:spPr>
        <p:txBody>
          <a:bodyPr wrap="square" lIns="0" tIns="0" rIns="0" bIns="0" rtlCol="0" anchor="t"/>
          <a:lstStyle/>
          <a:p>
            <a:pPr algn="ctr" indent="0" marL="0">
              <a:lnSpc>
                <a:spcPct val="105000"/>
              </a:lnSpc>
              <a:buNone/>
            </a:pPr>
            <a:r>
              <a:rPr lang="ar-SA" altLang="en-US" sz="1200" dirty="0">
                <a:solidFill>
                  <a:srgbClr val="A9B7DA"/>
                </a:solidFill>
                <a:latin typeface="IBM Plex Sans Arabic" pitchFamily="34" charset="0"/>
                <a:ea typeface="IBM Plex Sans Arabic" pitchFamily="34" charset="-122"/>
                <a:cs typeface="IBM Plex Sans Arabic" pitchFamily="34" charset="-120"/>
              </a:rPr>
              <a:t>High · Medium · Low · Not Scorable</a:t>
            </a:r>
            <a:endParaRPr lang="ar-SA" sz="1200" dirty="0"/>
          </a:p>
        </p:txBody>
      </p:sp>
      <p:sp>
        <p:nvSpPr>
          <p:cNvPr id="32" name="Shape 25"/>
          <p:cNvSpPr/>
          <p:nvPr/>
        </p:nvSpPr>
        <p:spPr>
          <a:xfrm>
            <a:off x="1260318" y="1920240"/>
            <a:ext cx="868680" cy="868680"/>
          </a:xfrm>
          <a:prstGeom prst="ellipse">
            <a:avLst/>
          </a:prstGeom>
          <a:solidFill>
            <a:srgbClr val="1F6FEB"/>
          </a:solidFill>
          <a:ln w="19050">
            <a:solidFill>
              <a:srgbClr val="3EE0F5"/>
            </a:solidFill>
            <a:prstDash val="solid"/>
          </a:ln>
        </p:spPr>
      </p:sp>
      <p:pic>
        <p:nvPicPr>
          <p:cNvPr id="33" name="Image 5" descr="preencoded.png">    </p:cNvPr>
          <p:cNvPicPr>
            <a:picLocks noChangeAspect="1"/>
          </p:cNvPicPr>
          <p:nvPr/>
        </p:nvPicPr>
        <p:blipFill>
          <a:blip r:embed="rId7"/>
          <a:stretch>
            <a:fillRect/>
          </a:stretch>
        </p:blipFill>
        <p:spPr>
          <a:xfrm>
            <a:off x="1486174" y="2146097"/>
            <a:ext cx="416966" cy="416966"/>
          </a:xfrm>
          <a:prstGeom prst="rect">
            <a:avLst/>
          </a:prstGeom>
        </p:spPr>
      </p:pic>
      <p:sp>
        <p:nvSpPr>
          <p:cNvPr id="34" name="Text 26"/>
          <p:cNvSpPr txBox="1"/>
          <p:nvPr/>
        </p:nvSpPr>
        <p:spPr>
          <a:xfrm>
            <a:off x="685800" y="2926080"/>
            <a:ext cx="2017715" cy="329184"/>
          </a:xfrm>
          <a:prstGeom prst="rect">
            <a:avLst/>
          </a:prstGeom>
          <a:noFill/>
          <a:ln/>
        </p:spPr>
        <p:txBody>
          <a:bodyPr wrap="square" lIns="0" tIns="0" rIns="0" bIns="0" rtlCol="0" anchor="t"/>
          <a:lstStyle/>
          <a:p>
            <a:pPr rtl="1" algn="ctr" indent="0" marL="0">
              <a:buNone/>
            </a:pPr>
            <a:r>
              <a:rPr lang="ar-SA" altLang="en-US" sz="1550" b="1" dirty="0">
                <a:solidFill>
                  <a:srgbClr val="F3F6FD"/>
                </a:solidFill>
                <a:latin typeface="IBM Plex Sans Arabic" pitchFamily="34" charset="0"/>
                <a:ea typeface="IBM Plex Sans Arabic" pitchFamily="34" charset="-122"/>
                <a:cs typeface="IBM Plex Sans Arabic" pitchFamily="34" charset="-120"/>
              </a:rPr>
              <a:t>قرار بشري</a:t>
            </a:r>
            <a:endParaRPr lang="ar-SA" sz="1550" dirty="0"/>
          </a:p>
        </p:txBody>
      </p:sp>
      <p:sp>
        <p:nvSpPr>
          <p:cNvPr id="35" name="Text 27"/>
          <p:cNvSpPr txBox="1"/>
          <p:nvPr/>
        </p:nvSpPr>
        <p:spPr>
          <a:xfrm>
            <a:off x="685800" y="3246120"/>
            <a:ext cx="2017715" cy="237744"/>
          </a:xfrm>
          <a:prstGeom prst="rect">
            <a:avLst/>
          </a:prstGeom>
          <a:noFill/>
          <a:ln/>
        </p:spPr>
        <p:txBody>
          <a:bodyPr wrap="square" lIns="0" tIns="0" rIns="0" bIns="0" rtlCol="0" anchor="t"/>
          <a:lstStyle/>
          <a:p>
            <a:pPr rtl="1" algn="ctr" indent="0" marL="0">
              <a:buNone/>
            </a:pPr>
            <a:r>
              <a:rPr lang="ar-SA" altLang="en-US" sz="1100" b="1" dirty="0">
                <a:solidFill>
                  <a:srgbClr val="3EE0F5"/>
                </a:solidFill>
                <a:latin typeface="IBM Plex Sans Arabic" pitchFamily="34" charset="0"/>
                <a:ea typeface="IBM Plex Sans Arabic" pitchFamily="34" charset="-122"/>
                <a:cs typeface="IBM Plex Sans Arabic" pitchFamily="34" charset="-120"/>
              </a:rPr>
              <a:t>Human Decision</a:t>
            </a:r>
            <a:endParaRPr lang="ar-SA" sz="1100" dirty="0"/>
          </a:p>
        </p:txBody>
      </p:sp>
      <p:sp>
        <p:nvSpPr>
          <p:cNvPr id="36" name="Text 28"/>
          <p:cNvSpPr txBox="1"/>
          <p:nvPr/>
        </p:nvSpPr>
        <p:spPr>
          <a:xfrm>
            <a:off x="704088" y="3520440"/>
            <a:ext cx="1981139" cy="685800"/>
          </a:xfrm>
          <a:prstGeom prst="rect">
            <a:avLst/>
          </a:prstGeom>
          <a:noFill/>
          <a:ln/>
        </p:spPr>
        <p:txBody>
          <a:bodyPr wrap="square" lIns="0" tIns="0" rIns="0" bIns="0" rtlCol="0" anchor="t"/>
          <a:lstStyle/>
          <a:p>
            <a:pPr rtl="1" algn="ctr" indent="0" marL="0">
              <a:lnSpc>
                <a:spcPct val="105000"/>
              </a:lnSpc>
              <a:buNone/>
            </a:pPr>
            <a:r>
              <a:rPr lang="ar-SA" altLang="en-US" sz="1200" dirty="0">
                <a:solidFill>
                  <a:srgbClr val="A9B7DA"/>
                </a:solidFill>
                <a:latin typeface="IBM Plex Sans Arabic" pitchFamily="34" charset="0"/>
                <a:ea typeface="IBM Plex Sans Arabic" pitchFamily="34" charset="-122"/>
                <a:cs typeface="IBM Plex Sans Arabic" pitchFamily="34" charset="-120"/>
              </a:rPr>
              <a:t>قبول · رفض · طلب أدلة إضافية</a:t>
            </a:r>
            <a:endParaRPr lang="ar-SA" sz="1200" dirty="0"/>
          </a:p>
        </p:txBody>
      </p:sp>
      <p:sp>
        <p:nvSpPr>
          <p:cNvPr id="37" name="Shape 29"/>
          <p:cNvSpPr/>
          <p:nvPr/>
        </p:nvSpPr>
        <p:spPr>
          <a:xfrm>
            <a:off x="5562295" y="4526280"/>
            <a:ext cx="6035040" cy="1600200"/>
          </a:xfrm>
          <a:prstGeom prst="roundRect">
            <a:avLst>
              <a:gd name="adj" fmla="val 8000"/>
            </a:avLst>
          </a:prstGeom>
          <a:solidFill>
            <a:srgbClr val="0B1634"/>
          </a:solidFill>
          <a:ln w="9525">
            <a:solidFill>
              <a:srgbClr val="1E3570"/>
            </a:solidFill>
            <a:prstDash val="solid"/>
          </a:ln>
        </p:spPr>
      </p:sp>
      <p:sp>
        <p:nvSpPr>
          <p:cNvPr id="38" name="Text 30"/>
          <p:cNvSpPr txBox="1"/>
          <p:nvPr/>
        </p:nvSpPr>
        <p:spPr>
          <a:xfrm>
            <a:off x="5836615" y="4690872"/>
            <a:ext cx="5486400" cy="292608"/>
          </a:xfrm>
          <a:prstGeom prst="rect">
            <a:avLst/>
          </a:prstGeom>
          <a:noFill/>
          <a:ln/>
        </p:spPr>
        <p:txBody>
          <a:bodyPr wrap="square" lIns="0" tIns="0" rIns="0" bIns="0" rtlCol="0" anchor="t"/>
          <a:lstStyle/>
          <a:p>
            <a:pPr rtl="1" algn="r" indent="0" marL="0">
              <a:buNone/>
            </a:pPr>
            <a:r>
              <a:rPr lang="ar-SA" altLang="en-US" sz="1400" b="1" dirty="0">
                <a:solidFill>
                  <a:srgbClr val="3EE0F5"/>
                </a:solidFill>
                <a:latin typeface="IBM Plex Sans Arabic" pitchFamily="34" charset="0"/>
                <a:ea typeface="IBM Plex Sans Arabic" pitchFamily="34" charset="-122"/>
                <a:cs typeface="IBM Plex Sans Arabic" pitchFamily="34" charset="-120"/>
              </a:rPr>
              <a:t>قواعد غير قابلة للتفاوض</a:t>
            </a:r>
            <a:endParaRPr lang="ar-SA" sz="1400" dirty="0"/>
          </a:p>
        </p:txBody>
      </p:sp>
      <p:sp>
        <p:nvSpPr>
          <p:cNvPr id="39" name="Text 31"/>
          <p:cNvSpPr txBox="1"/>
          <p:nvPr/>
        </p:nvSpPr>
        <p:spPr>
          <a:xfrm>
            <a:off x="5836615" y="5029200"/>
            <a:ext cx="5486400" cy="1051560"/>
          </a:xfrm>
          <a:prstGeom prst="rect">
            <a:avLst/>
          </a:prstGeom>
          <a:noFill/>
          <a:ln/>
        </p:spPr>
        <p:txBody>
          <a:bodyPr wrap="square" lIns="0" tIns="0" rIns="0" bIns="0" rtlCol="0" anchor="t"/>
          <a:lstStyle/>
          <a:p>
            <a:pPr rtl="1" algn="r" marL="177800" indent="-177800">
              <a:spcAft>
                <a:spcPts val="300"/>
              </a:spcAft>
              <a:buSzPct val="100000"/>
              <a:buChar char="●"/>
            </a:pPr>
            <a:r>
              <a:rPr lang="ar-SA" altLang="en-US" sz="1300" dirty="0">
                <a:solidFill>
                  <a:srgbClr val="F3F6FD"/>
                </a:solidFill>
                <a:latin typeface="IBM Plex Sans Arabic" pitchFamily="34" charset="0"/>
                <a:ea typeface="IBM Plex Sans Arabic" pitchFamily="34" charset="-122"/>
                <a:cs typeface="IBM Plex Sans Arabic" pitchFamily="34" charset="-120"/>
              </a:rPr>
              <a:t>كل AI Output مؤثّر: Structured · Versioned · Validated · Traceable</a:t>
            </a:r>
            <a:endParaRPr lang="ar-SA" sz="1300" dirty="0"/>
          </a:p>
          <a:p>
            <a:pPr rtl="1" algn="r" marL="177800" indent="-177800">
              <a:spcAft>
                <a:spcPts val="300"/>
              </a:spcAft>
              <a:buSzPct val="100000"/>
              <a:buChar char="●"/>
            </a:pPr>
            <a:r>
              <a:rPr lang="ar-SA" altLang="en-US" sz="1300" dirty="0">
                <a:solidFill>
                  <a:srgbClr val="F3F6FD"/>
                </a:solidFill>
                <a:latin typeface="IBM Plex Sans Arabic" pitchFamily="34" charset="0"/>
                <a:ea typeface="IBM Plex Sans Arabic" pitchFamily="34" charset="-122"/>
                <a:cs typeface="IBM Plex Sans Arabic" pitchFamily="34" charset="-120"/>
              </a:rPr>
              <a:t>لا ادّعاء سببي من مجرد Correlation</a:t>
            </a:r>
            <a:endParaRPr lang="ar-SA" sz="1300" dirty="0"/>
          </a:p>
          <a:p>
            <a:pPr rtl="1" algn="r" marL="177800" indent="-177800">
              <a:spcAft>
                <a:spcPts val="300"/>
              </a:spcAft>
              <a:buSzPct val="100000"/>
              <a:buChar char="●"/>
            </a:pPr>
            <a:r>
              <a:rPr lang="ar-SA" altLang="en-US" sz="1300" dirty="0">
                <a:solidFill>
                  <a:srgbClr val="F3F6FD"/>
                </a:solidFill>
                <a:latin typeface="IBM Plex Sans Arabic" pitchFamily="34" charset="0"/>
                <a:ea typeface="IBM Plex Sans Arabic" pitchFamily="34" charset="-122"/>
                <a:cs typeface="IBM Plex Sans Arabic" pitchFamily="34" charset="-120"/>
              </a:rPr>
              <a:t>بيانات غير كافية = Not Scorable، لا توصية وهمية</a:t>
            </a:r>
            <a:endParaRPr lang="ar-SA" sz="1300" dirty="0"/>
          </a:p>
          <a:p>
            <a:pPr rtl="1" algn="r" marL="177800" indent="-177800">
              <a:spcAft>
                <a:spcPts val="300"/>
              </a:spcAft>
              <a:buSzPct val="100000"/>
              <a:buChar char="●"/>
            </a:pPr>
            <a:r>
              <a:rPr lang="ar-SA" altLang="en-US" sz="1300" dirty="0">
                <a:solidFill>
                  <a:srgbClr val="F3F6FD"/>
                </a:solidFill>
                <a:latin typeface="IBM Plex Sans Arabic" pitchFamily="34" charset="0"/>
                <a:ea typeface="IBM Plex Sans Arabic" pitchFamily="34" charset="-122"/>
                <a:cs typeface="IBM Plex Sans Arabic" pitchFamily="34" charset="-120"/>
              </a:rPr>
              <a:t>لا قرار توظيف آلي — Human Review إلزامي</a:t>
            </a:r>
            <a:endParaRPr lang="ar-SA" sz="1300" dirty="0"/>
          </a:p>
        </p:txBody>
      </p:sp>
      <p:sp>
        <p:nvSpPr>
          <p:cNvPr id="40" name="Shape 32"/>
          <p:cNvSpPr/>
          <p:nvPr/>
        </p:nvSpPr>
        <p:spPr>
          <a:xfrm>
            <a:off x="594360" y="4526280"/>
            <a:ext cx="4693615" cy="1600200"/>
          </a:xfrm>
          <a:prstGeom prst="roundRect">
            <a:avLst>
              <a:gd name="adj" fmla="val 8000"/>
            </a:avLst>
          </a:prstGeom>
          <a:solidFill>
            <a:srgbClr val="0B1634"/>
          </a:solidFill>
          <a:ln w="9525">
            <a:solidFill>
              <a:srgbClr val="1E3570"/>
            </a:solidFill>
            <a:prstDash val="solid"/>
          </a:ln>
        </p:spPr>
      </p:sp>
      <p:sp>
        <p:nvSpPr>
          <p:cNvPr id="41" name="Text 33"/>
          <p:cNvSpPr txBox="1"/>
          <p:nvPr/>
        </p:nvSpPr>
        <p:spPr>
          <a:xfrm>
            <a:off x="822960" y="4690872"/>
            <a:ext cx="4236415" cy="292608"/>
          </a:xfrm>
          <a:prstGeom prst="rect">
            <a:avLst/>
          </a:prstGeom>
          <a:noFill/>
          <a:ln/>
        </p:spPr>
        <p:txBody>
          <a:bodyPr wrap="square" lIns="0" tIns="0" rIns="0" bIns="0" rtlCol="0" anchor="t"/>
          <a:lstStyle/>
          <a:p>
            <a:pPr rtl="1" algn="r" indent="0" marL="0">
              <a:buNone/>
            </a:pPr>
            <a:r>
              <a:rPr lang="ar-SA" altLang="en-US" sz="1400" b="1" dirty="0">
                <a:solidFill>
                  <a:srgbClr val="3EE0F5"/>
                </a:solidFill>
                <a:latin typeface="IBM Plex Sans Arabic" pitchFamily="34" charset="0"/>
                <a:ea typeface="IBM Plex Sans Arabic" pitchFamily="34" charset="-122"/>
                <a:cs typeface="IBM Plex Sans Arabic" pitchFamily="34" charset="-120"/>
              </a:rPr>
              <a:t>Confidence </a:t>
            </a:r>
            <a:pPr rtl="1" algn="r" indent="0" marL="0">
              <a:buNone/>
            </a:pPr>
            <a:r>
              <a:rPr lang="ar-SA" altLang="en-US" sz="1400" b="1" dirty="0">
                <a:solidFill>
                  <a:srgbClr val="F3F6FD"/>
                </a:solidFill>
                <a:latin typeface="IBM Plex Sans Arabic" pitchFamily="34" charset="0"/>
                <a:ea typeface="IBM Plex Sans Arabic" pitchFamily="34" charset="-122"/>
                <a:cs typeface="IBM Plex Sans Arabic" pitchFamily="34" charset="-120"/>
              </a:rPr>
              <a:t>= موثوقية الدليل، لا جودة الشخص</a:t>
            </a:r>
            <a:endParaRPr lang="ar-SA" sz="1400" dirty="0"/>
          </a:p>
        </p:txBody>
      </p:sp>
      <p:sp>
        <p:nvSpPr>
          <p:cNvPr id="42" name="Shape 34"/>
          <p:cNvSpPr/>
          <p:nvPr/>
        </p:nvSpPr>
        <p:spPr>
          <a:xfrm>
            <a:off x="4082567" y="5120640"/>
            <a:ext cx="976808" cy="868680"/>
          </a:xfrm>
          <a:prstGeom prst="roundRect">
            <a:avLst>
              <a:gd name="adj" fmla="val 14737"/>
            </a:avLst>
          </a:prstGeom>
          <a:solidFill>
            <a:srgbClr val="050B1E"/>
          </a:solidFill>
          <a:ln w="12700">
            <a:solidFill>
              <a:srgbClr val="3EE0F5"/>
            </a:solidFill>
            <a:prstDash val="solid"/>
          </a:ln>
        </p:spPr>
      </p:sp>
      <p:sp>
        <p:nvSpPr>
          <p:cNvPr id="43" name="Text 35"/>
          <p:cNvSpPr txBox="1"/>
          <p:nvPr/>
        </p:nvSpPr>
        <p:spPr>
          <a:xfrm>
            <a:off x="4082567" y="5184648"/>
            <a:ext cx="976808" cy="274320"/>
          </a:xfrm>
          <a:prstGeom prst="rect">
            <a:avLst/>
          </a:prstGeom>
          <a:noFill/>
          <a:ln/>
        </p:spPr>
        <p:txBody>
          <a:bodyPr wrap="square" lIns="0" tIns="0" rIns="0" bIns="0" rtlCol="0" anchor="t"/>
          <a:lstStyle/>
          <a:p>
            <a:pPr algn="ctr" indent="0" marL="0">
              <a:buNone/>
            </a:pPr>
            <a:r>
              <a:rPr lang="ar-SA" altLang="en-US" sz="1150" b="1" dirty="0">
                <a:solidFill>
                  <a:srgbClr val="3EE0F5"/>
                </a:solidFill>
                <a:latin typeface="IBM Plex Sans Arabic" pitchFamily="34" charset="0"/>
                <a:ea typeface="IBM Plex Sans Arabic" pitchFamily="34" charset="-122"/>
                <a:cs typeface="IBM Plex Sans Arabic" pitchFamily="34" charset="-120"/>
              </a:rPr>
              <a:t>High</a:t>
            </a:r>
            <a:endParaRPr lang="ar-SA" sz="1150" dirty="0"/>
          </a:p>
        </p:txBody>
      </p:sp>
      <p:sp>
        <p:nvSpPr>
          <p:cNvPr id="44" name="Text 36"/>
          <p:cNvSpPr txBox="1"/>
          <p:nvPr/>
        </p:nvSpPr>
        <p:spPr>
          <a:xfrm>
            <a:off x="4137431" y="5468112"/>
            <a:ext cx="867080" cy="475488"/>
          </a:xfrm>
          <a:prstGeom prst="rect">
            <a:avLst/>
          </a:prstGeom>
          <a:noFill/>
          <a:ln/>
        </p:spPr>
        <p:txBody>
          <a:bodyPr wrap="square" lIns="0" tIns="0" rIns="0" bIns="0" rtlCol="0" anchor="t"/>
          <a:lstStyle/>
          <a:p>
            <a:pPr rtl="1" algn="ctr" indent="0" marL="0">
              <a:buNone/>
            </a:pPr>
            <a:r>
              <a:rPr lang="ar-SA" altLang="en-US" sz="1050" dirty="0">
                <a:solidFill>
                  <a:srgbClr val="A9B7DA"/>
                </a:solidFill>
                <a:latin typeface="IBM Plex Sans Arabic" pitchFamily="34" charset="0"/>
                <a:ea typeface="IBM Plex Sans Arabic" pitchFamily="34" charset="-122"/>
                <a:cs typeface="IBM Plex Sans Arabic" pitchFamily="34" charset="-120"/>
              </a:rPr>
              <a:t>تُعرض مع Action بعد المراجعة</a:t>
            </a:r>
            <a:endParaRPr lang="ar-SA" sz="1050" dirty="0"/>
          </a:p>
        </p:txBody>
      </p:sp>
      <p:sp>
        <p:nvSpPr>
          <p:cNvPr id="45" name="Shape 37"/>
          <p:cNvSpPr/>
          <p:nvPr/>
        </p:nvSpPr>
        <p:spPr>
          <a:xfrm>
            <a:off x="2996032" y="5120640"/>
            <a:ext cx="976808" cy="868680"/>
          </a:xfrm>
          <a:prstGeom prst="roundRect">
            <a:avLst>
              <a:gd name="adj" fmla="val 14737"/>
            </a:avLst>
          </a:prstGeom>
          <a:solidFill>
            <a:srgbClr val="050B1E"/>
          </a:solidFill>
          <a:ln w="12700">
            <a:solidFill>
              <a:srgbClr val="2AA6F7"/>
            </a:solidFill>
            <a:prstDash val="solid"/>
          </a:ln>
        </p:spPr>
      </p:sp>
      <p:sp>
        <p:nvSpPr>
          <p:cNvPr id="46" name="Text 38"/>
          <p:cNvSpPr txBox="1"/>
          <p:nvPr/>
        </p:nvSpPr>
        <p:spPr>
          <a:xfrm>
            <a:off x="2996032" y="5184648"/>
            <a:ext cx="976808" cy="274320"/>
          </a:xfrm>
          <a:prstGeom prst="rect">
            <a:avLst/>
          </a:prstGeom>
          <a:noFill/>
          <a:ln/>
        </p:spPr>
        <p:txBody>
          <a:bodyPr wrap="square" lIns="0" tIns="0" rIns="0" bIns="0" rtlCol="0" anchor="t"/>
          <a:lstStyle/>
          <a:p>
            <a:pPr algn="ctr" indent="0" marL="0">
              <a:buNone/>
            </a:pPr>
            <a:r>
              <a:rPr lang="ar-SA" altLang="en-US" sz="1150" b="1" dirty="0">
                <a:solidFill>
                  <a:srgbClr val="2AA6F7"/>
                </a:solidFill>
                <a:latin typeface="IBM Plex Sans Arabic" pitchFamily="34" charset="0"/>
                <a:ea typeface="IBM Plex Sans Arabic" pitchFamily="34" charset="-122"/>
                <a:cs typeface="IBM Plex Sans Arabic" pitchFamily="34" charset="-120"/>
              </a:rPr>
              <a:t>Medium</a:t>
            </a:r>
            <a:endParaRPr lang="ar-SA" sz="1150" dirty="0"/>
          </a:p>
        </p:txBody>
      </p:sp>
      <p:sp>
        <p:nvSpPr>
          <p:cNvPr id="47" name="Text 39"/>
          <p:cNvSpPr txBox="1"/>
          <p:nvPr/>
        </p:nvSpPr>
        <p:spPr>
          <a:xfrm>
            <a:off x="3050896" y="5468112"/>
            <a:ext cx="867080" cy="475488"/>
          </a:xfrm>
          <a:prstGeom prst="rect">
            <a:avLst/>
          </a:prstGeom>
          <a:noFill/>
          <a:ln/>
        </p:spPr>
        <p:txBody>
          <a:bodyPr wrap="square" lIns="0" tIns="0" rIns="0" bIns="0" rtlCol="0" anchor="t"/>
          <a:lstStyle/>
          <a:p>
            <a:pPr rtl="1" algn="ctr" indent="0" marL="0">
              <a:buNone/>
            </a:pPr>
            <a:r>
              <a:rPr lang="ar-SA" altLang="en-US" sz="1050" dirty="0">
                <a:solidFill>
                  <a:srgbClr val="A9B7DA"/>
                </a:solidFill>
                <a:latin typeface="IBM Plex Sans Arabic" pitchFamily="34" charset="0"/>
                <a:ea typeface="IBM Plex Sans Arabic" pitchFamily="34" charset="-122"/>
                <a:cs typeface="IBM Plex Sans Arabic" pitchFamily="34" charset="-120"/>
              </a:rPr>
              <a:t>تُعرض مع القيود</a:t>
            </a:r>
            <a:endParaRPr lang="ar-SA" sz="1050" dirty="0"/>
          </a:p>
        </p:txBody>
      </p:sp>
      <p:sp>
        <p:nvSpPr>
          <p:cNvPr id="48" name="Shape 40"/>
          <p:cNvSpPr/>
          <p:nvPr/>
        </p:nvSpPr>
        <p:spPr>
          <a:xfrm>
            <a:off x="1909496" y="5120640"/>
            <a:ext cx="976808" cy="868680"/>
          </a:xfrm>
          <a:prstGeom prst="roundRect">
            <a:avLst>
              <a:gd name="adj" fmla="val 14737"/>
            </a:avLst>
          </a:prstGeom>
          <a:solidFill>
            <a:srgbClr val="050B1E"/>
          </a:solidFill>
          <a:ln w="12700">
            <a:solidFill>
              <a:srgbClr val="1F6FEB"/>
            </a:solidFill>
            <a:prstDash val="solid"/>
          </a:ln>
        </p:spPr>
      </p:sp>
      <p:sp>
        <p:nvSpPr>
          <p:cNvPr id="49" name="Text 41"/>
          <p:cNvSpPr txBox="1"/>
          <p:nvPr/>
        </p:nvSpPr>
        <p:spPr>
          <a:xfrm>
            <a:off x="1909496" y="5184648"/>
            <a:ext cx="976808" cy="274320"/>
          </a:xfrm>
          <a:prstGeom prst="rect">
            <a:avLst/>
          </a:prstGeom>
          <a:noFill/>
          <a:ln/>
        </p:spPr>
        <p:txBody>
          <a:bodyPr wrap="square" lIns="0" tIns="0" rIns="0" bIns="0" rtlCol="0" anchor="t"/>
          <a:lstStyle/>
          <a:p>
            <a:pPr algn="ctr" indent="0" marL="0">
              <a:buNone/>
            </a:pPr>
            <a:r>
              <a:rPr lang="ar-SA" altLang="en-US" sz="1150" b="1" dirty="0">
                <a:solidFill>
                  <a:srgbClr val="1F6FEB"/>
                </a:solidFill>
                <a:latin typeface="IBM Plex Sans Arabic" pitchFamily="34" charset="0"/>
                <a:ea typeface="IBM Plex Sans Arabic" pitchFamily="34" charset="-122"/>
                <a:cs typeface="IBM Plex Sans Arabic" pitchFamily="34" charset="-120"/>
              </a:rPr>
              <a:t>Low</a:t>
            </a:r>
            <a:endParaRPr lang="ar-SA" sz="1150" dirty="0"/>
          </a:p>
        </p:txBody>
      </p:sp>
      <p:sp>
        <p:nvSpPr>
          <p:cNvPr id="50" name="Text 42"/>
          <p:cNvSpPr txBox="1"/>
          <p:nvPr/>
        </p:nvSpPr>
        <p:spPr>
          <a:xfrm>
            <a:off x="1964360" y="5468112"/>
            <a:ext cx="867080" cy="475488"/>
          </a:xfrm>
          <a:prstGeom prst="rect">
            <a:avLst/>
          </a:prstGeom>
          <a:noFill/>
          <a:ln/>
        </p:spPr>
        <p:txBody>
          <a:bodyPr wrap="square" lIns="0" tIns="0" rIns="0" bIns="0" rtlCol="0" anchor="t"/>
          <a:lstStyle/>
          <a:p>
            <a:pPr rtl="1" algn="ctr" indent="0" marL="0">
              <a:buNone/>
            </a:pPr>
            <a:r>
              <a:rPr lang="ar-SA" altLang="en-US" sz="1050" dirty="0">
                <a:solidFill>
                  <a:srgbClr val="A9B7DA"/>
                </a:solidFill>
                <a:latin typeface="IBM Plex Sans Arabic" pitchFamily="34" charset="0"/>
                <a:ea typeface="IBM Plex Sans Arabic" pitchFamily="34" charset="-122"/>
                <a:cs typeface="IBM Plex Sans Arabic" pitchFamily="34" charset="-120"/>
              </a:rPr>
              <a:t>لا تغيير مباشر</a:t>
            </a:r>
            <a:endParaRPr lang="ar-SA" sz="1050" dirty="0"/>
          </a:p>
        </p:txBody>
      </p:sp>
      <p:sp>
        <p:nvSpPr>
          <p:cNvPr id="51" name="Shape 43"/>
          <p:cNvSpPr/>
          <p:nvPr/>
        </p:nvSpPr>
        <p:spPr>
          <a:xfrm>
            <a:off x="822960" y="5120640"/>
            <a:ext cx="976808" cy="868680"/>
          </a:xfrm>
          <a:prstGeom prst="roundRect">
            <a:avLst>
              <a:gd name="adj" fmla="val 14737"/>
            </a:avLst>
          </a:prstGeom>
          <a:solidFill>
            <a:srgbClr val="050B1E"/>
          </a:solidFill>
          <a:ln w="12700">
            <a:solidFill>
              <a:srgbClr val="6E7FAA"/>
            </a:solidFill>
            <a:prstDash val="solid"/>
          </a:ln>
        </p:spPr>
      </p:sp>
      <p:sp>
        <p:nvSpPr>
          <p:cNvPr id="52" name="Text 44"/>
          <p:cNvSpPr txBox="1"/>
          <p:nvPr/>
        </p:nvSpPr>
        <p:spPr>
          <a:xfrm>
            <a:off x="822960" y="5184648"/>
            <a:ext cx="976808" cy="274320"/>
          </a:xfrm>
          <a:prstGeom prst="rect">
            <a:avLst/>
          </a:prstGeom>
          <a:noFill/>
          <a:ln/>
        </p:spPr>
        <p:txBody>
          <a:bodyPr wrap="square" lIns="0" tIns="0" rIns="0" bIns="0" rtlCol="0" anchor="t"/>
          <a:lstStyle/>
          <a:p>
            <a:pPr algn="ctr" indent="0" marL="0">
              <a:buNone/>
            </a:pPr>
            <a:r>
              <a:rPr lang="ar-SA" altLang="en-US" sz="1150" b="1" dirty="0">
                <a:solidFill>
                  <a:srgbClr val="6E7FAA"/>
                </a:solidFill>
                <a:latin typeface="IBM Plex Sans Arabic" pitchFamily="34" charset="0"/>
                <a:ea typeface="IBM Plex Sans Arabic" pitchFamily="34" charset="-122"/>
                <a:cs typeface="IBM Plex Sans Arabic" pitchFamily="34" charset="-120"/>
              </a:rPr>
              <a:t>Not Scorable</a:t>
            </a:r>
            <a:endParaRPr lang="ar-SA" sz="1150" dirty="0"/>
          </a:p>
        </p:txBody>
      </p:sp>
      <p:sp>
        <p:nvSpPr>
          <p:cNvPr id="53" name="Text 45"/>
          <p:cNvSpPr txBox="1"/>
          <p:nvPr/>
        </p:nvSpPr>
        <p:spPr>
          <a:xfrm>
            <a:off x="877824" y="5468112"/>
            <a:ext cx="867080" cy="475488"/>
          </a:xfrm>
          <a:prstGeom prst="rect">
            <a:avLst/>
          </a:prstGeom>
          <a:noFill/>
          <a:ln/>
        </p:spPr>
        <p:txBody>
          <a:bodyPr wrap="square" lIns="0" tIns="0" rIns="0" bIns="0" rtlCol="0" anchor="t"/>
          <a:lstStyle/>
          <a:p>
            <a:pPr rtl="1" algn="ctr" indent="0" marL="0">
              <a:buNone/>
            </a:pPr>
            <a:r>
              <a:rPr lang="ar-SA" altLang="en-US" sz="1050" dirty="0">
                <a:solidFill>
                  <a:srgbClr val="A9B7DA"/>
                </a:solidFill>
                <a:latin typeface="IBM Plex Sans Arabic" pitchFamily="34" charset="0"/>
                <a:ea typeface="IBM Plex Sans Arabic" pitchFamily="34" charset="-122"/>
                <a:cs typeface="IBM Plex Sans Arabic" pitchFamily="34" charset="-120"/>
              </a:rPr>
              <a:t>لا استنتاج</a:t>
            </a:r>
            <a:endParaRPr lang="ar-SA"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508760" y="457200"/>
            <a:ext cx="10088575" cy="274320"/>
          </a:xfrm>
          <a:prstGeom prst="rect">
            <a:avLst/>
          </a:prstGeom>
          <a:noFill/>
          <a:ln/>
        </p:spPr>
        <p:txBody>
          <a:bodyPr wrap="square" lIns="0" tIns="0" rIns="0" bIns="0" rtlCol="0" anchor="t"/>
          <a:lstStyle/>
          <a:p>
            <a:pPr rtl="1" algn="r" indent="0" marL="0">
              <a:buNone/>
            </a:pPr>
            <a:r>
              <a:rPr lang="ar-SA" altLang="en-US" sz="1200" b="1" spc="100" kern="0" dirty="0">
                <a:solidFill>
                  <a:srgbClr val="3EE0F5"/>
                </a:solidFill>
                <a:latin typeface="IBM Plex Sans Arabic" pitchFamily="34" charset="0"/>
                <a:ea typeface="IBM Plex Sans Arabic" pitchFamily="34" charset="-122"/>
                <a:cs typeface="IBM Plex Sans Arabic" pitchFamily="34" charset="-120"/>
              </a:rPr>
              <a:t>06  ·  MVP — ماذا سنبني أولًا؟</a:t>
            </a:r>
            <a:endParaRPr lang="ar-SA" sz="1200" dirty="0"/>
          </a:p>
        </p:txBody>
      </p:sp>
      <p:sp>
        <p:nvSpPr>
          <p:cNvPr id="3" name="Text 1"/>
          <p:cNvSpPr txBox="1"/>
          <p:nvPr/>
        </p:nvSpPr>
        <p:spPr>
          <a:xfrm>
            <a:off x="1508760" y="731520"/>
            <a:ext cx="10088575" cy="640080"/>
          </a:xfrm>
          <a:prstGeom prst="rect">
            <a:avLst/>
          </a:prstGeom>
          <a:noFill/>
          <a:ln/>
        </p:spPr>
        <p:txBody>
          <a:bodyPr wrap="square" lIns="0" tIns="0" rIns="0" bIns="0" rtlCol="0" anchor="t"/>
          <a:lstStyle/>
          <a:p>
            <a:pPr rtl="1" algn="r" indent="0" marL="0">
              <a:buNone/>
            </a:pPr>
            <a:r>
              <a:rPr lang="ar-SA" altLang="en-US" sz="3200" b="1" dirty="0">
                <a:solidFill>
                  <a:srgbClr val="F3F6FD"/>
                </a:solidFill>
                <a:latin typeface="IBM Plex Sans Arabic" pitchFamily="34" charset="0"/>
                <a:ea typeface="IBM Plex Sans Arabic" pitchFamily="34" charset="-122"/>
                <a:cs typeface="IBM Plex Sans Arabic" pitchFamily="34" charset="-120"/>
              </a:rPr>
              <a:t>النسخة الأولى: NestHire Calibration Audit</a:t>
            </a:r>
            <a:endParaRPr lang="ar-SA" sz="3200" dirty="0"/>
          </a:p>
        </p:txBody>
      </p:sp>
      <p:pic>
        <p:nvPicPr>
          <p:cNvPr id="4" name="Image 0" descr="/tmp/claude-0/-home-user-ghassankmiqdad/d1991e4f-aee0-5e68-9a9d-3fc00accdf9d/scratchpad/build/assets/mark_sm.png">    </p:cNvPr>
          <p:cNvPicPr>
            <a:picLocks noChangeAspect="1"/>
          </p:cNvPicPr>
          <p:nvPr/>
        </p:nvPicPr>
        <p:blipFill>
          <a:blip r:embed="rId2"/>
          <a:stretch>
            <a:fillRect/>
          </a:stretch>
        </p:blipFill>
        <p:spPr>
          <a:xfrm>
            <a:off x="594360" y="475488"/>
            <a:ext cx="566928" cy="443515"/>
          </a:xfrm>
          <a:prstGeom prst="rect">
            <a:avLst/>
          </a:prstGeom>
        </p:spPr>
      </p:pic>
      <p:sp>
        <p:nvSpPr>
          <p:cNvPr id="5" name="Text 2"/>
          <p:cNvSpPr txBox="1"/>
          <p:nvPr/>
        </p:nvSpPr>
        <p:spPr>
          <a:xfrm>
            <a:off x="7939735" y="6400800"/>
            <a:ext cx="3657600" cy="228600"/>
          </a:xfrm>
          <a:prstGeom prst="rect">
            <a:avLst/>
          </a:prstGeom>
          <a:noFill/>
          <a:ln/>
        </p:spPr>
        <p:txBody>
          <a:bodyPr wrap="square" lIns="0" tIns="0" rIns="0" bIns="0" rtlCol="0" anchor="t"/>
          <a:lstStyle/>
          <a:p>
            <a:pPr rtl="1" algn="r" indent="0" marL="0">
              <a:buNone/>
            </a:pPr>
            <a:r>
              <a:rPr lang="ar-SA" altLang="en-US" sz="900" dirty="0">
                <a:solidFill>
                  <a:srgbClr val="6E7FAA"/>
                </a:solidFill>
                <a:latin typeface="IBM Plex Sans Arabic" pitchFamily="34" charset="0"/>
                <a:ea typeface="IBM Plex Sans Arabic" pitchFamily="34" charset="-122"/>
                <a:cs typeface="IBM Plex Sans Arabic" pitchFamily="34" charset="-120"/>
              </a:rPr>
              <a:t>NestHire · اجتماع الانطلاق</a:t>
            </a:r>
            <a:endParaRPr lang="ar-SA" sz="900" dirty="0"/>
          </a:p>
        </p:txBody>
      </p:sp>
      <p:sp>
        <p:nvSpPr>
          <p:cNvPr id="6" name="Text 3"/>
          <p:cNvSpPr txBox="1"/>
          <p:nvPr/>
        </p:nvSpPr>
        <p:spPr>
          <a:xfrm>
            <a:off x="594360" y="6400800"/>
            <a:ext cx="1097280" cy="228600"/>
          </a:xfrm>
          <a:prstGeom prst="rect">
            <a:avLst/>
          </a:prstGeom>
          <a:noFill/>
          <a:ln/>
        </p:spPr>
        <p:txBody>
          <a:bodyPr wrap="square" lIns="0" tIns="0" rIns="0" bIns="0" rtlCol="0" anchor="t"/>
          <a:lstStyle/>
          <a:p>
            <a:pPr algn="l" indent="0" marL="0">
              <a:buNone/>
            </a:pPr>
            <a:r>
              <a:rPr lang="ar-SA" altLang="en-US" sz="900" dirty="0">
                <a:solidFill>
                  <a:srgbClr val="6E7FAA"/>
                </a:solidFill>
                <a:latin typeface="IBM Plex Sans Arabic" pitchFamily="34" charset="0"/>
                <a:ea typeface="IBM Plex Sans Arabic" pitchFamily="34" charset="-122"/>
                <a:cs typeface="IBM Plex Sans Arabic" pitchFamily="34" charset="-120"/>
              </a:rPr>
              <a:t>09 / 18</a:t>
            </a:r>
            <a:endParaRPr lang="ar-SA" sz="900" dirty="0"/>
          </a:p>
        </p:txBody>
      </p:sp>
      <p:sp>
        <p:nvSpPr>
          <p:cNvPr id="7" name="Shape 4"/>
          <p:cNvSpPr/>
          <p:nvPr/>
        </p:nvSpPr>
        <p:spPr>
          <a:xfrm>
            <a:off x="594360" y="1783080"/>
            <a:ext cx="11002975" cy="1325880"/>
          </a:xfrm>
          <a:prstGeom prst="roundRect">
            <a:avLst>
              <a:gd name="adj" fmla="val 9655"/>
            </a:avLst>
          </a:prstGeom>
          <a:solidFill>
            <a:srgbClr val="0B1634"/>
          </a:solidFill>
          <a:ln w="9525">
            <a:solidFill>
              <a:srgbClr val="1E3570"/>
            </a:solidFill>
            <a:prstDash val="solid"/>
          </a:ln>
        </p:spPr>
      </p:sp>
      <p:sp>
        <p:nvSpPr>
          <p:cNvPr id="8" name="Text 5"/>
          <p:cNvSpPr txBox="1"/>
          <p:nvPr/>
        </p:nvSpPr>
        <p:spPr>
          <a:xfrm>
            <a:off x="8579815" y="1965960"/>
            <a:ext cx="2743200" cy="274320"/>
          </a:xfrm>
          <a:prstGeom prst="rect">
            <a:avLst/>
          </a:prstGeom>
          <a:noFill/>
          <a:ln/>
        </p:spPr>
        <p:txBody>
          <a:bodyPr wrap="square" lIns="0" tIns="0" rIns="0" bIns="0" rtlCol="0" anchor="t"/>
          <a:lstStyle/>
          <a:p>
            <a:pPr rtl="1" algn="r" indent="0" marL="0">
              <a:buNone/>
            </a:pPr>
            <a:r>
              <a:rPr lang="ar-SA" altLang="en-US" sz="1200" b="1" dirty="0">
                <a:solidFill>
                  <a:srgbClr val="3EE0F5"/>
                </a:solidFill>
                <a:latin typeface="IBM Plex Sans Arabic" pitchFamily="34" charset="0"/>
                <a:ea typeface="IBM Plex Sans Arabic" pitchFamily="34" charset="-122"/>
                <a:cs typeface="IBM Plex Sans Arabic" pitchFamily="34" charset="-120"/>
              </a:rPr>
              <a:t>Pilot Unit</a:t>
            </a:r>
            <a:endParaRPr lang="ar-SA" sz="1200" dirty="0"/>
          </a:p>
        </p:txBody>
      </p:sp>
      <p:sp>
        <p:nvSpPr>
          <p:cNvPr id="9" name="Text 6"/>
          <p:cNvSpPr txBox="1"/>
          <p:nvPr/>
        </p:nvSpPr>
        <p:spPr>
          <a:xfrm>
            <a:off x="7619695" y="2240280"/>
            <a:ext cx="3703320" cy="777240"/>
          </a:xfrm>
          <a:prstGeom prst="rect">
            <a:avLst/>
          </a:prstGeom>
          <a:noFill/>
          <a:ln/>
        </p:spPr>
        <p:txBody>
          <a:bodyPr wrap="square" lIns="0" tIns="0" rIns="0" bIns="0" rtlCol="0" anchor="t"/>
          <a:lstStyle/>
          <a:p>
            <a:pPr rtl="1" algn="r" indent="0" marL="0">
              <a:lnSpc>
                <a:spcPct val="105000"/>
              </a:lnSpc>
              <a:buNone/>
            </a:pPr>
            <a:r>
              <a:rPr lang="ar-SA" altLang="en-US" sz="1300" dirty="0">
                <a:solidFill>
                  <a:srgbClr val="A9B7DA"/>
                </a:solidFill>
                <a:latin typeface="IBM Plex Sans Arabic" pitchFamily="34" charset="0"/>
                <a:ea typeface="IBM Plex Sans Arabic" pitchFamily="34" charset="-122"/>
                <a:cs typeface="IBM Plex Sans Arabic" pitchFamily="34" charset="-120"/>
              </a:rPr>
              <a:t>دور واحد أو Job Family واحدة، نربط بيانات ما قبل التوظيف بنتيجة واحدة بعده، ونُخرج Calibration Report موثّقًا.</a:t>
            </a:r>
            <a:endParaRPr lang="ar-SA" sz="1300" dirty="0"/>
          </a:p>
        </p:txBody>
      </p:sp>
      <p:sp>
        <p:nvSpPr>
          <p:cNvPr id="10" name="Shape 7"/>
          <p:cNvSpPr/>
          <p:nvPr/>
        </p:nvSpPr>
        <p:spPr>
          <a:xfrm>
            <a:off x="5772607" y="1965960"/>
            <a:ext cx="1572768" cy="960120"/>
          </a:xfrm>
          <a:prstGeom prst="roundRect">
            <a:avLst>
              <a:gd name="adj" fmla="val 13333"/>
            </a:avLst>
          </a:prstGeom>
          <a:solidFill>
            <a:srgbClr val="050B1E"/>
          </a:solidFill>
          <a:ln w="9525">
            <a:solidFill>
              <a:srgbClr val="2AA6F7"/>
            </a:solidFill>
            <a:prstDash val="solid"/>
          </a:ln>
        </p:spPr>
      </p:sp>
      <p:sp>
        <p:nvSpPr>
          <p:cNvPr id="11" name="Text 8"/>
          <p:cNvSpPr txBox="1"/>
          <p:nvPr/>
        </p:nvSpPr>
        <p:spPr>
          <a:xfrm>
            <a:off x="5772607" y="1984248"/>
            <a:ext cx="1572768" cy="502920"/>
          </a:xfrm>
          <a:prstGeom prst="rect">
            <a:avLst/>
          </a:prstGeom>
          <a:noFill/>
          <a:ln/>
        </p:spPr>
        <p:txBody>
          <a:bodyPr wrap="square" lIns="0" tIns="0" rIns="0" bIns="0" rtlCol="0" anchor="t"/>
          <a:lstStyle/>
          <a:p>
            <a:pPr algn="ctr" indent="0" marL="0">
              <a:buNone/>
            </a:pPr>
            <a:r>
              <a:rPr lang="ar-SA" altLang="en-US" sz="2800" b="1" dirty="0">
                <a:solidFill>
                  <a:srgbClr val="3EE0F5"/>
                </a:solidFill>
                <a:latin typeface="IBM Plex Sans Arabic" pitchFamily="34" charset="0"/>
                <a:ea typeface="IBM Plex Sans Arabic" pitchFamily="34" charset="-122"/>
                <a:cs typeface="IBM Plex Sans Arabic" pitchFamily="34" charset="-120"/>
              </a:rPr>
              <a:t>1</a:t>
            </a:r>
            <a:endParaRPr lang="ar-SA" sz="2800" dirty="0"/>
          </a:p>
        </p:txBody>
      </p:sp>
      <p:sp>
        <p:nvSpPr>
          <p:cNvPr id="12" name="Text 9"/>
          <p:cNvSpPr txBox="1"/>
          <p:nvPr/>
        </p:nvSpPr>
        <p:spPr>
          <a:xfrm>
            <a:off x="5772607" y="2487168"/>
            <a:ext cx="1572768" cy="320040"/>
          </a:xfrm>
          <a:prstGeom prst="rect">
            <a:avLst/>
          </a:prstGeom>
          <a:noFill/>
          <a:ln/>
        </p:spPr>
        <p:txBody>
          <a:bodyPr wrap="square" lIns="0" tIns="0" rIns="0" bIns="0" rtlCol="0" anchor="t"/>
          <a:lstStyle/>
          <a:p>
            <a:pPr algn="ctr" indent="0" marL="0">
              <a:buNone/>
            </a:pPr>
            <a:r>
              <a:rPr lang="ar-SA" altLang="en-US" sz="1200" b="1" dirty="0">
                <a:solidFill>
                  <a:srgbClr val="F3F6FD"/>
                </a:solidFill>
                <a:latin typeface="IBM Plex Sans Arabic" pitchFamily="34" charset="0"/>
                <a:ea typeface="IBM Plex Sans Arabic" pitchFamily="34" charset="-122"/>
                <a:cs typeface="IBM Plex Sans Arabic" pitchFamily="34" charset="-120"/>
              </a:rPr>
              <a:t>Role</a:t>
            </a:r>
            <a:endParaRPr lang="ar-SA" sz="1200" dirty="0"/>
          </a:p>
        </p:txBody>
      </p:sp>
      <p:sp>
        <p:nvSpPr>
          <p:cNvPr id="13" name="Shape 10"/>
          <p:cNvSpPr/>
          <p:nvPr/>
        </p:nvSpPr>
        <p:spPr>
          <a:xfrm>
            <a:off x="4035247" y="1965960"/>
            <a:ext cx="1572768" cy="960120"/>
          </a:xfrm>
          <a:prstGeom prst="roundRect">
            <a:avLst>
              <a:gd name="adj" fmla="val 13333"/>
            </a:avLst>
          </a:prstGeom>
          <a:solidFill>
            <a:srgbClr val="050B1E"/>
          </a:solidFill>
          <a:ln w="9525">
            <a:solidFill>
              <a:srgbClr val="2AA6F7"/>
            </a:solidFill>
            <a:prstDash val="solid"/>
          </a:ln>
        </p:spPr>
      </p:sp>
      <p:sp>
        <p:nvSpPr>
          <p:cNvPr id="14" name="Text 11"/>
          <p:cNvSpPr txBox="1"/>
          <p:nvPr/>
        </p:nvSpPr>
        <p:spPr>
          <a:xfrm>
            <a:off x="4035247" y="1984248"/>
            <a:ext cx="1572768" cy="502920"/>
          </a:xfrm>
          <a:prstGeom prst="rect">
            <a:avLst/>
          </a:prstGeom>
          <a:noFill/>
          <a:ln/>
        </p:spPr>
        <p:txBody>
          <a:bodyPr wrap="square" lIns="0" tIns="0" rIns="0" bIns="0" rtlCol="0" anchor="t"/>
          <a:lstStyle/>
          <a:p>
            <a:pPr algn="ctr" indent="0" marL="0">
              <a:buNone/>
            </a:pPr>
            <a:r>
              <a:rPr lang="ar-SA" altLang="en-US" sz="2800" b="1" dirty="0">
                <a:solidFill>
                  <a:srgbClr val="3EE0F5"/>
                </a:solidFill>
                <a:latin typeface="IBM Plex Sans Arabic" pitchFamily="34" charset="0"/>
                <a:ea typeface="IBM Plex Sans Arabic" pitchFamily="34" charset="-122"/>
                <a:cs typeface="IBM Plex Sans Arabic" pitchFamily="34" charset="-120"/>
              </a:rPr>
              <a:t>1</a:t>
            </a:r>
            <a:endParaRPr lang="ar-SA" sz="2800" dirty="0"/>
          </a:p>
        </p:txBody>
      </p:sp>
      <p:sp>
        <p:nvSpPr>
          <p:cNvPr id="15" name="Text 12"/>
          <p:cNvSpPr txBox="1"/>
          <p:nvPr/>
        </p:nvSpPr>
        <p:spPr>
          <a:xfrm>
            <a:off x="4035247" y="2487168"/>
            <a:ext cx="1572768" cy="320040"/>
          </a:xfrm>
          <a:prstGeom prst="rect">
            <a:avLst/>
          </a:prstGeom>
          <a:noFill/>
          <a:ln/>
        </p:spPr>
        <p:txBody>
          <a:bodyPr wrap="square" lIns="0" tIns="0" rIns="0" bIns="0" rtlCol="0" anchor="t"/>
          <a:lstStyle/>
          <a:p>
            <a:pPr algn="ctr" indent="0" marL="0">
              <a:buNone/>
            </a:pPr>
            <a:r>
              <a:rPr lang="ar-SA" altLang="en-US" sz="1200" b="1" dirty="0">
                <a:solidFill>
                  <a:srgbClr val="F3F6FD"/>
                </a:solidFill>
                <a:latin typeface="IBM Plex Sans Arabic" pitchFamily="34" charset="0"/>
                <a:ea typeface="IBM Plex Sans Arabic" pitchFamily="34" charset="-122"/>
                <a:cs typeface="IBM Plex Sans Arabic" pitchFamily="34" charset="-120"/>
              </a:rPr>
              <a:t>Cohort</a:t>
            </a:r>
            <a:endParaRPr lang="ar-SA" sz="1200" dirty="0"/>
          </a:p>
        </p:txBody>
      </p:sp>
      <p:sp>
        <p:nvSpPr>
          <p:cNvPr id="16" name="Shape 13"/>
          <p:cNvSpPr/>
          <p:nvPr/>
        </p:nvSpPr>
        <p:spPr>
          <a:xfrm>
            <a:off x="2297887" y="1965960"/>
            <a:ext cx="1572768" cy="960120"/>
          </a:xfrm>
          <a:prstGeom prst="roundRect">
            <a:avLst>
              <a:gd name="adj" fmla="val 13333"/>
            </a:avLst>
          </a:prstGeom>
          <a:solidFill>
            <a:srgbClr val="050B1E"/>
          </a:solidFill>
          <a:ln w="9525">
            <a:solidFill>
              <a:srgbClr val="2AA6F7"/>
            </a:solidFill>
            <a:prstDash val="solid"/>
          </a:ln>
        </p:spPr>
      </p:sp>
      <p:sp>
        <p:nvSpPr>
          <p:cNvPr id="17" name="Text 14"/>
          <p:cNvSpPr txBox="1"/>
          <p:nvPr/>
        </p:nvSpPr>
        <p:spPr>
          <a:xfrm>
            <a:off x="2297887" y="1984248"/>
            <a:ext cx="1572768" cy="502920"/>
          </a:xfrm>
          <a:prstGeom prst="rect">
            <a:avLst/>
          </a:prstGeom>
          <a:noFill/>
          <a:ln/>
        </p:spPr>
        <p:txBody>
          <a:bodyPr wrap="square" lIns="0" tIns="0" rIns="0" bIns="0" rtlCol="0" anchor="t"/>
          <a:lstStyle/>
          <a:p>
            <a:pPr algn="ctr" indent="0" marL="0">
              <a:buNone/>
            </a:pPr>
            <a:r>
              <a:rPr lang="ar-SA" altLang="en-US" sz="2800" b="1" dirty="0">
                <a:solidFill>
                  <a:srgbClr val="3EE0F5"/>
                </a:solidFill>
                <a:latin typeface="IBM Plex Sans Arabic" pitchFamily="34" charset="0"/>
                <a:ea typeface="IBM Plex Sans Arabic" pitchFamily="34" charset="-122"/>
                <a:cs typeface="IBM Plex Sans Arabic" pitchFamily="34" charset="-120"/>
              </a:rPr>
              <a:t>1</a:t>
            </a:r>
            <a:endParaRPr lang="ar-SA" sz="2800" dirty="0"/>
          </a:p>
        </p:txBody>
      </p:sp>
      <p:sp>
        <p:nvSpPr>
          <p:cNvPr id="18" name="Text 15"/>
          <p:cNvSpPr txBox="1"/>
          <p:nvPr/>
        </p:nvSpPr>
        <p:spPr>
          <a:xfrm>
            <a:off x="2297887" y="2487168"/>
            <a:ext cx="1572768" cy="320040"/>
          </a:xfrm>
          <a:prstGeom prst="rect">
            <a:avLst/>
          </a:prstGeom>
          <a:noFill/>
          <a:ln/>
        </p:spPr>
        <p:txBody>
          <a:bodyPr wrap="square" lIns="0" tIns="0" rIns="0" bIns="0" rtlCol="0" anchor="t"/>
          <a:lstStyle/>
          <a:p>
            <a:pPr algn="ctr" indent="0" marL="0">
              <a:buNone/>
            </a:pPr>
            <a:r>
              <a:rPr lang="ar-SA" altLang="en-US" sz="1200" b="1" dirty="0">
                <a:solidFill>
                  <a:srgbClr val="F3F6FD"/>
                </a:solidFill>
                <a:latin typeface="IBM Plex Sans Arabic" pitchFamily="34" charset="0"/>
                <a:ea typeface="IBM Plex Sans Arabic" pitchFamily="34" charset="-122"/>
                <a:cs typeface="IBM Plex Sans Arabic" pitchFamily="34" charset="-120"/>
              </a:rPr>
              <a:t>Primary Outcome</a:t>
            </a:r>
            <a:endParaRPr lang="ar-SA" sz="1200" dirty="0"/>
          </a:p>
        </p:txBody>
      </p:sp>
      <p:sp>
        <p:nvSpPr>
          <p:cNvPr id="19" name="Shape 16"/>
          <p:cNvSpPr/>
          <p:nvPr/>
        </p:nvSpPr>
        <p:spPr>
          <a:xfrm>
            <a:off x="560527" y="1965960"/>
            <a:ext cx="1572768" cy="960120"/>
          </a:xfrm>
          <a:prstGeom prst="roundRect">
            <a:avLst>
              <a:gd name="adj" fmla="val 13333"/>
            </a:avLst>
          </a:prstGeom>
          <a:solidFill>
            <a:srgbClr val="050B1E"/>
          </a:solidFill>
          <a:ln w="9525">
            <a:solidFill>
              <a:srgbClr val="2AA6F7"/>
            </a:solidFill>
            <a:prstDash val="solid"/>
          </a:ln>
        </p:spPr>
      </p:sp>
      <p:sp>
        <p:nvSpPr>
          <p:cNvPr id="20" name="Text 17"/>
          <p:cNvSpPr txBox="1"/>
          <p:nvPr/>
        </p:nvSpPr>
        <p:spPr>
          <a:xfrm>
            <a:off x="560527" y="1984248"/>
            <a:ext cx="1572768" cy="502920"/>
          </a:xfrm>
          <a:prstGeom prst="rect">
            <a:avLst/>
          </a:prstGeom>
          <a:noFill/>
          <a:ln/>
        </p:spPr>
        <p:txBody>
          <a:bodyPr wrap="square" lIns="0" tIns="0" rIns="0" bIns="0" rtlCol="0" anchor="t"/>
          <a:lstStyle/>
          <a:p>
            <a:pPr algn="ctr" indent="0" marL="0">
              <a:buNone/>
            </a:pPr>
            <a:r>
              <a:rPr lang="ar-SA" altLang="en-US" sz="2800" b="1" dirty="0">
                <a:solidFill>
                  <a:srgbClr val="3EE0F5"/>
                </a:solidFill>
                <a:latin typeface="IBM Plex Sans Arabic" pitchFamily="34" charset="0"/>
                <a:ea typeface="IBM Plex Sans Arabic" pitchFamily="34" charset="-122"/>
                <a:cs typeface="IBM Plex Sans Arabic" pitchFamily="34" charset="-120"/>
              </a:rPr>
              <a:t>1</a:t>
            </a:r>
            <a:endParaRPr lang="ar-SA" sz="2800" dirty="0"/>
          </a:p>
        </p:txBody>
      </p:sp>
      <p:sp>
        <p:nvSpPr>
          <p:cNvPr id="21" name="Text 18"/>
          <p:cNvSpPr txBox="1"/>
          <p:nvPr/>
        </p:nvSpPr>
        <p:spPr>
          <a:xfrm>
            <a:off x="560527" y="2487168"/>
            <a:ext cx="1572768" cy="320040"/>
          </a:xfrm>
          <a:prstGeom prst="rect">
            <a:avLst/>
          </a:prstGeom>
          <a:noFill/>
          <a:ln/>
        </p:spPr>
        <p:txBody>
          <a:bodyPr wrap="square" lIns="0" tIns="0" rIns="0" bIns="0" rtlCol="0" anchor="t"/>
          <a:lstStyle/>
          <a:p>
            <a:pPr algn="ctr" indent="0" marL="0">
              <a:buNone/>
            </a:pPr>
            <a:r>
              <a:rPr lang="ar-SA" altLang="en-US" sz="1200" b="1" dirty="0">
                <a:solidFill>
                  <a:srgbClr val="F3F6FD"/>
                </a:solidFill>
                <a:latin typeface="IBM Plex Sans Arabic" pitchFamily="34" charset="0"/>
                <a:ea typeface="IBM Plex Sans Arabic" pitchFamily="34" charset="-122"/>
                <a:cs typeface="IBM Plex Sans Arabic" pitchFamily="34" charset="-120"/>
              </a:rPr>
              <a:t>Decision Owner</a:t>
            </a:r>
            <a:endParaRPr lang="ar-SA" sz="1200" dirty="0"/>
          </a:p>
        </p:txBody>
      </p:sp>
      <p:sp>
        <p:nvSpPr>
          <p:cNvPr id="22" name="Shape 19"/>
          <p:cNvSpPr/>
          <p:nvPr/>
        </p:nvSpPr>
        <p:spPr>
          <a:xfrm>
            <a:off x="7116775" y="3337560"/>
            <a:ext cx="4480560" cy="2788920"/>
          </a:xfrm>
          <a:prstGeom prst="roundRect">
            <a:avLst>
              <a:gd name="adj" fmla="val 4590"/>
            </a:avLst>
          </a:prstGeom>
          <a:solidFill>
            <a:srgbClr val="0C2152"/>
          </a:solidFill>
          <a:ln w="15875">
            <a:solidFill>
              <a:srgbClr val="3EE0F5"/>
            </a:solidFill>
            <a:prstDash val="solid"/>
          </a:ln>
        </p:spPr>
      </p:sp>
      <p:pic>
        <p:nvPicPr>
          <p:cNvPr id="23" name="Image 1" descr="preencoded.png">    </p:cNvPr>
          <p:cNvPicPr>
            <a:picLocks noChangeAspect="1"/>
          </p:cNvPicPr>
          <p:nvPr/>
        </p:nvPicPr>
        <p:blipFill>
          <a:blip r:embed="rId3"/>
          <a:stretch>
            <a:fillRect/>
          </a:stretch>
        </p:blipFill>
        <p:spPr>
          <a:xfrm>
            <a:off x="11030407" y="3538728"/>
            <a:ext cx="347472" cy="347472"/>
          </a:xfrm>
          <a:prstGeom prst="rect">
            <a:avLst/>
          </a:prstGeom>
        </p:spPr>
      </p:pic>
      <p:sp>
        <p:nvSpPr>
          <p:cNvPr id="24" name="Text 20"/>
          <p:cNvSpPr txBox="1"/>
          <p:nvPr/>
        </p:nvSpPr>
        <p:spPr>
          <a:xfrm>
            <a:off x="7345375" y="3520440"/>
            <a:ext cx="3566160" cy="384048"/>
          </a:xfrm>
          <a:prstGeom prst="rect">
            <a:avLst/>
          </a:prstGeom>
          <a:noFill/>
          <a:ln/>
        </p:spPr>
        <p:txBody>
          <a:bodyPr wrap="square" lIns="0" tIns="0" rIns="0" bIns="0" rtlCol="0" anchor="t"/>
          <a:lstStyle/>
          <a:p>
            <a:pPr rtl="1" algn="r" indent="0" marL="0">
              <a:buNone/>
            </a:pPr>
            <a:r>
              <a:rPr lang="ar-SA" altLang="en-US" sz="1700" b="1" dirty="0">
                <a:solidFill>
                  <a:srgbClr val="F3F6FD"/>
                </a:solidFill>
                <a:latin typeface="IBM Plex Sans Arabic" pitchFamily="34" charset="0"/>
                <a:ea typeface="IBM Plex Sans Arabic" pitchFamily="34" charset="-122"/>
                <a:cs typeface="IBM Plex Sans Arabic" pitchFamily="34" charset="-120"/>
              </a:rPr>
              <a:t>Must Have · P0</a:t>
            </a:r>
            <a:endParaRPr lang="ar-SA" sz="1700" dirty="0"/>
          </a:p>
        </p:txBody>
      </p:sp>
      <p:sp>
        <p:nvSpPr>
          <p:cNvPr id="25" name="Shape 21"/>
          <p:cNvSpPr/>
          <p:nvPr/>
        </p:nvSpPr>
        <p:spPr>
          <a:xfrm>
            <a:off x="9425635" y="4069080"/>
            <a:ext cx="1943100" cy="310896"/>
          </a:xfrm>
          <a:prstGeom prst="roundRect">
            <a:avLst>
              <a:gd name="adj" fmla="val 50000"/>
            </a:avLst>
          </a:prstGeom>
          <a:solidFill>
            <a:srgbClr val="050B1E"/>
          </a:solidFill>
          <a:ln w="9525">
            <a:solidFill>
              <a:srgbClr val="1E3570"/>
            </a:solidFill>
            <a:prstDash val="solid"/>
          </a:ln>
        </p:spPr>
      </p:sp>
      <p:sp>
        <p:nvSpPr>
          <p:cNvPr id="26" name="Text 22"/>
          <p:cNvSpPr txBox="1"/>
          <p:nvPr/>
        </p:nvSpPr>
        <p:spPr>
          <a:xfrm>
            <a:off x="9425635" y="4069080"/>
            <a:ext cx="1943100" cy="310896"/>
          </a:xfrm>
          <a:prstGeom prst="rect">
            <a:avLst/>
          </a:prstGeom>
          <a:noFill/>
          <a:ln/>
        </p:spPr>
        <p:txBody>
          <a:bodyPr wrap="square" lIns="0" tIns="0" rIns="0" bIns="0" rtlCol="0" anchor="ctr"/>
          <a:lstStyle/>
          <a:p>
            <a:pPr rtl="1" algn="ctr" indent="0" marL="0">
              <a:buNone/>
            </a:pPr>
            <a:r>
              <a:rPr lang="ar-SA" altLang="en-US" sz="1150" b="1" dirty="0">
                <a:solidFill>
                  <a:srgbClr val="F3F6FD"/>
                </a:solidFill>
                <a:latin typeface="IBM Plex Sans Arabic" pitchFamily="34" charset="0"/>
                <a:ea typeface="IBM Plex Sans Arabic" pitchFamily="34" charset="-122"/>
                <a:cs typeface="IBM Plex Sans Arabic" pitchFamily="34" charset="-120"/>
              </a:rPr>
              <a:t>Role Success</a:t>
            </a:r>
            <a:endParaRPr lang="ar-SA" sz="1150" dirty="0"/>
          </a:p>
        </p:txBody>
      </p:sp>
      <p:sp>
        <p:nvSpPr>
          <p:cNvPr id="27" name="Shape 23"/>
          <p:cNvSpPr/>
          <p:nvPr/>
        </p:nvSpPr>
        <p:spPr>
          <a:xfrm>
            <a:off x="7345375" y="4069080"/>
            <a:ext cx="1943100" cy="310896"/>
          </a:xfrm>
          <a:prstGeom prst="roundRect">
            <a:avLst>
              <a:gd name="adj" fmla="val 50000"/>
            </a:avLst>
          </a:prstGeom>
          <a:solidFill>
            <a:srgbClr val="050B1E"/>
          </a:solidFill>
          <a:ln w="9525">
            <a:solidFill>
              <a:srgbClr val="1E3570"/>
            </a:solidFill>
            <a:prstDash val="solid"/>
          </a:ln>
        </p:spPr>
      </p:sp>
      <p:sp>
        <p:nvSpPr>
          <p:cNvPr id="28" name="Text 24"/>
          <p:cNvSpPr txBox="1"/>
          <p:nvPr/>
        </p:nvSpPr>
        <p:spPr>
          <a:xfrm>
            <a:off x="7345375" y="4069080"/>
            <a:ext cx="1943100" cy="310896"/>
          </a:xfrm>
          <a:prstGeom prst="rect">
            <a:avLst/>
          </a:prstGeom>
          <a:noFill/>
          <a:ln/>
        </p:spPr>
        <p:txBody>
          <a:bodyPr wrap="square" lIns="0" tIns="0" rIns="0" bIns="0" rtlCol="0" anchor="ctr"/>
          <a:lstStyle/>
          <a:p>
            <a:pPr rtl="1" algn="ctr" indent="0" marL="0">
              <a:buNone/>
            </a:pPr>
            <a:r>
              <a:rPr lang="ar-SA" altLang="en-US" sz="1150" b="1" dirty="0">
                <a:solidFill>
                  <a:srgbClr val="F3F6FD"/>
                </a:solidFill>
                <a:latin typeface="IBM Plex Sans Arabic" pitchFamily="34" charset="0"/>
                <a:ea typeface="IBM Plex Sans Arabic" pitchFamily="34" charset="-122"/>
                <a:cs typeface="IBM Plex Sans Arabic" pitchFamily="34" charset="-120"/>
              </a:rPr>
              <a:t>Data Intake</a:t>
            </a:r>
            <a:endParaRPr lang="ar-SA" sz="1150" dirty="0"/>
          </a:p>
        </p:txBody>
      </p:sp>
      <p:sp>
        <p:nvSpPr>
          <p:cNvPr id="29" name="Shape 25"/>
          <p:cNvSpPr/>
          <p:nvPr/>
        </p:nvSpPr>
        <p:spPr>
          <a:xfrm>
            <a:off x="9425635" y="4462272"/>
            <a:ext cx="1943100" cy="310896"/>
          </a:xfrm>
          <a:prstGeom prst="roundRect">
            <a:avLst>
              <a:gd name="adj" fmla="val 50000"/>
            </a:avLst>
          </a:prstGeom>
          <a:solidFill>
            <a:srgbClr val="050B1E"/>
          </a:solidFill>
          <a:ln w="9525">
            <a:solidFill>
              <a:srgbClr val="1E3570"/>
            </a:solidFill>
            <a:prstDash val="solid"/>
          </a:ln>
        </p:spPr>
      </p:sp>
      <p:sp>
        <p:nvSpPr>
          <p:cNvPr id="30" name="Text 26"/>
          <p:cNvSpPr txBox="1"/>
          <p:nvPr/>
        </p:nvSpPr>
        <p:spPr>
          <a:xfrm>
            <a:off x="9425635" y="4462272"/>
            <a:ext cx="1943100" cy="310896"/>
          </a:xfrm>
          <a:prstGeom prst="rect">
            <a:avLst/>
          </a:prstGeom>
          <a:noFill/>
          <a:ln/>
        </p:spPr>
        <p:txBody>
          <a:bodyPr wrap="square" lIns="0" tIns="0" rIns="0" bIns="0" rtlCol="0" anchor="ctr"/>
          <a:lstStyle/>
          <a:p>
            <a:pPr rtl="1" algn="ctr" indent="0" marL="0">
              <a:buNone/>
            </a:pPr>
            <a:r>
              <a:rPr lang="ar-SA" altLang="en-US" sz="1150" b="1" dirty="0">
                <a:solidFill>
                  <a:srgbClr val="F3F6FD"/>
                </a:solidFill>
                <a:latin typeface="IBM Plex Sans Arabic" pitchFamily="34" charset="0"/>
                <a:ea typeface="IBM Plex Sans Arabic" pitchFamily="34" charset="-122"/>
                <a:cs typeface="IBM Plex Sans Arabic" pitchFamily="34" charset="-120"/>
              </a:rPr>
              <a:t>Signal Registry</a:t>
            </a:r>
            <a:endParaRPr lang="ar-SA" sz="1150" dirty="0"/>
          </a:p>
        </p:txBody>
      </p:sp>
      <p:sp>
        <p:nvSpPr>
          <p:cNvPr id="31" name="Shape 27"/>
          <p:cNvSpPr/>
          <p:nvPr/>
        </p:nvSpPr>
        <p:spPr>
          <a:xfrm>
            <a:off x="7345375" y="4462272"/>
            <a:ext cx="1943100" cy="310896"/>
          </a:xfrm>
          <a:prstGeom prst="roundRect">
            <a:avLst>
              <a:gd name="adj" fmla="val 50000"/>
            </a:avLst>
          </a:prstGeom>
          <a:solidFill>
            <a:srgbClr val="050B1E"/>
          </a:solidFill>
          <a:ln w="9525">
            <a:solidFill>
              <a:srgbClr val="1E3570"/>
            </a:solidFill>
            <a:prstDash val="solid"/>
          </a:ln>
        </p:spPr>
      </p:sp>
      <p:sp>
        <p:nvSpPr>
          <p:cNvPr id="32" name="Text 28"/>
          <p:cNvSpPr txBox="1"/>
          <p:nvPr/>
        </p:nvSpPr>
        <p:spPr>
          <a:xfrm>
            <a:off x="7345375" y="4462272"/>
            <a:ext cx="1943100" cy="310896"/>
          </a:xfrm>
          <a:prstGeom prst="rect">
            <a:avLst/>
          </a:prstGeom>
          <a:noFill/>
          <a:ln/>
        </p:spPr>
        <p:txBody>
          <a:bodyPr wrap="square" lIns="0" tIns="0" rIns="0" bIns="0" rtlCol="0" anchor="ctr"/>
          <a:lstStyle/>
          <a:p>
            <a:pPr rtl="1" algn="ctr" indent="0" marL="0">
              <a:buNone/>
            </a:pPr>
            <a:r>
              <a:rPr lang="ar-SA" altLang="en-US" sz="1150" b="1" dirty="0">
                <a:solidFill>
                  <a:srgbClr val="F3F6FD"/>
                </a:solidFill>
                <a:latin typeface="IBM Plex Sans Arabic" pitchFamily="34" charset="0"/>
                <a:ea typeface="IBM Plex Sans Arabic" pitchFamily="34" charset="-122"/>
                <a:cs typeface="IBM Plex Sans Arabic" pitchFamily="34" charset="-120"/>
              </a:rPr>
              <a:t>Evidence</a:t>
            </a:r>
            <a:endParaRPr lang="ar-SA" sz="1150" dirty="0"/>
          </a:p>
        </p:txBody>
      </p:sp>
      <p:sp>
        <p:nvSpPr>
          <p:cNvPr id="33" name="Shape 29"/>
          <p:cNvSpPr/>
          <p:nvPr/>
        </p:nvSpPr>
        <p:spPr>
          <a:xfrm>
            <a:off x="9425635" y="4855464"/>
            <a:ext cx="1943100" cy="310896"/>
          </a:xfrm>
          <a:prstGeom prst="roundRect">
            <a:avLst>
              <a:gd name="adj" fmla="val 50000"/>
            </a:avLst>
          </a:prstGeom>
          <a:solidFill>
            <a:srgbClr val="050B1E"/>
          </a:solidFill>
          <a:ln w="9525">
            <a:solidFill>
              <a:srgbClr val="1E3570"/>
            </a:solidFill>
            <a:prstDash val="solid"/>
          </a:ln>
        </p:spPr>
      </p:sp>
      <p:sp>
        <p:nvSpPr>
          <p:cNvPr id="34" name="Text 30"/>
          <p:cNvSpPr txBox="1"/>
          <p:nvPr/>
        </p:nvSpPr>
        <p:spPr>
          <a:xfrm>
            <a:off x="9425635" y="4855464"/>
            <a:ext cx="1943100" cy="310896"/>
          </a:xfrm>
          <a:prstGeom prst="rect">
            <a:avLst/>
          </a:prstGeom>
          <a:noFill/>
          <a:ln/>
        </p:spPr>
        <p:txBody>
          <a:bodyPr wrap="square" lIns="0" tIns="0" rIns="0" bIns="0" rtlCol="0" anchor="ctr"/>
          <a:lstStyle/>
          <a:p>
            <a:pPr rtl="1" algn="ctr" indent="0" marL="0">
              <a:buNone/>
            </a:pPr>
            <a:r>
              <a:rPr lang="ar-SA" altLang="en-US" sz="1150" b="1" dirty="0">
                <a:solidFill>
                  <a:srgbClr val="F3F6FD"/>
                </a:solidFill>
                <a:latin typeface="IBM Plex Sans Arabic" pitchFamily="34" charset="0"/>
                <a:ea typeface="IBM Plex Sans Arabic" pitchFamily="34" charset="-122"/>
                <a:cs typeface="IBM Plex Sans Arabic" pitchFamily="34" charset="-120"/>
              </a:rPr>
              <a:t>Outcome Mapping</a:t>
            </a:r>
            <a:endParaRPr lang="ar-SA" sz="1150" dirty="0"/>
          </a:p>
        </p:txBody>
      </p:sp>
      <p:sp>
        <p:nvSpPr>
          <p:cNvPr id="35" name="Shape 31"/>
          <p:cNvSpPr/>
          <p:nvPr/>
        </p:nvSpPr>
        <p:spPr>
          <a:xfrm>
            <a:off x="7345375" y="4855464"/>
            <a:ext cx="1943100" cy="310896"/>
          </a:xfrm>
          <a:prstGeom prst="roundRect">
            <a:avLst>
              <a:gd name="adj" fmla="val 50000"/>
            </a:avLst>
          </a:prstGeom>
          <a:solidFill>
            <a:srgbClr val="050B1E"/>
          </a:solidFill>
          <a:ln w="9525">
            <a:solidFill>
              <a:srgbClr val="1E3570"/>
            </a:solidFill>
            <a:prstDash val="solid"/>
          </a:ln>
        </p:spPr>
      </p:sp>
      <p:sp>
        <p:nvSpPr>
          <p:cNvPr id="36" name="Text 32"/>
          <p:cNvSpPr txBox="1"/>
          <p:nvPr/>
        </p:nvSpPr>
        <p:spPr>
          <a:xfrm>
            <a:off x="7345375" y="4855464"/>
            <a:ext cx="1943100" cy="310896"/>
          </a:xfrm>
          <a:prstGeom prst="rect">
            <a:avLst/>
          </a:prstGeom>
          <a:noFill/>
          <a:ln/>
        </p:spPr>
        <p:txBody>
          <a:bodyPr wrap="square" lIns="0" tIns="0" rIns="0" bIns="0" rtlCol="0" anchor="ctr"/>
          <a:lstStyle/>
          <a:p>
            <a:pPr rtl="1" algn="ctr" indent="0" marL="0">
              <a:buNone/>
            </a:pPr>
            <a:r>
              <a:rPr lang="ar-SA" altLang="en-US" sz="1150" b="1" dirty="0">
                <a:solidFill>
                  <a:srgbClr val="F3F6FD"/>
                </a:solidFill>
                <a:latin typeface="IBM Plex Sans Arabic" pitchFamily="34" charset="0"/>
                <a:ea typeface="IBM Plex Sans Arabic" pitchFamily="34" charset="-122"/>
                <a:cs typeface="IBM Plex Sans Arabic" pitchFamily="34" charset="-120"/>
              </a:rPr>
              <a:t>Calibration</a:t>
            </a:r>
            <a:endParaRPr lang="ar-SA" sz="1150" dirty="0"/>
          </a:p>
        </p:txBody>
      </p:sp>
      <p:sp>
        <p:nvSpPr>
          <p:cNvPr id="37" name="Shape 33"/>
          <p:cNvSpPr/>
          <p:nvPr/>
        </p:nvSpPr>
        <p:spPr>
          <a:xfrm>
            <a:off x="9425635" y="5248656"/>
            <a:ext cx="1943100" cy="310896"/>
          </a:xfrm>
          <a:prstGeom prst="roundRect">
            <a:avLst>
              <a:gd name="adj" fmla="val 50000"/>
            </a:avLst>
          </a:prstGeom>
          <a:solidFill>
            <a:srgbClr val="050B1E"/>
          </a:solidFill>
          <a:ln w="9525">
            <a:solidFill>
              <a:srgbClr val="1E3570"/>
            </a:solidFill>
            <a:prstDash val="solid"/>
          </a:ln>
        </p:spPr>
      </p:sp>
      <p:sp>
        <p:nvSpPr>
          <p:cNvPr id="38" name="Text 34"/>
          <p:cNvSpPr txBox="1"/>
          <p:nvPr/>
        </p:nvSpPr>
        <p:spPr>
          <a:xfrm>
            <a:off x="9425635" y="5248656"/>
            <a:ext cx="1943100" cy="310896"/>
          </a:xfrm>
          <a:prstGeom prst="rect">
            <a:avLst/>
          </a:prstGeom>
          <a:noFill/>
          <a:ln/>
        </p:spPr>
        <p:txBody>
          <a:bodyPr wrap="square" lIns="0" tIns="0" rIns="0" bIns="0" rtlCol="0" anchor="ctr"/>
          <a:lstStyle/>
          <a:p>
            <a:pPr rtl="1" algn="ctr" indent="0" marL="0">
              <a:buNone/>
            </a:pPr>
            <a:r>
              <a:rPr lang="ar-SA" altLang="en-US" sz="1150" b="1" dirty="0">
                <a:solidFill>
                  <a:srgbClr val="F3F6FD"/>
                </a:solidFill>
                <a:latin typeface="IBM Plex Sans Arabic" pitchFamily="34" charset="0"/>
                <a:ea typeface="IBM Plex Sans Arabic" pitchFamily="34" charset="-122"/>
                <a:cs typeface="IBM Plex Sans Arabic" pitchFamily="34" charset="-120"/>
              </a:rPr>
              <a:t>Findings</a:t>
            </a:r>
            <a:endParaRPr lang="ar-SA" sz="1150" dirty="0"/>
          </a:p>
        </p:txBody>
      </p:sp>
      <p:sp>
        <p:nvSpPr>
          <p:cNvPr id="39" name="Shape 35"/>
          <p:cNvSpPr/>
          <p:nvPr/>
        </p:nvSpPr>
        <p:spPr>
          <a:xfrm>
            <a:off x="7345375" y="5248656"/>
            <a:ext cx="1943100" cy="310896"/>
          </a:xfrm>
          <a:prstGeom prst="roundRect">
            <a:avLst>
              <a:gd name="adj" fmla="val 50000"/>
            </a:avLst>
          </a:prstGeom>
          <a:solidFill>
            <a:srgbClr val="050B1E"/>
          </a:solidFill>
          <a:ln w="9525">
            <a:solidFill>
              <a:srgbClr val="1E3570"/>
            </a:solidFill>
            <a:prstDash val="solid"/>
          </a:ln>
        </p:spPr>
      </p:sp>
      <p:sp>
        <p:nvSpPr>
          <p:cNvPr id="40" name="Text 36"/>
          <p:cNvSpPr txBox="1"/>
          <p:nvPr/>
        </p:nvSpPr>
        <p:spPr>
          <a:xfrm>
            <a:off x="7345375" y="5248656"/>
            <a:ext cx="1943100" cy="310896"/>
          </a:xfrm>
          <a:prstGeom prst="rect">
            <a:avLst/>
          </a:prstGeom>
          <a:noFill/>
          <a:ln/>
        </p:spPr>
        <p:txBody>
          <a:bodyPr wrap="square" lIns="0" tIns="0" rIns="0" bIns="0" rtlCol="0" anchor="ctr"/>
          <a:lstStyle/>
          <a:p>
            <a:pPr rtl="1" algn="ctr" indent="0" marL="0">
              <a:buNone/>
            </a:pPr>
            <a:r>
              <a:rPr lang="ar-SA" altLang="en-US" sz="1150" b="1" dirty="0">
                <a:solidFill>
                  <a:srgbClr val="F3F6FD"/>
                </a:solidFill>
                <a:latin typeface="IBM Plex Sans Arabic" pitchFamily="34" charset="0"/>
                <a:ea typeface="IBM Plex Sans Arabic" pitchFamily="34" charset="-122"/>
                <a:cs typeface="IBM Plex Sans Arabic" pitchFamily="34" charset="-120"/>
              </a:rPr>
              <a:t>Human Review</a:t>
            </a:r>
            <a:endParaRPr lang="ar-SA" sz="1150" dirty="0"/>
          </a:p>
        </p:txBody>
      </p:sp>
      <p:sp>
        <p:nvSpPr>
          <p:cNvPr id="41" name="Shape 37"/>
          <p:cNvSpPr/>
          <p:nvPr/>
        </p:nvSpPr>
        <p:spPr>
          <a:xfrm>
            <a:off x="9425635" y="5641848"/>
            <a:ext cx="1943100" cy="310896"/>
          </a:xfrm>
          <a:prstGeom prst="roundRect">
            <a:avLst>
              <a:gd name="adj" fmla="val 50000"/>
            </a:avLst>
          </a:prstGeom>
          <a:solidFill>
            <a:srgbClr val="050B1E"/>
          </a:solidFill>
          <a:ln w="9525">
            <a:solidFill>
              <a:srgbClr val="1E3570"/>
            </a:solidFill>
            <a:prstDash val="solid"/>
          </a:ln>
        </p:spPr>
      </p:sp>
      <p:sp>
        <p:nvSpPr>
          <p:cNvPr id="42" name="Text 38"/>
          <p:cNvSpPr txBox="1"/>
          <p:nvPr/>
        </p:nvSpPr>
        <p:spPr>
          <a:xfrm>
            <a:off x="9425635" y="5641848"/>
            <a:ext cx="1943100" cy="310896"/>
          </a:xfrm>
          <a:prstGeom prst="rect">
            <a:avLst/>
          </a:prstGeom>
          <a:noFill/>
          <a:ln/>
        </p:spPr>
        <p:txBody>
          <a:bodyPr wrap="square" lIns="0" tIns="0" rIns="0" bIns="0" rtlCol="0" anchor="ctr"/>
          <a:lstStyle/>
          <a:p>
            <a:pPr rtl="1" algn="ctr" indent="0" marL="0">
              <a:buNone/>
            </a:pPr>
            <a:r>
              <a:rPr lang="ar-SA" altLang="en-US" sz="1150" b="1" dirty="0">
                <a:solidFill>
                  <a:srgbClr val="F3F6FD"/>
                </a:solidFill>
                <a:latin typeface="IBM Plex Sans Arabic" pitchFamily="34" charset="0"/>
                <a:ea typeface="IBM Plex Sans Arabic" pitchFamily="34" charset="-122"/>
                <a:cs typeface="IBM Plex Sans Arabic" pitchFamily="34" charset="-120"/>
              </a:rPr>
              <a:t>History</a:t>
            </a:r>
            <a:endParaRPr lang="ar-SA" sz="1150" dirty="0"/>
          </a:p>
        </p:txBody>
      </p:sp>
      <p:sp>
        <p:nvSpPr>
          <p:cNvPr id="43" name="Shape 39"/>
          <p:cNvSpPr/>
          <p:nvPr/>
        </p:nvSpPr>
        <p:spPr>
          <a:xfrm>
            <a:off x="7345375" y="5641848"/>
            <a:ext cx="1943100" cy="310896"/>
          </a:xfrm>
          <a:prstGeom prst="roundRect">
            <a:avLst>
              <a:gd name="adj" fmla="val 50000"/>
            </a:avLst>
          </a:prstGeom>
          <a:solidFill>
            <a:srgbClr val="050B1E"/>
          </a:solidFill>
          <a:ln w="9525">
            <a:solidFill>
              <a:srgbClr val="1E3570"/>
            </a:solidFill>
            <a:prstDash val="solid"/>
          </a:ln>
        </p:spPr>
      </p:sp>
      <p:sp>
        <p:nvSpPr>
          <p:cNvPr id="44" name="Text 40"/>
          <p:cNvSpPr txBox="1"/>
          <p:nvPr/>
        </p:nvSpPr>
        <p:spPr>
          <a:xfrm>
            <a:off x="7345375" y="5641848"/>
            <a:ext cx="1943100" cy="310896"/>
          </a:xfrm>
          <a:prstGeom prst="rect">
            <a:avLst/>
          </a:prstGeom>
          <a:noFill/>
          <a:ln/>
        </p:spPr>
        <p:txBody>
          <a:bodyPr wrap="square" lIns="0" tIns="0" rIns="0" bIns="0" rtlCol="0" anchor="ctr"/>
          <a:lstStyle/>
          <a:p>
            <a:pPr rtl="1" algn="ctr" indent="0" marL="0">
              <a:buNone/>
            </a:pPr>
            <a:r>
              <a:rPr lang="ar-SA" altLang="en-US" sz="1150" b="1" dirty="0">
                <a:solidFill>
                  <a:srgbClr val="F3F6FD"/>
                </a:solidFill>
                <a:latin typeface="IBM Plex Sans Arabic" pitchFamily="34" charset="0"/>
                <a:ea typeface="IBM Plex Sans Arabic" pitchFamily="34" charset="-122"/>
                <a:cs typeface="IBM Plex Sans Arabic" pitchFamily="34" charset="-120"/>
              </a:rPr>
              <a:t>Auditability</a:t>
            </a:r>
            <a:endParaRPr lang="ar-SA" sz="1150" dirty="0"/>
          </a:p>
        </p:txBody>
      </p:sp>
      <p:sp>
        <p:nvSpPr>
          <p:cNvPr id="45" name="Shape 41"/>
          <p:cNvSpPr/>
          <p:nvPr/>
        </p:nvSpPr>
        <p:spPr>
          <a:xfrm>
            <a:off x="3276295" y="3337560"/>
            <a:ext cx="3566160" cy="2788920"/>
          </a:xfrm>
          <a:prstGeom prst="roundRect">
            <a:avLst>
              <a:gd name="adj" fmla="val 4590"/>
            </a:avLst>
          </a:prstGeom>
          <a:solidFill>
            <a:srgbClr val="0B1634"/>
          </a:solidFill>
          <a:ln w="9525">
            <a:solidFill>
              <a:srgbClr val="1E3570"/>
            </a:solidFill>
            <a:prstDash val="solid"/>
          </a:ln>
        </p:spPr>
      </p:sp>
      <p:pic>
        <p:nvPicPr>
          <p:cNvPr id="46" name="Image 2" descr="preencoded.png">    </p:cNvPr>
          <p:cNvPicPr>
            <a:picLocks noChangeAspect="1"/>
          </p:cNvPicPr>
          <p:nvPr/>
        </p:nvPicPr>
        <p:blipFill>
          <a:blip r:embed="rId4"/>
          <a:stretch>
            <a:fillRect/>
          </a:stretch>
        </p:blipFill>
        <p:spPr>
          <a:xfrm>
            <a:off x="6275527" y="3538728"/>
            <a:ext cx="347472" cy="347472"/>
          </a:xfrm>
          <a:prstGeom prst="rect">
            <a:avLst/>
          </a:prstGeom>
        </p:spPr>
      </p:pic>
      <p:sp>
        <p:nvSpPr>
          <p:cNvPr id="47" name="Text 42"/>
          <p:cNvSpPr txBox="1"/>
          <p:nvPr/>
        </p:nvSpPr>
        <p:spPr>
          <a:xfrm>
            <a:off x="3504895" y="3520440"/>
            <a:ext cx="2651760" cy="384048"/>
          </a:xfrm>
          <a:prstGeom prst="rect">
            <a:avLst/>
          </a:prstGeom>
          <a:noFill/>
          <a:ln/>
        </p:spPr>
        <p:txBody>
          <a:bodyPr wrap="square" lIns="0" tIns="0" rIns="0" bIns="0" rtlCol="0" anchor="t"/>
          <a:lstStyle/>
          <a:p>
            <a:pPr rtl="1" algn="r" indent="0" marL="0">
              <a:buNone/>
            </a:pPr>
            <a:r>
              <a:rPr lang="ar-SA" altLang="en-US" sz="1700" b="1" dirty="0">
                <a:solidFill>
                  <a:srgbClr val="F3F6FD"/>
                </a:solidFill>
                <a:latin typeface="IBM Plex Sans Arabic" pitchFamily="34" charset="0"/>
                <a:ea typeface="IBM Plex Sans Arabic" pitchFamily="34" charset="-122"/>
                <a:cs typeface="IBM Plex Sans Arabic" pitchFamily="34" charset="-120"/>
              </a:rPr>
              <a:t>Later · P1 / P2</a:t>
            </a:r>
            <a:endParaRPr lang="ar-SA" sz="1700" dirty="0"/>
          </a:p>
        </p:txBody>
      </p:sp>
      <p:sp>
        <p:nvSpPr>
          <p:cNvPr id="48" name="Text 43"/>
          <p:cNvSpPr txBox="1"/>
          <p:nvPr/>
        </p:nvSpPr>
        <p:spPr>
          <a:xfrm>
            <a:off x="3504895" y="4069080"/>
            <a:ext cx="3108960" cy="1920240"/>
          </a:xfrm>
          <a:prstGeom prst="rect">
            <a:avLst/>
          </a:prstGeom>
          <a:noFill/>
          <a:ln/>
        </p:spPr>
        <p:txBody>
          <a:bodyPr wrap="square" lIns="0" tIns="0" rIns="0" bIns="0" rtlCol="0" anchor="t"/>
          <a:lstStyle/>
          <a:p>
            <a:pPr rtl="1" algn="r" marL="177800" indent="-177800">
              <a:spcAft>
                <a:spcPts val="400"/>
              </a:spcAft>
              <a:buSzPct val="100000"/>
              <a:buChar char="○"/>
            </a:pPr>
            <a:r>
              <a:rPr lang="ar-SA" altLang="en-US" sz="1300" dirty="0">
                <a:solidFill>
                  <a:srgbClr val="A9B7DA"/>
                </a:solidFill>
                <a:latin typeface="IBM Plex Sans Arabic" pitchFamily="34" charset="0"/>
                <a:ea typeface="IBM Plex Sans Arabic" pitchFamily="34" charset="-122"/>
                <a:cs typeface="IBM Plex Sans Arabic" pitchFamily="34" charset="-120"/>
              </a:rPr>
              <a:t>ATS/HRIS Connector واحد</a:t>
            </a:r>
            <a:endParaRPr lang="ar-SA" sz="1300" dirty="0"/>
          </a:p>
          <a:p>
            <a:pPr rtl="1" algn="r" marL="177800" indent="-177800">
              <a:spcAft>
                <a:spcPts val="400"/>
              </a:spcAft>
              <a:buSzPct val="100000"/>
              <a:buChar char="○"/>
            </a:pPr>
            <a:r>
              <a:rPr lang="ar-SA" altLang="en-US" sz="1300" dirty="0">
                <a:solidFill>
                  <a:srgbClr val="A9B7DA"/>
                </a:solidFill>
                <a:latin typeface="IBM Plex Sans Arabic" pitchFamily="34" charset="0"/>
                <a:ea typeface="IBM Plex Sans Arabic" pitchFamily="34" charset="-122"/>
                <a:cs typeface="IBM Plex Sans Arabic" pitchFamily="34" charset="-120"/>
              </a:rPr>
              <a:t>Monitoring للدفعة التالية</a:t>
            </a:r>
            <a:endParaRPr lang="ar-SA" sz="1300" dirty="0"/>
          </a:p>
          <a:p>
            <a:pPr rtl="1" algn="r" marL="177800" indent="-177800">
              <a:spcAft>
                <a:spcPts val="400"/>
              </a:spcAft>
              <a:buSzPct val="100000"/>
              <a:buChar char="○"/>
            </a:pPr>
            <a:r>
              <a:rPr lang="ar-SA" altLang="en-US" sz="1300" dirty="0">
                <a:solidFill>
                  <a:srgbClr val="A9B7DA"/>
                </a:solidFill>
                <a:latin typeface="IBM Plex Sans Arabic" pitchFamily="34" charset="0"/>
                <a:ea typeface="IBM Plex Sans Arabic" pitchFamily="34" charset="-122"/>
                <a:cs typeface="IBM Plex Sans Arabic" pitchFamily="34" charset="-120"/>
              </a:rPr>
              <a:t>Data Quality Dashboard</a:t>
            </a:r>
            <a:endParaRPr lang="ar-SA" sz="1300" dirty="0"/>
          </a:p>
          <a:p>
            <a:pPr rtl="1" algn="r" marL="177800" indent="-177800">
              <a:spcAft>
                <a:spcPts val="400"/>
              </a:spcAft>
              <a:buSzPct val="100000"/>
              <a:buChar char="○"/>
            </a:pPr>
            <a:r>
              <a:rPr lang="ar-SA" altLang="en-US" sz="1300" dirty="0">
                <a:solidFill>
                  <a:srgbClr val="A9B7DA"/>
                </a:solidFill>
                <a:latin typeface="IBM Plex Sans Arabic" pitchFamily="34" charset="0"/>
                <a:ea typeface="IBM Plex Sans Arabic" pitchFamily="34" charset="-122"/>
                <a:cs typeface="IBM Plex Sans Arabic" pitchFamily="34" charset="-120"/>
              </a:rPr>
              <a:t>Cohort Comparison</a:t>
            </a:r>
            <a:endParaRPr lang="ar-SA" sz="1300" dirty="0"/>
          </a:p>
          <a:p>
            <a:pPr rtl="1" algn="r" marL="177800" indent="-177800">
              <a:spcAft>
                <a:spcPts val="400"/>
              </a:spcAft>
              <a:buSzPct val="100000"/>
              <a:buChar char="○"/>
            </a:pPr>
            <a:r>
              <a:rPr lang="ar-SA" altLang="en-US" sz="1300" dirty="0">
                <a:solidFill>
                  <a:srgbClr val="A9B7DA"/>
                </a:solidFill>
                <a:latin typeface="IBM Plex Sans Arabic" pitchFamily="34" charset="0"/>
                <a:ea typeface="IBM Plex Sans Arabic" pitchFamily="34" charset="-122"/>
                <a:cs typeface="IBM Plex Sans Arabic" pitchFamily="34" charset="-120"/>
              </a:rPr>
              <a:t>Predictive Model</a:t>
            </a:r>
            <a:endParaRPr lang="ar-SA" sz="1300" dirty="0"/>
          </a:p>
          <a:p>
            <a:pPr rtl="1" algn="r" marL="177800" indent="-177800">
              <a:spcAft>
                <a:spcPts val="400"/>
              </a:spcAft>
              <a:buSzPct val="100000"/>
              <a:buChar char="○"/>
            </a:pPr>
            <a:r>
              <a:rPr lang="ar-SA" altLang="en-US" sz="1300" dirty="0">
                <a:solidFill>
                  <a:srgbClr val="A9B7DA"/>
                </a:solidFill>
                <a:latin typeface="IBM Plex Sans Arabic" pitchFamily="34" charset="0"/>
                <a:ea typeface="IBM Plex Sans Arabic" pitchFamily="34" charset="-122"/>
                <a:cs typeface="IBM Plex Sans Arabic" pitchFamily="34" charset="-120"/>
              </a:rPr>
              <a:t>Grounded Copilot</a:t>
            </a:r>
            <a:endParaRPr lang="ar-SA" sz="1300" dirty="0"/>
          </a:p>
        </p:txBody>
      </p:sp>
      <p:sp>
        <p:nvSpPr>
          <p:cNvPr id="49" name="Shape 44"/>
          <p:cNvSpPr/>
          <p:nvPr/>
        </p:nvSpPr>
        <p:spPr>
          <a:xfrm>
            <a:off x="594360" y="3337560"/>
            <a:ext cx="2407615" cy="2788920"/>
          </a:xfrm>
          <a:prstGeom prst="roundRect">
            <a:avLst>
              <a:gd name="adj" fmla="val 5317"/>
            </a:avLst>
          </a:prstGeom>
          <a:solidFill>
            <a:srgbClr val="0B1634"/>
          </a:solidFill>
          <a:ln w="9525">
            <a:solidFill>
              <a:srgbClr val="1E3570"/>
            </a:solidFill>
            <a:prstDash val="dash"/>
          </a:ln>
        </p:spPr>
      </p:sp>
      <p:pic>
        <p:nvPicPr>
          <p:cNvPr id="50" name="Image 3" descr="preencoded.png">    </p:cNvPr>
          <p:cNvPicPr>
            <a:picLocks noChangeAspect="1"/>
          </p:cNvPicPr>
          <p:nvPr/>
        </p:nvPicPr>
        <p:blipFill>
          <a:blip r:embed="rId5"/>
          <a:stretch>
            <a:fillRect/>
          </a:stretch>
        </p:blipFill>
        <p:spPr>
          <a:xfrm>
            <a:off x="2435047" y="3538728"/>
            <a:ext cx="347472" cy="347472"/>
          </a:xfrm>
          <a:prstGeom prst="rect">
            <a:avLst/>
          </a:prstGeom>
        </p:spPr>
      </p:pic>
      <p:sp>
        <p:nvSpPr>
          <p:cNvPr id="51" name="Text 45"/>
          <p:cNvSpPr txBox="1"/>
          <p:nvPr/>
        </p:nvSpPr>
        <p:spPr>
          <a:xfrm>
            <a:off x="822960" y="3520440"/>
            <a:ext cx="1493215" cy="384048"/>
          </a:xfrm>
          <a:prstGeom prst="rect">
            <a:avLst/>
          </a:prstGeom>
          <a:noFill/>
          <a:ln/>
        </p:spPr>
        <p:txBody>
          <a:bodyPr wrap="square" lIns="0" tIns="0" rIns="0" bIns="0" rtlCol="0" anchor="t"/>
          <a:lstStyle/>
          <a:p>
            <a:pPr rtl="1" algn="r" indent="0" marL="0">
              <a:buNone/>
            </a:pPr>
            <a:r>
              <a:rPr lang="ar-SA" altLang="en-US" sz="1700" b="1" dirty="0">
                <a:solidFill>
                  <a:srgbClr val="A9B7DA"/>
                </a:solidFill>
                <a:latin typeface="IBM Plex Sans Arabic" pitchFamily="34" charset="0"/>
                <a:ea typeface="IBM Plex Sans Arabic" pitchFamily="34" charset="-122"/>
                <a:cs typeface="IBM Plex Sans Arabic" pitchFamily="34" charset="-120"/>
              </a:rPr>
              <a:t>Not Now</a:t>
            </a:r>
            <a:endParaRPr lang="ar-SA" sz="1700" dirty="0"/>
          </a:p>
        </p:txBody>
      </p:sp>
      <p:sp>
        <p:nvSpPr>
          <p:cNvPr id="52" name="Text 46"/>
          <p:cNvSpPr txBox="1"/>
          <p:nvPr/>
        </p:nvSpPr>
        <p:spPr>
          <a:xfrm>
            <a:off x="822960" y="4069080"/>
            <a:ext cx="1950415" cy="1463040"/>
          </a:xfrm>
          <a:prstGeom prst="rect">
            <a:avLst/>
          </a:prstGeom>
          <a:noFill/>
          <a:ln/>
        </p:spPr>
        <p:txBody>
          <a:bodyPr wrap="square" lIns="0" tIns="0" rIns="0" bIns="0" rtlCol="0" anchor="t"/>
          <a:lstStyle/>
          <a:p>
            <a:pPr rtl="1" algn="r" marL="177800" indent="-177800">
              <a:spcAft>
                <a:spcPts val="400"/>
              </a:spcAft>
              <a:buSzPct val="100000"/>
              <a:buChar char="✕"/>
            </a:pPr>
            <a:r>
              <a:rPr lang="ar-SA" altLang="en-US" sz="1300" dirty="0">
                <a:solidFill>
                  <a:srgbClr val="6E7FAA"/>
                </a:solidFill>
                <a:latin typeface="IBM Plex Sans Arabic" pitchFamily="34" charset="0"/>
                <a:ea typeface="IBM Plex Sans Arabic" pitchFamily="34" charset="-122"/>
                <a:cs typeface="IBM Plex Sans Arabic" pitchFamily="34" charset="-120"/>
              </a:rPr>
              <a:t>Mobile</a:t>
            </a:r>
            <a:endParaRPr lang="ar-SA" sz="1300" dirty="0"/>
          </a:p>
          <a:p>
            <a:pPr rtl="1" algn="r" marL="177800" indent="-177800">
              <a:spcAft>
                <a:spcPts val="400"/>
              </a:spcAft>
              <a:buSzPct val="100000"/>
              <a:buChar char="✕"/>
            </a:pPr>
            <a:r>
              <a:rPr lang="ar-SA" altLang="en-US" sz="1300" dirty="0">
                <a:solidFill>
                  <a:srgbClr val="6E7FAA"/>
                </a:solidFill>
                <a:latin typeface="IBM Plex Sans Arabic" pitchFamily="34" charset="0"/>
                <a:ea typeface="IBM Plex Sans Arabic" pitchFamily="34" charset="-122"/>
                <a:cs typeface="IBM Plex Sans Arabic" pitchFamily="34" charset="-120"/>
              </a:rPr>
              <a:t>Marketplace</a:t>
            </a:r>
            <a:endParaRPr lang="ar-SA" sz="1300" dirty="0"/>
          </a:p>
          <a:p>
            <a:pPr rtl="1" algn="r" marL="177800" indent="-177800">
              <a:spcAft>
                <a:spcPts val="400"/>
              </a:spcAft>
              <a:buSzPct val="100000"/>
              <a:buChar char="✕"/>
            </a:pPr>
            <a:r>
              <a:rPr lang="ar-SA" altLang="en-US" sz="1300" dirty="0">
                <a:solidFill>
                  <a:srgbClr val="6E7FAA"/>
                </a:solidFill>
                <a:latin typeface="IBM Plex Sans Arabic" pitchFamily="34" charset="0"/>
                <a:ea typeface="IBM Plex Sans Arabic" pitchFamily="34" charset="-122"/>
                <a:cs typeface="IBM Plex Sans Arabic" pitchFamily="34" charset="-120"/>
              </a:rPr>
              <a:t>ATS Replacement</a:t>
            </a:r>
            <a:endParaRPr lang="ar-SA" sz="1300" dirty="0"/>
          </a:p>
          <a:p>
            <a:pPr rtl="1" algn="r" marL="177800" indent="-177800">
              <a:spcAft>
                <a:spcPts val="400"/>
              </a:spcAft>
              <a:buSzPct val="100000"/>
              <a:buChar char="✕"/>
            </a:pPr>
            <a:r>
              <a:rPr lang="ar-SA" altLang="en-US" sz="1300" dirty="0">
                <a:solidFill>
                  <a:srgbClr val="6E7FAA"/>
                </a:solidFill>
                <a:latin typeface="IBM Plex Sans Arabic" pitchFamily="34" charset="0"/>
                <a:ea typeface="IBM Plex Sans Arabic" pitchFamily="34" charset="-122"/>
                <a:cs typeface="IBM Plex Sans Arabic" pitchFamily="34" charset="-120"/>
              </a:rPr>
              <a:t>قرارات توظيف آلية</a:t>
            </a:r>
            <a:endParaRPr lang="ar-SA" sz="1300" dirty="0"/>
          </a:p>
          <a:p>
            <a:pPr rtl="1" algn="r" marL="177800" indent="-177800">
              <a:spcAft>
                <a:spcPts val="400"/>
              </a:spcAft>
              <a:buSzPct val="100000"/>
              <a:buChar char="✕"/>
            </a:pPr>
            <a:r>
              <a:rPr lang="ar-SA" altLang="en-US" sz="1300" dirty="0">
                <a:solidFill>
                  <a:srgbClr val="6E7FAA"/>
                </a:solidFill>
                <a:latin typeface="IBM Plex Sans Arabic" pitchFamily="34" charset="0"/>
                <a:ea typeface="IBM Plex Sans Arabic" pitchFamily="34" charset="-122"/>
                <a:cs typeface="IBM Plex Sans Arabic" pitchFamily="34" charset="-120"/>
              </a:rPr>
              <a:t>Recruiter Agent عام</a:t>
            </a:r>
            <a:endParaRPr lang="ar-SA" sz="1300" dirty="0"/>
          </a:p>
        </p:txBody>
      </p:sp>
      <p:sp>
        <p:nvSpPr>
          <p:cNvPr id="53" name="Text 47"/>
          <p:cNvSpPr txBox="1"/>
          <p:nvPr/>
        </p:nvSpPr>
        <p:spPr>
          <a:xfrm>
            <a:off x="777240" y="5504688"/>
            <a:ext cx="2041855" cy="502920"/>
          </a:xfrm>
          <a:prstGeom prst="rect">
            <a:avLst/>
          </a:prstGeom>
          <a:noFill/>
          <a:ln/>
        </p:spPr>
        <p:txBody>
          <a:bodyPr wrap="square" lIns="0" tIns="0" rIns="0" bIns="0" rtlCol="0" anchor="t"/>
          <a:lstStyle/>
          <a:p>
            <a:pPr rtl="1" algn="ctr" indent="0" marL="0">
              <a:buNone/>
            </a:pPr>
            <a:r>
              <a:rPr lang="ar-SA" altLang="en-US" sz="1150" b="1" dirty="0">
                <a:solidFill>
                  <a:srgbClr val="FFB547"/>
                </a:solidFill>
                <a:latin typeface="IBM Plex Sans Arabic" pitchFamily="34" charset="0"/>
                <a:ea typeface="IBM Plex Sans Arabic" pitchFamily="34" charset="-122"/>
                <a:cs typeface="IBM Plex Sans Arabic" pitchFamily="34" charset="-120"/>
              </a:rPr>
              <a:t>أي إضافة تحتاج</a:t>
            </a:r>
            <a:endParaRPr lang="ar-SA" sz="1150" dirty="0"/>
          </a:p>
          <a:p>
            <a:pPr rtl="1" algn="ctr" indent="0" marL="0">
              <a:buNone/>
            </a:pPr>
            <a:r>
              <a:rPr lang="ar-SA" altLang="en-US" sz="1150" b="1" dirty="0">
                <a:solidFill>
                  <a:srgbClr val="FFB547"/>
                </a:solidFill>
                <a:latin typeface="IBM Plex Sans Arabic" pitchFamily="34" charset="0"/>
                <a:ea typeface="IBM Plex Sans Arabic" pitchFamily="34" charset="-122"/>
                <a:cs typeface="IBM Plex Sans Arabic" pitchFamily="34" charset="-120"/>
              </a:rPr>
              <a:t>Change Request معتمدًا</a:t>
            </a:r>
            <a:endParaRPr lang="ar-SA"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508760" y="457200"/>
            <a:ext cx="10088575" cy="274320"/>
          </a:xfrm>
          <a:prstGeom prst="rect">
            <a:avLst/>
          </a:prstGeom>
          <a:noFill/>
          <a:ln/>
        </p:spPr>
        <p:txBody>
          <a:bodyPr wrap="square" lIns="0" tIns="0" rIns="0" bIns="0" rtlCol="0" anchor="t"/>
          <a:lstStyle/>
          <a:p>
            <a:pPr rtl="1" algn="r" indent="0" marL="0">
              <a:buNone/>
            </a:pPr>
            <a:r>
              <a:rPr lang="ar-SA" altLang="en-US" sz="1200" b="1" spc="100" kern="0" dirty="0">
                <a:solidFill>
                  <a:srgbClr val="3EE0F5"/>
                </a:solidFill>
                <a:latin typeface="IBM Plex Sans Arabic" pitchFamily="34" charset="0"/>
                <a:ea typeface="IBM Plex Sans Arabic" pitchFamily="34" charset="-122"/>
                <a:cs typeface="IBM Plex Sans Arabic" pitchFamily="34" charset="-120"/>
              </a:rPr>
              <a:t>07  ·  HOW — التقنية المقترحة</a:t>
            </a:r>
            <a:endParaRPr lang="ar-SA" sz="1200" dirty="0"/>
          </a:p>
        </p:txBody>
      </p:sp>
      <p:sp>
        <p:nvSpPr>
          <p:cNvPr id="3" name="Text 1"/>
          <p:cNvSpPr txBox="1"/>
          <p:nvPr/>
        </p:nvSpPr>
        <p:spPr>
          <a:xfrm>
            <a:off x="1508760" y="731520"/>
            <a:ext cx="10088575" cy="640080"/>
          </a:xfrm>
          <a:prstGeom prst="rect">
            <a:avLst/>
          </a:prstGeom>
          <a:noFill/>
          <a:ln/>
        </p:spPr>
        <p:txBody>
          <a:bodyPr wrap="square" lIns="0" tIns="0" rIns="0" bIns="0" rtlCol="0" anchor="t"/>
          <a:lstStyle/>
          <a:p>
            <a:pPr rtl="1" algn="r" indent="0" marL="0">
              <a:buNone/>
            </a:pPr>
            <a:r>
              <a:rPr lang="ar-SA" altLang="en-US" sz="3200" b="1" dirty="0">
                <a:solidFill>
                  <a:srgbClr val="F3F6FD"/>
                </a:solidFill>
                <a:latin typeface="IBM Plex Sans Arabic" pitchFamily="34" charset="0"/>
                <a:ea typeface="IBM Plex Sans Arabic" pitchFamily="34" charset="-122"/>
                <a:cs typeface="IBM Plex Sans Arabic" pitchFamily="34" charset="-120"/>
              </a:rPr>
              <a:t>Technology Stack المرجعي</a:t>
            </a:r>
            <a:endParaRPr lang="ar-SA" sz="3200" dirty="0"/>
          </a:p>
        </p:txBody>
      </p:sp>
      <p:pic>
        <p:nvPicPr>
          <p:cNvPr id="4" name="Image 0" descr="/tmp/claude-0/-home-user-ghassankmiqdad/d1991e4f-aee0-5e68-9a9d-3fc00accdf9d/scratchpad/build/assets/mark_sm.png">    </p:cNvPr>
          <p:cNvPicPr>
            <a:picLocks noChangeAspect="1"/>
          </p:cNvPicPr>
          <p:nvPr/>
        </p:nvPicPr>
        <p:blipFill>
          <a:blip r:embed="rId2"/>
          <a:stretch>
            <a:fillRect/>
          </a:stretch>
        </p:blipFill>
        <p:spPr>
          <a:xfrm>
            <a:off x="594360" y="475488"/>
            <a:ext cx="566928" cy="443515"/>
          </a:xfrm>
          <a:prstGeom prst="rect">
            <a:avLst/>
          </a:prstGeom>
        </p:spPr>
      </p:pic>
      <p:sp>
        <p:nvSpPr>
          <p:cNvPr id="5" name="Text 2"/>
          <p:cNvSpPr txBox="1"/>
          <p:nvPr/>
        </p:nvSpPr>
        <p:spPr>
          <a:xfrm>
            <a:off x="7939735" y="6400800"/>
            <a:ext cx="3657600" cy="228600"/>
          </a:xfrm>
          <a:prstGeom prst="rect">
            <a:avLst/>
          </a:prstGeom>
          <a:noFill/>
          <a:ln/>
        </p:spPr>
        <p:txBody>
          <a:bodyPr wrap="square" lIns="0" tIns="0" rIns="0" bIns="0" rtlCol="0" anchor="t"/>
          <a:lstStyle/>
          <a:p>
            <a:pPr rtl="1" algn="r" indent="0" marL="0">
              <a:buNone/>
            </a:pPr>
            <a:r>
              <a:rPr lang="ar-SA" altLang="en-US" sz="900" dirty="0">
                <a:solidFill>
                  <a:srgbClr val="6E7FAA"/>
                </a:solidFill>
                <a:latin typeface="IBM Plex Sans Arabic" pitchFamily="34" charset="0"/>
                <a:ea typeface="IBM Plex Sans Arabic" pitchFamily="34" charset="-122"/>
                <a:cs typeface="IBM Plex Sans Arabic" pitchFamily="34" charset="-120"/>
              </a:rPr>
              <a:t>NestHire · اجتماع الانطلاق</a:t>
            </a:r>
            <a:endParaRPr lang="ar-SA" sz="900" dirty="0"/>
          </a:p>
        </p:txBody>
      </p:sp>
      <p:sp>
        <p:nvSpPr>
          <p:cNvPr id="6" name="Text 3"/>
          <p:cNvSpPr txBox="1"/>
          <p:nvPr/>
        </p:nvSpPr>
        <p:spPr>
          <a:xfrm>
            <a:off x="594360" y="6400800"/>
            <a:ext cx="1097280" cy="228600"/>
          </a:xfrm>
          <a:prstGeom prst="rect">
            <a:avLst/>
          </a:prstGeom>
          <a:noFill/>
          <a:ln/>
        </p:spPr>
        <p:txBody>
          <a:bodyPr wrap="square" lIns="0" tIns="0" rIns="0" bIns="0" rtlCol="0" anchor="t"/>
          <a:lstStyle/>
          <a:p>
            <a:pPr algn="l" indent="0" marL="0">
              <a:buNone/>
            </a:pPr>
            <a:r>
              <a:rPr lang="ar-SA" altLang="en-US" sz="900" dirty="0">
                <a:solidFill>
                  <a:srgbClr val="6E7FAA"/>
                </a:solidFill>
                <a:latin typeface="IBM Plex Sans Arabic" pitchFamily="34" charset="0"/>
                <a:ea typeface="IBM Plex Sans Arabic" pitchFamily="34" charset="-122"/>
                <a:cs typeface="IBM Plex Sans Arabic" pitchFamily="34" charset="-120"/>
              </a:rPr>
              <a:t>10 / 18</a:t>
            </a:r>
            <a:endParaRPr lang="ar-SA" sz="900" dirty="0"/>
          </a:p>
        </p:txBody>
      </p:sp>
      <p:sp>
        <p:nvSpPr>
          <p:cNvPr id="7" name="Shape 4"/>
          <p:cNvSpPr/>
          <p:nvPr/>
        </p:nvSpPr>
        <p:spPr>
          <a:xfrm>
            <a:off x="3931920" y="1828800"/>
            <a:ext cx="7665415" cy="731520"/>
          </a:xfrm>
          <a:prstGeom prst="roundRect">
            <a:avLst>
              <a:gd name="adj" fmla="val 17500"/>
            </a:avLst>
          </a:prstGeom>
          <a:solidFill>
            <a:srgbClr val="0B1634"/>
          </a:solidFill>
          <a:ln w="9525">
            <a:solidFill>
              <a:srgbClr val="1E3570"/>
            </a:solidFill>
            <a:prstDash val="solid"/>
          </a:ln>
        </p:spPr>
      </p:sp>
      <p:sp>
        <p:nvSpPr>
          <p:cNvPr id="8" name="Shape 5"/>
          <p:cNvSpPr/>
          <p:nvPr/>
        </p:nvSpPr>
        <p:spPr>
          <a:xfrm>
            <a:off x="10938967" y="1956816"/>
            <a:ext cx="475488" cy="475488"/>
          </a:xfrm>
          <a:prstGeom prst="ellipse">
            <a:avLst/>
          </a:prstGeom>
          <a:solidFill>
            <a:srgbClr val="10204A"/>
          </a:solidFill>
          <a:ln w="9525">
            <a:solidFill>
              <a:srgbClr val="1E3570"/>
            </a:solidFill>
            <a:prstDash val="solid"/>
          </a:ln>
        </p:spPr>
      </p:sp>
      <p:pic>
        <p:nvPicPr>
          <p:cNvPr id="9" name="Image 1" descr="preencoded.png">    </p:cNvPr>
          <p:cNvPicPr>
            <a:picLocks noChangeAspect="1"/>
          </p:cNvPicPr>
          <p:nvPr/>
        </p:nvPicPr>
        <p:blipFill>
          <a:blip r:embed="rId3"/>
          <a:stretch>
            <a:fillRect/>
          </a:stretch>
        </p:blipFill>
        <p:spPr>
          <a:xfrm>
            <a:off x="11062594" y="2080443"/>
            <a:ext cx="228234" cy="228234"/>
          </a:xfrm>
          <a:prstGeom prst="rect">
            <a:avLst/>
          </a:prstGeom>
        </p:spPr>
      </p:pic>
      <p:sp>
        <p:nvSpPr>
          <p:cNvPr id="10" name="Text 6"/>
          <p:cNvSpPr txBox="1"/>
          <p:nvPr/>
        </p:nvSpPr>
        <p:spPr>
          <a:xfrm>
            <a:off x="9174175" y="1920240"/>
            <a:ext cx="1691640" cy="310896"/>
          </a:xfrm>
          <a:prstGeom prst="rect">
            <a:avLst/>
          </a:prstGeom>
          <a:noFill/>
          <a:ln/>
        </p:spPr>
        <p:txBody>
          <a:bodyPr wrap="square" lIns="0" tIns="0" rIns="0" bIns="0" rtlCol="0" anchor="t"/>
          <a:lstStyle/>
          <a:p>
            <a:pPr rtl="1" algn="r" indent="0" marL="0">
              <a:buNone/>
            </a:pPr>
            <a:r>
              <a:rPr lang="ar-SA" altLang="en-US" sz="1500" b="1" dirty="0">
                <a:solidFill>
                  <a:srgbClr val="F3F6FD"/>
                </a:solidFill>
                <a:latin typeface="IBM Plex Sans Arabic" pitchFamily="34" charset="0"/>
                <a:ea typeface="IBM Plex Sans Arabic" pitchFamily="34" charset="-122"/>
                <a:cs typeface="IBM Plex Sans Arabic" pitchFamily="34" charset="-120"/>
              </a:rPr>
              <a:t>الواجهة</a:t>
            </a:r>
            <a:endParaRPr lang="ar-SA" sz="1500" dirty="0"/>
          </a:p>
        </p:txBody>
      </p:sp>
      <p:sp>
        <p:nvSpPr>
          <p:cNvPr id="11" name="Text 7"/>
          <p:cNvSpPr txBox="1"/>
          <p:nvPr/>
        </p:nvSpPr>
        <p:spPr>
          <a:xfrm>
            <a:off x="9174175" y="2231136"/>
            <a:ext cx="1691640" cy="237744"/>
          </a:xfrm>
          <a:prstGeom prst="rect">
            <a:avLst/>
          </a:prstGeom>
          <a:noFill/>
          <a:ln/>
        </p:spPr>
        <p:txBody>
          <a:bodyPr wrap="square" lIns="0" tIns="0" rIns="0" bIns="0" rtlCol="0" anchor="t"/>
          <a:lstStyle/>
          <a:p>
            <a:pPr rtl="1" algn="r" indent="0" marL="0">
              <a:buNone/>
            </a:pPr>
            <a:r>
              <a:rPr lang="ar-SA" altLang="en-US" sz="1100" b="1" dirty="0">
                <a:solidFill>
                  <a:srgbClr val="3EE0F5"/>
                </a:solidFill>
                <a:latin typeface="IBM Plex Sans Arabic" pitchFamily="34" charset="0"/>
                <a:ea typeface="IBM Plex Sans Arabic" pitchFamily="34" charset="-122"/>
                <a:cs typeface="IBM Plex Sans Arabic" pitchFamily="34" charset="-120"/>
              </a:rPr>
              <a:t>Frontend</a:t>
            </a:r>
            <a:endParaRPr lang="ar-SA" sz="1100" dirty="0"/>
          </a:p>
        </p:txBody>
      </p:sp>
      <p:sp>
        <p:nvSpPr>
          <p:cNvPr id="12" name="Shape 8"/>
          <p:cNvSpPr/>
          <p:nvPr/>
        </p:nvSpPr>
        <p:spPr>
          <a:xfrm>
            <a:off x="8135417" y="2011680"/>
            <a:ext cx="855878" cy="365760"/>
          </a:xfrm>
          <a:prstGeom prst="roundRect">
            <a:avLst>
              <a:gd name="adj" fmla="val 50000"/>
            </a:avLst>
          </a:prstGeom>
          <a:solidFill>
            <a:srgbClr val="050B1E"/>
          </a:solidFill>
          <a:ln w="9525">
            <a:solidFill>
              <a:srgbClr val="1E3570"/>
            </a:solidFill>
            <a:prstDash val="solid"/>
          </a:ln>
        </p:spPr>
      </p:sp>
      <p:sp>
        <p:nvSpPr>
          <p:cNvPr id="13" name="Text 9"/>
          <p:cNvSpPr txBox="1"/>
          <p:nvPr/>
        </p:nvSpPr>
        <p:spPr>
          <a:xfrm>
            <a:off x="8135417" y="2011680"/>
            <a:ext cx="855878" cy="365760"/>
          </a:xfrm>
          <a:prstGeom prst="rect">
            <a:avLst/>
          </a:prstGeom>
          <a:noFill/>
          <a:ln/>
        </p:spPr>
        <p:txBody>
          <a:bodyPr wrap="square" lIns="0" tIns="0" rIns="0" bIns="0" rtlCol="0" anchor="ctr"/>
          <a:lstStyle/>
          <a:p>
            <a:pPr rtl="1" algn="ctr" indent="0" marL="0">
              <a:buNone/>
            </a:pPr>
            <a:r>
              <a:rPr lang="ar-SA" altLang="en-US" sz="1200" b="1" dirty="0">
                <a:solidFill>
                  <a:srgbClr val="F3F6FD"/>
                </a:solidFill>
                <a:latin typeface="IBM Plex Sans Arabic" pitchFamily="34" charset="0"/>
                <a:ea typeface="IBM Plex Sans Arabic" pitchFamily="34" charset="-122"/>
                <a:cs typeface="IBM Plex Sans Arabic" pitchFamily="34" charset="-120"/>
              </a:rPr>
              <a:t>Next.js</a:t>
            </a:r>
            <a:endParaRPr lang="ar-SA" sz="1200" dirty="0"/>
          </a:p>
        </p:txBody>
      </p:sp>
      <p:sp>
        <p:nvSpPr>
          <p:cNvPr id="14" name="Shape 10"/>
          <p:cNvSpPr/>
          <p:nvPr/>
        </p:nvSpPr>
        <p:spPr>
          <a:xfrm>
            <a:off x="6928409" y="2011680"/>
            <a:ext cx="1097280" cy="365760"/>
          </a:xfrm>
          <a:prstGeom prst="roundRect">
            <a:avLst>
              <a:gd name="adj" fmla="val 50000"/>
            </a:avLst>
          </a:prstGeom>
          <a:solidFill>
            <a:srgbClr val="050B1E"/>
          </a:solidFill>
          <a:ln w="9525">
            <a:solidFill>
              <a:srgbClr val="1E3570"/>
            </a:solidFill>
            <a:prstDash val="solid"/>
          </a:ln>
        </p:spPr>
      </p:sp>
      <p:sp>
        <p:nvSpPr>
          <p:cNvPr id="15" name="Text 11"/>
          <p:cNvSpPr txBox="1"/>
          <p:nvPr/>
        </p:nvSpPr>
        <p:spPr>
          <a:xfrm>
            <a:off x="6928409" y="2011680"/>
            <a:ext cx="1097280" cy="365760"/>
          </a:xfrm>
          <a:prstGeom prst="rect">
            <a:avLst/>
          </a:prstGeom>
          <a:noFill/>
          <a:ln/>
        </p:spPr>
        <p:txBody>
          <a:bodyPr wrap="square" lIns="0" tIns="0" rIns="0" bIns="0" rtlCol="0" anchor="ctr"/>
          <a:lstStyle/>
          <a:p>
            <a:pPr rtl="1" algn="ctr" indent="0" marL="0">
              <a:buNone/>
            </a:pPr>
            <a:r>
              <a:rPr lang="ar-SA" altLang="en-US" sz="1200" b="1" dirty="0">
                <a:solidFill>
                  <a:srgbClr val="F3F6FD"/>
                </a:solidFill>
                <a:latin typeface="IBM Plex Sans Arabic" pitchFamily="34" charset="0"/>
                <a:ea typeface="IBM Plex Sans Arabic" pitchFamily="34" charset="-122"/>
                <a:cs typeface="IBM Plex Sans Arabic" pitchFamily="34" charset="-120"/>
              </a:rPr>
              <a:t>TypeScript</a:t>
            </a:r>
            <a:endParaRPr lang="ar-SA" sz="1200" dirty="0"/>
          </a:p>
        </p:txBody>
      </p:sp>
      <p:sp>
        <p:nvSpPr>
          <p:cNvPr id="16" name="Shape 12"/>
          <p:cNvSpPr/>
          <p:nvPr/>
        </p:nvSpPr>
        <p:spPr>
          <a:xfrm>
            <a:off x="5882335" y="2011680"/>
            <a:ext cx="936346" cy="365760"/>
          </a:xfrm>
          <a:prstGeom prst="roundRect">
            <a:avLst>
              <a:gd name="adj" fmla="val 50000"/>
            </a:avLst>
          </a:prstGeom>
          <a:solidFill>
            <a:srgbClr val="050B1E"/>
          </a:solidFill>
          <a:ln w="9525">
            <a:solidFill>
              <a:srgbClr val="1E3570"/>
            </a:solidFill>
            <a:prstDash val="solid"/>
          </a:ln>
        </p:spPr>
      </p:sp>
      <p:sp>
        <p:nvSpPr>
          <p:cNvPr id="17" name="Text 13"/>
          <p:cNvSpPr txBox="1"/>
          <p:nvPr/>
        </p:nvSpPr>
        <p:spPr>
          <a:xfrm>
            <a:off x="5882335" y="2011680"/>
            <a:ext cx="936346" cy="365760"/>
          </a:xfrm>
          <a:prstGeom prst="rect">
            <a:avLst/>
          </a:prstGeom>
          <a:noFill/>
          <a:ln/>
        </p:spPr>
        <p:txBody>
          <a:bodyPr wrap="square" lIns="0" tIns="0" rIns="0" bIns="0" rtlCol="0" anchor="ctr"/>
          <a:lstStyle/>
          <a:p>
            <a:pPr rtl="1" algn="ctr" indent="0" marL="0">
              <a:buNone/>
            </a:pPr>
            <a:r>
              <a:rPr lang="ar-SA" altLang="en-US" sz="1200" b="1" dirty="0">
                <a:solidFill>
                  <a:srgbClr val="F3F6FD"/>
                </a:solidFill>
                <a:latin typeface="IBM Plex Sans Arabic" pitchFamily="34" charset="0"/>
                <a:ea typeface="IBM Plex Sans Arabic" pitchFamily="34" charset="-122"/>
                <a:cs typeface="IBM Plex Sans Arabic" pitchFamily="34" charset="-120"/>
              </a:rPr>
              <a:t>Tailwind</a:t>
            </a:r>
            <a:endParaRPr lang="ar-SA" sz="1200" dirty="0"/>
          </a:p>
        </p:txBody>
      </p:sp>
      <p:sp>
        <p:nvSpPr>
          <p:cNvPr id="18" name="Shape 14"/>
          <p:cNvSpPr/>
          <p:nvPr/>
        </p:nvSpPr>
        <p:spPr>
          <a:xfrm>
            <a:off x="3931920" y="2679192"/>
            <a:ext cx="7665415" cy="731520"/>
          </a:xfrm>
          <a:prstGeom prst="roundRect">
            <a:avLst>
              <a:gd name="adj" fmla="val 17500"/>
            </a:avLst>
          </a:prstGeom>
          <a:solidFill>
            <a:srgbClr val="0B1634"/>
          </a:solidFill>
          <a:ln w="9525">
            <a:solidFill>
              <a:srgbClr val="1E3570"/>
            </a:solidFill>
            <a:prstDash val="solid"/>
          </a:ln>
        </p:spPr>
      </p:sp>
      <p:sp>
        <p:nvSpPr>
          <p:cNvPr id="19" name="Shape 15"/>
          <p:cNvSpPr/>
          <p:nvPr/>
        </p:nvSpPr>
        <p:spPr>
          <a:xfrm>
            <a:off x="10938967" y="2807208"/>
            <a:ext cx="475488" cy="475488"/>
          </a:xfrm>
          <a:prstGeom prst="ellipse">
            <a:avLst/>
          </a:prstGeom>
          <a:solidFill>
            <a:srgbClr val="10204A"/>
          </a:solidFill>
          <a:ln w="9525">
            <a:solidFill>
              <a:srgbClr val="1E3570"/>
            </a:solidFill>
            <a:prstDash val="solid"/>
          </a:ln>
        </p:spPr>
      </p:sp>
      <p:pic>
        <p:nvPicPr>
          <p:cNvPr id="20" name="Image 2" descr="preencoded.png">    </p:cNvPr>
          <p:cNvPicPr>
            <a:picLocks noChangeAspect="1"/>
          </p:cNvPicPr>
          <p:nvPr/>
        </p:nvPicPr>
        <p:blipFill>
          <a:blip r:embed="rId4"/>
          <a:stretch>
            <a:fillRect/>
          </a:stretch>
        </p:blipFill>
        <p:spPr>
          <a:xfrm>
            <a:off x="11062594" y="2930835"/>
            <a:ext cx="228234" cy="228234"/>
          </a:xfrm>
          <a:prstGeom prst="rect">
            <a:avLst/>
          </a:prstGeom>
        </p:spPr>
      </p:pic>
      <p:sp>
        <p:nvSpPr>
          <p:cNvPr id="21" name="Text 16"/>
          <p:cNvSpPr txBox="1"/>
          <p:nvPr/>
        </p:nvSpPr>
        <p:spPr>
          <a:xfrm>
            <a:off x="9174175" y="2770632"/>
            <a:ext cx="1691640" cy="310896"/>
          </a:xfrm>
          <a:prstGeom prst="rect">
            <a:avLst/>
          </a:prstGeom>
          <a:noFill/>
          <a:ln/>
        </p:spPr>
        <p:txBody>
          <a:bodyPr wrap="square" lIns="0" tIns="0" rIns="0" bIns="0" rtlCol="0" anchor="t"/>
          <a:lstStyle/>
          <a:p>
            <a:pPr rtl="1" algn="r" indent="0" marL="0">
              <a:buNone/>
            </a:pPr>
            <a:r>
              <a:rPr lang="ar-SA" altLang="en-US" sz="1500" b="1" dirty="0">
                <a:solidFill>
                  <a:srgbClr val="F3F6FD"/>
                </a:solidFill>
                <a:latin typeface="IBM Plex Sans Arabic" pitchFamily="34" charset="0"/>
                <a:ea typeface="IBM Plex Sans Arabic" pitchFamily="34" charset="-122"/>
                <a:cs typeface="IBM Plex Sans Arabic" pitchFamily="34" charset="-120"/>
              </a:rPr>
              <a:t>الخادم والـAPI</a:t>
            </a:r>
            <a:endParaRPr lang="ar-SA" sz="1500" dirty="0"/>
          </a:p>
        </p:txBody>
      </p:sp>
      <p:sp>
        <p:nvSpPr>
          <p:cNvPr id="22" name="Text 17"/>
          <p:cNvSpPr txBox="1"/>
          <p:nvPr/>
        </p:nvSpPr>
        <p:spPr>
          <a:xfrm>
            <a:off x="9174175" y="3081528"/>
            <a:ext cx="1691640" cy="237744"/>
          </a:xfrm>
          <a:prstGeom prst="rect">
            <a:avLst/>
          </a:prstGeom>
          <a:noFill/>
          <a:ln/>
        </p:spPr>
        <p:txBody>
          <a:bodyPr wrap="square" lIns="0" tIns="0" rIns="0" bIns="0" rtlCol="0" anchor="t"/>
          <a:lstStyle/>
          <a:p>
            <a:pPr rtl="1" algn="r" indent="0" marL="0">
              <a:buNone/>
            </a:pPr>
            <a:r>
              <a:rPr lang="ar-SA" altLang="en-US" sz="1100" b="1" dirty="0">
                <a:solidFill>
                  <a:srgbClr val="3EE0F5"/>
                </a:solidFill>
                <a:latin typeface="IBM Plex Sans Arabic" pitchFamily="34" charset="0"/>
                <a:ea typeface="IBM Plex Sans Arabic" pitchFamily="34" charset="-122"/>
                <a:cs typeface="IBM Plex Sans Arabic" pitchFamily="34" charset="-120"/>
              </a:rPr>
              <a:t>Backend</a:t>
            </a:r>
            <a:endParaRPr lang="ar-SA" sz="1100" dirty="0"/>
          </a:p>
        </p:txBody>
      </p:sp>
      <p:sp>
        <p:nvSpPr>
          <p:cNvPr id="23" name="Shape 18"/>
          <p:cNvSpPr/>
          <p:nvPr/>
        </p:nvSpPr>
        <p:spPr>
          <a:xfrm>
            <a:off x="8135417" y="2862072"/>
            <a:ext cx="855878" cy="365760"/>
          </a:xfrm>
          <a:prstGeom prst="roundRect">
            <a:avLst>
              <a:gd name="adj" fmla="val 50000"/>
            </a:avLst>
          </a:prstGeom>
          <a:solidFill>
            <a:srgbClr val="050B1E"/>
          </a:solidFill>
          <a:ln w="9525">
            <a:solidFill>
              <a:srgbClr val="1E3570"/>
            </a:solidFill>
            <a:prstDash val="solid"/>
          </a:ln>
        </p:spPr>
      </p:sp>
      <p:sp>
        <p:nvSpPr>
          <p:cNvPr id="24" name="Text 19"/>
          <p:cNvSpPr txBox="1"/>
          <p:nvPr/>
        </p:nvSpPr>
        <p:spPr>
          <a:xfrm>
            <a:off x="8135417" y="2862072"/>
            <a:ext cx="855878" cy="365760"/>
          </a:xfrm>
          <a:prstGeom prst="rect">
            <a:avLst/>
          </a:prstGeom>
          <a:noFill/>
          <a:ln/>
        </p:spPr>
        <p:txBody>
          <a:bodyPr wrap="square" lIns="0" tIns="0" rIns="0" bIns="0" rtlCol="0" anchor="ctr"/>
          <a:lstStyle/>
          <a:p>
            <a:pPr rtl="1" algn="ctr" indent="0" marL="0">
              <a:buNone/>
            </a:pPr>
            <a:r>
              <a:rPr lang="ar-SA" altLang="en-US" sz="1200" b="1" dirty="0">
                <a:solidFill>
                  <a:srgbClr val="F3F6FD"/>
                </a:solidFill>
                <a:latin typeface="IBM Plex Sans Arabic" pitchFamily="34" charset="0"/>
                <a:ea typeface="IBM Plex Sans Arabic" pitchFamily="34" charset="-122"/>
                <a:cs typeface="IBM Plex Sans Arabic" pitchFamily="34" charset="-120"/>
              </a:rPr>
              <a:t>FastAPI</a:t>
            </a:r>
            <a:endParaRPr lang="ar-SA" sz="1200" dirty="0"/>
          </a:p>
        </p:txBody>
      </p:sp>
      <p:sp>
        <p:nvSpPr>
          <p:cNvPr id="25" name="Shape 20"/>
          <p:cNvSpPr/>
          <p:nvPr/>
        </p:nvSpPr>
        <p:spPr>
          <a:xfrm>
            <a:off x="7250278" y="2862072"/>
            <a:ext cx="775411" cy="365760"/>
          </a:xfrm>
          <a:prstGeom prst="roundRect">
            <a:avLst>
              <a:gd name="adj" fmla="val 50000"/>
            </a:avLst>
          </a:prstGeom>
          <a:solidFill>
            <a:srgbClr val="050B1E"/>
          </a:solidFill>
          <a:ln w="9525">
            <a:solidFill>
              <a:srgbClr val="1E3570"/>
            </a:solidFill>
            <a:prstDash val="solid"/>
          </a:ln>
        </p:spPr>
      </p:sp>
      <p:sp>
        <p:nvSpPr>
          <p:cNvPr id="26" name="Text 21"/>
          <p:cNvSpPr txBox="1"/>
          <p:nvPr/>
        </p:nvSpPr>
        <p:spPr>
          <a:xfrm>
            <a:off x="7250278" y="2862072"/>
            <a:ext cx="775411" cy="365760"/>
          </a:xfrm>
          <a:prstGeom prst="rect">
            <a:avLst/>
          </a:prstGeom>
          <a:noFill/>
          <a:ln/>
        </p:spPr>
        <p:txBody>
          <a:bodyPr wrap="square" lIns="0" tIns="0" rIns="0" bIns="0" rtlCol="0" anchor="ctr"/>
          <a:lstStyle/>
          <a:p>
            <a:pPr rtl="1" algn="ctr" indent="0" marL="0">
              <a:buNone/>
            </a:pPr>
            <a:r>
              <a:rPr lang="ar-SA" altLang="en-US" sz="1200" b="1" dirty="0">
                <a:solidFill>
                  <a:srgbClr val="F3F6FD"/>
                </a:solidFill>
                <a:latin typeface="IBM Plex Sans Arabic" pitchFamily="34" charset="0"/>
                <a:ea typeface="IBM Plex Sans Arabic" pitchFamily="34" charset="-122"/>
                <a:cs typeface="IBM Plex Sans Arabic" pitchFamily="34" charset="-120"/>
              </a:rPr>
              <a:t>Python</a:t>
            </a:r>
            <a:endParaRPr lang="ar-SA" sz="1200" dirty="0"/>
          </a:p>
        </p:txBody>
      </p:sp>
      <p:sp>
        <p:nvSpPr>
          <p:cNvPr id="27" name="Shape 22"/>
          <p:cNvSpPr/>
          <p:nvPr/>
        </p:nvSpPr>
        <p:spPr>
          <a:xfrm>
            <a:off x="6204204" y="2862072"/>
            <a:ext cx="936346" cy="365760"/>
          </a:xfrm>
          <a:prstGeom prst="roundRect">
            <a:avLst>
              <a:gd name="adj" fmla="val 50000"/>
            </a:avLst>
          </a:prstGeom>
          <a:solidFill>
            <a:srgbClr val="050B1E"/>
          </a:solidFill>
          <a:ln w="9525">
            <a:solidFill>
              <a:srgbClr val="1E3570"/>
            </a:solidFill>
            <a:prstDash val="solid"/>
          </a:ln>
        </p:spPr>
      </p:sp>
      <p:sp>
        <p:nvSpPr>
          <p:cNvPr id="28" name="Text 23"/>
          <p:cNvSpPr txBox="1"/>
          <p:nvPr/>
        </p:nvSpPr>
        <p:spPr>
          <a:xfrm>
            <a:off x="6204204" y="2862072"/>
            <a:ext cx="936346" cy="365760"/>
          </a:xfrm>
          <a:prstGeom prst="rect">
            <a:avLst/>
          </a:prstGeom>
          <a:noFill/>
          <a:ln/>
        </p:spPr>
        <p:txBody>
          <a:bodyPr wrap="square" lIns="0" tIns="0" rIns="0" bIns="0" rtlCol="0" anchor="ctr"/>
          <a:lstStyle/>
          <a:p>
            <a:pPr rtl="1" algn="ctr" indent="0" marL="0">
              <a:buNone/>
            </a:pPr>
            <a:r>
              <a:rPr lang="ar-SA" altLang="en-US" sz="1200" b="1" dirty="0">
                <a:solidFill>
                  <a:srgbClr val="F3F6FD"/>
                </a:solidFill>
                <a:latin typeface="IBM Plex Sans Arabic" pitchFamily="34" charset="0"/>
                <a:ea typeface="IBM Plex Sans Arabic" pitchFamily="34" charset="-122"/>
                <a:cs typeface="IBM Plex Sans Arabic" pitchFamily="34" charset="-120"/>
              </a:rPr>
              <a:t>JWT Auth</a:t>
            </a:r>
            <a:endParaRPr lang="ar-SA" sz="1200" dirty="0"/>
          </a:p>
        </p:txBody>
      </p:sp>
      <p:sp>
        <p:nvSpPr>
          <p:cNvPr id="29" name="Shape 24"/>
          <p:cNvSpPr/>
          <p:nvPr/>
        </p:nvSpPr>
        <p:spPr>
          <a:xfrm>
            <a:off x="3931920" y="3529584"/>
            <a:ext cx="7665415" cy="731520"/>
          </a:xfrm>
          <a:prstGeom prst="roundRect">
            <a:avLst>
              <a:gd name="adj" fmla="val 17500"/>
            </a:avLst>
          </a:prstGeom>
          <a:solidFill>
            <a:srgbClr val="0C2152"/>
          </a:solidFill>
          <a:ln w="15875">
            <a:solidFill>
              <a:srgbClr val="3EE0F5"/>
            </a:solidFill>
            <a:prstDash val="solid"/>
          </a:ln>
        </p:spPr>
      </p:sp>
      <p:sp>
        <p:nvSpPr>
          <p:cNvPr id="30" name="Shape 25"/>
          <p:cNvSpPr/>
          <p:nvPr/>
        </p:nvSpPr>
        <p:spPr>
          <a:xfrm>
            <a:off x="10938967" y="3657600"/>
            <a:ext cx="475488" cy="475488"/>
          </a:xfrm>
          <a:prstGeom prst="ellipse">
            <a:avLst/>
          </a:prstGeom>
          <a:solidFill>
            <a:srgbClr val="10204A"/>
          </a:solidFill>
          <a:ln w="9525">
            <a:solidFill>
              <a:srgbClr val="1E3570"/>
            </a:solidFill>
            <a:prstDash val="solid"/>
          </a:ln>
        </p:spPr>
      </p:sp>
      <p:pic>
        <p:nvPicPr>
          <p:cNvPr id="31" name="Image 3" descr="preencoded.png">    </p:cNvPr>
          <p:cNvPicPr>
            <a:picLocks noChangeAspect="1"/>
          </p:cNvPicPr>
          <p:nvPr/>
        </p:nvPicPr>
        <p:blipFill>
          <a:blip r:embed="rId5"/>
          <a:stretch>
            <a:fillRect/>
          </a:stretch>
        </p:blipFill>
        <p:spPr>
          <a:xfrm>
            <a:off x="11062594" y="3781227"/>
            <a:ext cx="228234" cy="228234"/>
          </a:xfrm>
          <a:prstGeom prst="rect">
            <a:avLst/>
          </a:prstGeom>
        </p:spPr>
      </p:pic>
      <p:sp>
        <p:nvSpPr>
          <p:cNvPr id="32" name="Text 26"/>
          <p:cNvSpPr txBox="1"/>
          <p:nvPr/>
        </p:nvSpPr>
        <p:spPr>
          <a:xfrm>
            <a:off x="9174175" y="3621024"/>
            <a:ext cx="1691640" cy="310896"/>
          </a:xfrm>
          <a:prstGeom prst="rect">
            <a:avLst/>
          </a:prstGeom>
          <a:noFill/>
          <a:ln/>
        </p:spPr>
        <p:txBody>
          <a:bodyPr wrap="square" lIns="0" tIns="0" rIns="0" bIns="0" rtlCol="0" anchor="t"/>
          <a:lstStyle/>
          <a:p>
            <a:pPr rtl="1" algn="r" indent="0" marL="0">
              <a:buNone/>
            </a:pPr>
            <a:r>
              <a:rPr lang="ar-SA" altLang="en-US" sz="1500" b="1" dirty="0">
                <a:solidFill>
                  <a:srgbClr val="F3F6FD"/>
                </a:solidFill>
                <a:latin typeface="IBM Plex Sans Arabic" pitchFamily="34" charset="0"/>
                <a:ea typeface="IBM Plex Sans Arabic" pitchFamily="34" charset="-122"/>
                <a:cs typeface="IBM Plex Sans Arabic" pitchFamily="34" charset="-120"/>
              </a:rPr>
              <a:t>الذكاء</a:t>
            </a:r>
            <a:endParaRPr lang="ar-SA" sz="1500" dirty="0"/>
          </a:p>
        </p:txBody>
      </p:sp>
      <p:sp>
        <p:nvSpPr>
          <p:cNvPr id="33" name="Text 27"/>
          <p:cNvSpPr txBox="1"/>
          <p:nvPr/>
        </p:nvSpPr>
        <p:spPr>
          <a:xfrm>
            <a:off x="9174175" y="3931920"/>
            <a:ext cx="1691640" cy="237744"/>
          </a:xfrm>
          <a:prstGeom prst="rect">
            <a:avLst/>
          </a:prstGeom>
          <a:noFill/>
          <a:ln/>
        </p:spPr>
        <p:txBody>
          <a:bodyPr wrap="square" lIns="0" tIns="0" rIns="0" bIns="0" rtlCol="0" anchor="t"/>
          <a:lstStyle/>
          <a:p>
            <a:pPr rtl="1" algn="r" indent="0" marL="0">
              <a:buNone/>
            </a:pPr>
            <a:r>
              <a:rPr lang="ar-SA" altLang="en-US" sz="1100" b="1" dirty="0">
                <a:solidFill>
                  <a:srgbClr val="3EE0F5"/>
                </a:solidFill>
                <a:latin typeface="IBM Plex Sans Arabic" pitchFamily="34" charset="0"/>
                <a:ea typeface="IBM Plex Sans Arabic" pitchFamily="34" charset="-122"/>
                <a:cs typeface="IBM Plex Sans Arabic" pitchFamily="34" charset="-120"/>
              </a:rPr>
              <a:t>AI / ML</a:t>
            </a:r>
            <a:endParaRPr lang="ar-SA" sz="1100" dirty="0"/>
          </a:p>
        </p:txBody>
      </p:sp>
      <p:sp>
        <p:nvSpPr>
          <p:cNvPr id="34" name="Shape 28"/>
          <p:cNvSpPr/>
          <p:nvPr/>
        </p:nvSpPr>
        <p:spPr>
          <a:xfrm>
            <a:off x="8457286" y="3712464"/>
            <a:ext cx="534010" cy="365760"/>
          </a:xfrm>
          <a:prstGeom prst="roundRect">
            <a:avLst>
              <a:gd name="adj" fmla="val 50000"/>
            </a:avLst>
          </a:prstGeom>
          <a:solidFill>
            <a:srgbClr val="050B1E"/>
          </a:solidFill>
          <a:ln w="9525">
            <a:solidFill>
              <a:srgbClr val="1E3570"/>
            </a:solidFill>
            <a:prstDash val="solid"/>
          </a:ln>
        </p:spPr>
      </p:sp>
      <p:sp>
        <p:nvSpPr>
          <p:cNvPr id="35" name="Text 29"/>
          <p:cNvSpPr txBox="1"/>
          <p:nvPr/>
        </p:nvSpPr>
        <p:spPr>
          <a:xfrm>
            <a:off x="8457286" y="3712464"/>
            <a:ext cx="534010" cy="365760"/>
          </a:xfrm>
          <a:prstGeom prst="rect">
            <a:avLst/>
          </a:prstGeom>
          <a:noFill/>
          <a:ln/>
        </p:spPr>
        <p:txBody>
          <a:bodyPr wrap="square" lIns="0" tIns="0" rIns="0" bIns="0" rtlCol="0" anchor="ctr"/>
          <a:lstStyle/>
          <a:p>
            <a:pPr rtl="1" algn="ctr" indent="0" marL="0">
              <a:buNone/>
            </a:pPr>
            <a:r>
              <a:rPr lang="ar-SA" altLang="en-US" sz="1200" b="1" dirty="0">
                <a:solidFill>
                  <a:srgbClr val="F3F6FD"/>
                </a:solidFill>
                <a:latin typeface="IBM Plex Sans Arabic" pitchFamily="34" charset="0"/>
                <a:ea typeface="IBM Plex Sans Arabic" pitchFamily="34" charset="-122"/>
                <a:cs typeface="IBM Plex Sans Arabic" pitchFamily="34" charset="-120"/>
              </a:rPr>
              <a:t>LLM</a:t>
            </a:r>
            <a:endParaRPr lang="ar-SA" sz="1200" dirty="0"/>
          </a:p>
        </p:txBody>
      </p:sp>
      <p:sp>
        <p:nvSpPr>
          <p:cNvPr id="36" name="Shape 30"/>
          <p:cNvSpPr/>
          <p:nvPr/>
        </p:nvSpPr>
        <p:spPr>
          <a:xfrm>
            <a:off x="7250278" y="3712464"/>
            <a:ext cx="1097280" cy="365760"/>
          </a:xfrm>
          <a:prstGeom prst="roundRect">
            <a:avLst>
              <a:gd name="adj" fmla="val 50000"/>
            </a:avLst>
          </a:prstGeom>
          <a:solidFill>
            <a:srgbClr val="050B1E"/>
          </a:solidFill>
          <a:ln w="9525">
            <a:solidFill>
              <a:srgbClr val="1E3570"/>
            </a:solidFill>
            <a:prstDash val="solid"/>
          </a:ln>
        </p:spPr>
      </p:sp>
      <p:sp>
        <p:nvSpPr>
          <p:cNvPr id="37" name="Text 31"/>
          <p:cNvSpPr txBox="1"/>
          <p:nvPr/>
        </p:nvSpPr>
        <p:spPr>
          <a:xfrm>
            <a:off x="7250278" y="3712464"/>
            <a:ext cx="1097280" cy="365760"/>
          </a:xfrm>
          <a:prstGeom prst="rect">
            <a:avLst/>
          </a:prstGeom>
          <a:noFill/>
          <a:ln/>
        </p:spPr>
        <p:txBody>
          <a:bodyPr wrap="square" lIns="0" tIns="0" rIns="0" bIns="0" rtlCol="0" anchor="ctr"/>
          <a:lstStyle/>
          <a:p>
            <a:pPr rtl="1" algn="ctr" indent="0" marL="0">
              <a:buNone/>
            </a:pPr>
            <a:r>
              <a:rPr lang="ar-SA" altLang="en-US" sz="1200" b="1" dirty="0">
                <a:solidFill>
                  <a:srgbClr val="F3F6FD"/>
                </a:solidFill>
                <a:latin typeface="IBM Plex Sans Arabic" pitchFamily="34" charset="0"/>
                <a:ea typeface="IBM Plex Sans Arabic" pitchFamily="34" charset="-122"/>
                <a:cs typeface="IBM Plex Sans Arabic" pitchFamily="34" charset="-120"/>
              </a:rPr>
              <a:t>Embeddings</a:t>
            </a:r>
            <a:endParaRPr lang="ar-SA" sz="1200" dirty="0"/>
          </a:p>
        </p:txBody>
      </p:sp>
      <p:sp>
        <p:nvSpPr>
          <p:cNvPr id="38" name="Shape 32"/>
          <p:cNvSpPr/>
          <p:nvPr/>
        </p:nvSpPr>
        <p:spPr>
          <a:xfrm>
            <a:off x="5319065" y="3712464"/>
            <a:ext cx="1821485" cy="365760"/>
          </a:xfrm>
          <a:prstGeom prst="roundRect">
            <a:avLst>
              <a:gd name="adj" fmla="val 50000"/>
            </a:avLst>
          </a:prstGeom>
          <a:solidFill>
            <a:srgbClr val="050B1E"/>
          </a:solidFill>
          <a:ln w="9525">
            <a:solidFill>
              <a:srgbClr val="1E3570"/>
            </a:solidFill>
            <a:prstDash val="solid"/>
          </a:ln>
        </p:spPr>
      </p:sp>
      <p:sp>
        <p:nvSpPr>
          <p:cNvPr id="39" name="Text 33"/>
          <p:cNvSpPr txBox="1"/>
          <p:nvPr/>
        </p:nvSpPr>
        <p:spPr>
          <a:xfrm>
            <a:off x="5319065" y="3712464"/>
            <a:ext cx="1821485" cy="365760"/>
          </a:xfrm>
          <a:prstGeom prst="rect">
            <a:avLst/>
          </a:prstGeom>
          <a:noFill/>
          <a:ln/>
        </p:spPr>
        <p:txBody>
          <a:bodyPr wrap="square" lIns="0" tIns="0" rIns="0" bIns="0" rtlCol="0" anchor="ctr"/>
          <a:lstStyle/>
          <a:p>
            <a:pPr rtl="1" algn="ctr" indent="0" marL="0">
              <a:buNone/>
            </a:pPr>
            <a:r>
              <a:rPr lang="ar-SA" altLang="en-US" sz="1200" b="1" dirty="0">
                <a:solidFill>
                  <a:srgbClr val="F3F6FD"/>
                </a:solidFill>
                <a:latin typeface="IBM Plex Sans Arabic" pitchFamily="34" charset="0"/>
                <a:ea typeface="IBM Plex Sans Arabic" pitchFamily="34" charset="-122"/>
                <a:cs typeface="IBM Plex Sans Arabic" pitchFamily="34" charset="-120"/>
              </a:rPr>
              <a:t>Deterministic Rules</a:t>
            </a:r>
            <a:endParaRPr lang="ar-SA" sz="1200" dirty="0"/>
          </a:p>
        </p:txBody>
      </p:sp>
      <p:sp>
        <p:nvSpPr>
          <p:cNvPr id="40" name="Shape 34"/>
          <p:cNvSpPr/>
          <p:nvPr/>
        </p:nvSpPr>
        <p:spPr>
          <a:xfrm>
            <a:off x="4755794" y="3712464"/>
            <a:ext cx="453542" cy="365760"/>
          </a:xfrm>
          <a:prstGeom prst="roundRect">
            <a:avLst>
              <a:gd name="adj" fmla="val 50000"/>
            </a:avLst>
          </a:prstGeom>
          <a:solidFill>
            <a:srgbClr val="050B1E"/>
          </a:solidFill>
          <a:ln w="9525">
            <a:solidFill>
              <a:srgbClr val="1E3570"/>
            </a:solidFill>
            <a:prstDash val="solid"/>
          </a:ln>
        </p:spPr>
      </p:sp>
      <p:sp>
        <p:nvSpPr>
          <p:cNvPr id="41" name="Text 35"/>
          <p:cNvSpPr txBox="1"/>
          <p:nvPr/>
        </p:nvSpPr>
        <p:spPr>
          <a:xfrm>
            <a:off x="4755794" y="3712464"/>
            <a:ext cx="453542" cy="365760"/>
          </a:xfrm>
          <a:prstGeom prst="rect">
            <a:avLst/>
          </a:prstGeom>
          <a:noFill/>
          <a:ln/>
        </p:spPr>
        <p:txBody>
          <a:bodyPr wrap="square" lIns="0" tIns="0" rIns="0" bIns="0" rtlCol="0" anchor="ctr"/>
          <a:lstStyle/>
          <a:p>
            <a:pPr rtl="1" algn="ctr" indent="0" marL="0">
              <a:buNone/>
            </a:pPr>
            <a:r>
              <a:rPr lang="ar-SA" altLang="en-US" sz="1200" b="1" dirty="0">
                <a:solidFill>
                  <a:srgbClr val="F3F6FD"/>
                </a:solidFill>
                <a:latin typeface="IBM Plex Sans Arabic" pitchFamily="34" charset="0"/>
                <a:ea typeface="IBM Plex Sans Arabic" pitchFamily="34" charset="-122"/>
                <a:cs typeface="IBM Plex Sans Arabic" pitchFamily="34" charset="-120"/>
              </a:rPr>
              <a:t>ML</a:t>
            </a:r>
            <a:endParaRPr lang="ar-SA" sz="1200" dirty="0"/>
          </a:p>
        </p:txBody>
      </p:sp>
      <p:sp>
        <p:nvSpPr>
          <p:cNvPr id="42" name="Shape 36"/>
          <p:cNvSpPr/>
          <p:nvPr/>
        </p:nvSpPr>
        <p:spPr>
          <a:xfrm>
            <a:off x="3931920" y="4379976"/>
            <a:ext cx="7665415" cy="731520"/>
          </a:xfrm>
          <a:prstGeom prst="roundRect">
            <a:avLst>
              <a:gd name="adj" fmla="val 17500"/>
            </a:avLst>
          </a:prstGeom>
          <a:solidFill>
            <a:srgbClr val="0B1634"/>
          </a:solidFill>
          <a:ln w="9525">
            <a:solidFill>
              <a:srgbClr val="1E3570"/>
            </a:solidFill>
            <a:prstDash val="solid"/>
          </a:ln>
        </p:spPr>
      </p:sp>
      <p:sp>
        <p:nvSpPr>
          <p:cNvPr id="43" name="Shape 37"/>
          <p:cNvSpPr/>
          <p:nvPr/>
        </p:nvSpPr>
        <p:spPr>
          <a:xfrm>
            <a:off x="10938967" y="4507992"/>
            <a:ext cx="475488" cy="475488"/>
          </a:xfrm>
          <a:prstGeom prst="ellipse">
            <a:avLst/>
          </a:prstGeom>
          <a:solidFill>
            <a:srgbClr val="10204A"/>
          </a:solidFill>
          <a:ln w="9525">
            <a:solidFill>
              <a:srgbClr val="1E3570"/>
            </a:solidFill>
            <a:prstDash val="solid"/>
          </a:ln>
        </p:spPr>
      </p:sp>
      <p:pic>
        <p:nvPicPr>
          <p:cNvPr id="44" name="Image 4" descr="preencoded.png">    </p:cNvPr>
          <p:cNvPicPr>
            <a:picLocks noChangeAspect="1"/>
          </p:cNvPicPr>
          <p:nvPr/>
        </p:nvPicPr>
        <p:blipFill>
          <a:blip r:embed="rId6"/>
          <a:stretch>
            <a:fillRect/>
          </a:stretch>
        </p:blipFill>
        <p:spPr>
          <a:xfrm>
            <a:off x="11062594" y="4631619"/>
            <a:ext cx="228234" cy="228234"/>
          </a:xfrm>
          <a:prstGeom prst="rect">
            <a:avLst/>
          </a:prstGeom>
        </p:spPr>
      </p:pic>
      <p:sp>
        <p:nvSpPr>
          <p:cNvPr id="45" name="Text 38"/>
          <p:cNvSpPr txBox="1"/>
          <p:nvPr/>
        </p:nvSpPr>
        <p:spPr>
          <a:xfrm>
            <a:off x="9174175" y="4471416"/>
            <a:ext cx="1691640" cy="310896"/>
          </a:xfrm>
          <a:prstGeom prst="rect">
            <a:avLst/>
          </a:prstGeom>
          <a:noFill/>
          <a:ln/>
        </p:spPr>
        <p:txBody>
          <a:bodyPr wrap="square" lIns="0" tIns="0" rIns="0" bIns="0" rtlCol="0" anchor="t"/>
          <a:lstStyle/>
          <a:p>
            <a:pPr rtl="1" algn="r" indent="0" marL="0">
              <a:buNone/>
            </a:pPr>
            <a:r>
              <a:rPr lang="ar-SA" altLang="en-US" sz="1500" b="1" dirty="0">
                <a:solidFill>
                  <a:srgbClr val="F3F6FD"/>
                </a:solidFill>
                <a:latin typeface="IBM Plex Sans Arabic" pitchFamily="34" charset="0"/>
                <a:ea typeface="IBM Plex Sans Arabic" pitchFamily="34" charset="-122"/>
                <a:cs typeface="IBM Plex Sans Arabic" pitchFamily="34" charset="-120"/>
              </a:rPr>
              <a:t>البيانات</a:t>
            </a:r>
            <a:endParaRPr lang="ar-SA" sz="1500" dirty="0"/>
          </a:p>
        </p:txBody>
      </p:sp>
      <p:sp>
        <p:nvSpPr>
          <p:cNvPr id="46" name="Text 39"/>
          <p:cNvSpPr txBox="1"/>
          <p:nvPr/>
        </p:nvSpPr>
        <p:spPr>
          <a:xfrm>
            <a:off x="9174175" y="4782312"/>
            <a:ext cx="1691640" cy="237744"/>
          </a:xfrm>
          <a:prstGeom prst="rect">
            <a:avLst/>
          </a:prstGeom>
          <a:noFill/>
          <a:ln/>
        </p:spPr>
        <p:txBody>
          <a:bodyPr wrap="square" lIns="0" tIns="0" rIns="0" bIns="0" rtlCol="0" anchor="t"/>
          <a:lstStyle/>
          <a:p>
            <a:pPr rtl="1" algn="r" indent="0" marL="0">
              <a:buNone/>
            </a:pPr>
            <a:r>
              <a:rPr lang="ar-SA" altLang="en-US" sz="1100" b="1" dirty="0">
                <a:solidFill>
                  <a:srgbClr val="3EE0F5"/>
                </a:solidFill>
                <a:latin typeface="IBM Plex Sans Arabic" pitchFamily="34" charset="0"/>
                <a:ea typeface="IBM Plex Sans Arabic" pitchFamily="34" charset="-122"/>
                <a:cs typeface="IBM Plex Sans Arabic" pitchFamily="34" charset="-120"/>
              </a:rPr>
              <a:t>Data</a:t>
            </a:r>
            <a:endParaRPr lang="ar-SA" sz="1100" dirty="0"/>
          </a:p>
        </p:txBody>
      </p:sp>
      <p:sp>
        <p:nvSpPr>
          <p:cNvPr id="47" name="Shape 40"/>
          <p:cNvSpPr/>
          <p:nvPr/>
        </p:nvSpPr>
        <p:spPr>
          <a:xfrm>
            <a:off x="7894015" y="4562856"/>
            <a:ext cx="1097280" cy="365760"/>
          </a:xfrm>
          <a:prstGeom prst="roundRect">
            <a:avLst>
              <a:gd name="adj" fmla="val 50000"/>
            </a:avLst>
          </a:prstGeom>
          <a:solidFill>
            <a:srgbClr val="050B1E"/>
          </a:solidFill>
          <a:ln w="9525">
            <a:solidFill>
              <a:srgbClr val="1E3570"/>
            </a:solidFill>
            <a:prstDash val="solid"/>
          </a:ln>
        </p:spPr>
      </p:sp>
      <p:sp>
        <p:nvSpPr>
          <p:cNvPr id="48" name="Text 41"/>
          <p:cNvSpPr txBox="1"/>
          <p:nvPr/>
        </p:nvSpPr>
        <p:spPr>
          <a:xfrm>
            <a:off x="7894015" y="4562856"/>
            <a:ext cx="1097280" cy="365760"/>
          </a:xfrm>
          <a:prstGeom prst="rect">
            <a:avLst/>
          </a:prstGeom>
          <a:noFill/>
          <a:ln/>
        </p:spPr>
        <p:txBody>
          <a:bodyPr wrap="square" lIns="0" tIns="0" rIns="0" bIns="0" rtlCol="0" anchor="ctr"/>
          <a:lstStyle/>
          <a:p>
            <a:pPr rtl="1" algn="ctr" indent="0" marL="0">
              <a:buNone/>
            </a:pPr>
            <a:r>
              <a:rPr lang="ar-SA" altLang="en-US" sz="1200" b="1" dirty="0">
                <a:solidFill>
                  <a:srgbClr val="F3F6FD"/>
                </a:solidFill>
                <a:latin typeface="IBM Plex Sans Arabic" pitchFamily="34" charset="0"/>
                <a:ea typeface="IBM Plex Sans Arabic" pitchFamily="34" charset="-122"/>
                <a:cs typeface="IBM Plex Sans Arabic" pitchFamily="34" charset="-120"/>
              </a:rPr>
              <a:t>PostgreSQL</a:t>
            </a:r>
            <a:endParaRPr lang="ar-SA" sz="1200" dirty="0"/>
          </a:p>
        </p:txBody>
      </p:sp>
      <p:sp>
        <p:nvSpPr>
          <p:cNvPr id="49" name="Shape 42"/>
          <p:cNvSpPr/>
          <p:nvPr/>
        </p:nvSpPr>
        <p:spPr>
          <a:xfrm>
            <a:off x="6847942" y="4562856"/>
            <a:ext cx="936346" cy="365760"/>
          </a:xfrm>
          <a:prstGeom prst="roundRect">
            <a:avLst>
              <a:gd name="adj" fmla="val 50000"/>
            </a:avLst>
          </a:prstGeom>
          <a:solidFill>
            <a:srgbClr val="050B1E"/>
          </a:solidFill>
          <a:ln w="9525">
            <a:solidFill>
              <a:srgbClr val="1E3570"/>
            </a:solidFill>
            <a:prstDash val="solid"/>
          </a:ln>
        </p:spPr>
      </p:sp>
      <p:sp>
        <p:nvSpPr>
          <p:cNvPr id="50" name="Text 43"/>
          <p:cNvSpPr txBox="1"/>
          <p:nvPr/>
        </p:nvSpPr>
        <p:spPr>
          <a:xfrm>
            <a:off x="6847942" y="4562856"/>
            <a:ext cx="936346" cy="365760"/>
          </a:xfrm>
          <a:prstGeom prst="rect">
            <a:avLst/>
          </a:prstGeom>
          <a:noFill/>
          <a:ln/>
        </p:spPr>
        <p:txBody>
          <a:bodyPr wrap="square" lIns="0" tIns="0" rIns="0" bIns="0" rtlCol="0" anchor="ctr"/>
          <a:lstStyle/>
          <a:p>
            <a:pPr rtl="1" algn="ctr" indent="0" marL="0">
              <a:buNone/>
            </a:pPr>
            <a:r>
              <a:rPr lang="ar-SA" altLang="en-US" sz="1200" b="1" dirty="0">
                <a:solidFill>
                  <a:srgbClr val="F3F6FD"/>
                </a:solidFill>
                <a:latin typeface="IBM Plex Sans Arabic" pitchFamily="34" charset="0"/>
                <a:ea typeface="IBM Plex Sans Arabic" pitchFamily="34" charset="-122"/>
                <a:cs typeface="IBM Plex Sans Arabic" pitchFamily="34" charset="-120"/>
              </a:rPr>
              <a:t>pgvector</a:t>
            </a:r>
            <a:endParaRPr lang="ar-SA" sz="1200" dirty="0"/>
          </a:p>
        </p:txBody>
      </p:sp>
      <p:sp>
        <p:nvSpPr>
          <p:cNvPr id="51" name="Shape 44"/>
          <p:cNvSpPr/>
          <p:nvPr/>
        </p:nvSpPr>
        <p:spPr>
          <a:xfrm>
            <a:off x="5238598" y="4562856"/>
            <a:ext cx="1499616" cy="365760"/>
          </a:xfrm>
          <a:prstGeom prst="roundRect">
            <a:avLst>
              <a:gd name="adj" fmla="val 50000"/>
            </a:avLst>
          </a:prstGeom>
          <a:solidFill>
            <a:srgbClr val="050B1E"/>
          </a:solidFill>
          <a:ln w="9525">
            <a:solidFill>
              <a:srgbClr val="1E3570"/>
            </a:solidFill>
            <a:prstDash val="solid"/>
          </a:ln>
        </p:spPr>
      </p:sp>
      <p:sp>
        <p:nvSpPr>
          <p:cNvPr id="52" name="Text 45"/>
          <p:cNvSpPr txBox="1"/>
          <p:nvPr/>
        </p:nvSpPr>
        <p:spPr>
          <a:xfrm>
            <a:off x="5238598" y="4562856"/>
            <a:ext cx="1499616" cy="365760"/>
          </a:xfrm>
          <a:prstGeom prst="rect">
            <a:avLst/>
          </a:prstGeom>
          <a:noFill/>
          <a:ln/>
        </p:spPr>
        <p:txBody>
          <a:bodyPr wrap="square" lIns="0" tIns="0" rIns="0" bIns="0" rtlCol="0" anchor="ctr"/>
          <a:lstStyle/>
          <a:p>
            <a:pPr rtl="1" algn="ctr" indent="0" marL="0">
              <a:buNone/>
            </a:pPr>
            <a:r>
              <a:rPr lang="ar-SA" altLang="en-US" sz="1200" b="1" dirty="0">
                <a:solidFill>
                  <a:srgbClr val="F3F6FD"/>
                </a:solidFill>
                <a:latin typeface="IBM Plex Sans Arabic" pitchFamily="34" charset="0"/>
                <a:ea typeface="IBM Plex Sans Arabic" pitchFamily="34" charset="-122"/>
                <a:cs typeface="IBM Plex Sans Arabic" pitchFamily="34" charset="-120"/>
              </a:rPr>
              <a:t>Redis + Workers</a:t>
            </a:r>
            <a:endParaRPr lang="ar-SA" sz="1200" dirty="0"/>
          </a:p>
        </p:txBody>
      </p:sp>
      <p:sp>
        <p:nvSpPr>
          <p:cNvPr id="53" name="Shape 46"/>
          <p:cNvSpPr/>
          <p:nvPr/>
        </p:nvSpPr>
        <p:spPr>
          <a:xfrm>
            <a:off x="4031590" y="4562856"/>
            <a:ext cx="1097280" cy="365760"/>
          </a:xfrm>
          <a:prstGeom prst="roundRect">
            <a:avLst>
              <a:gd name="adj" fmla="val 50000"/>
            </a:avLst>
          </a:prstGeom>
          <a:solidFill>
            <a:srgbClr val="050B1E"/>
          </a:solidFill>
          <a:ln w="9525">
            <a:solidFill>
              <a:srgbClr val="1E3570"/>
            </a:solidFill>
            <a:prstDash val="solid"/>
          </a:ln>
        </p:spPr>
      </p:sp>
      <p:sp>
        <p:nvSpPr>
          <p:cNvPr id="54" name="Text 47"/>
          <p:cNvSpPr txBox="1"/>
          <p:nvPr/>
        </p:nvSpPr>
        <p:spPr>
          <a:xfrm>
            <a:off x="4031590" y="4562856"/>
            <a:ext cx="1097280" cy="365760"/>
          </a:xfrm>
          <a:prstGeom prst="rect">
            <a:avLst/>
          </a:prstGeom>
          <a:noFill/>
          <a:ln/>
        </p:spPr>
        <p:txBody>
          <a:bodyPr wrap="square" lIns="0" tIns="0" rIns="0" bIns="0" rtlCol="0" anchor="ctr"/>
          <a:lstStyle/>
          <a:p>
            <a:pPr rtl="1" algn="ctr" indent="0" marL="0">
              <a:buNone/>
            </a:pPr>
            <a:r>
              <a:rPr lang="ar-SA" altLang="en-US" sz="1200" b="1" dirty="0">
                <a:solidFill>
                  <a:srgbClr val="F3F6FD"/>
                </a:solidFill>
                <a:latin typeface="IBM Plex Sans Arabic" pitchFamily="34" charset="0"/>
                <a:ea typeface="IBM Plex Sans Arabic" pitchFamily="34" charset="-122"/>
                <a:cs typeface="IBM Plex Sans Arabic" pitchFamily="34" charset="-120"/>
              </a:rPr>
              <a:t>S3 Storage</a:t>
            </a:r>
            <a:endParaRPr lang="ar-SA" sz="1200" dirty="0"/>
          </a:p>
        </p:txBody>
      </p:sp>
      <p:sp>
        <p:nvSpPr>
          <p:cNvPr id="55" name="Shape 48"/>
          <p:cNvSpPr/>
          <p:nvPr/>
        </p:nvSpPr>
        <p:spPr>
          <a:xfrm>
            <a:off x="3931920" y="5230368"/>
            <a:ext cx="7665415" cy="731520"/>
          </a:xfrm>
          <a:prstGeom prst="roundRect">
            <a:avLst>
              <a:gd name="adj" fmla="val 17500"/>
            </a:avLst>
          </a:prstGeom>
          <a:solidFill>
            <a:srgbClr val="0B1634"/>
          </a:solidFill>
          <a:ln w="9525">
            <a:solidFill>
              <a:srgbClr val="1E3570"/>
            </a:solidFill>
            <a:prstDash val="solid"/>
          </a:ln>
        </p:spPr>
      </p:sp>
      <p:sp>
        <p:nvSpPr>
          <p:cNvPr id="56" name="Shape 49"/>
          <p:cNvSpPr/>
          <p:nvPr/>
        </p:nvSpPr>
        <p:spPr>
          <a:xfrm>
            <a:off x="10938967" y="5358384"/>
            <a:ext cx="475488" cy="475488"/>
          </a:xfrm>
          <a:prstGeom prst="ellipse">
            <a:avLst/>
          </a:prstGeom>
          <a:solidFill>
            <a:srgbClr val="10204A"/>
          </a:solidFill>
          <a:ln w="9525">
            <a:solidFill>
              <a:srgbClr val="1E3570"/>
            </a:solidFill>
            <a:prstDash val="solid"/>
          </a:ln>
        </p:spPr>
      </p:sp>
      <p:pic>
        <p:nvPicPr>
          <p:cNvPr id="57" name="Image 5" descr="preencoded.png">    </p:cNvPr>
          <p:cNvPicPr>
            <a:picLocks noChangeAspect="1"/>
          </p:cNvPicPr>
          <p:nvPr/>
        </p:nvPicPr>
        <p:blipFill>
          <a:blip r:embed="rId7"/>
          <a:stretch>
            <a:fillRect/>
          </a:stretch>
        </p:blipFill>
        <p:spPr>
          <a:xfrm>
            <a:off x="11062594" y="5482011"/>
            <a:ext cx="228234" cy="228234"/>
          </a:xfrm>
          <a:prstGeom prst="rect">
            <a:avLst/>
          </a:prstGeom>
        </p:spPr>
      </p:pic>
      <p:sp>
        <p:nvSpPr>
          <p:cNvPr id="58" name="Text 50"/>
          <p:cNvSpPr txBox="1"/>
          <p:nvPr/>
        </p:nvSpPr>
        <p:spPr>
          <a:xfrm>
            <a:off x="9174175" y="5321808"/>
            <a:ext cx="1691640" cy="310896"/>
          </a:xfrm>
          <a:prstGeom prst="rect">
            <a:avLst/>
          </a:prstGeom>
          <a:noFill/>
          <a:ln/>
        </p:spPr>
        <p:txBody>
          <a:bodyPr wrap="square" lIns="0" tIns="0" rIns="0" bIns="0" rtlCol="0" anchor="t"/>
          <a:lstStyle/>
          <a:p>
            <a:pPr rtl="1" algn="r" indent="0" marL="0">
              <a:buNone/>
            </a:pPr>
            <a:r>
              <a:rPr lang="ar-SA" altLang="en-US" sz="1500" b="1" dirty="0">
                <a:solidFill>
                  <a:srgbClr val="F3F6FD"/>
                </a:solidFill>
                <a:latin typeface="IBM Plex Sans Arabic" pitchFamily="34" charset="0"/>
                <a:ea typeface="IBM Plex Sans Arabic" pitchFamily="34" charset="-122"/>
                <a:cs typeface="IBM Plex Sans Arabic" pitchFamily="34" charset="-120"/>
              </a:rPr>
              <a:t>البنية والتشغيل</a:t>
            </a:r>
            <a:endParaRPr lang="ar-SA" sz="1500" dirty="0"/>
          </a:p>
        </p:txBody>
      </p:sp>
      <p:sp>
        <p:nvSpPr>
          <p:cNvPr id="59" name="Text 51"/>
          <p:cNvSpPr txBox="1"/>
          <p:nvPr/>
        </p:nvSpPr>
        <p:spPr>
          <a:xfrm>
            <a:off x="9174175" y="5632704"/>
            <a:ext cx="1691640" cy="237744"/>
          </a:xfrm>
          <a:prstGeom prst="rect">
            <a:avLst/>
          </a:prstGeom>
          <a:noFill/>
          <a:ln/>
        </p:spPr>
        <p:txBody>
          <a:bodyPr wrap="square" lIns="0" tIns="0" rIns="0" bIns="0" rtlCol="0" anchor="t"/>
          <a:lstStyle/>
          <a:p>
            <a:pPr rtl="1" algn="r" indent="0" marL="0">
              <a:buNone/>
            </a:pPr>
            <a:r>
              <a:rPr lang="ar-SA" altLang="en-US" sz="1100" b="1" dirty="0">
                <a:solidFill>
                  <a:srgbClr val="3EE0F5"/>
                </a:solidFill>
                <a:latin typeface="IBM Plex Sans Arabic" pitchFamily="34" charset="0"/>
                <a:ea typeface="IBM Plex Sans Arabic" pitchFamily="34" charset="-122"/>
                <a:cs typeface="IBM Plex Sans Arabic" pitchFamily="34" charset="-120"/>
              </a:rPr>
              <a:t>Infrastructure</a:t>
            </a:r>
            <a:endParaRPr lang="ar-SA" sz="1100" dirty="0"/>
          </a:p>
        </p:txBody>
      </p:sp>
      <p:sp>
        <p:nvSpPr>
          <p:cNvPr id="60" name="Shape 52"/>
          <p:cNvSpPr/>
          <p:nvPr/>
        </p:nvSpPr>
        <p:spPr>
          <a:xfrm>
            <a:off x="8215884" y="5413248"/>
            <a:ext cx="775411" cy="365760"/>
          </a:xfrm>
          <a:prstGeom prst="roundRect">
            <a:avLst>
              <a:gd name="adj" fmla="val 50000"/>
            </a:avLst>
          </a:prstGeom>
          <a:solidFill>
            <a:srgbClr val="050B1E"/>
          </a:solidFill>
          <a:ln w="9525">
            <a:solidFill>
              <a:srgbClr val="1E3570"/>
            </a:solidFill>
            <a:prstDash val="solid"/>
          </a:ln>
        </p:spPr>
      </p:sp>
      <p:sp>
        <p:nvSpPr>
          <p:cNvPr id="61" name="Text 53"/>
          <p:cNvSpPr txBox="1"/>
          <p:nvPr/>
        </p:nvSpPr>
        <p:spPr>
          <a:xfrm>
            <a:off x="8215884" y="5413248"/>
            <a:ext cx="775411" cy="365760"/>
          </a:xfrm>
          <a:prstGeom prst="rect">
            <a:avLst/>
          </a:prstGeom>
          <a:noFill/>
          <a:ln/>
        </p:spPr>
        <p:txBody>
          <a:bodyPr wrap="square" lIns="0" tIns="0" rIns="0" bIns="0" rtlCol="0" anchor="ctr"/>
          <a:lstStyle/>
          <a:p>
            <a:pPr rtl="1" algn="ctr" indent="0" marL="0">
              <a:buNone/>
            </a:pPr>
            <a:r>
              <a:rPr lang="ar-SA" altLang="en-US" sz="1200" b="1" dirty="0">
                <a:solidFill>
                  <a:srgbClr val="F3F6FD"/>
                </a:solidFill>
                <a:latin typeface="IBM Plex Sans Arabic" pitchFamily="34" charset="0"/>
                <a:ea typeface="IBM Plex Sans Arabic" pitchFamily="34" charset="-122"/>
                <a:cs typeface="IBM Plex Sans Arabic" pitchFamily="34" charset="-120"/>
              </a:rPr>
              <a:t>Docker</a:t>
            </a:r>
            <a:endParaRPr lang="ar-SA" sz="1200" dirty="0"/>
          </a:p>
        </p:txBody>
      </p:sp>
      <p:sp>
        <p:nvSpPr>
          <p:cNvPr id="62" name="Shape 54"/>
          <p:cNvSpPr/>
          <p:nvPr/>
        </p:nvSpPr>
        <p:spPr>
          <a:xfrm>
            <a:off x="7330745" y="5413248"/>
            <a:ext cx="775411" cy="365760"/>
          </a:xfrm>
          <a:prstGeom prst="roundRect">
            <a:avLst>
              <a:gd name="adj" fmla="val 50000"/>
            </a:avLst>
          </a:prstGeom>
          <a:solidFill>
            <a:srgbClr val="050B1E"/>
          </a:solidFill>
          <a:ln w="9525">
            <a:solidFill>
              <a:srgbClr val="1E3570"/>
            </a:solidFill>
            <a:prstDash val="solid"/>
          </a:ln>
        </p:spPr>
      </p:sp>
      <p:sp>
        <p:nvSpPr>
          <p:cNvPr id="63" name="Text 55"/>
          <p:cNvSpPr txBox="1"/>
          <p:nvPr/>
        </p:nvSpPr>
        <p:spPr>
          <a:xfrm>
            <a:off x="7330745" y="5413248"/>
            <a:ext cx="775411" cy="365760"/>
          </a:xfrm>
          <a:prstGeom prst="rect">
            <a:avLst/>
          </a:prstGeom>
          <a:noFill/>
          <a:ln/>
        </p:spPr>
        <p:txBody>
          <a:bodyPr wrap="square" lIns="0" tIns="0" rIns="0" bIns="0" rtlCol="0" anchor="ctr"/>
          <a:lstStyle/>
          <a:p>
            <a:pPr rtl="1" algn="ctr" indent="0" marL="0">
              <a:buNone/>
            </a:pPr>
            <a:r>
              <a:rPr lang="ar-SA" altLang="en-US" sz="1200" b="1" dirty="0">
                <a:solidFill>
                  <a:srgbClr val="F3F6FD"/>
                </a:solidFill>
                <a:latin typeface="IBM Plex Sans Arabic" pitchFamily="34" charset="0"/>
                <a:ea typeface="IBM Plex Sans Arabic" pitchFamily="34" charset="-122"/>
                <a:cs typeface="IBM Plex Sans Arabic" pitchFamily="34" charset="-120"/>
              </a:rPr>
              <a:t>GitHub</a:t>
            </a:r>
            <a:endParaRPr lang="ar-SA" sz="1200" dirty="0"/>
          </a:p>
        </p:txBody>
      </p:sp>
      <p:sp>
        <p:nvSpPr>
          <p:cNvPr id="64" name="Shape 56"/>
          <p:cNvSpPr/>
          <p:nvPr/>
        </p:nvSpPr>
        <p:spPr>
          <a:xfrm>
            <a:off x="6526073" y="5413248"/>
            <a:ext cx="694944" cy="365760"/>
          </a:xfrm>
          <a:prstGeom prst="roundRect">
            <a:avLst>
              <a:gd name="adj" fmla="val 50000"/>
            </a:avLst>
          </a:prstGeom>
          <a:solidFill>
            <a:srgbClr val="050B1E"/>
          </a:solidFill>
          <a:ln w="9525">
            <a:solidFill>
              <a:srgbClr val="1E3570"/>
            </a:solidFill>
            <a:prstDash val="solid"/>
          </a:ln>
        </p:spPr>
      </p:sp>
      <p:sp>
        <p:nvSpPr>
          <p:cNvPr id="65" name="Text 57"/>
          <p:cNvSpPr txBox="1"/>
          <p:nvPr/>
        </p:nvSpPr>
        <p:spPr>
          <a:xfrm>
            <a:off x="6526073" y="5413248"/>
            <a:ext cx="694944" cy="365760"/>
          </a:xfrm>
          <a:prstGeom prst="rect">
            <a:avLst/>
          </a:prstGeom>
          <a:noFill/>
          <a:ln/>
        </p:spPr>
        <p:txBody>
          <a:bodyPr wrap="square" lIns="0" tIns="0" rIns="0" bIns="0" rtlCol="0" anchor="ctr"/>
          <a:lstStyle/>
          <a:p>
            <a:pPr rtl="1" algn="ctr" indent="0" marL="0">
              <a:buNone/>
            </a:pPr>
            <a:r>
              <a:rPr lang="ar-SA" altLang="en-US" sz="1200" b="1" dirty="0">
                <a:solidFill>
                  <a:srgbClr val="F3F6FD"/>
                </a:solidFill>
                <a:latin typeface="IBM Plex Sans Arabic" pitchFamily="34" charset="0"/>
                <a:ea typeface="IBM Plex Sans Arabic" pitchFamily="34" charset="-122"/>
                <a:cs typeface="IBM Plex Sans Arabic" pitchFamily="34" charset="-120"/>
              </a:rPr>
              <a:t>CI/CD</a:t>
            </a:r>
            <a:endParaRPr lang="ar-SA" sz="1200" dirty="0"/>
          </a:p>
        </p:txBody>
      </p:sp>
      <p:sp>
        <p:nvSpPr>
          <p:cNvPr id="66" name="Shape 58"/>
          <p:cNvSpPr/>
          <p:nvPr/>
        </p:nvSpPr>
        <p:spPr>
          <a:xfrm>
            <a:off x="5077663" y="5413248"/>
            <a:ext cx="1338682" cy="365760"/>
          </a:xfrm>
          <a:prstGeom prst="roundRect">
            <a:avLst>
              <a:gd name="adj" fmla="val 50000"/>
            </a:avLst>
          </a:prstGeom>
          <a:solidFill>
            <a:srgbClr val="050B1E"/>
          </a:solidFill>
          <a:ln w="9525">
            <a:solidFill>
              <a:srgbClr val="1E3570"/>
            </a:solidFill>
            <a:prstDash val="solid"/>
          </a:ln>
        </p:spPr>
      </p:sp>
      <p:sp>
        <p:nvSpPr>
          <p:cNvPr id="67" name="Text 59"/>
          <p:cNvSpPr txBox="1"/>
          <p:nvPr/>
        </p:nvSpPr>
        <p:spPr>
          <a:xfrm>
            <a:off x="5077663" y="5413248"/>
            <a:ext cx="1338682" cy="365760"/>
          </a:xfrm>
          <a:prstGeom prst="rect">
            <a:avLst/>
          </a:prstGeom>
          <a:noFill/>
          <a:ln/>
        </p:spPr>
        <p:txBody>
          <a:bodyPr wrap="square" lIns="0" tIns="0" rIns="0" bIns="0" rtlCol="0" anchor="ctr"/>
          <a:lstStyle/>
          <a:p>
            <a:pPr rtl="1" algn="ctr" indent="0" marL="0">
              <a:buNone/>
            </a:pPr>
            <a:r>
              <a:rPr lang="ar-SA" altLang="en-US" sz="1200" b="1" dirty="0">
                <a:solidFill>
                  <a:srgbClr val="F3F6FD"/>
                </a:solidFill>
                <a:latin typeface="IBM Plex Sans Arabic" pitchFamily="34" charset="0"/>
                <a:ea typeface="IBM Plex Sans Arabic" pitchFamily="34" charset="-122"/>
                <a:cs typeface="IBM Plex Sans Arabic" pitchFamily="34" charset="-120"/>
              </a:rPr>
              <a:t>Observability</a:t>
            </a:r>
            <a:endParaRPr lang="ar-SA" sz="1200" dirty="0"/>
          </a:p>
        </p:txBody>
      </p:sp>
      <p:sp>
        <p:nvSpPr>
          <p:cNvPr id="68" name="Shape 60"/>
          <p:cNvSpPr/>
          <p:nvPr/>
        </p:nvSpPr>
        <p:spPr>
          <a:xfrm>
            <a:off x="594360" y="1828800"/>
            <a:ext cx="3063240" cy="4133088"/>
          </a:xfrm>
          <a:prstGeom prst="roundRect">
            <a:avLst>
              <a:gd name="adj" fmla="val 4179"/>
            </a:avLst>
          </a:prstGeom>
          <a:solidFill>
            <a:srgbClr val="0B1634"/>
          </a:solidFill>
          <a:ln w="9525">
            <a:solidFill>
              <a:srgbClr val="1E3570"/>
            </a:solidFill>
            <a:prstDash val="solid"/>
          </a:ln>
        </p:spPr>
      </p:sp>
      <p:sp>
        <p:nvSpPr>
          <p:cNvPr id="69" name="Text 61"/>
          <p:cNvSpPr txBox="1"/>
          <p:nvPr/>
        </p:nvSpPr>
        <p:spPr>
          <a:xfrm>
            <a:off x="822960" y="2011680"/>
            <a:ext cx="2606040" cy="320040"/>
          </a:xfrm>
          <a:prstGeom prst="rect">
            <a:avLst/>
          </a:prstGeom>
          <a:noFill/>
          <a:ln/>
        </p:spPr>
        <p:txBody>
          <a:bodyPr wrap="square" lIns="0" tIns="0" rIns="0" bIns="0" rtlCol="0" anchor="t"/>
          <a:lstStyle/>
          <a:p>
            <a:pPr rtl="1" algn="r" indent="0" marL="0">
              <a:buNone/>
            </a:pPr>
            <a:r>
              <a:rPr lang="ar-SA" altLang="en-US" sz="1600" b="1" dirty="0">
                <a:solidFill>
                  <a:srgbClr val="3EE0F5"/>
                </a:solidFill>
                <a:latin typeface="IBM Plex Sans Arabic" pitchFamily="34" charset="0"/>
                <a:ea typeface="IBM Plex Sans Arabic" pitchFamily="34" charset="-122"/>
                <a:cs typeface="IBM Plex Sans Arabic" pitchFamily="34" charset="-120"/>
              </a:rPr>
              <a:t>مبادئ معمارية</a:t>
            </a:r>
            <a:endParaRPr lang="ar-SA" sz="1600" dirty="0"/>
          </a:p>
        </p:txBody>
      </p:sp>
      <p:sp>
        <p:nvSpPr>
          <p:cNvPr id="70" name="Text 62"/>
          <p:cNvSpPr txBox="1"/>
          <p:nvPr/>
        </p:nvSpPr>
        <p:spPr>
          <a:xfrm>
            <a:off x="822960" y="2468880"/>
            <a:ext cx="2606040" cy="2377440"/>
          </a:xfrm>
          <a:prstGeom prst="rect">
            <a:avLst/>
          </a:prstGeom>
          <a:noFill/>
          <a:ln/>
        </p:spPr>
        <p:txBody>
          <a:bodyPr wrap="square" lIns="0" tIns="0" rIns="0" bIns="0" rtlCol="0" anchor="t"/>
          <a:lstStyle/>
          <a:p>
            <a:pPr rtl="1" algn="r" marL="177800" indent="-177800">
              <a:lnSpc>
                <a:spcPct val="105000"/>
              </a:lnSpc>
              <a:spcAft>
                <a:spcPts val="900"/>
              </a:spcAft>
              <a:buSzPct val="100000"/>
              <a:buChar char="●"/>
            </a:pPr>
            <a:r>
              <a:rPr lang="ar-SA" altLang="en-US" sz="1350" dirty="0">
                <a:solidFill>
                  <a:srgbClr val="F3F6FD"/>
                </a:solidFill>
                <a:latin typeface="IBM Plex Sans Arabic" pitchFamily="34" charset="0"/>
                <a:ea typeface="IBM Plex Sans Arabic" pitchFamily="34" charset="-122"/>
                <a:cs typeface="IBM Plex Sans Arabic" pitchFamily="34" charset="-120"/>
              </a:rPr>
              <a:t>Modular Monolith أولًا؛ Services فقط عند الحاجة</a:t>
            </a:r>
            <a:endParaRPr lang="ar-SA" sz="1350" dirty="0"/>
          </a:p>
          <a:p>
            <a:pPr rtl="1" algn="r" marL="177800" indent="-177800">
              <a:lnSpc>
                <a:spcPct val="105000"/>
              </a:lnSpc>
              <a:spcAft>
                <a:spcPts val="900"/>
              </a:spcAft>
              <a:buSzPct val="100000"/>
              <a:buChar char="●"/>
            </a:pPr>
            <a:r>
              <a:rPr lang="ar-SA" altLang="en-US" sz="1350" dirty="0">
                <a:solidFill>
                  <a:srgbClr val="F3F6FD"/>
                </a:solidFill>
                <a:latin typeface="IBM Plex Sans Arabic" pitchFamily="34" charset="0"/>
                <a:ea typeface="IBM Plex Sans Arabic" pitchFamily="34" charset="-122"/>
                <a:cs typeface="IBM Plex Sans Arabic" pitchFamily="34" charset="-120"/>
              </a:rPr>
              <a:t>مهام الـAI والمستندات الثقيلة Async عبر Workers</a:t>
            </a:r>
            <a:endParaRPr lang="ar-SA" sz="1350" dirty="0"/>
          </a:p>
          <a:p>
            <a:pPr rtl="1" algn="r" marL="177800" indent="-177800">
              <a:lnSpc>
                <a:spcPct val="105000"/>
              </a:lnSpc>
              <a:spcAft>
                <a:spcPts val="900"/>
              </a:spcAft>
              <a:buSzPct val="100000"/>
              <a:buChar char="●"/>
            </a:pPr>
            <a:r>
              <a:rPr lang="ar-SA" altLang="en-US" sz="1350" dirty="0">
                <a:solidFill>
                  <a:srgbClr val="F3F6FD"/>
                </a:solidFill>
                <a:latin typeface="IBM Plex Sans Arabic" pitchFamily="34" charset="0"/>
                <a:ea typeface="IBM Plex Sans Arabic" pitchFamily="34" charset="-122"/>
                <a:cs typeface="IBM Plex Sans Arabic" pitchFamily="34" charset="-120"/>
              </a:rPr>
              <a:t>الملفات خارج PostgreSQL</a:t>
            </a:r>
            <a:endParaRPr lang="ar-SA" sz="1350" dirty="0"/>
          </a:p>
          <a:p>
            <a:pPr rtl="1" algn="r" marL="177800" indent="-177800">
              <a:lnSpc>
                <a:spcPct val="105000"/>
              </a:lnSpc>
              <a:spcAft>
                <a:spcPts val="900"/>
              </a:spcAft>
              <a:buSzPct val="100000"/>
              <a:buChar char="●"/>
            </a:pPr>
            <a:r>
              <a:rPr lang="ar-SA" altLang="en-US" sz="1350" dirty="0">
                <a:solidFill>
                  <a:srgbClr val="F3F6FD"/>
                </a:solidFill>
                <a:latin typeface="IBM Plex Sans Arabic" pitchFamily="34" charset="0"/>
                <a:ea typeface="IBM Plex Sans Arabic" pitchFamily="34" charset="-122"/>
                <a:cs typeface="IBM Plex Sans Arabic" pitchFamily="34" charset="-120"/>
              </a:rPr>
              <a:t>كل Endpoint: Auth → Validation → Logic → Audit</a:t>
            </a:r>
            <a:endParaRPr lang="ar-SA" sz="1350" dirty="0"/>
          </a:p>
        </p:txBody>
      </p:sp>
      <p:sp>
        <p:nvSpPr>
          <p:cNvPr id="71" name="Shape 63"/>
          <p:cNvSpPr/>
          <p:nvPr/>
        </p:nvSpPr>
        <p:spPr>
          <a:xfrm>
            <a:off x="777240" y="5440680"/>
            <a:ext cx="2697480" cy="329184"/>
          </a:xfrm>
          <a:prstGeom prst="roundRect">
            <a:avLst>
              <a:gd name="adj" fmla="val 50000"/>
            </a:avLst>
          </a:prstGeom>
          <a:solidFill>
            <a:srgbClr val="2A1F0A"/>
          </a:solidFill>
          <a:ln w="9525">
            <a:solidFill>
              <a:srgbClr val="FFB547"/>
            </a:solidFill>
            <a:prstDash val="solid"/>
          </a:ln>
        </p:spPr>
      </p:sp>
      <p:sp>
        <p:nvSpPr>
          <p:cNvPr id="72" name="Text 64"/>
          <p:cNvSpPr txBox="1"/>
          <p:nvPr/>
        </p:nvSpPr>
        <p:spPr>
          <a:xfrm>
            <a:off x="777240" y="5440680"/>
            <a:ext cx="2697480" cy="329184"/>
          </a:xfrm>
          <a:prstGeom prst="rect">
            <a:avLst/>
          </a:prstGeom>
          <a:noFill/>
          <a:ln/>
        </p:spPr>
        <p:txBody>
          <a:bodyPr wrap="square" lIns="0" tIns="0" rIns="0" bIns="0" rtlCol="0" anchor="ctr"/>
          <a:lstStyle/>
          <a:p>
            <a:pPr rtl="1" algn="ctr" indent="0" marL="0">
              <a:buNone/>
            </a:pPr>
            <a:r>
              <a:rPr lang="ar-SA" altLang="en-US" sz="1100" b="1" dirty="0">
                <a:solidFill>
                  <a:srgbClr val="FFB547"/>
                </a:solidFill>
                <a:latin typeface="IBM Plex Sans Arabic" pitchFamily="34" charset="0"/>
                <a:ea typeface="IBM Plex Sans Arabic" pitchFamily="34" charset="-122"/>
                <a:cs typeface="IBM Plex Sans Arabic" pitchFamily="34" charset="-120"/>
              </a:rPr>
              <a:t>Stack مرجعي — يحتاج اعتمادًا اليوم</a:t>
            </a:r>
            <a:endParaRPr lang="ar-SA"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508760" y="457200"/>
            <a:ext cx="10088575" cy="274320"/>
          </a:xfrm>
          <a:prstGeom prst="rect">
            <a:avLst/>
          </a:prstGeom>
          <a:noFill/>
          <a:ln/>
        </p:spPr>
        <p:txBody>
          <a:bodyPr wrap="square" lIns="0" tIns="0" rIns="0" bIns="0" rtlCol="0" anchor="t"/>
          <a:lstStyle/>
          <a:p>
            <a:pPr rtl="1" algn="r" indent="0" marL="0">
              <a:buNone/>
            </a:pPr>
            <a:r>
              <a:rPr lang="ar-SA" altLang="en-US" sz="1200" b="1" spc="100" kern="0" dirty="0">
                <a:solidFill>
                  <a:srgbClr val="3EE0F5"/>
                </a:solidFill>
                <a:latin typeface="IBM Plex Sans Arabic" pitchFamily="34" charset="0"/>
                <a:ea typeface="IBM Plex Sans Arabic" pitchFamily="34" charset="-122"/>
                <a:cs typeface="IBM Plex Sans Arabic" pitchFamily="34" charset="-120"/>
              </a:rPr>
              <a:t>07  ·  HOW — Architecture</a:t>
            </a:r>
            <a:endParaRPr lang="ar-SA" sz="1200" dirty="0"/>
          </a:p>
        </p:txBody>
      </p:sp>
      <p:sp>
        <p:nvSpPr>
          <p:cNvPr id="3" name="Text 1"/>
          <p:cNvSpPr txBox="1"/>
          <p:nvPr/>
        </p:nvSpPr>
        <p:spPr>
          <a:xfrm>
            <a:off x="1508760" y="731520"/>
            <a:ext cx="10088575" cy="640080"/>
          </a:xfrm>
          <a:prstGeom prst="rect">
            <a:avLst/>
          </a:prstGeom>
          <a:noFill/>
          <a:ln/>
        </p:spPr>
        <p:txBody>
          <a:bodyPr wrap="square" lIns="0" tIns="0" rIns="0" bIns="0" rtlCol="0" anchor="t"/>
          <a:lstStyle/>
          <a:p>
            <a:pPr rtl="1" algn="r" indent="0" marL="0">
              <a:buNone/>
            </a:pPr>
            <a:r>
              <a:rPr lang="ar-SA" altLang="en-US" sz="3200" b="1" dirty="0">
                <a:solidFill>
                  <a:srgbClr val="F3F6FD"/>
                </a:solidFill>
                <a:latin typeface="IBM Plex Sans Arabic" pitchFamily="34" charset="0"/>
                <a:ea typeface="IBM Plex Sans Arabic" pitchFamily="34" charset="-122"/>
                <a:cs typeface="IBM Plex Sans Arabic" pitchFamily="34" charset="-120"/>
              </a:rPr>
              <a:t>Architecture المقترحة</a:t>
            </a:r>
            <a:endParaRPr lang="ar-SA" sz="3200" dirty="0"/>
          </a:p>
        </p:txBody>
      </p:sp>
      <p:pic>
        <p:nvPicPr>
          <p:cNvPr id="4" name="Image 0" descr="/tmp/claude-0/-home-user-ghassankmiqdad/d1991e4f-aee0-5e68-9a9d-3fc00accdf9d/scratchpad/build/assets/mark_sm.png">    </p:cNvPr>
          <p:cNvPicPr>
            <a:picLocks noChangeAspect="1"/>
          </p:cNvPicPr>
          <p:nvPr/>
        </p:nvPicPr>
        <p:blipFill>
          <a:blip r:embed="rId2"/>
          <a:stretch>
            <a:fillRect/>
          </a:stretch>
        </p:blipFill>
        <p:spPr>
          <a:xfrm>
            <a:off x="594360" y="475488"/>
            <a:ext cx="566928" cy="443515"/>
          </a:xfrm>
          <a:prstGeom prst="rect">
            <a:avLst/>
          </a:prstGeom>
        </p:spPr>
      </p:pic>
      <p:sp>
        <p:nvSpPr>
          <p:cNvPr id="5" name="Text 2"/>
          <p:cNvSpPr txBox="1"/>
          <p:nvPr/>
        </p:nvSpPr>
        <p:spPr>
          <a:xfrm>
            <a:off x="7939735" y="6400800"/>
            <a:ext cx="3657600" cy="228600"/>
          </a:xfrm>
          <a:prstGeom prst="rect">
            <a:avLst/>
          </a:prstGeom>
          <a:noFill/>
          <a:ln/>
        </p:spPr>
        <p:txBody>
          <a:bodyPr wrap="square" lIns="0" tIns="0" rIns="0" bIns="0" rtlCol="0" anchor="t"/>
          <a:lstStyle/>
          <a:p>
            <a:pPr rtl="1" algn="r" indent="0" marL="0">
              <a:buNone/>
            </a:pPr>
            <a:r>
              <a:rPr lang="ar-SA" altLang="en-US" sz="900" dirty="0">
                <a:solidFill>
                  <a:srgbClr val="6E7FAA"/>
                </a:solidFill>
                <a:latin typeface="IBM Plex Sans Arabic" pitchFamily="34" charset="0"/>
                <a:ea typeface="IBM Plex Sans Arabic" pitchFamily="34" charset="-122"/>
                <a:cs typeface="IBM Plex Sans Arabic" pitchFamily="34" charset="-120"/>
              </a:rPr>
              <a:t>NestHire · اجتماع الانطلاق</a:t>
            </a:r>
            <a:endParaRPr lang="ar-SA" sz="900" dirty="0"/>
          </a:p>
        </p:txBody>
      </p:sp>
      <p:sp>
        <p:nvSpPr>
          <p:cNvPr id="6" name="Text 3"/>
          <p:cNvSpPr txBox="1"/>
          <p:nvPr/>
        </p:nvSpPr>
        <p:spPr>
          <a:xfrm>
            <a:off x="594360" y="6400800"/>
            <a:ext cx="1097280" cy="228600"/>
          </a:xfrm>
          <a:prstGeom prst="rect">
            <a:avLst/>
          </a:prstGeom>
          <a:noFill/>
          <a:ln/>
        </p:spPr>
        <p:txBody>
          <a:bodyPr wrap="square" lIns="0" tIns="0" rIns="0" bIns="0" rtlCol="0" anchor="t"/>
          <a:lstStyle/>
          <a:p>
            <a:pPr algn="l" indent="0" marL="0">
              <a:buNone/>
            </a:pPr>
            <a:r>
              <a:rPr lang="ar-SA" altLang="en-US" sz="900" dirty="0">
                <a:solidFill>
                  <a:srgbClr val="6E7FAA"/>
                </a:solidFill>
                <a:latin typeface="IBM Plex Sans Arabic" pitchFamily="34" charset="0"/>
                <a:ea typeface="IBM Plex Sans Arabic" pitchFamily="34" charset="-122"/>
                <a:cs typeface="IBM Plex Sans Arabic" pitchFamily="34" charset="-120"/>
              </a:rPr>
              <a:t>11 / 18</a:t>
            </a:r>
            <a:endParaRPr lang="ar-SA" sz="900" dirty="0"/>
          </a:p>
        </p:txBody>
      </p:sp>
      <p:sp>
        <p:nvSpPr>
          <p:cNvPr id="7" name="Shape 4"/>
          <p:cNvSpPr/>
          <p:nvPr/>
        </p:nvSpPr>
        <p:spPr>
          <a:xfrm>
            <a:off x="10332720" y="3200400"/>
            <a:ext cx="1261872" cy="1097280"/>
          </a:xfrm>
          <a:prstGeom prst="roundRect">
            <a:avLst>
              <a:gd name="adj" fmla="val 11667"/>
            </a:avLst>
          </a:prstGeom>
          <a:solidFill>
            <a:srgbClr val="0B1634"/>
          </a:solidFill>
          <a:ln w="9525">
            <a:solidFill>
              <a:srgbClr val="1E3570"/>
            </a:solidFill>
            <a:prstDash val="solid"/>
          </a:ln>
        </p:spPr>
      </p:sp>
      <p:pic>
        <p:nvPicPr>
          <p:cNvPr id="8" name="Image 1" descr="preencoded.png">    </p:cNvPr>
          <p:cNvPicPr>
            <a:picLocks noChangeAspect="1"/>
          </p:cNvPicPr>
          <p:nvPr/>
        </p:nvPicPr>
        <p:blipFill>
          <a:blip r:embed="rId3"/>
          <a:stretch>
            <a:fillRect/>
          </a:stretch>
        </p:blipFill>
        <p:spPr>
          <a:xfrm>
            <a:off x="10789920" y="3328416"/>
            <a:ext cx="347472" cy="347472"/>
          </a:xfrm>
          <a:prstGeom prst="rect">
            <a:avLst/>
          </a:prstGeom>
        </p:spPr>
      </p:pic>
      <p:sp>
        <p:nvSpPr>
          <p:cNvPr id="9" name="Text 5"/>
          <p:cNvSpPr txBox="1"/>
          <p:nvPr/>
        </p:nvSpPr>
        <p:spPr>
          <a:xfrm>
            <a:off x="10405872" y="3712464"/>
            <a:ext cx="1115568" cy="274320"/>
          </a:xfrm>
          <a:prstGeom prst="rect">
            <a:avLst/>
          </a:prstGeom>
          <a:noFill/>
          <a:ln/>
        </p:spPr>
        <p:txBody>
          <a:bodyPr wrap="square" lIns="0" tIns="0" rIns="0" bIns="0" rtlCol="0" anchor="t"/>
          <a:lstStyle/>
          <a:p>
            <a:pPr rtl="1" algn="ctr" indent="0" marL="0">
              <a:buNone/>
            </a:pPr>
            <a:r>
              <a:rPr lang="ar-SA" altLang="en-US" sz="1350" b="1" dirty="0">
                <a:solidFill>
                  <a:srgbClr val="F3F6FD"/>
                </a:solidFill>
                <a:latin typeface="IBM Plex Sans Arabic" pitchFamily="34" charset="0"/>
                <a:ea typeface="IBM Plex Sans Arabic" pitchFamily="34" charset="-122"/>
                <a:cs typeface="IBM Plex Sans Arabic" pitchFamily="34" charset="-120"/>
              </a:rPr>
              <a:t>المستخدم</a:t>
            </a:r>
            <a:endParaRPr lang="ar-SA" sz="1350" dirty="0"/>
          </a:p>
        </p:txBody>
      </p:sp>
      <p:sp>
        <p:nvSpPr>
          <p:cNvPr id="10" name="Text 6"/>
          <p:cNvSpPr txBox="1"/>
          <p:nvPr/>
        </p:nvSpPr>
        <p:spPr>
          <a:xfrm>
            <a:off x="10405872" y="3986784"/>
            <a:ext cx="1115568" cy="237744"/>
          </a:xfrm>
          <a:prstGeom prst="rect">
            <a:avLst/>
          </a:prstGeom>
          <a:noFill/>
          <a:ln/>
        </p:spPr>
        <p:txBody>
          <a:bodyPr wrap="square" lIns="0" tIns="0" rIns="0" bIns="0" rtlCol="0" anchor="t"/>
          <a:lstStyle/>
          <a:p>
            <a:pPr algn="ctr" indent="0" marL="0">
              <a:buNone/>
            </a:pPr>
            <a:r>
              <a:rPr lang="ar-SA" altLang="en-US" sz="1050" dirty="0">
                <a:solidFill>
                  <a:srgbClr val="A9B7DA"/>
                </a:solidFill>
                <a:latin typeface="IBM Plex Sans Arabic" pitchFamily="34" charset="0"/>
                <a:ea typeface="IBM Plex Sans Arabic" pitchFamily="34" charset="-122"/>
                <a:cs typeface="IBM Plex Sans Arabic" pitchFamily="34" charset="-120"/>
              </a:rPr>
              <a:t>TA · Analytics</a:t>
            </a:r>
            <a:endParaRPr lang="ar-SA" sz="1050" dirty="0"/>
          </a:p>
        </p:txBody>
      </p:sp>
      <p:sp>
        <p:nvSpPr>
          <p:cNvPr id="11" name="Shape 7"/>
          <p:cNvSpPr/>
          <p:nvPr/>
        </p:nvSpPr>
        <p:spPr>
          <a:xfrm>
            <a:off x="8549640" y="3200400"/>
            <a:ext cx="1371600" cy="1097280"/>
          </a:xfrm>
          <a:prstGeom prst="roundRect">
            <a:avLst>
              <a:gd name="adj" fmla="val 11667"/>
            </a:avLst>
          </a:prstGeom>
          <a:solidFill>
            <a:srgbClr val="0B1634"/>
          </a:solidFill>
          <a:ln w="9525">
            <a:solidFill>
              <a:srgbClr val="1E3570"/>
            </a:solidFill>
            <a:prstDash val="solid"/>
          </a:ln>
        </p:spPr>
      </p:sp>
      <p:pic>
        <p:nvPicPr>
          <p:cNvPr id="12" name="Image 2" descr="preencoded.png">    </p:cNvPr>
          <p:cNvPicPr>
            <a:picLocks noChangeAspect="1"/>
          </p:cNvPicPr>
          <p:nvPr/>
        </p:nvPicPr>
        <p:blipFill>
          <a:blip r:embed="rId4"/>
          <a:stretch>
            <a:fillRect/>
          </a:stretch>
        </p:blipFill>
        <p:spPr>
          <a:xfrm>
            <a:off x="9061704" y="3328416"/>
            <a:ext cx="347472" cy="347472"/>
          </a:xfrm>
          <a:prstGeom prst="rect">
            <a:avLst/>
          </a:prstGeom>
        </p:spPr>
      </p:pic>
      <p:sp>
        <p:nvSpPr>
          <p:cNvPr id="13" name="Text 8"/>
          <p:cNvSpPr txBox="1"/>
          <p:nvPr/>
        </p:nvSpPr>
        <p:spPr>
          <a:xfrm>
            <a:off x="8622792" y="3712464"/>
            <a:ext cx="1225296" cy="274320"/>
          </a:xfrm>
          <a:prstGeom prst="rect">
            <a:avLst/>
          </a:prstGeom>
          <a:noFill/>
          <a:ln/>
        </p:spPr>
        <p:txBody>
          <a:bodyPr wrap="square" lIns="0" tIns="0" rIns="0" bIns="0" rtlCol="0" anchor="t"/>
          <a:lstStyle/>
          <a:p>
            <a:pPr rtl="1" algn="ctr" indent="0" marL="0">
              <a:buNone/>
            </a:pPr>
            <a:r>
              <a:rPr lang="ar-SA" altLang="en-US" sz="1350" b="1" dirty="0">
                <a:solidFill>
                  <a:srgbClr val="F3F6FD"/>
                </a:solidFill>
                <a:latin typeface="IBM Plex Sans Arabic" pitchFamily="34" charset="0"/>
                <a:ea typeface="IBM Plex Sans Arabic" pitchFamily="34" charset="-122"/>
                <a:cs typeface="IBM Plex Sans Arabic" pitchFamily="34" charset="-120"/>
              </a:rPr>
              <a:t>Web App</a:t>
            </a:r>
            <a:endParaRPr lang="ar-SA" sz="1350" dirty="0"/>
          </a:p>
        </p:txBody>
      </p:sp>
      <p:sp>
        <p:nvSpPr>
          <p:cNvPr id="14" name="Text 9"/>
          <p:cNvSpPr txBox="1"/>
          <p:nvPr/>
        </p:nvSpPr>
        <p:spPr>
          <a:xfrm>
            <a:off x="8622792" y="3986784"/>
            <a:ext cx="1225296" cy="237744"/>
          </a:xfrm>
          <a:prstGeom prst="rect">
            <a:avLst/>
          </a:prstGeom>
          <a:noFill/>
          <a:ln/>
        </p:spPr>
        <p:txBody>
          <a:bodyPr wrap="square" lIns="0" tIns="0" rIns="0" bIns="0" rtlCol="0" anchor="t"/>
          <a:lstStyle/>
          <a:p>
            <a:pPr algn="ctr" indent="0" marL="0">
              <a:buNone/>
            </a:pPr>
            <a:r>
              <a:rPr lang="ar-SA" altLang="en-US" sz="1050" dirty="0">
                <a:solidFill>
                  <a:srgbClr val="A9B7DA"/>
                </a:solidFill>
                <a:latin typeface="IBM Plex Sans Arabic" pitchFamily="34" charset="0"/>
                <a:ea typeface="IBM Plex Sans Arabic" pitchFamily="34" charset="-122"/>
                <a:cs typeface="IBM Plex Sans Arabic" pitchFamily="34" charset="-120"/>
              </a:rPr>
              <a:t>Next.js · TS</a:t>
            </a:r>
            <a:endParaRPr lang="ar-SA" sz="1050" dirty="0"/>
          </a:p>
        </p:txBody>
      </p:sp>
      <p:sp>
        <p:nvSpPr>
          <p:cNvPr id="15" name="Shape 10"/>
          <p:cNvSpPr/>
          <p:nvPr/>
        </p:nvSpPr>
        <p:spPr>
          <a:xfrm>
            <a:off x="6355080" y="1828800"/>
            <a:ext cx="1783080" cy="3657600"/>
          </a:xfrm>
          <a:prstGeom prst="roundRect">
            <a:avLst>
              <a:gd name="adj" fmla="val 7179"/>
            </a:avLst>
          </a:prstGeom>
          <a:solidFill>
            <a:srgbClr val="0C2152"/>
          </a:solidFill>
          <a:ln w="15875">
            <a:solidFill>
              <a:srgbClr val="3EE0F5"/>
            </a:solidFill>
            <a:prstDash val="solid"/>
          </a:ln>
        </p:spPr>
      </p:sp>
      <p:pic>
        <p:nvPicPr>
          <p:cNvPr id="16" name="Image 3" descr="preencoded.png">    </p:cNvPr>
          <p:cNvPicPr>
            <a:picLocks noChangeAspect="1"/>
          </p:cNvPicPr>
          <p:nvPr/>
        </p:nvPicPr>
        <p:blipFill>
          <a:blip r:embed="rId5"/>
          <a:stretch>
            <a:fillRect/>
          </a:stretch>
        </p:blipFill>
        <p:spPr>
          <a:xfrm>
            <a:off x="7072884" y="1956816"/>
            <a:ext cx="347472" cy="347472"/>
          </a:xfrm>
          <a:prstGeom prst="rect">
            <a:avLst/>
          </a:prstGeom>
        </p:spPr>
      </p:pic>
      <p:sp>
        <p:nvSpPr>
          <p:cNvPr id="17" name="Text 11"/>
          <p:cNvSpPr txBox="1"/>
          <p:nvPr/>
        </p:nvSpPr>
        <p:spPr>
          <a:xfrm>
            <a:off x="6355080" y="2331720"/>
            <a:ext cx="1783080" cy="274320"/>
          </a:xfrm>
          <a:prstGeom prst="rect">
            <a:avLst/>
          </a:prstGeom>
          <a:noFill/>
          <a:ln/>
        </p:spPr>
        <p:txBody>
          <a:bodyPr wrap="square" lIns="0" tIns="0" rIns="0" bIns="0" rtlCol="0" anchor="t"/>
          <a:lstStyle/>
          <a:p>
            <a:pPr algn="ctr" indent="0" marL="0">
              <a:buNone/>
            </a:pPr>
            <a:r>
              <a:rPr lang="ar-SA" altLang="en-US" sz="1350" b="1" dirty="0">
                <a:solidFill>
                  <a:srgbClr val="F3F6FD"/>
                </a:solidFill>
                <a:latin typeface="IBM Plex Sans Arabic" pitchFamily="34" charset="0"/>
                <a:ea typeface="IBM Plex Sans Arabic" pitchFamily="34" charset="-122"/>
                <a:cs typeface="IBM Plex Sans Arabic" pitchFamily="34" charset="-120"/>
              </a:rPr>
              <a:t>API · FastAPI</a:t>
            </a:r>
            <a:endParaRPr lang="ar-SA" sz="1350" dirty="0"/>
          </a:p>
        </p:txBody>
      </p:sp>
      <p:sp>
        <p:nvSpPr>
          <p:cNvPr id="18" name="Shape 12"/>
          <p:cNvSpPr/>
          <p:nvPr/>
        </p:nvSpPr>
        <p:spPr>
          <a:xfrm>
            <a:off x="6537960" y="2788920"/>
            <a:ext cx="1417320" cy="347472"/>
          </a:xfrm>
          <a:prstGeom prst="roundRect">
            <a:avLst>
              <a:gd name="adj" fmla="val 50000"/>
            </a:avLst>
          </a:prstGeom>
          <a:solidFill>
            <a:srgbClr val="050B1E"/>
          </a:solidFill>
          <a:ln w="9525">
            <a:solidFill>
              <a:srgbClr val="1E3570"/>
            </a:solidFill>
            <a:prstDash val="solid"/>
          </a:ln>
        </p:spPr>
      </p:sp>
      <p:sp>
        <p:nvSpPr>
          <p:cNvPr id="19" name="Text 13"/>
          <p:cNvSpPr txBox="1"/>
          <p:nvPr/>
        </p:nvSpPr>
        <p:spPr>
          <a:xfrm>
            <a:off x="6537960" y="2788920"/>
            <a:ext cx="1417320" cy="347472"/>
          </a:xfrm>
          <a:prstGeom prst="rect">
            <a:avLst/>
          </a:prstGeom>
          <a:noFill/>
          <a:ln/>
        </p:spPr>
        <p:txBody>
          <a:bodyPr wrap="square" lIns="0" tIns="0" rIns="0" bIns="0" rtlCol="0" anchor="ctr"/>
          <a:lstStyle/>
          <a:p>
            <a:pPr rtl="1" algn="ctr" indent="0" marL="0">
              <a:buNone/>
            </a:pPr>
            <a:r>
              <a:rPr lang="ar-SA" altLang="en-US" sz="1100" b="1" dirty="0">
                <a:solidFill>
                  <a:srgbClr val="F3F6FD"/>
                </a:solidFill>
                <a:latin typeface="IBM Plex Sans Arabic" pitchFamily="34" charset="0"/>
                <a:ea typeface="IBM Plex Sans Arabic" pitchFamily="34" charset="-122"/>
                <a:cs typeface="IBM Plex Sans Arabic" pitchFamily="34" charset="-120"/>
              </a:rPr>
              <a:t>Auth</a:t>
            </a:r>
            <a:endParaRPr lang="ar-SA" sz="1100" dirty="0"/>
          </a:p>
        </p:txBody>
      </p:sp>
      <p:sp>
        <p:nvSpPr>
          <p:cNvPr id="20" name="Shape 14"/>
          <p:cNvSpPr/>
          <p:nvPr/>
        </p:nvSpPr>
        <p:spPr>
          <a:xfrm>
            <a:off x="7246620" y="3136392"/>
            <a:ext cx="91" cy="173736"/>
          </a:xfrm>
          <a:prstGeom prst="line">
            <a:avLst/>
          </a:prstGeom>
          <a:noFill/>
          <a:ln w="12700">
            <a:solidFill>
              <a:srgbClr val="6E7FAA"/>
            </a:solidFill>
            <a:prstDash val="solid"/>
            <a:tailEnd type="triangle"/>
          </a:ln>
        </p:spPr>
      </p:sp>
      <p:sp>
        <p:nvSpPr>
          <p:cNvPr id="21" name="Shape 15"/>
          <p:cNvSpPr/>
          <p:nvPr/>
        </p:nvSpPr>
        <p:spPr>
          <a:xfrm>
            <a:off x="6537960" y="3310128"/>
            <a:ext cx="1417320" cy="347472"/>
          </a:xfrm>
          <a:prstGeom prst="roundRect">
            <a:avLst>
              <a:gd name="adj" fmla="val 50000"/>
            </a:avLst>
          </a:prstGeom>
          <a:solidFill>
            <a:srgbClr val="050B1E"/>
          </a:solidFill>
          <a:ln w="9525">
            <a:solidFill>
              <a:srgbClr val="1E3570"/>
            </a:solidFill>
            <a:prstDash val="solid"/>
          </a:ln>
        </p:spPr>
      </p:sp>
      <p:sp>
        <p:nvSpPr>
          <p:cNvPr id="22" name="Text 16"/>
          <p:cNvSpPr txBox="1"/>
          <p:nvPr/>
        </p:nvSpPr>
        <p:spPr>
          <a:xfrm>
            <a:off x="6537960" y="3310128"/>
            <a:ext cx="1417320" cy="347472"/>
          </a:xfrm>
          <a:prstGeom prst="rect">
            <a:avLst/>
          </a:prstGeom>
          <a:noFill/>
          <a:ln/>
        </p:spPr>
        <p:txBody>
          <a:bodyPr wrap="square" lIns="0" tIns="0" rIns="0" bIns="0" rtlCol="0" anchor="ctr"/>
          <a:lstStyle/>
          <a:p>
            <a:pPr rtl="1" algn="ctr" indent="0" marL="0">
              <a:buNone/>
            </a:pPr>
            <a:r>
              <a:rPr lang="ar-SA" altLang="en-US" sz="1100" b="1" dirty="0">
                <a:solidFill>
                  <a:srgbClr val="F3F6FD"/>
                </a:solidFill>
                <a:latin typeface="IBM Plex Sans Arabic" pitchFamily="34" charset="0"/>
                <a:ea typeface="IBM Plex Sans Arabic" pitchFamily="34" charset="-122"/>
                <a:cs typeface="IBM Plex Sans Arabic" pitchFamily="34" charset="-120"/>
              </a:rPr>
              <a:t>Authorization</a:t>
            </a:r>
            <a:endParaRPr lang="ar-SA" sz="1100" dirty="0"/>
          </a:p>
        </p:txBody>
      </p:sp>
      <p:sp>
        <p:nvSpPr>
          <p:cNvPr id="23" name="Shape 17"/>
          <p:cNvSpPr/>
          <p:nvPr/>
        </p:nvSpPr>
        <p:spPr>
          <a:xfrm>
            <a:off x="7246620" y="3657600"/>
            <a:ext cx="91" cy="173736"/>
          </a:xfrm>
          <a:prstGeom prst="line">
            <a:avLst/>
          </a:prstGeom>
          <a:noFill/>
          <a:ln w="12700">
            <a:solidFill>
              <a:srgbClr val="6E7FAA"/>
            </a:solidFill>
            <a:prstDash val="solid"/>
            <a:tailEnd type="triangle"/>
          </a:ln>
        </p:spPr>
      </p:sp>
      <p:sp>
        <p:nvSpPr>
          <p:cNvPr id="24" name="Shape 18"/>
          <p:cNvSpPr/>
          <p:nvPr/>
        </p:nvSpPr>
        <p:spPr>
          <a:xfrm>
            <a:off x="6537960" y="3831336"/>
            <a:ext cx="1417320" cy="347472"/>
          </a:xfrm>
          <a:prstGeom prst="roundRect">
            <a:avLst>
              <a:gd name="adj" fmla="val 50000"/>
            </a:avLst>
          </a:prstGeom>
          <a:solidFill>
            <a:srgbClr val="050B1E"/>
          </a:solidFill>
          <a:ln w="9525">
            <a:solidFill>
              <a:srgbClr val="1E3570"/>
            </a:solidFill>
            <a:prstDash val="solid"/>
          </a:ln>
        </p:spPr>
      </p:sp>
      <p:sp>
        <p:nvSpPr>
          <p:cNvPr id="25" name="Text 19"/>
          <p:cNvSpPr txBox="1"/>
          <p:nvPr/>
        </p:nvSpPr>
        <p:spPr>
          <a:xfrm>
            <a:off x="6537960" y="3831336"/>
            <a:ext cx="1417320" cy="347472"/>
          </a:xfrm>
          <a:prstGeom prst="rect">
            <a:avLst/>
          </a:prstGeom>
          <a:noFill/>
          <a:ln/>
        </p:spPr>
        <p:txBody>
          <a:bodyPr wrap="square" lIns="0" tIns="0" rIns="0" bIns="0" rtlCol="0" anchor="ctr"/>
          <a:lstStyle/>
          <a:p>
            <a:pPr rtl="1" algn="ctr" indent="0" marL="0">
              <a:buNone/>
            </a:pPr>
            <a:r>
              <a:rPr lang="ar-SA" altLang="en-US" sz="1100" b="1" dirty="0">
                <a:solidFill>
                  <a:srgbClr val="F3F6FD"/>
                </a:solidFill>
                <a:latin typeface="IBM Plex Sans Arabic" pitchFamily="34" charset="0"/>
                <a:ea typeface="IBM Plex Sans Arabic" pitchFamily="34" charset="-122"/>
                <a:cs typeface="IBM Plex Sans Arabic" pitchFamily="34" charset="-120"/>
              </a:rPr>
              <a:t>Validation</a:t>
            </a:r>
            <a:endParaRPr lang="ar-SA" sz="1100" dirty="0"/>
          </a:p>
        </p:txBody>
      </p:sp>
      <p:sp>
        <p:nvSpPr>
          <p:cNvPr id="26" name="Shape 20"/>
          <p:cNvSpPr/>
          <p:nvPr/>
        </p:nvSpPr>
        <p:spPr>
          <a:xfrm>
            <a:off x="7246620" y="4178808"/>
            <a:ext cx="91" cy="173736"/>
          </a:xfrm>
          <a:prstGeom prst="line">
            <a:avLst/>
          </a:prstGeom>
          <a:noFill/>
          <a:ln w="12700">
            <a:solidFill>
              <a:srgbClr val="6E7FAA"/>
            </a:solidFill>
            <a:prstDash val="solid"/>
            <a:tailEnd type="triangle"/>
          </a:ln>
        </p:spPr>
      </p:sp>
      <p:sp>
        <p:nvSpPr>
          <p:cNvPr id="27" name="Shape 21"/>
          <p:cNvSpPr/>
          <p:nvPr/>
        </p:nvSpPr>
        <p:spPr>
          <a:xfrm>
            <a:off x="6537960" y="4352544"/>
            <a:ext cx="1417320" cy="347472"/>
          </a:xfrm>
          <a:prstGeom prst="roundRect">
            <a:avLst>
              <a:gd name="adj" fmla="val 50000"/>
            </a:avLst>
          </a:prstGeom>
          <a:solidFill>
            <a:srgbClr val="050B1E"/>
          </a:solidFill>
          <a:ln w="9525">
            <a:solidFill>
              <a:srgbClr val="1E3570"/>
            </a:solidFill>
            <a:prstDash val="solid"/>
          </a:ln>
        </p:spPr>
      </p:sp>
      <p:sp>
        <p:nvSpPr>
          <p:cNvPr id="28" name="Text 22"/>
          <p:cNvSpPr txBox="1"/>
          <p:nvPr/>
        </p:nvSpPr>
        <p:spPr>
          <a:xfrm>
            <a:off x="6537960" y="4352544"/>
            <a:ext cx="1417320" cy="347472"/>
          </a:xfrm>
          <a:prstGeom prst="rect">
            <a:avLst/>
          </a:prstGeom>
          <a:noFill/>
          <a:ln/>
        </p:spPr>
        <p:txBody>
          <a:bodyPr wrap="square" lIns="0" tIns="0" rIns="0" bIns="0" rtlCol="0" anchor="ctr"/>
          <a:lstStyle/>
          <a:p>
            <a:pPr rtl="1" algn="ctr" indent="0" marL="0">
              <a:buNone/>
            </a:pPr>
            <a:r>
              <a:rPr lang="ar-SA" altLang="en-US" sz="1100" b="1" dirty="0">
                <a:solidFill>
                  <a:srgbClr val="F3F6FD"/>
                </a:solidFill>
                <a:latin typeface="IBM Plex Sans Arabic" pitchFamily="34" charset="0"/>
                <a:ea typeface="IBM Plex Sans Arabic" pitchFamily="34" charset="-122"/>
                <a:cs typeface="IBM Plex Sans Arabic" pitchFamily="34" charset="-120"/>
              </a:rPr>
              <a:t>Business Logic</a:t>
            </a:r>
            <a:endParaRPr lang="ar-SA" sz="1100" dirty="0"/>
          </a:p>
        </p:txBody>
      </p:sp>
      <p:sp>
        <p:nvSpPr>
          <p:cNvPr id="29" name="Shape 23"/>
          <p:cNvSpPr/>
          <p:nvPr/>
        </p:nvSpPr>
        <p:spPr>
          <a:xfrm>
            <a:off x="7246620" y="4700016"/>
            <a:ext cx="91" cy="173736"/>
          </a:xfrm>
          <a:prstGeom prst="line">
            <a:avLst/>
          </a:prstGeom>
          <a:noFill/>
          <a:ln w="12700">
            <a:solidFill>
              <a:srgbClr val="6E7FAA"/>
            </a:solidFill>
            <a:prstDash val="solid"/>
            <a:tailEnd type="triangle"/>
          </a:ln>
        </p:spPr>
      </p:sp>
      <p:sp>
        <p:nvSpPr>
          <p:cNvPr id="30" name="Shape 24"/>
          <p:cNvSpPr/>
          <p:nvPr/>
        </p:nvSpPr>
        <p:spPr>
          <a:xfrm>
            <a:off x="6537960" y="4873752"/>
            <a:ext cx="1417320" cy="347472"/>
          </a:xfrm>
          <a:prstGeom prst="roundRect">
            <a:avLst>
              <a:gd name="adj" fmla="val 50000"/>
            </a:avLst>
          </a:prstGeom>
          <a:solidFill>
            <a:srgbClr val="050B1E"/>
          </a:solidFill>
          <a:ln w="9525">
            <a:solidFill>
              <a:srgbClr val="1E3570"/>
            </a:solidFill>
            <a:prstDash val="solid"/>
          </a:ln>
        </p:spPr>
      </p:sp>
      <p:sp>
        <p:nvSpPr>
          <p:cNvPr id="31" name="Text 25"/>
          <p:cNvSpPr txBox="1"/>
          <p:nvPr/>
        </p:nvSpPr>
        <p:spPr>
          <a:xfrm>
            <a:off x="6537960" y="4873752"/>
            <a:ext cx="1417320" cy="347472"/>
          </a:xfrm>
          <a:prstGeom prst="rect">
            <a:avLst/>
          </a:prstGeom>
          <a:noFill/>
          <a:ln/>
        </p:spPr>
        <p:txBody>
          <a:bodyPr wrap="square" lIns="0" tIns="0" rIns="0" bIns="0" rtlCol="0" anchor="ctr"/>
          <a:lstStyle/>
          <a:p>
            <a:pPr rtl="1" algn="ctr" indent="0" marL="0">
              <a:buNone/>
            </a:pPr>
            <a:r>
              <a:rPr lang="ar-SA" altLang="en-US" sz="1100" b="1" dirty="0">
                <a:solidFill>
                  <a:srgbClr val="F3F6FD"/>
                </a:solidFill>
                <a:latin typeface="IBM Plex Sans Arabic" pitchFamily="34" charset="0"/>
                <a:ea typeface="IBM Plex Sans Arabic" pitchFamily="34" charset="-122"/>
                <a:cs typeface="IBM Plex Sans Arabic" pitchFamily="34" charset="-120"/>
              </a:rPr>
              <a:t>Audit</a:t>
            </a:r>
            <a:endParaRPr lang="ar-SA" sz="1100" dirty="0"/>
          </a:p>
        </p:txBody>
      </p:sp>
      <p:sp>
        <p:nvSpPr>
          <p:cNvPr id="32" name="Shape 26"/>
          <p:cNvSpPr/>
          <p:nvPr/>
        </p:nvSpPr>
        <p:spPr>
          <a:xfrm>
            <a:off x="3977640" y="1828800"/>
            <a:ext cx="1965960" cy="1097280"/>
          </a:xfrm>
          <a:prstGeom prst="roundRect">
            <a:avLst>
              <a:gd name="adj" fmla="val 11667"/>
            </a:avLst>
          </a:prstGeom>
          <a:solidFill>
            <a:srgbClr val="0B1634"/>
          </a:solidFill>
          <a:ln w="9525">
            <a:solidFill>
              <a:srgbClr val="1E3570"/>
            </a:solidFill>
            <a:prstDash val="solid"/>
          </a:ln>
        </p:spPr>
      </p:sp>
      <p:pic>
        <p:nvPicPr>
          <p:cNvPr id="33" name="Image 4" descr="preencoded.png">    </p:cNvPr>
          <p:cNvPicPr>
            <a:picLocks noChangeAspect="1"/>
          </p:cNvPicPr>
          <p:nvPr/>
        </p:nvPicPr>
        <p:blipFill>
          <a:blip r:embed="rId6"/>
          <a:stretch>
            <a:fillRect/>
          </a:stretch>
        </p:blipFill>
        <p:spPr>
          <a:xfrm>
            <a:off x="4786884" y="1956816"/>
            <a:ext cx="347472" cy="347472"/>
          </a:xfrm>
          <a:prstGeom prst="rect">
            <a:avLst/>
          </a:prstGeom>
        </p:spPr>
      </p:pic>
      <p:sp>
        <p:nvSpPr>
          <p:cNvPr id="34" name="Text 27"/>
          <p:cNvSpPr txBox="1"/>
          <p:nvPr/>
        </p:nvSpPr>
        <p:spPr>
          <a:xfrm>
            <a:off x="4050792" y="2340864"/>
            <a:ext cx="1819656" cy="274320"/>
          </a:xfrm>
          <a:prstGeom prst="rect">
            <a:avLst/>
          </a:prstGeom>
          <a:noFill/>
          <a:ln/>
        </p:spPr>
        <p:txBody>
          <a:bodyPr wrap="square" lIns="0" tIns="0" rIns="0" bIns="0" rtlCol="0" anchor="t"/>
          <a:lstStyle/>
          <a:p>
            <a:pPr rtl="1" algn="ctr" indent="0" marL="0">
              <a:buNone/>
            </a:pPr>
            <a:r>
              <a:rPr lang="ar-SA" altLang="en-US" sz="1350" b="1" dirty="0">
                <a:solidFill>
                  <a:srgbClr val="F3F6FD"/>
                </a:solidFill>
                <a:latin typeface="IBM Plex Sans Arabic" pitchFamily="34" charset="0"/>
                <a:ea typeface="IBM Plex Sans Arabic" pitchFamily="34" charset="-122"/>
                <a:cs typeface="IBM Plex Sans Arabic" pitchFamily="34" charset="-120"/>
              </a:rPr>
              <a:t>PostgreSQL</a:t>
            </a:r>
            <a:endParaRPr lang="ar-SA" sz="1350" dirty="0"/>
          </a:p>
        </p:txBody>
      </p:sp>
      <p:sp>
        <p:nvSpPr>
          <p:cNvPr id="35" name="Text 28"/>
          <p:cNvSpPr txBox="1"/>
          <p:nvPr/>
        </p:nvSpPr>
        <p:spPr>
          <a:xfrm>
            <a:off x="4050792" y="2615184"/>
            <a:ext cx="1819656" cy="237744"/>
          </a:xfrm>
          <a:prstGeom prst="rect">
            <a:avLst/>
          </a:prstGeom>
          <a:noFill/>
          <a:ln/>
        </p:spPr>
        <p:txBody>
          <a:bodyPr wrap="square" lIns="0" tIns="0" rIns="0" bIns="0" rtlCol="0" anchor="t"/>
          <a:lstStyle/>
          <a:p>
            <a:pPr algn="ctr" indent="0" marL="0">
              <a:buNone/>
            </a:pPr>
            <a:r>
              <a:rPr lang="ar-SA" altLang="en-US" sz="1050" dirty="0">
                <a:solidFill>
                  <a:srgbClr val="A9B7DA"/>
                </a:solidFill>
                <a:latin typeface="IBM Plex Sans Arabic" pitchFamily="34" charset="0"/>
                <a:ea typeface="IBM Plex Sans Arabic" pitchFamily="34" charset="-122"/>
                <a:cs typeface="IBM Plex Sans Arabic" pitchFamily="34" charset="-120"/>
              </a:rPr>
              <a:t>pgvector · Source of Truth</a:t>
            </a:r>
            <a:endParaRPr lang="ar-SA" sz="1050" dirty="0"/>
          </a:p>
        </p:txBody>
      </p:sp>
      <p:sp>
        <p:nvSpPr>
          <p:cNvPr id="36" name="Shape 29"/>
          <p:cNvSpPr/>
          <p:nvPr/>
        </p:nvSpPr>
        <p:spPr>
          <a:xfrm>
            <a:off x="3977640" y="3108960"/>
            <a:ext cx="1965960" cy="1097280"/>
          </a:xfrm>
          <a:prstGeom prst="roundRect">
            <a:avLst>
              <a:gd name="adj" fmla="val 11667"/>
            </a:avLst>
          </a:prstGeom>
          <a:solidFill>
            <a:srgbClr val="0B1634"/>
          </a:solidFill>
          <a:ln w="9525">
            <a:solidFill>
              <a:srgbClr val="1E3570"/>
            </a:solidFill>
            <a:prstDash val="solid"/>
          </a:ln>
        </p:spPr>
      </p:sp>
      <p:pic>
        <p:nvPicPr>
          <p:cNvPr id="37" name="Image 5" descr="preencoded.png">    </p:cNvPr>
          <p:cNvPicPr>
            <a:picLocks noChangeAspect="1"/>
          </p:cNvPicPr>
          <p:nvPr/>
        </p:nvPicPr>
        <p:blipFill>
          <a:blip r:embed="rId7"/>
          <a:stretch>
            <a:fillRect/>
          </a:stretch>
        </p:blipFill>
        <p:spPr>
          <a:xfrm>
            <a:off x="4786884" y="3236976"/>
            <a:ext cx="347472" cy="347472"/>
          </a:xfrm>
          <a:prstGeom prst="rect">
            <a:avLst/>
          </a:prstGeom>
        </p:spPr>
      </p:pic>
      <p:sp>
        <p:nvSpPr>
          <p:cNvPr id="38" name="Text 30"/>
          <p:cNvSpPr txBox="1"/>
          <p:nvPr/>
        </p:nvSpPr>
        <p:spPr>
          <a:xfrm>
            <a:off x="4050792" y="3621024"/>
            <a:ext cx="1819656" cy="274320"/>
          </a:xfrm>
          <a:prstGeom prst="rect">
            <a:avLst/>
          </a:prstGeom>
          <a:noFill/>
          <a:ln/>
        </p:spPr>
        <p:txBody>
          <a:bodyPr wrap="square" lIns="0" tIns="0" rIns="0" bIns="0" rtlCol="0" anchor="t"/>
          <a:lstStyle/>
          <a:p>
            <a:pPr rtl="1" algn="ctr" indent="0" marL="0">
              <a:buNone/>
            </a:pPr>
            <a:r>
              <a:rPr lang="ar-SA" altLang="en-US" sz="1350" b="1" dirty="0">
                <a:solidFill>
                  <a:srgbClr val="F3F6FD"/>
                </a:solidFill>
                <a:latin typeface="IBM Plex Sans Arabic" pitchFamily="34" charset="0"/>
                <a:ea typeface="IBM Plex Sans Arabic" pitchFamily="34" charset="-122"/>
                <a:cs typeface="IBM Plex Sans Arabic" pitchFamily="34" charset="-120"/>
              </a:rPr>
              <a:t>Redis Queue</a:t>
            </a:r>
            <a:endParaRPr lang="ar-SA" sz="1350" dirty="0"/>
          </a:p>
        </p:txBody>
      </p:sp>
      <p:sp>
        <p:nvSpPr>
          <p:cNvPr id="39" name="Text 31"/>
          <p:cNvSpPr txBox="1"/>
          <p:nvPr/>
        </p:nvSpPr>
        <p:spPr>
          <a:xfrm>
            <a:off x="4050792" y="3895344"/>
            <a:ext cx="1819656" cy="237744"/>
          </a:xfrm>
          <a:prstGeom prst="rect">
            <a:avLst/>
          </a:prstGeom>
          <a:noFill/>
          <a:ln/>
        </p:spPr>
        <p:txBody>
          <a:bodyPr wrap="square" lIns="0" tIns="0" rIns="0" bIns="0" rtlCol="0" anchor="t"/>
          <a:lstStyle/>
          <a:p>
            <a:pPr algn="ctr" indent="0" marL="0">
              <a:buNone/>
            </a:pPr>
            <a:r>
              <a:rPr lang="ar-SA" altLang="en-US" sz="1050" dirty="0">
                <a:solidFill>
                  <a:srgbClr val="A9B7DA"/>
                </a:solidFill>
                <a:latin typeface="IBM Plex Sans Arabic" pitchFamily="34" charset="0"/>
                <a:ea typeface="IBM Plex Sans Arabic" pitchFamily="34" charset="-122"/>
                <a:cs typeface="IBM Plex Sans Arabic" pitchFamily="34" charset="-120"/>
              </a:rPr>
              <a:t>Async Jobs</a:t>
            </a:r>
            <a:endParaRPr lang="ar-SA" sz="1050" dirty="0"/>
          </a:p>
        </p:txBody>
      </p:sp>
      <p:sp>
        <p:nvSpPr>
          <p:cNvPr id="40" name="Shape 32"/>
          <p:cNvSpPr/>
          <p:nvPr/>
        </p:nvSpPr>
        <p:spPr>
          <a:xfrm>
            <a:off x="3977640" y="4389120"/>
            <a:ext cx="1965960" cy="1097280"/>
          </a:xfrm>
          <a:prstGeom prst="roundRect">
            <a:avLst>
              <a:gd name="adj" fmla="val 11667"/>
            </a:avLst>
          </a:prstGeom>
          <a:solidFill>
            <a:srgbClr val="0B1634"/>
          </a:solidFill>
          <a:ln w="9525">
            <a:solidFill>
              <a:srgbClr val="1E3570"/>
            </a:solidFill>
            <a:prstDash val="solid"/>
          </a:ln>
        </p:spPr>
      </p:sp>
      <p:pic>
        <p:nvPicPr>
          <p:cNvPr id="41" name="Image 6" descr="preencoded.png">    </p:cNvPr>
          <p:cNvPicPr>
            <a:picLocks noChangeAspect="1"/>
          </p:cNvPicPr>
          <p:nvPr/>
        </p:nvPicPr>
        <p:blipFill>
          <a:blip r:embed="rId8"/>
          <a:stretch>
            <a:fillRect/>
          </a:stretch>
        </p:blipFill>
        <p:spPr>
          <a:xfrm>
            <a:off x="4786884" y="4517136"/>
            <a:ext cx="347472" cy="347472"/>
          </a:xfrm>
          <a:prstGeom prst="rect">
            <a:avLst/>
          </a:prstGeom>
        </p:spPr>
      </p:pic>
      <p:sp>
        <p:nvSpPr>
          <p:cNvPr id="42" name="Text 33"/>
          <p:cNvSpPr txBox="1"/>
          <p:nvPr/>
        </p:nvSpPr>
        <p:spPr>
          <a:xfrm>
            <a:off x="4050792" y="4901184"/>
            <a:ext cx="1819656" cy="274320"/>
          </a:xfrm>
          <a:prstGeom prst="rect">
            <a:avLst/>
          </a:prstGeom>
          <a:noFill/>
          <a:ln/>
        </p:spPr>
        <p:txBody>
          <a:bodyPr wrap="square" lIns="0" tIns="0" rIns="0" bIns="0" rtlCol="0" anchor="t"/>
          <a:lstStyle/>
          <a:p>
            <a:pPr rtl="1" algn="ctr" indent="0" marL="0">
              <a:buNone/>
            </a:pPr>
            <a:r>
              <a:rPr lang="ar-SA" altLang="en-US" sz="1350" b="1" dirty="0">
                <a:solidFill>
                  <a:srgbClr val="F3F6FD"/>
                </a:solidFill>
                <a:latin typeface="IBM Plex Sans Arabic" pitchFamily="34" charset="0"/>
                <a:ea typeface="IBM Plex Sans Arabic" pitchFamily="34" charset="-122"/>
                <a:cs typeface="IBM Plex Sans Arabic" pitchFamily="34" charset="-120"/>
              </a:rPr>
              <a:t>Object Storage</a:t>
            </a:r>
            <a:endParaRPr lang="ar-SA" sz="1350" dirty="0"/>
          </a:p>
        </p:txBody>
      </p:sp>
      <p:sp>
        <p:nvSpPr>
          <p:cNvPr id="43" name="Text 34"/>
          <p:cNvSpPr txBox="1"/>
          <p:nvPr/>
        </p:nvSpPr>
        <p:spPr>
          <a:xfrm>
            <a:off x="4050792" y="5175504"/>
            <a:ext cx="1819656" cy="237744"/>
          </a:xfrm>
          <a:prstGeom prst="rect">
            <a:avLst/>
          </a:prstGeom>
          <a:noFill/>
          <a:ln/>
        </p:spPr>
        <p:txBody>
          <a:bodyPr wrap="square" lIns="0" tIns="0" rIns="0" bIns="0" rtlCol="0" anchor="t"/>
          <a:lstStyle/>
          <a:p>
            <a:pPr algn="ctr" indent="0" marL="0">
              <a:buNone/>
            </a:pPr>
            <a:r>
              <a:rPr lang="ar-SA" altLang="en-US" sz="1050" dirty="0">
                <a:solidFill>
                  <a:srgbClr val="A9B7DA"/>
                </a:solidFill>
                <a:latin typeface="IBM Plex Sans Arabic" pitchFamily="34" charset="0"/>
                <a:ea typeface="IBM Plex Sans Arabic" pitchFamily="34" charset="-122"/>
                <a:cs typeface="IBM Plex Sans Arabic" pitchFamily="34" charset="-120"/>
              </a:rPr>
              <a:t>S3-compatible · Files</a:t>
            </a:r>
            <a:endParaRPr lang="ar-SA" sz="1050" dirty="0"/>
          </a:p>
        </p:txBody>
      </p:sp>
      <p:sp>
        <p:nvSpPr>
          <p:cNvPr id="44" name="Shape 35"/>
          <p:cNvSpPr/>
          <p:nvPr/>
        </p:nvSpPr>
        <p:spPr>
          <a:xfrm>
            <a:off x="594360" y="1828800"/>
            <a:ext cx="2971800" cy="3657600"/>
          </a:xfrm>
          <a:prstGeom prst="roundRect">
            <a:avLst>
              <a:gd name="adj" fmla="val 4308"/>
            </a:avLst>
          </a:prstGeom>
          <a:solidFill>
            <a:srgbClr val="0B1634"/>
          </a:solidFill>
          <a:ln w="9525">
            <a:solidFill>
              <a:srgbClr val="1E3570"/>
            </a:solidFill>
            <a:prstDash val="solid"/>
          </a:ln>
        </p:spPr>
      </p:sp>
      <p:pic>
        <p:nvPicPr>
          <p:cNvPr id="45" name="Image 7" descr="preencoded.png">    </p:cNvPr>
          <p:cNvPicPr>
            <a:picLocks noChangeAspect="1"/>
          </p:cNvPicPr>
          <p:nvPr/>
        </p:nvPicPr>
        <p:blipFill>
          <a:blip r:embed="rId9"/>
          <a:stretch>
            <a:fillRect/>
          </a:stretch>
        </p:blipFill>
        <p:spPr>
          <a:xfrm>
            <a:off x="3063240" y="1975104"/>
            <a:ext cx="329184" cy="329184"/>
          </a:xfrm>
          <a:prstGeom prst="rect">
            <a:avLst/>
          </a:prstGeom>
        </p:spPr>
      </p:pic>
      <p:sp>
        <p:nvSpPr>
          <p:cNvPr id="46" name="Text 36"/>
          <p:cNvSpPr txBox="1"/>
          <p:nvPr/>
        </p:nvSpPr>
        <p:spPr>
          <a:xfrm>
            <a:off x="777240" y="1975104"/>
            <a:ext cx="2194560" cy="329184"/>
          </a:xfrm>
          <a:prstGeom prst="rect">
            <a:avLst/>
          </a:prstGeom>
          <a:noFill/>
          <a:ln/>
        </p:spPr>
        <p:txBody>
          <a:bodyPr wrap="square" lIns="0" tIns="0" rIns="0" bIns="0" rtlCol="0" anchor="t"/>
          <a:lstStyle/>
          <a:p>
            <a:pPr algn="r" indent="0" marL="0">
              <a:buNone/>
            </a:pPr>
            <a:r>
              <a:rPr lang="ar-SA" altLang="en-US" sz="1400" b="1" dirty="0">
                <a:solidFill>
                  <a:srgbClr val="F3F6FD"/>
                </a:solidFill>
                <a:latin typeface="IBM Plex Sans Arabic" pitchFamily="34" charset="0"/>
                <a:ea typeface="IBM Plex Sans Arabic" pitchFamily="34" charset="-122"/>
                <a:cs typeface="IBM Plex Sans Arabic" pitchFamily="34" charset="-120"/>
              </a:rPr>
              <a:t>AI / ML Workers</a:t>
            </a:r>
            <a:endParaRPr lang="ar-SA" sz="1400" dirty="0"/>
          </a:p>
        </p:txBody>
      </p:sp>
      <p:sp>
        <p:nvSpPr>
          <p:cNvPr id="47" name="Shape 37"/>
          <p:cNvSpPr/>
          <p:nvPr/>
        </p:nvSpPr>
        <p:spPr>
          <a:xfrm>
            <a:off x="758952" y="2468880"/>
            <a:ext cx="2642616" cy="621792"/>
          </a:xfrm>
          <a:prstGeom prst="roundRect">
            <a:avLst>
              <a:gd name="adj" fmla="val 14706"/>
            </a:avLst>
          </a:prstGeom>
          <a:solidFill>
            <a:srgbClr val="050B1E"/>
          </a:solidFill>
          <a:ln w="9525">
            <a:solidFill>
              <a:srgbClr val="1E3570"/>
            </a:solidFill>
            <a:prstDash val="solid"/>
          </a:ln>
        </p:spPr>
      </p:sp>
      <p:sp>
        <p:nvSpPr>
          <p:cNvPr id="48" name="Text 38"/>
          <p:cNvSpPr txBox="1"/>
          <p:nvPr/>
        </p:nvSpPr>
        <p:spPr>
          <a:xfrm>
            <a:off x="868680" y="2523744"/>
            <a:ext cx="2423160" cy="256032"/>
          </a:xfrm>
          <a:prstGeom prst="rect">
            <a:avLst/>
          </a:prstGeom>
          <a:noFill/>
          <a:ln/>
        </p:spPr>
        <p:txBody>
          <a:bodyPr wrap="square" lIns="0" tIns="0" rIns="0" bIns="0" rtlCol="0" anchor="t"/>
          <a:lstStyle/>
          <a:p>
            <a:pPr algn="r" indent="0" marL="0">
              <a:buNone/>
            </a:pPr>
            <a:r>
              <a:rPr lang="ar-SA" altLang="en-US" sz="1200" b="1" dirty="0">
                <a:solidFill>
                  <a:srgbClr val="F3F6FD"/>
                </a:solidFill>
                <a:latin typeface="IBM Plex Sans Arabic" pitchFamily="34" charset="0"/>
                <a:ea typeface="IBM Plex Sans Arabic" pitchFamily="34" charset="-122"/>
                <a:cs typeface="IBM Plex Sans Arabic" pitchFamily="34" charset="-120"/>
              </a:rPr>
              <a:t>Document Worker</a:t>
            </a:r>
            <a:endParaRPr lang="ar-SA" sz="1200" dirty="0"/>
          </a:p>
        </p:txBody>
      </p:sp>
      <p:sp>
        <p:nvSpPr>
          <p:cNvPr id="49" name="Text 39"/>
          <p:cNvSpPr txBox="1"/>
          <p:nvPr/>
        </p:nvSpPr>
        <p:spPr>
          <a:xfrm>
            <a:off x="868680" y="2779776"/>
            <a:ext cx="2423160" cy="237744"/>
          </a:xfrm>
          <a:prstGeom prst="rect">
            <a:avLst/>
          </a:prstGeom>
          <a:noFill/>
          <a:ln/>
        </p:spPr>
        <p:txBody>
          <a:bodyPr wrap="square" lIns="0" tIns="0" rIns="0" bIns="0" rtlCol="0" anchor="t"/>
          <a:lstStyle/>
          <a:p>
            <a:pPr algn="r" indent="0" marL="0">
              <a:buNone/>
            </a:pPr>
            <a:r>
              <a:rPr lang="ar-SA" altLang="en-US" sz="1050" dirty="0">
                <a:solidFill>
                  <a:srgbClr val="A9B7DA"/>
                </a:solidFill>
                <a:latin typeface="IBM Plex Sans Arabic" pitchFamily="34" charset="0"/>
                <a:ea typeface="IBM Plex Sans Arabic" pitchFamily="34" charset="-122"/>
                <a:cs typeface="IBM Plex Sans Arabic" pitchFamily="34" charset="-120"/>
              </a:rPr>
              <a:t>Parsing · Extraction (LLM)</a:t>
            </a:r>
            <a:endParaRPr lang="ar-SA" sz="1050" dirty="0"/>
          </a:p>
        </p:txBody>
      </p:sp>
      <p:sp>
        <p:nvSpPr>
          <p:cNvPr id="50" name="Shape 40"/>
          <p:cNvSpPr/>
          <p:nvPr/>
        </p:nvSpPr>
        <p:spPr>
          <a:xfrm>
            <a:off x="758952" y="3218688"/>
            <a:ext cx="2642616" cy="621792"/>
          </a:xfrm>
          <a:prstGeom prst="roundRect">
            <a:avLst>
              <a:gd name="adj" fmla="val 14706"/>
            </a:avLst>
          </a:prstGeom>
          <a:solidFill>
            <a:srgbClr val="050B1E"/>
          </a:solidFill>
          <a:ln w="9525">
            <a:solidFill>
              <a:srgbClr val="1E3570"/>
            </a:solidFill>
            <a:prstDash val="solid"/>
          </a:ln>
        </p:spPr>
      </p:sp>
      <p:sp>
        <p:nvSpPr>
          <p:cNvPr id="51" name="Text 41"/>
          <p:cNvSpPr txBox="1"/>
          <p:nvPr/>
        </p:nvSpPr>
        <p:spPr>
          <a:xfrm>
            <a:off x="868680" y="3273552"/>
            <a:ext cx="2423160" cy="256032"/>
          </a:xfrm>
          <a:prstGeom prst="rect">
            <a:avLst/>
          </a:prstGeom>
          <a:noFill/>
          <a:ln/>
        </p:spPr>
        <p:txBody>
          <a:bodyPr wrap="square" lIns="0" tIns="0" rIns="0" bIns="0" rtlCol="0" anchor="t"/>
          <a:lstStyle/>
          <a:p>
            <a:pPr algn="r" indent="0" marL="0">
              <a:buNone/>
            </a:pPr>
            <a:r>
              <a:rPr lang="ar-SA" altLang="en-US" sz="1200" b="1" dirty="0">
                <a:solidFill>
                  <a:srgbClr val="F3F6FD"/>
                </a:solidFill>
                <a:latin typeface="IBM Plex Sans Arabic" pitchFamily="34" charset="0"/>
                <a:ea typeface="IBM Plex Sans Arabic" pitchFamily="34" charset="-122"/>
                <a:cs typeface="IBM Plex Sans Arabic" pitchFamily="34" charset="-120"/>
              </a:rPr>
              <a:t>Embedding Worker</a:t>
            </a:r>
            <a:endParaRPr lang="ar-SA" sz="1200" dirty="0"/>
          </a:p>
        </p:txBody>
      </p:sp>
      <p:sp>
        <p:nvSpPr>
          <p:cNvPr id="52" name="Text 42"/>
          <p:cNvSpPr txBox="1"/>
          <p:nvPr/>
        </p:nvSpPr>
        <p:spPr>
          <a:xfrm>
            <a:off x="868680" y="3529584"/>
            <a:ext cx="2423160" cy="237744"/>
          </a:xfrm>
          <a:prstGeom prst="rect">
            <a:avLst/>
          </a:prstGeom>
          <a:noFill/>
          <a:ln/>
        </p:spPr>
        <p:txBody>
          <a:bodyPr wrap="square" lIns="0" tIns="0" rIns="0" bIns="0" rtlCol="0" anchor="t"/>
          <a:lstStyle/>
          <a:p>
            <a:pPr algn="r" indent="0" marL="0">
              <a:buNone/>
            </a:pPr>
            <a:r>
              <a:rPr lang="ar-SA" altLang="en-US" sz="1050" dirty="0">
                <a:solidFill>
                  <a:srgbClr val="A9B7DA"/>
                </a:solidFill>
                <a:latin typeface="IBM Plex Sans Arabic" pitchFamily="34" charset="0"/>
                <a:ea typeface="IBM Plex Sans Arabic" pitchFamily="34" charset="-122"/>
                <a:cs typeface="IBM Plex Sans Arabic" pitchFamily="34" charset="-120"/>
              </a:rPr>
              <a:t>Evidence Retrieval</a:t>
            </a:r>
            <a:endParaRPr lang="ar-SA" sz="1050" dirty="0"/>
          </a:p>
        </p:txBody>
      </p:sp>
      <p:sp>
        <p:nvSpPr>
          <p:cNvPr id="53" name="Shape 43"/>
          <p:cNvSpPr/>
          <p:nvPr/>
        </p:nvSpPr>
        <p:spPr>
          <a:xfrm>
            <a:off x="758952" y="3968496"/>
            <a:ext cx="2642616" cy="621792"/>
          </a:xfrm>
          <a:prstGeom prst="roundRect">
            <a:avLst>
              <a:gd name="adj" fmla="val 14706"/>
            </a:avLst>
          </a:prstGeom>
          <a:solidFill>
            <a:srgbClr val="050B1E"/>
          </a:solidFill>
          <a:ln w="9525">
            <a:solidFill>
              <a:srgbClr val="1E3570"/>
            </a:solidFill>
            <a:prstDash val="solid"/>
          </a:ln>
        </p:spPr>
      </p:sp>
      <p:sp>
        <p:nvSpPr>
          <p:cNvPr id="54" name="Text 44"/>
          <p:cNvSpPr txBox="1"/>
          <p:nvPr/>
        </p:nvSpPr>
        <p:spPr>
          <a:xfrm>
            <a:off x="868680" y="4023360"/>
            <a:ext cx="2423160" cy="256032"/>
          </a:xfrm>
          <a:prstGeom prst="rect">
            <a:avLst/>
          </a:prstGeom>
          <a:noFill/>
          <a:ln/>
        </p:spPr>
        <p:txBody>
          <a:bodyPr wrap="square" lIns="0" tIns="0" rIns="0" bIns="0" rtlCol="0" anchor="t"/>
          <a:lstStyle/>
          <a:p>
            <a:pPr algn="r" indent="0" marL="0">
              <a:buNone/>
            </a:pPr>
            <a:r>
              <a:rPr lang="ar-SA" altLang="en-US" sz="1200" b="1" dirty="0">
                <a:solidFill>
                  <a:srgbClr val="F3F6FD"/>
                </a:solidFill>
                <a:latin typeface="IBM Plex Sans Arabic" pitchFamily="34" charset="0"/>
                <a:ea typeface="IBM Plex Sans Arabic" pitchFamily="34" charset="-122"/>
                <a:cs typeface="IBM Plex Sans Arabic" pitchFamily="34" charset="-120"/>
              </a:rPr>
              <a:t>Evaluation Worker</a:t>
            </a:r>
            <a:endParaRPr lang="ar-SA" sz="1200" dirty="0"/>
          </a:p>
        </p:txBody>
      </p:sp>
      <p:sp>
        <p:nvSpPr>
          <p:cNvPr id="55" name="Text 45"/>
          <p:cNvSpPr txBox="1"/>
          <p:nvPr/>
        </p:nvSpPr>
        <p:spPr>
          <a:xfrm>
            <a:off x="868680" y="4279392"/>
            <a:ext cx="2423160" cy="237744"/>
          </a:xfrm>
          <a:prstGeom prst="rect">
            <a:avLst/>
          </a:prstGeom>
          <a:noFill/>
          <a:ln/>
        </p:spPr>
        <p:txBody>
          <a:bodyPr wrap="square" lIns="0" tIns="0" rIns="0" bIns="0" rtlCol="0" anchor="t"/>
          <a:lstStyle/>
          <a:p>
            <a:pPr algn="r" indent="0" marL="0">
              <a:buNone/>
            </a:pPr>
            <a:r>
              <a:rPr lang="ar-SA" altLang="en-US" sz="1050" dirty="0">
                <a:solidFill>
                  <a:srgbClr val="A9B7DA"/>
                </a:solidFill>
                <a:latin typeface="IBM Plex Sans Arabic" pitchFamily="34" charset="0"/>
                <a:ea typeface="IBM Plex Sans Arabic" pitchFamily="34" charset="-122"/>
                <a:cs typeface="IBM Plex Sans Arabic" pitchFamily="34" charset="-120"/>
              </a:rPr>
              <a:t>Stats · ML · Confidence</a:t>
            </a:r>
            <a:endParaRPr lang="ar-SA" sz="1050" dirty="0"/>
          </a:p>
        </p:txBody>
      </p:sp>
      <p:sp>
        <p:nvSpPr>
          <p:cNvPr id="56" name="Shape 46"/>
          <p:cNvSpPr/>
          <p:nvPr/>
        </p:nvSpPr>
        <p:spPr>
          <a:xfrm>
            <a:off x="758952" y="4773168"/>
            <a:ext cx="2642616" cy="566928"/>
          </a:xfrm>
          <a:prstGeom prst="roundRect">
            <a:avLst>
              <a:gd name="adj" fmla="val 50000"/>
            </a:avLst>
          </a:prstGeom>
          <a:solidFill>
            <a:srgbClr val="1F6FEB"/>
          </a:solidFill>
          <a:ln w="9525">
            <a:solidFill>
              <a:srgbClr val="2AA6F7"/>
            </a:solidFill>
            <a:prstDash val="solid"/>
          </a:ln>
        </p:spPr>
      </p:sp>
      <p:sp>
        <p:nvSpPr>
          <p:cNvPr id="57" name="Text 47"/>
          <p:cNvSpPr txBox="1"/>
          <p:nvPr/>
        </p:nvSpPr>
        <p:spPr>
          <a:xfrm>
            <a:off x="758952" y="4773168"/>
            <a:ext cx="2642616" cy="566928"/>
          </a:xfrm>
          <a:prstGeom prst="rect">
            <a:avLst/>
          </a:prstGeom>
          <a:noFill/>
          <a:ln/>
        </p:spPr>
        <p:txBody>
          <a:bodyPr wrap="square" lIns="0" tIns="0" rIns="0" bIns="0" rtlCol="0" anchor="ctr"/>
          <a:lstStyle/>
          <a:p>
            <a:pPr algn="ctr" indent="0" marL="0">
              <a:buNone/>
            </a:pPr>
            <a:r>
              <a:rPr lang="ar-SA" altLang="en-US" sz="1250" b="1" dirty="0">
                <a:solidFill>
                  <a:srgbClr val="F3F6FD"/>
                </a:solidFill>
                <a:latin typeface="IBM Plex Sans Arabic" pitchFamily="34" charset="0"/>
                <a:ea typeface="IBM Plex Sans Arabic" pitchFamily="34" charset="-122"/>
                <a:cs typeface="IBM Plex Sans Arabic" pitchFamily="34" charset="-120"/>
              </a:rPr>
              <a:t>Findings  →  Human Review</a:t>
            </a:r>
            <a:endParaRPr lang="ar-SA" sz="1250" dirty="0"/>
          </a:p>
        </p:txBody>
      </p:sp>
      <p:sp>
        <p:nvSpPr>
          <p:cNvPr id="58" name="Shape 48"/>
          <p:cNvSpPr/>
          <p:nvPr/>
        </p:nvSpPr>
        <p:spPr>
          <a:xfrm flipH="1">
            <a:off x="9921240" y="3749040"/>
            <a:ext cx="411480" cy="91"/>
          </a:xfrm>
          <a:prstGeom prst="line">
            <a:avLst/>
          </a:prstGeom>
          <a:noFill/>
          <a:ln w="15875">
            <a:solidFill>
              <a:srgbClr val="2AA6F7"/>
            </a:solidFill>
            <a:prstDash val="solid"/>
            <a:tailEnd type="triangle"/>
          </a:ln>
        </p:spPr>
      </p:sp>
      <p:sp>
        <p:nvSpPr>
          <p:cNvPr id="59" name="Shape 49"/>
          <p:cNvSpPr/>
          <p:nvPr/>
        </p:nvSpPr>
        <p:spPr>
          <a:xfrm flipH="1">
            <a:off x="8138160" y="3749040"/>
            <a:ext cx="411480" cy="91"/>
          </a:xfrm>
          <a:prstGeom prst="line">
            <a:avLst/>
          </a:prstGeom>
          <a:noFill/>
          <a:ln w="15875">
            <a:solidFill>
              <a:srgbClr val="2AA6F7"/>
            </a:solidFill>
            <a:prstDash val="solid"/>
            <a:tailEnd type="triangle"/>
          </a:ln>
        </p:spPr>
      </p:sp>
      <p:sp>
        <p:nvSpPr>
          <p:cNvPr id="60" name="Shape 50"/>
          <p:cNvSpPr/>
          <p:nvPr/>
        </p:nvSpPr>
        <p:spPr>
          <a:xfrm flipH="1">
            <a:off x="5943600" y="2377440"/>
            <a:ext cx="411480" cy="91"/>
          </a:xfrm>
          <a:prstGeom prst="line">
            <a:avLst/>
          </a:prstGeom>
          <a:noFill/>
          <a:ln w="15875">
            <a:solidFill>
              <a:srgbClr val="2AA6F7"/>
            </a:solidFill>
            <a:prstDash val="solid"/>
            <a:tailEnd type="triangle"/>
          </a:ln>
        </p:spPr>
      </p:sp>
      <p:sp>
        <p:nvSpPr>
          <p:cNvPr id="61" name="Shape 51"/>
          <p:cNvSpPr/>
          <p:nvPr/>
        </p:nvSpPr>
        <p:spPr>
          <a:xfrm flipH="1">
            <a:off x="5943600" y="3657600"/>
            <a:ext cx="411480" cy="91"/>
          </a:xfrm>
          <a:prstGeom prst="line">
            <a:avLst/>
          </a:prstGeom>
          <a:noFill/>
          <a:ln w="15875">
            <a:solidFill>
              <a:srgbClr val="2AA6F7"/>
            </a:solidFill>
            <a:prstDash val="solid"/>
            <a:tailEnd type="triangle"/>
          </a:ln>
        </p:spPr>
      </p:sp>
      <p:sp>
        <p:nvSpPr>
          <p:cNvPr id="62" name="Shape 52"/>
          <p:cNvSpPr/>
          <p:nvPr/>
        </p:nvSpPr>
        <p:spPr>
          <a:xfrm flipH="1">
            <a:off x="5943600" y="4937760"/>
            <a:ext cx="411480" cy="91"/>
          </a:xfrm>
          <a:prstGeom prst="line">
            <a:avLst/>
          </a:prstGeom>
          <a:noFill/>
          <a:ln w="15875">
            <a:solidFill>
              <a:srgbClr val="2AA6F7"/>
            </a:solidFill>
            <a:prstDash val="solid"/>
            <a:tailEnd type="triangle"/>
          </a:ln>
        </p:spPr>
      </p:sp>
      <p:sp>
        <p:nvSpPr>
          <p:cNvPr id="63" name="Shape 53"/>
          <p:cNvSpPr/>
          <p:nvPr/>
        </p:nvSpPr>
        <p:spPr>
          <a:xfrm flipH="1">
            <a:off x="3566160" y="3657600"/>
            <a:ext cx="411480" cy="91"/>
          </a:xfrm>
          <a:prstGeom prst="line">
            <a:avLst/>
          </a:prstGeom>
          <a:noFill/>
          <a:ln w="15875">
            <a:solidFill>
              <a:srgbClr val="2AA6F7"/>
            </a:solidFill>
            <a:prstDash val="solid"/>
            <a:tailEnd type="triangle"/>
          </a:ln>
        </p:spPr>
      </p:sp>
      <p:sp>
        <p:nvSpPr>
          <p:cNvPr id="64" name="Shape 54"/>
          <p:cNvSpPr/>
          <p:nvPr/>
        </p:nvSpPr>
        <p:spPr>
          <a:xfrm>
            <a:off x="3566160" y="2377440"/>
            <a:ext cx="411480" cy="91"/>
          </a:xfrm>
          <a:prstGeom prst="line">
            <a:avLst/>
          </a:prstGeom>
          <a:noFill/>
          <a:ln w="15875">
            <a:solidFill>
              <a:srgbClr val="6E7FAA"/>
            </a:solidFill>
            <a:prstDash val="dash"/>
            <a:tailEnd type="triangle"/>
          </a:ln>
        </p:spPr>
      </p:sp>
      <p:sp>
        <p:nvSpPr>
          <p:cNvPr id="65" name="Shape 55"/>
          <p:cNvSpPr/>
          <p:nvPr/>
        </p:nvSpPr>
        <p:spPr>
          <a:xfrm flipH="1">
            <a:off x="3566160" y="4937760"/>
            <a:ext cx="411480" cy="91"/>
          </a:xfrm>
          <a:prstGeom prst="line">
            <a:avLst/>
          </a:prstGeom>
          <a:noFill/>
          <a:ln w="15875">
            <a:solidFill>
              <a:srgbClr val="6E7FAA"/>
            </a:solidFill>
            <a:prstDash val="dash"/>
            <a:tailEnd type="triangle"/>
          </a:ln>
        </p:spPr>
      </p:sp>
      <p:sp>
        <p:nvSpPr>
          <p:cNvPr id="66" name="Shape 56"/>
          <p:cNvSpPr/>
          <p:nvPr/>
        </p:nvSpPr>
        <p:spPr>
          <a:xfrm>
            <a:off x="594360" y="5687568"/>
            <a:ext cx="11002975" cy="457200"/>
          </a:xfrm>
          <a:prstGeom prst="roundRect">
            <a:avLst>
              <a:gd name="adj" fmla="val 50000"/>
            </a:avLst>
          </a:prstGeom>
          <a:solidFill>
            <a:srgbClr val="0B1634"/>
          </a:solidFill>
          <a:ln w="9525">
            <a:solidFill>
              <a:srgbClr val="1E3570"/>
            </a:solidFill>
            <a:prstDash val="dash"/>
          </a:ln>
        </p:spPr>
      </p:sp>
      <p:sp>
        <p:nvSpPr>
          <p:cNvPr id="67" name="Text 57"/>
          <p:cNvSpPr txBox="1"/>
          <p:nvPr/>
        </p:nvSpPr>
        <p:spPr>
          <a:xfrm>
            <a:off x="868680" y="5687568"/>
            <a:ext cx="10454335" cy="457200"/>
          </a:xfrm>
          <a:prstGeom prst="rect">
            <a:avLst/>
          </a:prstGeom>
          <a:noFill/>
          <a:ln/>
        </p:spPr>
        <p:txBody>
          <a:bodyPr wrap="square" lIns="0" tIns="0" rIns="0" bIns="0" rtlCol="0" anchor="ctr"/>
          <a:lstStyle/>
          <a:p>
            <a:pPr rtl="1" algn="ctr" indent="0" marL="0">
              <a:buNone/>
            </a:pPr>
            <a:r>
              <a:rPr lang="ar-SA" altLang="en-US" sz="1300" b="1" dirty="0">
                <a:solidFill>
                  <a:srgbClr val="FFB547"/>
                </a:solidFill>
                <a:latin typeface="IBM Plex Sans Arabic" pitchFamily="34" charset="0"/>
                <a:ea typeface="IBM Plex Sans Arabic" pitchFamily="34" charset="-122"/>
                <a:cs typeface="IBM Plex Sans Arabic" pitchFamily="34" charset="-120"/>
              </a:rPr>
              <a:t>عابرة لكل الطبقات:  </a:t>
            </a:r>
            <a:pPr rtl="1" algn="ctr" indent="0" marL="0">
              <a:buNone/>
            </a:pPr>
            <a:r>
              <a:rPr lang="ar-SA" altLang="en-US" sz="1300" dirty="0">
                <a:solidFill>
                  <a:srgbClr val="F3F6FD"/>
                </a:solidFill>
                <a:latin typeface="IBM Plex Sans Arabic" pitchFamily="34" charset="0"/>
                <a:ea typeface="IBM Plex Sans Arabic" pitchFamily="34" charset="-122"/>
                <a:cs typeface="IBM Plex Sans Arabic" pitchFamily="34" charset="-120"/>
              </a:rPr>
              <a:t>Tenant Isolation · RBAC · Audit Logs · AI Run Tracing · Observability</a:t>
            </a:r>
            <a:endParaRPr lang="ar-SA"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508760" y="457200"/>
            <a:ext cx="10088575" cy="274320"/>
          </a:xfrm>
          <a:prstGeom prst="rect">
            <a:avLst/>
          </a:prstGeom>
          <a:noFill/>
          <a:ln/>
        </p:spPr>
        <p:txBody>
          <a:bodyPr wrap="square" lIns="0" tIns="0" rIns="0" bIns="0" rtlCol="0" anchor="t"/>
          <a:lstStyle/>
          <a:p>
            <a:pPr rtl="1" algn="r" indent="0" marL="0">
              <a:buNone/>
            </a:pPr>
            <a:r>
              <a:rPr lang="ar-SA" altLang="en-US" sz="1200" b="1" spc="100" kern="0" dirty="0">
                <a:solidFill>
                  <a:srgbClr val="3EE0F5"/>
                </a:solidFill>
                <a:latin typeface="IBM Plex Sans Arabic" pitchFamily="34" charset="0"/>
                <a:ea typeface="IBM Plex Sans Arabic" pitchFamily="34" charset="-122"/>
                <a:cs typeface="IBM Plex Sans Arabic" pitchFamily="34" charset="-120"/>
              </a:rPr>
              <a:t>08  ·  TEAM — من سيبني؟</a:t>
            </a:r>
            <a:endParaRPr lang="ar-SA" sz="1200" dirty="0"/>
          </a:p>
        </p:txBody>
      </p:sp>
      <p:sp>
        <p:nvSpPr>
          <p:cNvPr id="3" name="Text 1"/>
          <p:cNvSpPr txBox="1"/>
          <p:nvPr/>
        </p:nvSpPr>
        <p:spPr>
          <a:xfrm>
            <a:off x="1508760" y="731520"/>
            <a:ext cx="10088575" cy="640080"/>
          </a:xfrm>
          <a:prstGeom prst="rect">
            <a:avLst/>
          </a:prstGeom>
          <a:noFill/>
          <a:ln/>
        </p:spPr>
        <p:txBody>
          <a:bodyPr wrap="square" lIns="0" tIns="0" rIns="0" bIns="0" rtlCol="0" anchor="t"/>
          <a:lstStyle/>
          <a:p>
            <a:pPr rtl="1" algn="r" indent="0" marL="0">
              <a:buNone/>
            </a:pPr>
            <a:r>
              <a:rPr lang="ar-SA" altLang="en-US" sz="3200" b="1" dirty="0">
                <a:solidFill>
                  <a:srgbClr val="F3F6FD"/>
                </a:solidFill>
                <a:latin typeface="IBM Plex Sans Arabic" pitchFamily="34" charset="0"/>
                <a:ea typeface="IBM Plex Sans Arabic" pitchFamily="34" charset="-122"/>
                <a:cs typeface="IBM Plex Sans Arabic" pitchFamily="34" charset="-120"/>
              </a:rPr>
              <a:t>الفريق: تسعة أعضاء، ملكية واضحة</a:t>
            </a:r>
            <a:endParaRPr lang="ar-SA" sz="3200" dirty="0"/>
          </a:p>
        </p:txBody>
      </p:sp>
      <p:pic>
        <p:nvPicPr>
          <p:cNvPr id="4" name="Image 0" descr="/tmp/claude-0/-home-user-ghassankmiqdad/d1991e4f-aee0-5e68-9a9d-3fc00accdf9d/scratchpad/build/assets/mark_sm.png">    </p:cNvPr>
          <p:cNvPicPr>
            <a:picLocks noChangeAspect="1"/>
          </p:cNvPicPr>
          <p:nvPr/>
        </p:nvPicPr>
        <p:blipFill>
          <a:blip r:embed="rId2"/>
          <a:stretch>
            <a:fillRect/>
          </a:stretch>
        </p:blipFill>
        <p:spPr>
          <a:xfrm>
            <a:off x="594360" y="475488"/>
            <a:ext cx="566928" cy="443515"/>
          </a:xfrm>
          <a:prstGeom prst="rect">
            <a:avLst/>
          </a:prstGeom>
        </p:spPr>
      </p:pic>
      <p:sp>
        <p:nvSpPr>
          <p:cNvPr id="5" name="Text 2"/>
          <p:cNvSpPr txBox="1"/>
          <p:nvPr/>
        </p:nvSpPr>
        <p:spPr>
          <a:xfrm>
            <a:off x="7939735" y="6400800"/>
            <a:ext cx="3657600" cy="228600"/>
          </a:xfrm>
          <a:prstGeom prst="rect">
            <a:avLst/>
          </a:prstGeom>
          <a:noFill/>
          <a:ln/>
        </p:spPr>
        <p:txBody>
          <a:bodyPr wrap="square" lIns="0" tIns="0" rIns="0" bIns="0" rtlCol="0" anchor="t"/>
          <a:lstStyle/>
          <a:p>
            <a:pPr rtl="1" algn="r" indent="0" marL="0">
              <a:buNone/>
            </a:pPr>
            <a:r>
              <a:rPr lang="ar-SA" altLang="en-US" sz="900" dirty="0">
                <a:solidFill>
                  <a:srgbClr val="6E7FAA"/>
                </a:solidFill>
                <a:latin typeface="IBM Plex Sans Arabic" pitchFamily="34" charset="0"/>
                <a:ea typeface="IBM Plex Sans Arabic" pitchFamily="34" charset="-122"/>
                <a:cs typeface="IBM Plex Sans Arabic" pitchFamily="34" charset="-120"/>
              </a:rPr>
              <a:t>NestHire · اجتماع الانطلاق</a:t>
            </a:r>
            <a:endParaRPr lang="ar-SA" sz="900" dirty="0"/>
          </a:p>
        </p:txBody>
      </p:sp>
      <p:sp>
        <p:nvSpPr>
          <p:cNvPr id="6" name="Text 3"/>
          <p:cNvSpPr txBox="1"/>
          <p:nvPr/>
        </p:nvSpPr>
        <p:spPr>
          <a:xfrm>
            <a:off x="594360" y="6400800"/>
            <a:ext cx="1097280" cy="228600"/>
          </a:xfrm>
          <a:prstGeom prst="rect">
            <a:avLst/>
          </a:prstGeom>
          <a:noFill/>
          <a:ln/>
        </p:spPr>
        <p:txBody>
          <a:bodyPr wrap="square" lIns="0" tIns="0" rIns="0" bIns="0" rtlCol="0" anchor="t"/>
          <a:lstStyle/>
          <a:p>
            <a:pPr algn="l" indent="0" marL="0">
              <a:buNone/>
            </a:pPr>
            <a:r>
              <a:rPr lang="ar-SA" altLang="en-US" sz="900" dirty="0">
                <a:solidFill>
                  <a:srgbClr val="6E7FAA"/>
                </a:solidFill>
                <a:latin typeface="IBM Plex Sans Arabic" pitchFamily="34" charset="0"/>
                <a:ea typeface="IBM Plex Sans Arabic" pitchFamily="34" charset="-122"/>
                <a:cs typeface="IBM Plex Sans Arabic" pitchFamily="34" charset="-120"/>
              </a:rPr>
              <a:t>12 / 18</a:t>
            </a:r>
            <a:endParaRPr lang="ar-SA" sz="900" dirty="0"/>
          </a:p>
        </p:txBody>
      </p:sp>
      <p:sp>
        <p:nvSpPr>
          <p:cNvPr id="7" name="Shape 4"/>
          <p:cNvSpPr/>
          <p:nvPr/>
        </p:nvSpPr>
        <p:spPr>
          <a:xfrm>
            <a:off x="8732520" y="1828800"/>
            <a:ext cx="2864815" cy="4343400"/>
          </a:xfrm>
          <a:prstGeom prst="roundRect">
            <a:avLst>
              <a:gd name="adj" fmla="val 4469"/>
            </a:avLst>
          </a:prstGeom>
          <a:solidFill>
            <a:srgbClr val="0C2152"/>
          </a:solidFill>
          <a:ln w="15875">
            <a:solidFill>
              <a:srgbClr val="3EE0F5"/>
            </a:solidFill>
            <a:prstDash val="solid"/>
          </a:ln>
        </p:spPr>
      </p:sp>
      <p:sp>
        <p:nvSpPr>
          <p:cNvPr id="8" name="Shape 5"/>
          <p:cNvSpPr/>
          <p:nvPr/>
        </p:nvSpPr>
        <p:spPr>
          <a:xfrm>
            <a:off x="10545775" y="2103120"/>
            <a:ext cx="777240" cy="777240"/>
          </a:xfrm>
          <a:prstGeom prst="ellipse">
            <a:avLst/>
          </a:prstGeom>
          <a:solidFill>
            <a:srgbClr val="1F6FEB"/>
          </a:solidFill>
          <a:ln w="9525">
            <a:solidFill>
              <a:srgbClr val="2AA6F7"/>
            </a:solidFill>
            <a:prstDash val="solid"/>
          </a:ln>
        </p:spPr>
      </p:sp>
      <p:sp>
        <p:nvSpPr>
          <p:cNvPr id="9" name="Text 6"/>
          <p:cNvSpPr txBox="1"/>
          <p:nvPr/>
        </p:nvSpPr>
        <p:spPr>
          <a:xfrm>
            <a:off x="10545775" y="2084832"/>
            <a:ext cx="777240" cy="777240"/>
          </a:xfrm>
          <a:prstGeom prst="rect">
            <a:avLst/>
          </a:prstGeom>
          <a:noFill/>
          <a:ln/>
        </p:spPr>
        <p:txBody>
          <a:bodyPr wrap="square" lIns="0" tIns="0" rIns="0" bIns="0" rtlCol="0" anchor="ctr"/>
          <a:lstStyle/>
          <a:p>
            <a:pPr rtl="1" algn="ctr" indent="0" marL="0">
              <a:buNone/>
            </a:pPr>
            <a:r>
              <a:rPr lang="ar-SA" altLang="en-US" sz="2600" b="1" dirty="0">
                <a:solidFill>
                  <a:srgbClr val="F3F6FD"/>
                </a:solidFill>
                <a:latin typeface="IBM Plex Sans Arabic" pitchFamily="34" charset="0"/>
                <a:ea typeface="IBM Plex Sans Arabic" pitchFamily="34" charset="-122"/>
                <a:cs typeface="IBM Plex Sans Arabic" pitchFamily="34" charset="-120"/>
              </a:rPr>
              <a:t>غ</a:t>
            </a:r>
            <a:endParaRPr lang="ar-SA" sz="2600" dirty="0"/>
          </a:p>
        </p:txBody>
      </p:sp>
      <p:sp>
        <p:nvSpPr>
          <p:cNvPr id="10" name="Text 7"/>
          <p:cNvSpPr txBox="1"/>
          <p:nvPr/>
        </p:nvSpPr>
        <p:spPr>
          <a:xfrm>
            <a:off x="8961120" y="3017520"/>
            <a:ext cx="2407615" cy="411480"/>
          </a:xfrm>
          <a:prstGeom prst="rect">
            <a:avLst/>
          </a:prstGeom>
          <a:noFill/>
          <a:ln/>
        </p:spPr>
        <p:txBody>
          <a:bodyPr wrap="square" lIns="0" tIns="0" rIns="0" bIns="0" rtlCol="0" anchor="t"/>
          <a:lstStyle/>
          <a:p>
            <a:pPr rtl="1" algn="r" indent="0" marL="0">
              <a:buNone/>
            </a:pPr>
            <a:r>
              <a:rPr lang="ar-SA" altLang="en-US" sz="2100" b="1" dirty="0">
                <a:solidFill>
                  <a:srgbClr val="F3F6FD"/>
                </a:solidFill>
                <a:latin typeface="IBM Plex Sans Arabic" pitchFamily="34" charset="0"/>
                <a:ea typeface="IBM Plex Sans Arabic" pitchFamily="34" charset="-122"/>
                <a:cs typeface="IBM Plex Sans Arabic" pitchFamily="34" charset="-120"/>
              </a:rPr>
              <a:t>غسان مقداد</a:t>
            </a:r>
            <a:endParaRPr lang="ar-SA" sz="2100" dirty="0"/>
          </a:p>
        </p:txBody>
      </p:sp>
      <p:sp>
        <p:nvSpPr>
          <p:cNvPr id="11" name="Text 8"/>
          <p:cNvSpPr txBox="1"/>
          <p:nvPr/>
        </p:nvSpPr>
        <p:spPr>
          <a:xfrm>
            <a:off x="8961120" y="3456432"/>
            <a:ext cx="2407615" cy="502920"/>
          </a:xfrm>
          <a:prstGeom prst="rect">
            <a:avLst/>
          </a:prstGeom>
          <a:noFill/>
          <a:ln/>
        </p:spPr>
        <p:txBody>
          <a:bodyPr wrap="square" lIns="0" tIns="0" rIns="0" bIns="0" rtlCol="0" anchor="t"/>
          <a:lstStyle/>
          <a:p>
            <a:pPr rtl="1" algn="r" indent="0" marL="0">
              <a:buNone/>
            </a:pPr>
            <a:r>
              <a:rPr lang="ar-SA" altLang="en-US" sz="1200" b="1" dirty="0">
                <a:solidFill>
                  <a:srgbClr val="3EE0F5"/>
                </a:solidFill>
                <a:latin typeface="IBM Plex Sans Arabic" pitchFamily="34" charset="0"/>
                <a:ea typeface="IBM Plex Sans Arabic" pitchFamily="34" charset="-122"/>
                <a:cs typeface="IBM Plex Sans Arabic" pitchFamily="34" charset="-120"/>
              </a:rPr>
              <a:t>Founder · Team Lead · ML Engineer · AI Lead</a:t>
            </a:r>
            <a:endParaRPr lang="ar-SA" sz="1200" dirty="0"/>
          </a:p>
        </p:txBody>
      </p:sp>
      <p:sp>
        <p:nvSpPr>
          <p:cNvPr id="12" name="Text 9"/>
          <p:cNvSpPr txBox="1"/>
          <p:nvPr/>
        </p:nvSpPr>
        <p:spPr>
          <a:xfrm>
            <a:off x="8961120" y="4069080"/>
            <a:ext cx="2407615" cy="1920240"/>
          </a:xfrm>
          <a:prstGeom prst="rect">
            <a:avLst/>
          </a:prstGeom>
          <a:noFill/>
          <a:ln/>
        </p:spPr>
        <p:txBody>
          <a:bodyPr wrap="square" lIns="0" tIns="0" rIns="0" bIns="0" rtlCol="0" anchor="t"/>
          <a:lstStyle/>
          <a:p>
            <a:pPr rtl="1" algn="r" marL="177800" indent="-177800">
              <a:spcAft>
                <a:spcPts val="600"/>
              </a:spcAft>
              <a:buSzPct val="100000"/>
              <a:buChar char="●"/>
            </a:pPr>
            <a:r>
              <a:rPr lang="ar-SA" altLang="en-US" sz="1350" dirty="0">
                <a:solidFill>
                  <a:srgbClr val="F3F6FD"/>
                </a:solidFill>
                <a:latin typeface="IBM Plex Sans Arabic" pitchFamily="34" charset="0"/>
                <a:ea typeface="IBM Plex Sans Arabic" pitchFamily="34" charset="-122"/>
                <a:cs typeface="IBM Plex Sans Arabic" pitchFamily="34" charset="-120"/>
              </a:rPr>
              <a:t>قيادة المنتج والأولويات</a:t>
            </a:r>
            <a:endParaRPr lang="ar-SA" sz="1350" dirty="0"/>
          </a:p>
          <a:p>
            <a:pPr rtl="1" algn="r" marL="177800" indent="-177800">
              <a:spcAft>
                <a:spcPts val="600"/>
              </a:spcAft>
              <a:buSzPct val="100000"/>
              <a:buChar char="●"/>
            </a:pPr>
            <a:r>
              <a:rPr lang="ar-SA" altLang="en-US" sz="1350" dirty="0">
                <a:solidFill>
                  <a:srgbClr val="F3F6FD"/>
                </a:solidFill>
                <a:latin typeface="IBM Plex Sans Arabic" pitchFamily="34" charset="0"/>
                <a:ea typeface="IBM Plex Sans Arabic" pitchFamily="34" charset="-122"/>
                <a:cs typeface="IBM Plex Sans Arabic" pitchFamily="34" charset="-120"/>
              </a:rPr>
              <a:t>AI Architecture وسياسة التقييم</a:t>
            </a:r>
            <a:endParaRPr lang="ar-SA" sz="1350" dirty="0"/>
          </a:p>
          <a:p>
            <a:pPr rtl="1" algn="r" marL="177800" indent="-177800">
              <a:spcAft>
                <a:spcPts val="600"/>
              </a:spcAft>
              <a:buSzPct val="100000"/>
              <a:buChar char="●"/>
            </a:pPr>
            <a:r>
              <a:rPr lang="ar-SA" altLang="en-US" sz="1350" dirty="0">
                <a:solidFill>
                  <a:srgbClr val="F3F6FD"/>
                </a:solidFill>
                <a:latin typeface="IBM Plex Sans Arabic" pitchFamily="34" charset="0"/>
                <a:ea typeface="IBM Plex Sans Arabic" pitchFamily="34" charset="-122"/>
                <a:cs typeface="IBM Plex Sans Arabic" pitchFamily="34" charset="-120"/>
              </a:rPr>
              <a:t>Evidence وتصميم الـCalibration</a:t>
            </a:r>
            <a:endParaRPr lang="ar-SA" sz="1350" dirty="0"/>
          </a:p>
          <a:p>
            <a:pPr rtl="1" algn="r" marL="177800" indent="-177800">
              <a:spcAft>
                <a:spcPts val="600"/>
              </a:spcAft>
              <a:buSzPct val="100000"/>
              <a:buChar char="●"/>
            </a:pPr>
            <a:r>
              <a:rPr lang="ar-SA" altLang="en-US" sz="1350" dirty="0">
                <a:solidFill>
                  <a:srgbClr val="F3F6FD"/>
                </a:solidFill>
                <a:latin typeface="IBM Plex Sans Arabic" pitchFamily="34" charset="0"/>
                <a:ea typeface="IBM Plex Sans Arabic" pitchFamily="34" charset="-122"/>
                <a:cs typeface="IBM Plex Sans Arabic" pitchFamily="34" charset="-120"/>
              </a:rPr>
              <a:t>Validation والاعتماد النهائي</a:t>
            </a:r>
            <a:endParaRPr lang="ar-SA" sz="1350" dirty="0"/>
          </a:p>
        </p:txBody>
      </p:sp>
      <p:sp>
        <p:nvSpPr>
          <p:cNvPr id="13" name="Text 10"/>
          <p:cNvSpPr txBox="1"/>
          <p:nvPr/>
        </p:nvSpPr>
        <p:spPr>
          <a:xfrm>
            <a:off x="594360" y="1828800"/>
            <a:ext cx="7863840" cy="256032"/>
          </a:xfrm>
          <a:prstGeom prst="rect">
            <a:avLst/>
          </a:prstGeom>
          <a:noFill/>
          <a:ln/>
        </p:spPr>
        <p:txBody>
          <a:bodyPr wrap="square" lIns="0" tIns="0" rIns="0" bIns="0" rtlCol="0" anchor="t"/>
          <a:lstStyle/>
          <a:p>
            <a:pPr rtl="1" algn="r" indent="0" marL="0">
              <a:buNone/>
            </a:pPr>
            <a:r>
              <a:rPr lang="ar-SA" altLang="en-US" sz="1200" b="1" dirty="0">
                <a:solidFill>
                  <a:srgbClr val="3EE0F5"/>
                </a:solidFill>
                <a:latin typeface="IBM Plex Sans Arabic" pitchFamily="34" charset="0"/>
                <a:ea typeface="IBM Plex Sans Arabic" pitchFamily="34" charset="-122"/>
                <a:cs typeface="IBM Plex Sans Arabic" pitchFamily="34" charset="-120"/>
              </a:rPr>
              <a:t>فريق AI / ML</a:t>
            </a:r>
            <a:endParaRPr lang="ar-SA" sz="1200" dirty="0"/>
          </a:p>
        </p:txBody>
      </p:sp>
      <p:sp>
        <p:nvSpPr>
          <p:cNvPr id="14" name="Shape 11"/>
          <p:cNvSpPr/>
          <p:nvPr/>
        </p:nvSpPr>
        <p:spPr>
          <a:xfrm>
            <a:off x="6629400" y="2176272"/>
            <a:ext cx="1828800" cy="1755648"/>
          </a:xfrm>
          <a:prstGeom prst="roundRect">
            <a:avLst>
              <a:gd name="adj" fmla="val 7292"/>
            </a:avLst>
          </a:prstGeom>
          <a:solidFill>
            <a:srgbClr val="0B1634"/>
          </a:solidFill>
          <a:ln w="9525">
            <a:solidFill>
              <a:srgbClr val="1E3570"/>
            </a:solidFill>
            <a:prstDash val="solid"/>
          </a:ln>
        </p:spPr>
      </p:sp>
      <p:sp>
        <p:nvSpPr>
          <p:cNvPr id="15" name="Shape 12"/>
          <p:cNvSpPr/>
          <p:nvPr/>
        </p:nvSpPr>
        <p:spPr>
          <a:xfrm>
            <a:off x="7799832" y="2340864"/>
            <a:ext cx="475488" cy="475488"/>
          </a:xfrm>
          <a:prstGeom prst="ellipse">
            <a:avLst/>
          </a:prstGeom>
          <a:solidFill>
            <a:srgbClr val="1F6FEB"/>
          </a:solidFill>
          <a:ln w="9525">
            <a:solidFill>
              <a:srgbClr val="2AA6F7"/>
            </a:solidFill>
            <a:prstDash val="solid"/>
          </a:ln>
        </p:spPr>
      </p:sp>
      <p:sp>
        <p:nvSpPr>
          <p:cNvPr id="16" name="Text 13"/>
          <p:cNvSpPr txBox="1"/>
          <p:nvPr/>
        </p:nvSpPr>
        <p:spPr>
          <a:xfrm>
            <a:off x="7799832" y="2322576"/>
            <a:ext cx="475488" cy="475488"/>
          </a:xfrm>
          <a:prstGeom prst="rect">
            <a:avLst/>
          </a:prstGeom>
          <a:noFill/>
          <a:ln/>
        </p:spPr>
        <p:txBody>
          <a:bodyPr wrap="square" lIns="0" tIns="0" rIns="0" bIns="0" rtlCol="0" anchor="ctr"/>
          <a:lstStyle/>
          <a:p>
            <a:pPr rtl="1" algn="ctr" indent="0" marL="0">
              <a:buNone/>
            </a:pPr>
            <a:r>
              <a:rPr lang="ar-SA" altLang="en-US" sz="1500" b="1" dirty="0">
                <a:solidFill>
                  <a:srgbClr val="F3F6FD"/>
                </a:solidFill>
                <a:latin typeface="IBM Plex Sans Arabic" pitchFamily="34" charset="0"/>
                <a:ea typeface="IBM Plex Sans Arabic" pitchFamily="34" charset="-122"/>
                <a:cs typeface="IBM Plex Sans Arabic" pitchFamily="34" charset="-120"/>
              </a:rPr>
              <a:t>ع</a:t>
            </a:r>
            <a:endParaRPr lang="ar-SA" sz="1500" dirty="0"/>
          </a:p>
        </p:txBody>
      </p:sp>
      <p:sp>
        <p:nvSpPr>
          <p:cNvPr id="17" name="Text 14"/>
          <p:cNvSpPr txBox="1"/>
          <p:nvPr/>
        </p:nvSpPr>
        <p:spPr>
          <a:xfrm>
            <a:off x="6766560" y="2889504"/>
            <a:ext cx="1554480" cy="292608"/>
          </a:xfrm>
          <a:prstGeom prst="rect">
            <a:avLst/>
          </a:prstGeom>
          <a:noFill/>
          <a:ln/>
        </p:spPr>
        <p:txBody>
          <a:bodyPr wrap="square" lIns="0" tIns="0" rIns="0" bIns="0" rtlCol="0" anchor="t"/>
          <a:lstStyle/>
          <a:p>
            <a:pPr rtl="1" algn="r" indent="0" marL="0">
              <a:buNone/>
            </a:pPr>
            <a:r>
              <a:rPr lang="ar-SA" altLang="en-US" sz="1400" b="1" dirty="0">
                <a:solidFill>
                  <a:srgbClr val="F3F6FD"/>
                </a:solidFill>
                <a:latin typeface="IBM Plex Sans Arabic" pitchFamily="34" charset="0"/>
                <a:ea typeface="IBM Plex Sans Arabic" pitchFamily="34" charset="-122"/>
                <a:cs typeface="IBM Plex Sans Arabic" pitchFamily="34" charset="-120"/>
              </a:rPr>
              <a:t>عبدالله فسفس</a:t>
            </a:r>
            <a:endParaRPr lang="ar-SA" sz="1400" dirty="0"/>
          </a:p>
        </p:txBody>
      </p:sp>
      <p:sp>
        <p:nvSpPr>
          <p:cNvPr id="18" name="Text 15"/>
          <p:cNvSpPr txBox="1"/>
          <p:nvPr/>
        </p:nvSpPr>
        <p:spPr>
          <a:xfrm>
            <a:off x="6766560" y="3182112"/>
            <a:ext cx="1554480" cy="237744"/>
          </a:xfrm>
          <a:prstGeom prst="rect">
            <a:avLst/>
          </a:prstGeom>
          <a:noFill/>
          <a:ln/>
        </p:spPr>
        <p:txBody>
          <a:bodyPr wrap="square" lIns="0" tIns="0" rIns="0" bIns="0" rtlCol="0" anchor="t"/>
          <a:lstStyle/>
          <a:p>
            <a:pPr algn="r" indent="0" marL="0">
              <a:buNone/>
            </a:pPr>
            <a:r>
              <a:rPr lang="ar-SA" altLang="en-US" sz="1050" b="1" dirty="0">
                <a:solidFill>
                  <a:srgbClr val="3EE0F5"/>
                </a:solidFill>
                <a:latin typeface="IBM Plex Sans Arabic" pitchFamily="34" charset="0"/>
                <a:ea typeface="IBM Plex Sans Arabic" pitchFamily="34" charset="-122"/>
                <a:cs typeface="IBM Plex Sans Arabic" pitchFamily="34" charset="-120"/>
              </a:rPr>
              <a:t>AI Engineering</a:t>
            </a:r>
            <a:endParaRPr lang="ar-SA" sz="1050" dirty="0"/>
          </a:p>
        </p:txBody>
      </p:sp>
      <p:sp>
        <p:nvSpPr>
          <p:cNvPr id="19" name="Text 16"/>
          <p:cNvSpPr txBox="1"/>
          <p:nvPr/>
        </p:nvSpPr>
        <p:spPr>
          <a:xfrm>
            <a:off x="6766560" y="3438144"/>
            <a:ext cx="1554480" cy="457200"/>
          </a:xfrm>
          <a:prstGeom prst="rect">
            <a:avLst/>
          </a:prstGeom>
          <a:noFill/>
          <a:ln/>
        </p:spPr>
        <p:txBody>
          <a:bodyPr wrap="square" lIns="0" tIns="0" rIns="0" bIns="0" rtlCol="0" anchor="t"/>
          <a:lstStyle/>
          <a:p>
            <a:pPr algn="r" indent="0" marL="0">
              <a:buNone/>
            </a:pPr>
            <a:r>
              <a:rPr lang="ar-SA" altLang="en-US" sz="1050" dirty="0">
                <a:solidFill>
                  <a:srgbClr val="A9B7DA"/>
                </a:solidFill>
                <a:latin typeface="IBM Plex Sans Arabic" pitchFamily="34" charset="0"/>
                <a:ea typeface="IBM Plex Sans Arabic" pitchFamily="34" charset="-122"/>
                <a:cs typeface="IBM Plex Sans Arabic" pitchFamily="34" charset="-120"/>
              </a:rPr>
              <a:t>Parsing · Extraction · Evidence components</a:t>
            </a:r>
            <a:endParaRPr lang="ar-SA" sz="1050" dirty="0"/>
          </a:p>
        </p:txBody>
      </p:sp>
      <p:sp>
        <p:nvSpPr>
          <p:cNvPr id="20" name="Shape 17"/>
          <p:cNvSpPr/>
          <p:nvPr/>
        </p:nvSpPr>
        <p:spPr>
          <a:xfrm>
            <a:off x="4617720" y="2176272"/>
            <a:ext cx="1828800" cy="1755648"/>
          </a:xfrm>
          <a:prstGeom prst="roundRect">
            <a:avLst>
              <a:gd name="adj" fmla="val 7292"/>
            </a:avLst>
          </a:prstGeom>
          <a:solidFill>
            <a:srgbClr val="0B1634"/>
          </a:solidFill>
          <a:ln w="9525">
            <a:solidFill>
              <a:srgbClr val="1E3570"/>
            </a:solidFill>
            <a:prstDash val="solid"/>
          </a:ln>
        </p:spPr>
      </p:sp>
      <p:sp>
        <p:nvSpPr>
          <p:cNvPr id="21" name="Shape 18"/>
          <p:cNvSpPr/>
          <p:nvPr/>
        </p:nvSpPr>
        <p:spPr>
          <a:xfrm>
            <a:off x="5788152" y="2340864"/>
            <a:ext cx="475488" cy="475488"/>
          </a:xfrm>
          <a:prstGeom prst="ellipse">
            <a:avLst/>
          </a:prstGeom>
          <a:solidFill>
            <a:srgbClr val="1F6FEB"/>
          </a:solidFill>
          <a:ln w="9525">
            <a:solidFill>
              <a:srgbClr val="2AA6F7"/>
            </a:solidFill>
            <a:prstDash val="solid"/>
          </a:ln>
        </p:spPr>
      </p:sp>
      <p:sp>
        <p:nvSpPr>
          <p:cNvPr id="22" name="Text 19"/>
          <p:cNvSpPr txBox="1"/>
          <p:nvPr/>
        </p:nvSpPr>
        <p:spPr>
          <a:xfrm>
            <a:off x="5788152" y="2322576"/>
            <a:ext cx="475488" cy="475488"/>
          </a:xfrm>
          <a:prstGeom prst="rect">
            <a:avLst/>
          </a:prstGeom>
          <a:noFill/>
          <a:ln/>
        </p:spPr>
        <p:txBody>
          <a:bodyPr wrap="square" lIns="0" tIns="0" rIns="0" bIns="0" rtlCol="0" anchor="ctr"/>
          <a:lstStyle/>
          <a:p>
            <a:pPr rtl="1" algn="ctr" indent="0" marL="0">
              <a:buNone/>
            </a:pPr>
            <a:r>
              <a:rPr lang="ar-SA" altLang="en-US" sz="1500" b="1" dirty="0">
                <a:solidFill>
                  <a:srgbClr val="F3F6FD"/>
                </a:solidFill>
                <a:latin typeface="IBM Plex Sans Arabic" pitchFamily="34" charset="0"/>
                <a:ea typeface="IBM Plex Sans Arabic" pitchFamily="34" charset="-122"/>
                <a:cs typeface="IBM Plex Sans Arabic" pitchFamily="34" charset="-120"/>
              </a:rPr>
              <a:t>أ</a:t>
            </a:r>
            <a:endParaRPr lang="ar-SA" sz="1500" dirty="0"/>
          </a:p>
        </p:txBody>
      </p:sp>
      <p:sp>
        <p:nvSpPr>
          <p:cNvPr id="23" name="Text 20"/>
          <p:cNvSpPr txBox="1"/>
          <p:nvPr/>
        </p:nvSpPr>
        <p:spPr>
          <a:xfrm>
            <a:off x="4754880" y="2889504"/>
            <a:ext cx="1554480" cy="292608"/>
          </a:xfrm>
          <a:prstGeom prst="rect">
            <a:avLst/>
          </a:prstGeom>
          <a:noFill/>
          <a:ln/>
        </p:spPr>
        <p:txBody>
          <a:bodyPr wrap="square" lIns="0" tIns="0" rIns="0" bIns="0" rtlCol="0" anchor="t"/>
          <a:lstStyle/>
          <a:p>
            <a:pPr rtl="1" algn="r" indent="0" marL="0">
              <a:buNone/>
            </a:pPr>
            <a:r>
              <a:rPr lang="ar-SA" altLang="en-US" sz="1400" b="1" dirty="0">
                <a:solidFill>
                  <a:srgbClr val="F3F6FD"/>
                </a:solidFill>
                <a:latin typeface="IBM Plex Sans Arabic" pitchFamily="34" charset="0"/>
                <a:ea typeface="IBM Plex Sans Arabic" pitchFamily="34" charset="-122"/>
                <a:cs typeface="IBM Plex Sans Arabic" pitchFamily="34" charset="-120"/>
              </a:rPr>
              <a:t>أشرف الكحلوت</a:t>
            </a:r>
            <a:endParaRPr lang="ar-SA" sz="1400" dirty="0"/>
          </a:p>
        </p:txBody>
      </p:sp>
      <p:sp>
        <p:nvSpPr>
          <p:cNvPr id="24" name="Text 21"/>
          <p:cNvSpPr txBox="1"/>
          <p:nvPr/>
        </p:nvSpPr>
        <p:spPr>
          <a:xfrm>
            <a:off x="4754880" y="3182112"/>
            <a:ext cx="1554480" cy="237744"/>
          </a:xfrm>
          <a:prstGeom prst="rect">
            <a:avLst/>
          </a:prstGeom>
          <a:noFill/>
          <a:ln/>
        </p:spPr>
        <p:txBody>
          <a:bodyPr wrap="square" lIns="0" tIns="0" rIns="0" bIns="0" rtlCol="0" anchor="t"/>
          <a:lstStyle/>
          <a:p>
            <a:pPr algn="r" indent="0" marL="0">
              <a:buNone/>
            </a:pPr>
            <a:r>
              <a:rPr lang="ar-SA" altLang="en-US" sz="1050" b="1" dirty="0">
                <a:solidFill>
                  <a:srgbClr val="3EE0F5"/>
                </a:solidFill>
                <a:latin typeface="IBM Plex Sans Arabic" pitchFamily="34" charset="0"/>
                <a:ea typeface="IBM Plex Sans Arabic" pitchFamily="34" charset="-122"/>
                <a:cs typeface="IBM Plex Sans Arabic" pitchFamily="34" charset="-120"/>
              </a:rPr>
              <a:t>ML Engineer</a:t>
            </a:r>
            <a:endParaRPr lang="ar-SA" sz="1050" dirty="0"/>
          </a:p>
        </p:txBody>
      </p:sp>
      <p:sp>
        <p:nvSpPr>
          <p:cNvPr id="25" name="Text 22"/>
          <p:cNvSpPr txBox="1"/>
          <p:nvPr/>
        </p:nvSpPr>
        <p:spPr>
          <a:xfrm>
            <a:off x="4754880" y="3438144"/>
            <a:ext cx="1554480" cy="457200"/>
          </a:xfrm>
          <a:prstGeom prst="rect">
            <a:avLst/>
          </a:prstGeom>
          <a:noFill/>
          <a:ln/>
        </p:spPr>
        <p:txBody>
          <a:bodyPr wrap="square" lIns="0" tIns="0" rIns="0" bIns="0" rtlCol="0" anchor="t"/>
          <a:lstStyle/>
          <a:p>
            <a:pPr algn="r" indent="0" marL="0">
              <a:buNone/>
            </a:pPr>
            <a:r>
              <a:rPr lang="ar-SA" altLang="en-US" sz="1050" dirty="0">
                <a:solidFill>
                  <a:srgbClr val="A9B7DA"/>
                </a:solidFill>
                <a:latin typeface="IBM Plex Sans Arabic" pitchFamily="34" charset="0"/>
                <a:ea typeface="IBM Plex Sans Arabic" pitchFamily="34" charset="-122"/>
                <a:cs typeface="IBM Plex Sans Arabic" pitchFamily="34" charset="-120"/>
              </a:rPr>
              <a:t>Cohorts · Statistics · Confidence</a:t>
            </a:r>
            <a:endParaRPr lang="ar-SA" sz="1050" dirty="0"/>
          </a:p>
        </p:txBody>
      </p:sp>
      <p:sp>
        <p:nvSpPr>
          <p:cNvPr id="26" name="Shape 23"/>
          <p:cNvSpPr/>
          <p:nvPr/>
        </p:nvSpPr>
        <p:spPr>
          <a:xfrm>
            <a:off x="2606040" y="2176272"/>
            <a:ext cx="1828800" cy="1755648"/>
          </a:xfrm>
          <a:prstGeom prst="roundRect">
            <a:avLst>
              <a:gd name="adj" fmla="val 7292"/>
            </a:avLst>
          </a:prstGeom>
          <a:solidFill>
            <a:srgbClr val="0B1634"/>
          </a:solidFill>
          <a:ln w="9525">
            <a:solidFill>
              <a:srgbClr val="1E3570"/>
            </a:solidFill>
            <a:prstDash val="solid"/>
          </a:ln>
        </p:spPr>
      </p:sp>
      <p:sp>
        <p:nvSpPr>
          <p:cNvPr id="27" name="Shape 24"/>
          <p:cNvSpPr/>
          <p:nvPr/>
        </p:nvSpPr>
        <p:spPr>
          <a:xfrm>
            <a:off x="3776472" y="2340864"/>
            <a:ext cx="475488" cy="475488"/>
          </a:xfrm>
          <a:prstGeom prst="ellipse">
            <a:avLst/>
          </a:prstGeom>
          <a:solidFill>
            <a:srgbClr val="1F6FEB"/>
          </a:solidFill>
          <a:ln w="9525">
            <a:solidFill>
              <a:srgbClr val="2AA6F7"/>
            </a:solidFill>
            <a:prstDash val="solid"/>
          </a:ln>
        </p:spPr>
      </p:sp>
      <p:sp>
        <p:nvSpPr>
          <p:cNvPr id="28" name="Text 25"/>
          <p:cNvSpPr txBox="1"/>
          <p:nvPr/>
        </p:nvSpPr>
        <p:spPr>
          <a:xfrm>
            <a:off x="3776472" y="2322576"/>
            <a:ext cx="475488" cy="475488"/>
          </a:xfrm>
          <a:prstGeom prst="rect">
            <a:avLst/>
          </a:prstGeom>
          <a:noFill/>
          <a:ln/>
        </p:spPr>
        <p:txBody>
          <a:bodyPr wrap="square" lIns="0" tIns="0" rIns="0" bIns="0" rtlCol="0" anchor="ctr"/>
          <a:lstStyle/>
          <a:p>
            <a:pPr rtl="1" algn="ctr" indent="0" marL="0">
              <a:buNone/>
            </a:pPr>
            <a:r>
              <a:rPr lang="ar-SA" altLang="en-US" sz="1500" b="1" dirty="0">
                <a:solidFill>
                  <a:srgbClr val="F3F6FD"/>
                </a:solidFill>
                <a:latin typeface="IBM Plex Sans Arabic" pitchFamily="34" charset="0"/>
                <a:ea typeface="IBM Plex Sans Arabic" pitchFamily="34" charset="-122"/>
                <a:cs typeface="IBM Plex Sans Arabic" pitchFamily="34" charset="-120"/>
              </a:rPr>
              <a:t>ب</a:t>
            </a:r>
            <a:endParaRPr lang="ar-SA" sz="1500" dirty="0"/>
          </a:p>
        </p:txBody>
      </p:sp>
      <p:sp>
        <p:nvSpPr>
          <p:cNvPr id="29" name="Text 26"/>
          <p:cNvSpPr txBox="1"/>
          <p:nvPr/>
        </p:nvSpPr>
        <p:spPr>
          <a:xfrm>
            <a:off x="2743200" y="2889504"/>
            <a:ext cx="1554480" cy="292608"/>
          </a:xfrm>
          <a:prstGeom prst="rect">
            <a:avLst/>
          </a:prstGeom>
          <a:noFill/>
          <a:ln/>
        </p:spPr>
        <p:txBody>
          <a:bodyPr wrap="square" lIns="0" tIns="0" rIns="0" bIns="0" rtlCol="0" anchor="t"/>
          <a:lstStyle/>
          <a:p>
            <a:pPr rtl="1" algn="r" indent="0" marL="0">
              <a:buNone/>
            </a:pPr>
            <a:r>
              <a:rPr lang="ar-SA" altLang="en-US" sz="1400" b="1" dirty="0">
                <a:solidFill>
                  <a:srgbClr val="F3F6FD"/>
                </a:solidFill>
                <a:latin typeface="IBM Plex Sans Arabic" pitchFamily="34" charset="0"/>
                <a:ea typeface="IBM Plex Sans Arabic" pitchFamily="34" charset="-122"/>
                <a:cs typeface="IBM Plex Sans Arabic" pitchFamily="34" charset="-120"/>
              </a:rPr>
              <a:t>بشار بدوي</a:t>
            </a:r>
            <a:endParaRPr lang="ar-SA" sz="1400" dirty="0"/>
          </a:p>
        </p:txBody>
      </p:sp>
      <p:sp>
        <p:nvSpPr>
          <p:cNvPr id="30" name="Text 27"/>
          <p:cNvSpPr txBox="1"/>
          <p:nvPr/>
        </p:nvSpPr>
        <p:spPr>
          <a:xfrm>
            <a:off x="2743200" y="3182112"/>
            <a:ext cx="1554480" cy="237744"/>
          </a:xfrm>
          <a:prstGeom prst="rect">
            <a:avLst/>
          </a:prstGeom>
          <a:noFill/>
          <a:ln/>
        </p:spPr>
        <p:txBody>
          <a:bodyPr wrap="square" lIns="0" tIns="0" rIns="0" bIns="0" rtlCol="0" anchor="t"/>
          <a:lstStyle/>
          <a:p>
            <a:pPr algn="r" indent="0" marL="0">
              <a:buNone/>
            </a:pPr>
            <a:r>
              <a:rPr lang="ar-SA" altLang="en-US" sz="1050" b="1" dirty="0">
                <a:solidFill>
                  <a:srgbClr val="3EE0F5"/>
                </a:solidFill>
                <a:latin typeface="IBM Plex Sans Arabic" pitchFamily="34" charset="0"/>
                <a:ea typeface="IBM Plex Sans Arabic" pitchFamily="34" charset="-122"/>
                <a:cs typeface="IBM Plex Sans Arabic" pitchFamily="34" charset="-120"/>
              </a:rPr>
              <a:t>ML Engineer</a:t>
            </a:r>
            <a:endParaRPr lang="ar-SA" sz="1050" dirty="0"/>
          </a:p>
        </p:txBody>
      </p:sp>
      <p:sp>
        <p:nvSpPr>
          <p:cNvPr id="31" name="Text 28"/>
          <p:cNvSpPr txBox="1"/>
          <p:nvPr/>
        </p:nvSpPr>
        <p:spPr>
          <a:xfrm>
            <a:off x="2743200" y="3438144"/>
            <a:ext cx="1554480" cy="457200"/>
          </a:xfrm>
          <a:prstGeom prst="rect">
            <a:avLst/>
          </a:prstGeom>
          <a:noFill/>
          <a:ln/>
        </p:spPr>
        <p:txBody>
          <a:bodyPr wrap="square" lIns="0" tIns="0" rIns="0" bIns="0" rtlCol="0" anchor="t"/>
          <a:lstStyle/>
          <a:p>
            <a:pPr algn="r" indent="0" marL="0">
              <a:buNone/>
            </a:pPr>
            <a:r>
              <a:rPr lang="ar-SA" altLang="en-US" sz="1050" dirty="0">
                <a:solidFill>
                  <a:srgbClr val="A9B7DA"/>
                </a:solidFill>
                <a:latin typeface="IBM Plex Sans Arabic" pitchFamily="34" charset="0"/>
                <a:ea typeface="IBM Plex Sans Arabic" pitchFamily="34" charset="-122"/>
                <a:cs typeface="IBM Plex Sans Arabic" pitchFamily="34" charset="-120"/>
              </a:rPr>
              <a:t>Predictive Gate · Evaluation · Drift</a:t>
            </a:r>
            <a:endParaRPr lang="ar-SA" sz="1050" dirty="0"/>
          </a:p>
        </p:txBody>
      </p:sp>
      <p:sp>
        <p:nvSpPr>
          <p:cNvPr id="32" name="Shape 29"/>
          <p:cNvSpPr/>
          <p:nvPr/>
        </p:nvSpPr>
        <p:spPr>
          <a:xfrm>
            <a:off x="594360" y="2176272"/>
            <a:ext cx="1828800" cy="1755648"/>
          </a:xfrm>
          <a:prstGeom prst="roundRect">
            <a:avLst>
              <a:gd name="adj" fmla="val 7292"/>
            </a:avLst>
          </a:prstGeom>
          <a:solidFill>
            <a:srgbClr val="0B1634"/>
          </a:solidFill>
          <a:ln w="9525">
            <a:solidFill>
              <a:srgbClr val="1E3570"/>
            </a:solidFill>
            <a:prstDash val="solid"/>
          </a:ln>
        </p:spPr>
      </p:sp>
      <p:sp>
        <p:nvSpPr>
          <p:cNvPr id="33" name="Shape 30"/>
          <p:cNvSpPr/>
          <p:nvPr/>
        </p:nvSpPr>
        <p:spPr>
          <a:xfrm>
            <a:off x="1764792" y="2340864"/>
            <a:ext cx="475488" cy="475488"/>
          </a:xfrm>
          <a:prstGeom prst="ellipse">
            <a:avLst/>
          </a:prstGeom>
          <a:solidFill>
            <a:srgbClr val="1F6FEB"/>
          </a:solidFill>
          <a:ln w="9525">
            <a:solidFill>
              <a:srgbClr val="2AA6F7"/>
            </a:solidFill>
            <a:prstDash val="solid"/>
          </a:ln>
        </p:spPr>
      </p:sp>
      <p:sp>
        <p:nvSpPr>
          <p:cNvPr id="34" name="Text 31"/>
          <p:cNvSpPr txBox="1"/>
          <p:nvPr/>
        </p:nvSpPr>
        <p:spPr>
          <a:xfrm>
            <a:off x="1764792" y="2322576"/>
            <a:ext cx="475488" cy="475488"/>
          </a:xfrm>
          <a:prstGeom prst="rect">
            <a:avLst/>
          </a:prstGeom>
          <a:noFill/>
          <a:ln/>
        </p:spPr>
        <p:txBody>
          <a:bodyPr wrap="square" lIns="0" tIns="0" rIns="0" bIns="0" rtlCol="0" anchor="ctr"/>
          <a:lstStyle/>
          <a:p>
            <a:pPr rtl="1" algn="ctr" indent="0" marL="0">
              <a:buNone/>
            </a:pPr>
            <a:r>
              <a:rPr lang="ar-SA" altLang="en-US" sz="1500" b="1" dirty="0">
                <a:solidFill>
                  <a:srgbClr val="F3F6FD"/>
                </a:solidFill>
                <a:latin typeface="IBM Plex Sans Arabic" pitchFamily="34" charset="0"/>
                <a:ea typeface="IBM Plex Sans Arabic" pitchFamily="34" charset="-122"/>
                <a:cs typeface="IBM Plex Sans Arabic" pitchFamily="34" charset="-120"/>
              </a:rPr>
              <a:t>إ</a:t>
            </a:r>
            <a:endParaRPr lang="ar-SA" sz="1500" dirty="0"/>
          </a:p>
        </p:txBody>
      </p:sp>
      <p:sp>
        <p:nvSpPr>
          <p:cNvPr id="35" name="Text 32"/>
          <p:cNvSpPr txBox="1"/>
          <p:nvPr/>
        </p:nvSpPr>
        <p:spPr>
          <a:xfrm>
            <a:off x="731520" y="2889504"/>
            <a:ext cx="1554480" cy="292608"/>
          </a:xfrm>
          <a:prstGeom prst="rect">
            <a:avLst/>
          </a:prstGeom>
          <a:noFill/>
          <a:ln/>
        </p:spPr>
        <p:txBody>
          <a:bodyPr wrap="square" lIns="0" tIns="0" rIns="0" bIns="0" rtlCol="0" anchor="t"/>
          <a:lstStyle/>
          <a:p>
            <a:pPr rtl="1" algn="r" indent="0" marL="0">
              <a:buNone/>
            </a:pPr>
            <a:r>
              <a:rPr lang="ar-SA" altLang="en-US" sz="1400" b="1" dirty="0">
                <a:solidFill>
                  <a:srgbClr val="F3F6FD"/>
                </a:solidFill>
                <a:latin typeface="IBM Plex Sans Arabic" pitchFamily="34" charset="0"/>
                <a:ea typeface="IBM Plex Sans Arabic" pitchFamily="34" charset="-122"/>
                <a:cs typeface="IBM Plex Sans Arabic" pitchFamily="34" charset="-120"/>
              </a:rPr>
              <a:t>إسراء حمد</a:t>
            </a:r>
            <a:endParaRPr lang="ar-SA" sz="1400" dirty="0"/>
          </a:p>
        </p:txBody>
      </p:sp>
      <p:sp>
        <p:nvSpPr>
          <p:cNvPr id="36" name="Text 33"/>
          <p:cNvSpPr txBox="1"/>
          <p:nvPr/>
        </p:nvSpPr>
        <p:spPr>
          <a:xfrm>
            <a:off x="731520" y="3182112"/>
            <a:ext cx="1554480" cy="237744"/>
          </a:xfrm>
          <a:prstGeom prst="rect">
            <a:avLst/>
          </a:prstGeom>
          <a:noFill/>
          <a:ln/>
        </p:spPr>
        <p:txBody>
          <a:bodyPr wrap="square" lIns="0" tIns="0" rIns="0" bIns="0" rtlCol="0" anchor="t"/>
          <a:lstStyle/>
          <a:p>
            <a:pPr algn="r" indent="0" marL="0">
              <a:buNone/>
            </a:pPr>
            <a:r>
              <a:rPr lang="ar-SA" altLang="en-US" sz="1050" b="1" dirty="0">
                <a:solidFill>
                  <a:srgbClr val="3EE0F5"/>
                </a:solidFill>
                <a:latin typeface="IBM Plex Sans Arabic" pitchFamily="34" charset="0"/>
                <a:ea typeface="IBM Plex Sans Arabic" pitchFamily="34" charset="-122"/>
                <a:cs typeface="IBM Plex Sans Arabic" pitchFamily="34" charset="-120"/>
              </a:rPr>
              <a:t>AI Integration</a:t>
            </a:r>
            <a:endParaRPr lang="ar-SA" sz="1050" dirty="0"/>
          </a:p>
        </p:txBody>
      </p:sp>
      <p:sp>
        <p:nvSpPr>
          <p:cNvPr id="37" name="Text 34"/>
          <p:cNvSpPr txBox="1"/>
          <p:nvPr/>
        </p:nvSpPr>
        <p:spPr>
          <a:xfrm>
            <a:off x="731520" y="3438144"/>
            <a:ext cx="1554480" cy="457200"/>
          </a:xfrm>
          <a:prstGeom prst="rect">
            <a:avLst/>
          </a:prstGeom>
          <a:noFill/>
          <a:ln/>
        </p:spPr>
        <p:txBody>
          <a:bodyPr wrap="square" lIns="0" tIns="0" rIns="0" bIns="0" rtlCol="0" anchor="t"/>
          <a:lstStyle/>
          <a:p>
            <a:pPr algn="r" indent="0" marL="0">
              <a:buNone/>
            </a:pPr>
            <a:r>
              <a:rPr lang="ar-SA" altLang="en-US" sz="1050" dirty="0">
                <a:solidFill>
                  <a:srgbClr val="A9B7DA"/>
                </a:solidFill>
                <a:latin typeface="IBM Plex Sans Arabic" pitchFamily="34" charset="0"/>
                <a:ea typeface="IBM Plex Sans Arabic" pitchFamily="34" charset="-122"/>
                <a:cs typeface="IBM Plex Sans Arabic" pitchFamily="34" charset="-120"/>
              </a:rPr>
              <a:t>Workers · Orchestration · Tracing</a:t>
            </a:r>
            <a:endParaRPr lang="ar-SA" sz="1050" dirty="0"/>
          </a:p>
        </p:txBody>
      </p:sp>
      <p:sp>
        <p:nvSpPr>
          <p:cNvPr id="38" name="Text 35"/>
          <p:cNvSpPr txBox="1"/>
          <p:nvPr/>
        </p:nvSpPr>
        <p:spPr>
          <a:xfrm>
            <a:off x="594360" y="4050792"/>
            <a:ext cx="7863840" cy="256032"/>
          </a:xfrm>
          <a:prstGeom prst="rect">
            <a:avLst/>
          </a:prstGeom>
          <a:noFill/>
          <a:ln/>
        </p:spPr>
        <p:txBody>
          <a:bodyPr wrap="square" lIns="0" tIns="0" rIns="0" bIns="0" rtlCol="0" anchor="t"/>
          <a:lstStyle/>
          <a:p>
            <a:pPr rtl="1" algn="r" indent="0" marL="0">
              <a:buNone/>
            </a:pPr>
            <a:r>
              <a:rPr lang="ar-SA" altLang="en-US" sz="1200" b="1" dirty="0">
                <a:solidFill>
                  <a:srgbClr val="3EE0F5"/>
                </a:solidFill>
                <a:latin typeface="IBM Plex Sans Arabic" pitchFamily="34" charset="0"/>
                <a:ea typeface="IBM Plex Sans Arabic" pitchFamily="34" charset="-122"/>
                <a:cs typeface="IBM Plex Sans Arabic" pitchFamily="34" charset="-120"/>
              </a:rPr>
              <a:t>الهندسة والتجربة</a:t>
            </a:r>
            <a:endParaRPr lang="ar-SA" sz="1200" dirty="0"/>
          </a:p>
        </p:txBody>
      </p:sp>
      <p:sp>
        <p:nvSpPr>
          <p:cNvPr id="39" name="Shape 36"/>
          <p:cNvSpPr/>
          <p:nvPr/>
        </p:nvSpPr>
        <p:spPr>
          <a:xfrm>
            <a:off x="6629400" y="4398264"/>
            <a:ext cx="1828800" cy="1755648"/>
          </a:xfrm>
          <a:prstGeom prst="roundRect">
            <a:avLst>
              <a:gd name="adj" fmla="val 7292"/>
            </a:avLst>
          </a:prstGeom>
          <a:solidFill>
            <a:srgbClr val="0B1634"/>
          </a:solidFill>
          <a:ln w="9525">
            <a:solidFill>
              <a:srgbClr val="1E3570"/>
            </a:solidFill>
            <a:prstDash val="solid"/>
          </a:ln>
        </p:spPr>
      </p:sp>
      <p:sp>
        <p:nvSpPr>
          <p:cNvPr id="40" name="Shape 37"/>
          <p:cNvSpPr/>
          <p:nvPr/>
        </p:nvSpPr>
        <p:spPr>
          <a:xfrm>
            <a:off x="7799832" y="4562856"/>
            <a:ext cx="475488" cy="475488"/>
          </a:xfrm>
          <a:prstGeom prst="ellipse">
            <a:avLst/>
          </a:prstGeom>
          <a:solidFill>
            <a:srgbClr val="1F6FEB"/>
          </a:solidFill>
          <a:ln w="9525">
            <a:solidFill>
              <a:srgbClr val="2AA6F7"/>
            </a:solidFill>
            <a:prstDash val="solid"/>
          </a:ln>
        </p:spPr>
      </p:sp>
      <p:sp>
        <p:nvSpPr>
          <p:cNvPr id="41" name="Text 38"/>
          <p:cNvSpPr txBox="1"/>
          <p:nvPr/>
        </p:nvSpPr>
        <p:spPr>
          <a:xfrm>
            <a:off x="7799832" y="4544568"/>
            <a:ext cx="475488" cy="475488"/>
          </a:xfrm>
          <a:prstGeom prst="rect">
            <a:avLst/>
          </a:prstGeom>
          <a:noFill/>
          <a:ln/>
        </p:spPr>
        <p:txBody>
          <a:bodyPr wrap="square" lIns="0" tIns="0" rIns="0" bIns="0" rtlCol="0" anchor="ctr"/>
          <a:lstStyle/>
          <a:p>
            <a:pPr rtl="1" algn="ctr" indent="0" marL="0">
              <a:buNone/>
            </a:pPr>
            <a:r>
              <a:rPr lang="ar-SA" altLang="en-US" sz="1500" b="1" dirty="0">
                <a:solidFill>
                  <a:srgbClr val="F3F6FD"/>
                </a:solidFill>
                <a:latin typeface="IBM Plex Sans Arabic" pitchFamily="34" charset="0"/>
                <a:ea typeface="IBM Plex Sans Arabic" pitchFamily="34" charset="-122"/>
                <a:cs typeface="IBM Plex Sans Arabic" pitchFamily="34" charset="-120"/>
              </a:rPr>
              <a:t>ب</a:t>
            </a:r>
            <a:endParaRPr lang="ar-SA" sz="1500" dirty="0"/>
          </a:p>
        </p:txBody>
      </p:sp>
      <p:sp>
        <p:nvSpPr>
          <p:cNvPr id="42" name="Text 39"/>
          <p:cNvSpPr txBox="1"/>
          <p:nvPr/>
        </p:nvSpPr>
        <p:spPr>
          <a:xfrm>
            <a:off x="6766560" y="5111496"/>
            <a:ext cx="1554480" cy="292608"/>
          </a:xfrm>
          <a:prstGeom prst="rect">
            <a:avLst/>
          </a:prstGeom>
          <a:noFill/>
          <a:ln/>
        </p:spPr>
        <p:txBody>
          <a:bodyPr wrap="square" lIns="0" tIns="0" rIns="0" bIns="0" rtlCol="0" anchor="t"/>
          <a:lstStyle/>
          <a:p>
            <a:pPr rtl="1" algn="r" indent="0" marL="0">
              <a:buNone/>
            </a:pPr>
            <a:r>
              <a:rPr lang="ar-SA" altLang="en-US" sz="1400" b="1" dirty="0">
                <a:solidFill>
                  <a:srgbClr val="F3F6FD"/>
                </a:solidFill>
                <a:latin typeface="IBM Plex Sans Arabic" pitchFamily="34" charset="0"/>
                <a:ea typeface="IBM Plex Sans Arabic" pitchFamily="34" charset="-122"/>
                <a:cs typeface="IBM Plex Sans Arabic" pitchFamily="34" charset="-120"/>
              </a:rPr>
              <a:t>براءة النبيه</a:t>
            </a:r>
            <a:endParaRPr lang="ar-SA" sz="1400" dirty="0"/>
          </a:p>
        </p:txBody>
      </p:sp>
      <p:sp>
        <p:nvSpPr>
          <p:cNvPr id="43" name="Text 40"/>
          <p:cNvSpPr txBox="1"/>
          <p:nvPr/>
        </p:nvSpPr>
        <p:spPr>
          <a:xfrm>
            <a:off x="6766560" y="5404104"/>
            <a:ext cx="1554480" cy="237744"/>
          </a:xfrm>
          <a:prstGeom prst="rect">
            <a:avLst/>
          </a:prstGeom>
          <a:noFill/>
          <a:ln/>
        </p:spPr>
        <p:txBody>
          <a:bodyPr wrap="square" lIns="0" tIns="0" rIns="0" bIns="0" rtlCol="0" anchor="t"/>
          <a:lstStyle/>
          <a:p>
            <a:pPr algn="r" indent="0" marL="0">
              <a:buNone/>
            </a:pPr>
            <a:r>
              <a:rPr lang="ar-SA" altLang="en-US" sz="1050" b="1" dirty="0">
                <a:solidFill>
                  <a:srgbClr val="3EE0F5"/>
                </a:solidFill>
                <a:latin typeface="IBM Plex Sans Arabic" pitchFamily="34" charset="0"/>
                <a:ea typeface="IBM Plex Sans Arabic" pitchFamily="34" charset="-122"/>
                <a:cs typeface="IBM Plex Sans Arabic" pitchFamily="34" charset="-120"/>
              </a:rPr>
              <a:t>Backend Engineer</a:t>
            </a:r>
            <a:endParaRPr lang="ar-SA" sz="1050" dirty="0"/>
          </a:p>
        </p:txBody>
      </p:sp>
      <p:sp>
        <p:nvSpPr>
          <p:cNvPr id="44" name="Text 41"/>
          <p:cNvSpPr txBox="1"/>
          <p:nvPr/>
        </p:nvSpPr>
        <p:spPr>
          <a:xfrm>
            <a:off x="6766560" y="5660136"/>
            <a:ext cx="1554480" cy="457200"/>
          </a:xfrm>
          <a:prstGeom prst="rect">
            <a:avLst/>
          </a:prstGeom>
          <a:noFill/>
          <a:ln/>
        </p:spPr>
        <p:txBody>
          <a:bodyPr wrap="square" lIns="0" tIns="0" rIns="0" bIns="0" rtlCol="0" anchor="t"/>
          <a:lstStyle/>
          <a:p>
            <a:pPr algn="r" indent="0" marL="0">
              <a:buNone/>
            </a:pPr>
            <a:r>
              <a:rPr lang="ar-SA" altLang="en-US" sz="1050" dirty="0">
                <a:solidFill>
                  <a:srgbClr val="A9B7DA"/>
                </a:solidFill>
                <a:latin typeface="IBM Plex Sans Arabic" pitchFamily="34" charset="0"/>
                <a:ea typeface="IBM Plex Sans Arabic" pitchFamily="34" charset="-122"/>
                <a:cs typeface="IBM Plex Sans Arabic" pitchFamily="34" charset="-120"/>
              </a:rPr>
              <a:t>FastAPI · PostgreSQL · Auth · Security</a:t>
            </a:r>
            <a:endParaRPr lang="ar-SA" sz="1050" dirty="0"/>
          </a:p>
        </p:txBody>
      </p:sp>
      <p:sp>
        <p:nvSpPr>
          <p:cNvPr id="45" name="Shape 42"/>
          <p:cNvSpPr/>
          <p:nvPr/>
        </p:nvSpPr>
        <p:spPr>
          <a:xfrm>
            <a:off x="4617720" y="4398264"/>
            <a:ext cx="1828800" cy="1755648"/>
          </a:xfrm>
          <a:prstGeom prst="roundRect">
            <a:avLst>
              <a:gd name="adj" fmla="val 7292"/>
            </a:avLst>
          </a:prstGeom>
          <a:solidFill>
            <a:srgbClr val="0B1634"/>
          </a:solidFill>
          <a:ln w="9525">
            <a:solidFill>
              <a:srgbClr val="1E3570"/>
            </a:solidFill>
            <a:prstDash val="solid"/>
          </a:ln>
        </p:spPr>
      </p:sp>
      <p:sp>
        <p:nvSpPr>
          <p:cNvPr id="46" name="Shape 43"/>
          <p:cNvSpPr/>
          <p:nvPr/>
        </p:nvSpPr>
        <p:spPr>
          <a:xfrm>
            <a:off x="5788152" y="4562856"/>
            <a:ext cx="475488" cy="475488"/>
          </a:xfrm>
          <a:prstGeom prst="ellipse">
            <a:avLst/>
          </a:prstGeom>
          <a:solidFill>
            <a:srgbClr val="1F6FEB"/>
          </a:solidFill>
          <a:ln w="9525">
            <a:solidFill>
              <a:srgbClr val="2AA6F7"/>
            </a:solidFill>
            <a:prstDash val="solid"/>
          </a:ln>
        </p:spPr>
      </p:sp>
      <p:sp>
        <p:nvSpPr>
          <p:cNvPr id="47" name="Text 44"/>
          <p:cNvSpPr txBox="1"/>
          <p:nvPr/>
        </p:nvSpPr>
        <p:spPr>
          <a:xfrm>
            <a:off x="5788152" y="4544568"/>
            <a:ext cx="475488" cy="475488"/>
          </a:xfrm>
          <a:prstGeom prst="rect">
            <a:avLst/>
          </a:prstGeom>
          <a:noFill/>
          <a:ln/>
        </p:spPr>
        <p:txBody>
          <a:bodyPr wrap="square" lIns="0" tIns="0" rIns="0" bIns="0" rtlCol="0" anchor="ctr"/>
          <a:lstStyle/>
          <a:p>
            <a:pPr rtl="1" algn="ctr" indent="0" marL="0">
              <a:buNone/>
            </a:pPr>
            <a:r>
              <a:rPr lang="ar-SA" altLang="en-US" sz="1500" b="1" dirty="0">
                <a:solidFill>
                  <a:srgbClr val="F3F6FD"/>
                </a:solidFill>
                <a:latin typeface="IBM Plex Sans Arabic" pitchFamily="34" charset="0"/>
                <a:ea typeface="IBM Plex Sans Arabic" pitchFamily="34" charset="-122"/>
                <a:cs typeface="IBM Plex Sans Arabic" pitchFamily="34" charset="-120"/>
              </a:rPr>
              <a:t>ع</a:t>
            </a:r>
            <a:endParaRPr lang="ar-SA" sz="1500" dirty="0"/>
          </a:p>
        </p:txBody>
      </p:sp>
      <p:sp>
        <p:nvSpPr>
          <p:cNvPr id="48" name="Text 45"/>
          <p:cNvSpPr txBox="1"/>
          <p:nvPr/>
        </p:nvSpPr>
        <p:spPr>
          <a:xfrm>
            <a:off x="4754880" y="5111496"/>
            <a:ext cx="1554480" cy="292608"/>
          </a:xfrm>
          <a:prstGeom prst="rect">
            <a:avLst/>
          </a:prstGeom>
          <a:noFill/>
          <a:ln/>
        </p:spPr>
        <p:txBody>
          <a:bodyPr wrap="square" lIns="0" tIns="0" rIns="0" bIns="0" rtlCol="0" anchor="t"/>
          <a:lstStyle/>
          <a:p>
            <a:pPr rtl="1" algn="r" indent="0" marL="0">
              <a:buNone/>
            </a:pPr>
            <a:r>
              <a:rPr lang="ar-SA" altLang="en-US" sz="1400" b="1" dirty="0">
                <a:solidFill>
                  <a:srgbClr val="F3F6FD"/>
                </a:solidFill>
                <a:latin typeface="IBM Plex Sans Arabic" pitchFamily="34" charset="0"/>
                <a:ea typeface="IBM Plex Sans Arabic" pitchFamily="34" charset="-122"/>
                <a:cs typeface="IBM Plex Sans Arabic" pitchFamily="34" charset="-120"/>
              </a:rPr>
              <a:t>عمار رمضان</a:t>
            </a:r>
            <a:endParaRPr lang="ar-SA" sz="1400" dirty="0"/>
          </a:p>
        </p:txBody>
      </p:sp>
      <p:sp>
        <p:nvSpPr>
          <p:cNvPr id="49" name="Text 46"/>
          <p:cNvSpPr txBox="1"/>
          <p:nvPr/>
        </p:nvSpPr>
        <p:spPr>
          <a:xfrm>
            <a:off x="4754880" y="5404104"/>
            <a:ext cx="1554480" cy="237744"/>
          </a:xfrm>
          <a:prstGeom prst="rect">
            <a:avLst/>
          </a:prstGeom>
          <a:noFill/>
          <a:ln/>
        </p:spPr>
        <p:txBody>
          <a:bodyPr wrap="square" lIns="0" tIns="0" rIns="0" bIns="0" rtlCol="0" anchor="t"/>
          <a:lstStyle/>
          <a:p>
            <a:pPr algn="r" indent="0" marL="0">
              <a:buNone/>
            </a:pPr>
            <a:r>
              <a:rPr lang="ar-SA" altLang="en-US" sz="1050" b="1" dirty="0">
                <a:solidFill>
                  <a:srgbClr val="3EE0F5"/>
                </a:solidFill>
                <a:latin typeface="IBM Plex Sans Arabic" pitchFamily="34" charset="0"/>
                <a:ea typeface="IBM Plex Sans Arabic" pitchFamily="34" charset="-122"/>
                <a:cs typeface="IBM Plex Sans Arabic" pitchFamily="34" charset="-120"/>
              </a:rPr>
              <a:t>Frontend Engineer</a:t>
            </a:r>
            <a:endParaRPr lang="ar-SA" sz="1050" dirty="0"/>
          </a:p>
        </p:txBody>
      </p:sp>
      <p:sp>
        <p:nvSpPr>
          <p:cNvPr id="50" name="Text 47"/>
          <p:cNvSpPr txBox="1"/>
          <p:nvPr/>
        </p:nvSpPr>
        <p:spPr>
          <a:xfrm>
            <a:off x="4754880" y="5660136"/>
            <a:ext cx="1554480" cy="457200"/>
          </a:xfrm>
          <a:prstGeom prst="rect">
            <a:avLst/>
          </a:prstGeom>
          <a:noFill/>
          <a:ln/>
        </p:spPr>
        <p:txBody>
          <a:bodyPr wrap="square" lIns="0" tIns="0" rIns="0" bIns="0" rtlCol="0" anchor="t"/>
          <a:lstStyle/>
          <a:p>
            <a:pPr algn="r" indent="0" marL="0">
              <a:buNone/>
            </a:pPr>
            <a:r>
              <a:rPr lang="ar-SA" altLang="en-US" sz="1050" dirty="0">
                <a:solidFill>
                  <a:srgbClr val="A9B7DA"/>
                </a:solidFill>
                <a:latin typeface="IBM Plex Sans Arabic" pitchFamily="34" charset="0"/>
                <a:ea typeface="IBM Plex Sans Arabic" pitchFamily="34" charset="-122"/>
                <a:cs typeface="IBM Plex Sans Arabic" pitchFamily="34" charset="-120"/>
              </a:rPr>
              <a:t>Next.js · Screens · API · E2E</a:t>
            </a:r>
            <a:endParaRPr lang="ar-SA" sz="1050" dirty="0"/>
          </a:p>
        </p:txBody>
      </p:sp>
      <p:sp>
        <p:nvSpPr>
          <p:cNvPr id="51" name="Shape 48"/>
          <p:cNvSpPr/>
          <p:nvPr/>
        </p:nvSpPr>
        <p:spPr>
          <a:xfrm>
            <a:off x="2606040" y="4398264"/>
            <a:ext cx="1828800" cy="1755648"/>
          </a:xfrm>
          <a:prstGeom prst="roundRect">
            <a:avLst>
              <a:gd name="adj" fmla="val 7292"/>
            </a:avLst>
          </a:prstGeom>
          <a:solidFill>
            <a:srgbClr val="0B1634"/>
          </a:solidFill>
          <a:ln w="9525">
            <a:solidFill>
              <a:srgbClr val="1E3570"/>
            </a:solidFill>
            <a:prstDash val="solid"/>
          </a:ln>
        </p:spPr>
      </p:sp>
      <p:sp>
        <p:nvSpPr>
          <p:cNvPr id="52" name="Shape 49"/>
          <p:cNvSpPr/>
          <p:nvPr/>
        </p:nvSpPr>
        <p:spPr>
          <a:xfrm>
            <a:off x="3776472" y="4562856"/>
            <a:ext cx="475488" cy="475488"/>
          </a:xfrm>
          <a:prstGeom prst="ellipse">
            <a:avLst/>
          </a:prstGeom>
          <a:solidFill>
            <a:srgbClr val="1F6FEB"/>
          </a:solidFill>
          <a:ln w="9525">
            <a:solidFill>
              <a:srgbClr val="2AA6F7"/>
            </a:solidFill>
            <a:prstDash val="solid"/>
          </a:ln>
        </p:spPr>
      </p:sp>
      <p:sp>
        <p:nvSpPr>
          <p:cNvPr id="53" name="Text 50"/>
          <p:cNvSpPr txBox="1"/>
          <p:nvPr/>
        </p:nvSpPr>
        <p:spPr>
          <a:xfrm>
            <a:off x="3776472" y="4544568"/>
            <a:ext cx="475488" cy="475488"/>
          </a:xfrm>
          <a:prstGeom prst="rect">
            <a:avLst/>
          </a:prstGeom>
          <a:noFill/>
          <a:ln/>
        </p:spPr>
        <p:txBody>
          <a:bodyPr wrap="square" lIns="0" tIns="0" rIns="0" bIns="0" rtlCol="0" anchor="ctr"/>
          <a:lstStyle/>
          <a:p>
            <a:pPr rtl="1" algn="ctr" indent="0" marL="0">
              <a:buNone/>
            </a:pPr>
            <a:r>
              <a:rPr lang="ar-SA" altLang="en-US" sz="1500" b="1" dirty="0">
                <a:solidFill>
                  <a:srgbClr val="F3F6FD"/>
                </a:solidFill>
                <a:latin typeface="IBM Plex Sans Arabic" pitchFamily="34" charset="0"/>
                <a:ea typeface="IBM Plex Sans Arabic" pitchFamily="34" charset="-122"/>
                <a:cs typeface="IBM Plex Sans Arabic" pitchFamily="34" charset="-120"/>
              </a:rPr>
              <a:t>ج</a:t>
            </a:r>
            <a:endParaRPr lang="ar-SA" sz="1500" dirty="0"/>
          </a:p>
        </p:txBody>
      </p:sp>
      <p:sp>
        <p:nvSpPr>
          <p:cNvPr id="54" name="Text 51"/>
          <p:cNvSpPr txBox="1"/>
          <p:nvPr/>
        </p:nvSpPr>
        <p:spPr>
          <a:xfrm>
            <a:off x="2743200" y="5111496"/>
            <a:ext cx="1554480" cy="292608"/>
          </a:xfrm>
          <a:prstGeom prst="rect">
            <a:avLst/>
          </a:prstGeom>
          <a:noFill/>
          <a:ln/>
        </p:spPr>
        <p:txBody>
          <a:bodyPr wrap="square" lIns="0" tIns="0" rIns="0" bIns="0" rtlCol="0" anchor="t"/>
          <a:lstStyle/>
          <a:p>
            <a:pPr rtl="1" algn="r" indent="0" marL="0">
              <a:buNone/>
            </a:pPr>
            <a:r>
              <a:rPr lang="ar-SA" altLang="en-US" sz="1400" b="1" dirty="0">
                <a:solidFill>
                  <a:srgbClr val="F3F6FD"/>
                </a:solidFill>
                <a:latin typeface="IBM Plex Sans Arabic" pitchFamily="34" charset="0"/>
                <a:ea typeface="IBM Plex Sans Arabic" pitchFamily="34" charset="-122"/>
                <a:cs typeface="IBM Plex Sans Arabic" pitchFamily="34" charset="-120"/>
              </a:rPr>
              <a:t>جنى</a:t>
            </a:r>
            <a:endParaRPr lang="ar-SA" sz="1400" dirty="0"/>
          </a:p>
        </p:txBody>
      </p:sp>
      <p:sp>
        <p:nvSpPr>
          <p:cNvPr id="55" name="Text 52"/>
          <p:cNvSpPr txBox="1"/>
          <p:nvPr/>
        </p:nvSpPr>
        <p:spPr>
          <a:xfrm>
            <a:off x="2743200" y="5404104"/>
            <a:ext cx="1554480" cy="237744"/>
          </a:xfrm>
          <a:prstGeom prst="rect">
            <a:avLst/>
          </a:prstGeom>
          <a:noFill/>
          <a:ln/>
        </p:spPr>
        <p:txBody>
          <a:bodyPr wrap="square" lIns="0" tIns="0" rIns="0" bIns="0" rtlCol="0" anchor="t"/>
          <a:lstStyle/>
          <a:p>
            <a:pPr algn="r" indent="0" marL="0">
              <a:buNone/>
            </a:pPr>
            <a:r>
              <a:rPr lang="ar-SA" altLang="en-US" sz="1050" b="1" dirty="0">
                <a:solidFill>
                  <a:srgbClr val="3EE0F5"/>
                </a:solidFill>
                <a:latin typeface="IBM Plex Sans Arabic" pitchFamily="34" charset="0"/>
                <a:ea typeface="IBM Plex Sans Arabic" pitchFamily="34" charset="-122"/>
                <a:cs typeface="IBM Plex Sans Arabic" pitchFamily="34" charset="-120"/>
              </a:rPr>
              <a:t>UI/UX Designer</a:t>
            </a:r>
            <a:endParaRPr lang="ar-SA" sz="1050" dirty="0"/>
          </a:p>
        </p:txBody>
      </p:sp>
      <p:sp>
        <p:nvSpPr>
          <p:cNvPr id="56" name="Text 53"/>
          <p:cNvSpPr txBox="1"/>
          <p:nvPr/>
        </p:nvSpPr>
        <p:spPr>
          <a:xfrm>
            <a:off x="2743200" y="5660136"/>
            <a:ext cx="1554480" cy="457200"/>
          </a:xfrm>
          <a:prstGeom prst="rect">
            <a:avLst/>
          </a:prstGeom>
          <a:noFill/>
          <a:ln/>
        </p:spPr>
        <p:txBody>
          <a:bodyPr wrap="square" lIns="0" tIns="0" rIns="0" bIns="0" rtlCol="0" anchor="t"/>
          <a:lstStyle/>
          <a:p>
            <a:pPr algn="r" indent="0" marL="0">
              <a:buNone/>
            </a:pPr>
            <a:r>
              <a:rPr lang="ar-SA" altLang="en-US" sz="1050" dirty="0">
                <a:solidFill>
                  <a:srgbClr val="A9B7DA"/>
                </a:solidFill>
                <a:latin typeface="IBM Plex Sans Arabic" pitchFamily="34" charset="0"/>
                <a:ea typeface="IBM Plex Sans Arabic" pitchFamily="34" charset="-122"/>
                <a:cs typeface="IBM Plex Sans Arabic" pitchFamily="34" charset="-120"/>
              </a:rPr>
              <a:t>Flows · Design System · UI States</a:t>
            </a:r>
            <a:endParaRPr lang="ar-SA" sz="1050" dirty="0"/>
          </a:p>
        </p:txBody>
      </p:sp>
      <p:sp>
        <p:nvSpPr>
          <p:cNvPr id="57" name="Shape 54"/>
          <p:cNvSpPr/>
          <p:nvPr/>
        </p:nvSpPr>
        <p:spPr>
          <a:xfrm>
            <a:off x="594360" y="4398264"/>
            <a:ext cx="1828800" cy="1755648"/>
          </a:xfrm>
          <a:prstGeom prst="roundRect">
            <a:avLst>
              <a:gd name="adj" fmla="val 7292"/>
            </a:avLst>
          </a:prstGeom>
          <a:solidFill>
            <a:srgbClr val="0B1634"/>
          </a:solidFill>
          <a:ln w="9525">
            <a:solidFill>
              <a:srgbClr val="1E3570"/>
            </a:solidFill>
            <a:prstDash val="dash"/>
          </a:ln>
        </p:spPr>
      </p:sp>
      <p:sp>
        <p:nvSpPr>
          <p:cNvPr id="58" name="Shape 55"/>
          <p:cNvSpPr/>
          <p:nvPr/>
        </p:nvSpPr>
        <p:spPr>
          <a:xfrm>
            <a:off x="1764792" y="4562856"/>
            <a:ext cx="475488" cy="475488"/>
          </a:xfrm>
          <a:prstGeom prst="ellipse">
            <a:avLst/>
          </a:prstGeom>
          <a:solidFill>
            <a:srgbClr val="10204A"/>
          </a:solidFill>
          <a:ln w="9525">
            <a:solidFill>
              <a:srgbClr val="6E7FAA"/>
            </a:solidFill>
            <a:prstDash val="solid"/>
          </a:ln>
        </p:spPr>
      </p:sp>
      <p:sp>
        <p:nvSpPr>
          <p:cNvPr id="59" name="Text 56"/>
          <p:cNvSpPr txBox="1"/>
          <p:nvPr/>
        </p:nvSpPr>
        <p:spPr>
          <a:xfrm>
            <a:off x="1764792" y="4544568"/>
            <a:ext cx="475488" cy="475488"/>
          </a:xfrm>
          <a:prstGeom prst="rect">
            <a:avLst/>
          </a:prstGeom>
          <a:noFill/>
          <a:ln/>
        </p:spPr>
        <p:txBody>
          <a:bodyPr wrap="square" lIns="0" tIns="0" rIns="0" bIns="0" rtlCol="0" anchor="ctr"/>
          <a:lstStyle/>
          <a:p>
            <a:pPr rtl="1" algn="ctr" indent="0" marL="0">
              <a:buNone/>
            </a:pPr>
            <a:r>
              <a:rPr lang="ar-SA" altLang="en-US" sz="1500" b="1" dirty="0">
                <a:solidFill>
                  <a:srgbClr val="F3F6FD"/>
                </a:solidFill>
                <a:latin typeface="IBM Plex Sans Arabic" pitchFamily="34" charset="0"/>
                <a:ea typeface="IBM Plex Sans Arabic" pitchFamily="34" charset="-122"/>
                <a:cs typeface="IBM Plex Sans Arabic" pitchFamily="34" charset="-120"/>
              </a:rPr>
              <a:t>أ</a:t>
            </a:r>
            <a:endParaRPr lang="ar-SA" sz="1500" dirty="0"/>
          </a:p>
        </p:txBody>
      </p:sp>
      <p:sp>
        <p:nvSpPr>
          <p:cNvPr id="60" name="Text 57"/>
          <p:cNvSpPr txBox="1"/>
          <p:nvPr/>
        </p:nvSpPr>
        <p:spPr>
          <a:xfrm>
            <a:off x="731520" y="5111496"/>
            <a:ext cx="1554480" cy="292608"/>
          </a:xfrm>
          <a:prstGeom prst="rect">
            <a:avLst/>
          </a:prstGeom>
          <a:noFill/>
          <a:ln/>
        </p:spPr>
        <p:txBody>
          <a:bodyPr wrap="square" lIns="0" tIns="0" rIns="0" bIns="0" rtlCol="0" anchor="t"/>
          <a:lstStyle/>
          <a:p>
            <a:pPr rtl="1" algn="r" indent="0" marL="0">
              <a:buNone/>
            </a:pPr>
            <a:r>
              <a:rPr lang="ar-SA" altLang="en-US" sz="1400" b="1" dirty="0">
                <a:solidFill>
                  <a:srgbClr val="A9B7DA"/>
                </a:solidFill>
                <a:latin typeface="IBM Plex Sans Arabic" pitchFamily="34" charset="0"/>
                <a:ea typeface="IBM Plex Sans Arabic" pitchFamily="34" charset="-122"/>
                <a:cs typeface="IBM Plex Sans Arabic" pitchFamily="34" charset="-120"/>
              </a:rPr>
              <a:t>أحمد الغرابلي</a:t>
            </a:r>
            <a:endParaRPr lang="ar-SA" sz="1400" dirty="0"/>
          </a:p>
        </p:txBody>
      </p:sp>
      <p:sp>
        <p:nvSpPr>
          <p:cNvPr id="61" name="Text 58"/>
          <p:cNvSpPr txBox="1"/>
          <p:nvPr/>
        </p:nvSpPr>
        <p:spPr>
          <a:xfrm>
            <a:off x="731520" y="5404104"/>
            <a:ext cx="1554480" cy="237744"/>
          </a:xfrm>
          <a:prstGeom prst="rect">
            <a:avLst/>
          </a:prstGeom>
          <a:noFill/>
          <a:ln/>
        </p:spPr>
        <p:txBody>
          <a:bodyPr wrap="square" lIns="0" tIns="0" rIns="0" bIns="0" rtlCol="0" anchor="t"/>
          <a:lstStyle/>
          <a:p>
            <a:pPr algn="r" indent="0" marL="0">
              <a:buNone/>
            </a:pPr>
            <a:r>
              <a:rPr lang="ar-SA" altLang="en-US" sz="1050" b="1" dirty="0">
                <a:solidFill>
                  <a:srgbClr val="6E7FAA"/>
                </a:solidFill>
                <a:latin typeface="IBM Plex Sans Arabic" pitchFamily="34" charset="0"/>
                <a:ea typeface="IBM Plex Sans Arabic" pitchFamily="34" charset="-122"/>
                <a:cs typeface="IBM Plex Sans Arabic" pitchFamily="34" charset="-120"/>
              </a:rPr>
              <a:t>Mobile Developer</a:t>
            </a:r>
            <a:endParaRPr lang="ar-SA" sz="1050" dirty="0"/>
          </a:p>
        </p:txBody>
      </p:sp>
      <p:sp>
        <p:nvSpPr>
          <p:cNvPr id="62" name="Text 59"/>
          <p:cNvSpPr txBox="1"/>
          <p:nvPr/>
        </p:nvSpPr>
        <p:spPr>
          <a:xfrm>
            <a:off x="731520" y="5660136"/>
            <a:ext cx="1554480" cy="457200"/>
          </a:xfrm>
          <a:prstGeom prst="rect">
            <a:avLst/>
          </a:prstGeom>
          <a:noFill/>
          <a:ln/>
        </p:spPr>
        <p:txBody>
          <a:bodyPr wrap="square" lIns="0" tIns="0" rIns="0" bIns="0" rtlCol="0" anchor="t"/>
          <a:lstStyle/>
          <a:p>
            <a:pPr algn="r" indent="0" marL="0">
              <a:buNone/>
            </a:pPr>
            <a:r>
              <a:rPr lang="ar-SA" altLang="en-US" sz="1050" dirty="0">
                <a:solidFill>
                  <a:srgbClr val="A9B7DA"/>
                </a:solidFill>
                <a:latin typeface="IBM Plex Sans Arabic" pitchFamily="34" charset="0"/>
                <a:ea typeface="IBM Plex Sans Arabic" pitchFamily="34" charset="-122"/>
                <a:cs typeface="IBM Plex Sans Arabic" pitchFamily="34" charset="-120"/>
              </a:rPr>
              <a:t>Deferred scope · Future architecture</a:t>
            </a:r>
            <a:endParaRPr lang="ar-SA"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508760" y="457200"/>
            <a:ext cx="10088575" cy="274320"/>
          </a:xfrm>
          <a:prstGeom prst="rect">
            <a:avLst/>
          </a:prstGeom>
          <a:noFill/>
          <a:ln/>
        </p:spPr>
        <p:txBody>
          <a:bodyPr wrap="square" lIns="0" tIns="0" rIns="0" bIns="0" rtlCol="0" anchor="t"/>
          <a:lstStyle/>
          <a:p>
            <a:pPr rtl="1" algn="r" indent="0" marL="0">
              <a:buNone/>
            </a:pPr>
            <a:r>
              <a:rPr lang="ar-SA" altLang="en-US" sz="1200" b="1" spc="100" kern="0" dirty="0">
                <a:solidFill>
                  <a:srgbClr val="3EE0F5"/>
                </a:solidFill>
                <a:latin typeface="IBM Plex Sans Arabic" pitchFamily="34" charset="0"/>
                <a:ea typeface="IBM Plex Sans Arabic" pitchFamily="34" charset="-122"/>
                <a:cs typeface="IBM Plex Sans Arabic" pitchFamily="34" charset="-120"/>
              </a:rPr>
              <a:t>08  ·  TEAM — توزيع المسؤوليات</a:t>
            </a:r>
            <a:endParaRPr lang="ar-SA" sz="1200" dirty="0"/>
          </a:p>
        </p:txBody>
      </p:sp>
      <p:sp>
        <p:nvSpPr>
          <p:cNvPr id="3" name="Text 1"/>
          <p:cNvSpPr txBox="1"/>
          <p:nvPr/>
        </p:nvSpPr>
        <p:spPr>
          <a:xfrm>
            <a:off x="1508760" y="731520"/>
            <a:ext cx="10088575" cy="640080"/>
          </a:xfrm>
          <a:prstGeom prst="rect">
            <a:avLst/>
          </a:prstGeom>
          <a:noFill/>
          <a:ln/>
        </p:spPr>
        <p:txBody>
          <a:bodyPr wrap="square" lIns="0" tIns="0" rIns="0" bIns="0" rtlCol="0" anchor="t"/>
          <a:lstStyle/>
          <a:p>
            <a:pPr rtl="1" algn="r" indent="0" marL="0">
              <a:buNone/>
            </a:pPr>
            <a:r>
              <a:rPr lang="ar-SA" altLang="en-US" sz="3200" b="1" dirty="0">
                <a:solidFill>
                  <a:srgbClr val="F3F6FD"/>
                </a:solidFill>
                <a:latin typeface="IBM Plex Sans Arabic" pitchFamily="34" charset="0"/>
                <a:ea typeface="IBM Plex Sans Arabic" pitchFamily="34" charset="-122"/>
                <a:cs typeface="IBM Plex Sans Arabic" pitchFamily="34" charset="-120"/>
              </a:rPr>
              <a:t>من يملك ماذا؟</a:t>
            </a:r>
            <a:endParaRPr lang="ar-SA" sz="3200" dirty="0"/>
          </a:p>
        </p:txBody>
      </p:sp>
      <p:sp>
        <p:nvSpPr>
          <p:cNvPr id="4" name="Text 2"/>
          <p:cNvSpPr txBox="1"/>
          <p:nvPr/>
        </p:nvSpPr>
        <p:spPr>
          <a:xfrm>
            <a:off x="594360" y="1353312"/>
            <a:ext cx="11002975" cy="365760"/>
          </a:xfrm>
          <a:prstGeom prst="rect">
            <a:avLst/>
          </a:prstGeom>
          <a:noFill/>
          <a:ln/>
        </p:spPr>
        <p:txBody>
          <a:bodyPr wrap="square" lIns="0" tIns="0" rIns="0" bIns="0" rtlCol="0" anchor="t"/>
          <a:lstStyle/>
          <a:p>
            <a:pPr rtl="1" algn="r" indent="0" marL="0">
              <a:buNone/>
            </a:pPr>
            <a:r>
              <a:rPr lang="ar-SA" altLang="en-US" sz="1500" dirty="0">
                <a:solidFill>
                  <a:srgbClr val="A9B7DA"/>
                </a:solidFill>
                <a:latin typeface="IBM Plex Sans Arabic" pitchFamily="34" charset="0"/>
                <a:ea typeface="IBM Plex Sans Arabic" pitchFamily="34" charset="-122"/>
                <a:cs typeface="IBM Plex Sans Arabic" pitchFamily="34" charset="-120"/>
              </a:rPr>
              <a:t>قاعدة: Owner واحد لكل Task. قد يتعدّد المساهمون، لكن المسؤول النهائي عن التسليم شخص واحد.</a:t>
            </a:r>
            <a:endParaRPr lang="ar-SA" sz="1500" dirty="0"/>
          </a:p>
        </p:txBody>
      </p:sp>
      <p:pic>
        <p:nvPicPr>
          <p:cNvPr id="5" name="Image 0" descr="/tmp/claude-0/-home-user-ghassankmiqdad/d1991e4f-aee0-5e68-9a9d-3fc00accdf9d/scratchpad/build/assets/mark_sm.png">    </p:cNvPr>
          <p:cNvPicPr>
            <a:picLocks noChangeAspect="1"/>
          </p:cNvPicPr>
          <p:nvPr/>
        </p:nvPicPr>
        <p:blipFill>
          <a:blip r:embed="rId2"/>
          <a:stretch>
            <a:fillRect/>
          </a:stretch>
        </p:blipFill>
        <p:spPr>
          <a:xfrm>
            <a:off x="594360" y="475488"/>
            <a:ext cx="566928" cy="443515"/>
          </a:xfrm>
          <a:prstGeom prst="rect">
            <a:avLst/>
          </a:prstGeom>
        </p:spPr>
      </p:pic>
      <p:sp>
        <p:nvSpPr>
          <p:cNvPr id="6" name="Text 3"/>
          <p:cNvSpPr txBox="1"/>
          <p:nvPr/>
        </p:nvSpPr>
        <p:spPr>
          <a:xfrm>
            <a:off x="7939735" y="6400800"/>
            <a:ext cx="3657600" cy="228600"/>
          </a:xfrm>
          <a:prstGeom prst="rect">
            <a:avLst/>
          </a:prstGeom>
          <a:noFill/>
          <a:ln/>
        </p:spPr>
        <p:txBody>
          <a:bodyPr wrap="square" lIns="0" tIns="0" rIns="0" bIns="0" rtlCol="0" anchor="t"/>
          <a:lstStyle/>
          <a:p>
            <a:pPr rtl="1" algn="r" indent="0" marL="0">
              <a:buNone/>
            </a:pPr>
            <a:r>
              <a:rPr lang="ar-SA" altLang="en-US" sz="900" dirty="0">
                <a:solidFill>
                  <a:srgbClr val="6E7FAA"/>
                </a:solidFill>
                <a:latin typeface="IBM Plex Sans Arabic" pitchFamily="34" charset="0"/>
                <a:ea typeface="IBM Plex Sans Arabic" pitchFamily="34" charset="-122"/>
                <a:cs typeface="IBM Plex Sans Arabic" pitchFamily="34" charset="-120"/>
              </a:rPr>
              <a:t>NestHire · اجتماع الانطلاق</a:t>
            </a:r>
            <a:endParaRPr lang="ar-SA" sz="900" dirty="0"/>
          </a:p>
        </p:txBody>
      </p:sp>
      <p:sp>
        <p:nvSpPr>
          <p:cNvPr id="7" name="Text 4"/>
          <p:cNvSpPr txBox="1"/>
          <p:nvPr/>
        </p:nvSpPr>
        <p:spPr>
          <a:xfrm>
            <a:off x="594360" y="6400800"/>
            <a:ext cx="1097280" cy="228600"/>
          </a:xfrm>
          <a:prstGeom prst="rect">
            <a:avLst/>
          </a:prstGeom>
          <a:noFill/>
          <a:ln/>
        </p:spPr>
        <p:txBody>
          <a:bodyPr wrap="square" lIns="0" tIns="0" rIns="0" bIns="0" rtlCol="0" anchor="t"/>
          <a:lstStyle/>
          <a:p>
            <a:pPr algn="l" indent="0" marL="0">
              <a:buNone/>
            </a:pPr>
            <a:r>
              <a:rPr lang="ar-SA" altLang="en-US" sz="900" dirty="0">
                <a:solidFill>
                  <a:srgbClr val="6E7FAA"/>
                </a:solidFill>
                <a:latin typeface="IBM Plex Sans Arabic" pitchFamily="34" charset="0"/>
                <a:ea typeface="IBM Plex Sans Arabic" pitchFamily="34" charset="-122"/>
                <a:cs typeface="IBM Plex Sans Arabic" pitchFamily="34" charset="-120"/>
              </a:rPr>
              <a:t>13 / 18</a:t>
            </a:r>
            <a:endParaRPr lang="ar-SA" sz="900" dirty="0"/>
          </a:p>
        </p:txBody>
      </p:sp>
      <p:sp>
        <p:nvSpPr>
          <p:cNvPr id="8" name="Shape 5"/>
          <p:cNvSpPr/>
          <p:nvPr/>
        </p:nvSpPr>
        <p:spPr>
          <a:xfrm>
            <a:off x="594360" y="1828800"/>
            <a:ext cx="11002975" cy="365760"/>
          </a:xfrm>
          <a:prstGeom prst="roundRect">
            <a:avLst>
              <a:gd name="adj" fmla="val 20000"/>
            </a:avLst>
          </a:prstGeom>
          <a:solidFill>
            <a:srgbClr val="10204A"/>
          </a:solidFill>
          <a:ln w="9525">
            <a:solidFill>
              <a:srgbClr val="1E3570"/>
            </a:solidFill>
            <a:prstDash val="solid"/>
          </a:ln>
        </p:spPr>
      </p:sp>
      <p:sp>
        <p:nvSpPr>
          <p:cNvPr id="9" name="Text 6"/>
          <p:cNvSpPr txBox="1"/>
          <p:nvPr/>
        </p:nvSpPr>
        <p:spPr>
          <a:xfrm>
            <a:off x="9174175" y="1828800"/>
            <a:ext cx="2331720" cy="365760"/>
          </a:xfrm>
          <a:prstGeom prst="rect">
            <a:avLst/>
          </a:prstGeom>
          <a:noFill/>
          <a:ln/>
        </p:spPr>
        <p:txBody>
          <a:bodyPr wrap="square" lIns="0" tIns="0" rIns="0" bIns="0" rtlCol="0" anchor="ctr"/>
          <a:lstStyle/>
          <a:p>
            <a:pPr rtl="1" algn="r" indent="0" marL="0">
              <a:buNone/>
            </a:pPr>
            <a:r>
              <a:rPr lang="ar-SA" altLang="en-US" sz="1200" b="1" dirty="0">
                <a:solidFill>
                  <a:srgbClr val="3EE0F5"/>
                </a:solidFill>
                <a:latin typeface="IBM Plex Sans Arabic" pitchFamily="34" charset="0"/>
                <a:ea typeface="IBM Plex Sans Arabic" pitchFamily="34" charset="-122"/>
                <a:cs typeface="IBM Plex Sans Arabic" pitchFamily="34" charset="-120"/>
              </a:rPr>
              <a:t>العضو · الدور</a:t>
            </a:r>
            <a:endParaRPr lang="ar-SA" sz="1200" dirty="0"/>
          </a:p>
        </p:txBody>
      </p:sp>
      <p:sp>
        <p:nvSpPr>
          <p:cNvPr id="10" name="Text 7"/>
          <p:cNvSpPr txBox="1"/>
          <p:nvPr/>
        </p:nvSpPr>
        <p:spPr>
          <a:xfrm>
            <a:off x="5470855" y="1828800"/>
            <a:ext cx="3383280" cy="365760"/>
          </a:xfrm>
          <a:prstGeom prst="rect">
            <a:avLst/>
          </a:prstGeom>
          <a:noFill/>
          <a:ln/>
        </p:spPr>
        <p:txBody>
          <a:bodyPr wrap="square" lIns="0" tIns="0" rIns="0" bIns="0" rtlCol="0" anchor="ctr"/>
          <a:lstStyle/>
          <a:p>
            <a:pPr rtl="1" algn="r" indent="0" marL="0">
              <a:buNone/>
            </a:pPr>
            <a:r>
              <a:rPr lang="ar-SA" altLang="en-US" sz="1200" b="1" dirty="0">
                <a:solidFill>
                  <a:srgbClr val="3EE0F5"/>
                </a:solidFill>
                <a:latin typeface="IBM Plex Sans Arabic" pitchFamily="34" charset="0"/>
                <a:ea typeface="IBM Plex Sans Arabic" pitchFamily="34" charset="-122"/>
                <a:cs typeface="IBM Plex Sans Arabic" pitchFamily="34" charset="-120"/>
              </a:rPr>
              <a:t>يملك القرار في</a:t>
            </a:r>
            <a:endParaRPr lang="ar-SA" sz="1200" dirty="0"/>
          </a:p>
        </p:txBody>
      </p:sp>
      <p:sp>
        <p:nvSpPr>
          <p:cNvPr id="11" name="Text 8"/>
          <p:cNvSpPr txBox="1"/>
          <p:nvPr/>
        </p:nvSpPr>
        <p:spPr>
          <a:xfrm>
            <a:off x="731520" y="1828800"/>
            <a:ext cx="4465015" cy="365760"/>
          </a:xfrm>
          <a:prstGeom prst="rect">
            <a:avLst/>
          </a:prstGeom>
          <a:noFill/>
          <a:ln/>
        </p:spPr>
        <p:txBody>
          <a:bodyPr wrap="square" lIns="0" tIns="0" rIns="0" bIns="0" rtlCol="0" anchor="ctr"/>
          <a:lstStyle/>
          <a:p>
            <a:pPr rtl="1" algn="r" indent="0" marL="0">
              <a:buNone/>
            </a:pPr>
            <a:r>
              <a:rPr lang="ar-SA" altLang="en-US" sz="1200" b="1" dirty="0">
                <a:solidFill>
                  <a:srgbClr val="3EE0F5"/>
                </a:solidFill>
                <a:latin typeface="IBM Plex Sans Arabic" pitchFamily="34" charset="0"/>
                <a:ea typeface="IBM Plex Sans Arabic" pitchFamily="34" charset="-122"/>
                <a:cs typeface="IBM Plex Sans Arabic" pitchFamily="34" charset="-120"/>
              </a:rPr>
              <a:t>أول Deliverables</a:t>
            </a:r>
            <a:endParaRPr lang="ar-SA" sz="1200" dirty="0"/>
          </a:p>
        </p:txBody>
      </p:sp>
      <p:sp>
        <p:nvSpPr>
          <p:cNvPr id="12" name="Shape 9"/>
          <p:cNvSpPr/>
          <p:nvPr/>
        </p:nvSpPr>
        <p:spPr>
          <a:xfrm>
            <a:off x="594360" y="2249424"/>
            <a:ext cx="11002975" cy="416052"/>
          </a:xfrm>
          <a:prstGeom prst="roundRect">
            <a:avLst>
              <a:gd name="adj" fmla="val 17582"/>
            </a:avLst>
          </a:prstGeom>
          <a:solidFill>
            <a:srgbClr val="0B1634"/>
          </a:solidFill>
          <a:ln/>
        </p:spPr>
      </p:sp>
      <p:sp>
        <p:nvSpPr>
          <p:cNvPr id="13" name="Text 10"/>
          <p:cNvSpPr txBox="1"/>
          <p:nvPr/>
        </p:nvSpPr>
        <p:spPr>
          <a:xfrm>
            <a:off x="9174175" y="2249424"/>
            <a:ext cx="2331720" cy="416052"/>
          </a:xfrm>
          <a:prstGeom prst="rect">
            <a:avLst/>
          </a:prstGeom>
          <a:noFill/>
          <a:ln/>
        </p:spPr>
        <p:txBody>
          <a:bodyPr wrap="square" lIns="0" tIns="0" rIns="0" bIns="0" rtlCol="0" anchor="ctr"/>
          <a:lstStyle/>
          <a:p>
            <a:pPr rtl="1" algn="r" indent="0" marL="0">
              <a:buNone/>
            </a:pPr>
            <a:r>
              <a:rPr lang="ar-SA" altLang="en-US" sz="1300" b="1" dirty="0">
                <a:solidFill>
                  <a:srgbClr val="F3F6FD"/>
                </a:solidFill>
                <a:latin typeface="IBM Plex Sans Arabic" pitchFamily="34" charset="0"/>
                <a:ea typeface="IBM Plex Sans Arabic" pitchFamily="34" charset="-122"/>
                <a:cs typeface="IBM Plex Sans Arabic" pitchFamily="34" charset="-120"/>
              </a:rPr>
              <a:t>غسان مقداد</a:t>
            </a:r>
            <a:pPr rtl="1" algn="r" indent="0" marL="0">
              <a:buNone/>
            </a:pPr>
            <a:r>
              <a:rPr lang="ar-SA" altLang="en-US" sz="1050" b="1" dirty="0">
                <a:solidFill>
                  <a:srgbClr val="3EE0F5"/>
                </a:solidFill>
                <a:latin typeface="IBM Plex Sans Arabic" pitchFamily="34" charset="0"/>
                <a:ea typeface="IBM Plex Sans Arabic" pitchFamily="34" charset="-122"/>
                <a:cs typeface="IBM Plex Sans Arabic" pitchFamily="34" charset="-120"/>
              </a:rPr>
              <a:t>   Founder · AI Lead</a:t>
            </a:r>
            <a:endParaRPr lang="ar-SA" sz="1400" dirty="0"/>
          </a:p>
        </p:txBody>
      </p:sp>
      <p:sp>
        <p:nvSpPr>
          <p:cNvPr id="14" name="Text 11"/>
          <p:cNvSpPr txBox="1"/>
          <p:nvPr/>
        </p:nvSpPr>
        <p:spPr>
          <a:xfrm>
            <a:off x="5470855" y="2249424"/>
            <a:ext cx="3383280" cy="416052"/>
          </a:xfrm>
          <a:prstGeom prst="rect">
            <a:avLst/>
          </a:prstGeom>
          <a:noFill/>
          <a:ln/>
        </p:spPr>
        <p:txBody>
          <a:bodyPr wrap="square" lIns="0" tIns="0" rIns="0" bIns="0" rtlCol="0" anchor="ctr"/>
          <a:lstStyle/>
          <a:p>
            <a:pPr rtl="1" algn="r" indent="0" marL="0">
              <a:buNone/>
            </a:pPr>
            <a:r>
              <a:rPr lang="ar-SA" altLang="en-US" sz="1150" dirty="0">
                <a:solidFill>
                  <a:srgbClr val="F3F6FD"/>
                </a:solidFill>
                <a:latin typeface="IBM Plex Sans Arabic" pitchFamily="34" charset="0"/>
                <a:ea typeface="IBM Plex Sans Arabic" pitchFamily="34" charset="-122"/>
                <a:cs typeface="IBM Plex Sans Arabic" pitchFamily="34" charset="-120"/>
              </a:rPr>
              <a:t>Product scope · AI semantics · Validation · Final acceptance</a:t>
            </a:r>
            <a:endParaRPr lang="ar-SA" sz="1150" dirty="0"/>
          </a:p>
        </p:txBody>
      </p:sp>
      <p:sp>
        <p:nvSpPr>
          <p:cNvPr id="15" name="Text 12"/>
          <p:cNvSpPr txBox="1"/>
          <p:nvPr/>
        </p:nvSpPr>
        <p:spPr>
          <a:xfrm>
            <a:off x="731520" y="2249424"/>
            <a:ext cx="4465015" cy="416052"/>
          </a:xfrm>
          <a:prstGeom prst="rect">
            <a:avLst/>
          </a:prstGeom>
          <a:noFill/>
          <a:ln/>
        </p:spPr>
        <p:txBody>
          <a:bodyPr wrap="square" lIns="0" tIns="0" rIns="0" bIns="0" rtlCol="0" anchor="ctr"/>
          <a:lstStyle/>
          <a:p>
            <a:pPr rtl="1" algn="r" indent="0" marL="0">
              <a:buNone/>
            </a:pPr>
            <a:r>
              <a:rPr lang="ar-SA" altLang="en-US" sz="1150" dirty="0">
                <a:solidFill>
                  <a:srgbClr val="A9B7DA"/>
                </a:solidFill>
                <a:latin typeface="IBM Plex Sans Arabic" pitchFamily="34" charset="0"/>
                <a:ea typeface="IBM Plex Sans Arabic" pitchFamily="34" charset="-122"/>
                <a:cs typeface="IBM Plex Sans Arabic" pitchFamily="34" charset="-120"/>
              </a:rPr>
              <a:t>Role Success schema · MVP boundaries · Pilot data contract</a:t>
            </a:r>
            <a:endParaRPr lang="ar-SA" sz="1150" dirty="0"/>
          </a:p>
        </p:txBody>
      </p:sp>
      <p:sp>
        <p:nvSpPr>
          <p:cNvPr id="16" name="Text 13"/>
          <p:cNvSpPr txBox="1"/>
          <p:nvPr/>
        </p:nvSpPr>
        <p:spPr>
          <a:xfrm>
            <a:off x="9174175" y="2702052"/>
            <a:ext cx="2331720" cy="416052"/>
          </a:xfrm>
          <a:prstGeom prst="rect">
            <a:avLst/>
          </a:prstGeom>
          <a:noFill/>
          <a:ln/>
        </p:spPr>
        <p:txBody>
          <a:bodyPr wrap="square" lIns="0" tIns="0" rIns="0" bIns="0" rtlCol="0" anchor="ctr"/>
          <a:lstStyle/>
          <a:p>
            <a:pPr rtl="1" algn="r" indent="0" marL="0">
              <a:buNone/>
            </a:pPr>
            <a:r>
              <a:rPr lang="ar-SA" altLang="en-US" sz="1300" b="1" dirty="0">
                <a:solidFill>
                  <a:srgbClr val="F3F6FD"/>
                </a:solidFill>
                <a:latin typeface="IBM Plex Sans Arabic" pitchFamily="34" charset="0"/>
                <a:ea typeface="IBM Plex Sans Arabic" pitchFamily="34" charset="-122"/>
                <a:cs typeface="IBM Plex Sans Arabic" pitchFamily="34" charset="-120"/>
              </a:rPr>
              <a:t>عبدالله فسفس</a:t>
            </a:r>
            <a:pPr rtl="1" algn="r" indent="0" marL="0">
              <a:buNone/>
            </a:pPr>
            <a:r>
              <a:rPr lang="ar-SA" altLang="en-US" sz="1050" b="1" dirty="0">
                <a:solidFill>
                  <a:srgbClr val="3EE0F5"/>
                </a:solidFill>
                <a:latin typeface="IBM Plex Sans Arabic" pitchFamily="34" charset="0"/>
                <a:ea typeface="IBM Plex Sans Arabic" pitchFamily="34" charset="-122"/>
                <a:cs typeface="IBM Plex Sans Arabic" pitchFamily="34" charset="-120"/>
              </a:rPr>
              <a:t>   AI Engineering</a:t>
            </a:r>
            <a:endParaRPr lang="ar-SA" sz="1400" dirty="0"/>
          </a:p>
        </p:txBody>
      </p:sp>
      <p:sp>
        <p:nvSpPr>
          <p:cNvPr id="17" name="Text 14"/>
          <p:cNvSpPr txBox="1"/>
          <p:nvPr/>
        </p:nvSpPr>
        <p:spPr>
          <a:xfrm>
            <a:off x="5470855" y="2702052"/>
            <a:ext cx="3383280" cy="416052"/>
          </a:xfrm>
          <a:prstGeom prst="rect">
            <a:avLst/>
          </a:prstGeom>
          <a:noFill/>
          <a:ln/>
        </p:spPr>
        <p:txBody>
          <a:bodyPr wrap="square" lIns="0" tIns="0" rIns="0" bIns="0" rtlCol="0" anchor="ctr"/>
          <a:lstStyle/>
          <a:p>
            <a:pPr rtl="1" algn="r" indent="0" marL="0">
              <a:buNone/>
            </a:pPr>
            <a:r>
              <a:rPr lang="ar-SA" altLang="en-US" sz="1150" dirty="0">
                <a:solidFill>
                  <a:srgbClr val="F3F6FD"/>
                </a:solidFill>
                <a:latin typeface="IBM Plex Sans Arabic" pitchFamily="34" charset="0"/>
                <a:ea typeface="IBM Plex Sans Arabic" pitchFamily="34" charset="-122"/>
                <a:cs typeface="IBM Plex Sans Arabic" pitchFamily="34" charset="-120"/>
              </a:rPr>
              <a:t>تنفيذ مكوّنات الـAI ضمن الـContracts المعتمدة</a:t>
            </a:r>
            <a:endParaRPr lang="ar-SA" sz="1150" dirty="0"/>
          </a:p>
        </p:txBody>
      </p:sp>
      <p:sp>
        <p:nvSpPr>
          <p:cNvPr id="18" name="Text 15"/>
          <p:cNvSpPr txBox="1"/>
          <p:nvPr/>
        </p:nvSpPr>
        <p:spPr>
          <a:xfrm>
            <a:off x="731520" y="2702052"/>
            <a:ext cx="4465015" cy="416052"/>
          </a:xfrm>
          <a:prstGeom prst="rect">
            <a:avLst/>
          </a:prstGeom>
          <a:noFill/>
          <a:ln/>
        </p:spPr>
        <p:txBody>
          <a:bodyPr wrap="square" lIns="0" tIns="0" rIns="0" bIns="0" rtlCol="0" anchor="ctr"/>
          <a:lstStyle/>
          <a:p>
            <a:pPr rtl="1" algn="r" indent="0" marL="0">
              <a:buNone/>
            </a:pPr>
            <a:r>
              <a:rPr lang="ar-SA" altLang="en-US" sz="1150" dirty="0">
                <a:solidFill>
                  <a:srgbClr val="A9B7DA"/>
                </a:solidFill>
                <a:latin typeface="IBM Plex Sans Arabic" pitchFamily="34" charset="0"/>
                <a:ea typeface="IBM Plex Sans Arabic" pitchFamily="34" charset="-122"/>
                <a:cs typeface="IBM Plex Sans Arabic" pitchFamily="34" charset="-120"/>
              </a:rPr>
              <a:t>Parsing pipeline · Evidence extraction · Normalization</a:t>
            </a:r>
            <a:endParaRPr lang="ar-SA" sz="1150" dirty="0"/>
          </a:p>
        </p:txBody>
      </p:sp>
      <p:sp>
        <p:nvSpPr>
          <p:cNvPr id="19" name="Shape 16"/>
          <p:cNvSpPr/>
          <p:nvPr/>
        </p:nvSpPr>
        <p:spPr>
          <a:xfrm>
            <a:off x="594360" y="3154680"/>
            <a:ext cx="11002975" cy="416052"/>
          </a:xfrm>
          <a:prstGeom prst="roundRect">
            <a:avLst>
              <a:gd name="adj" fmla="val 17582"/>
            </a:avLst>
          </a:prstGeom>
          <a:solidFill>
            <a:srgbClr val="0B1634"/>
          </a:solidFill>
          <a:ln/>
        </p:spPr>
      </p:sp>
      <p:sp>
        <p:nvSpPr>
          <p:cNvPr id="20" name="Text 17"/>
          <p:cNvSpPr txBox="1"/>
          <p:nvPr/>
        </p:nvSpPr>
        <p:spPr>
          <a:xfrm>
            <a:off x="9174175" y="3154680"/>
            <a:ext cx="2331720" cy="416052"/>
          </a:xfrm>
          <a:prstGeom prst="rect">
            <a:avLst/>
          </a:prstGeom>
          <a:noFill/>
          <a:ln/>
        </p:spPr>
        <p:txBody>
          <a:bodyPr wrap="square" lIns="0" tIns="0" rIns="0" bIns="0" rtlCol="0" anchor="ctr"/>
          <a:lstStyle/>
          <a:p>
            <a:pPr rtl="1" algn="r" indent="0" marL="0">
              <a:buNone/>
            </a:pPr>
            <a:r>
              <a:rPr lang="ar-SA" altLang="en-US" sz="1300" b="1" dirty="0">
                <a:solidFill>
                  <a:srgbClr val="F3F6FD"/>
                </a:solidFill>
                <a:latin typeface="IBM Plex Sans Arabic" pitchFamily="34" charset="0"/>
                <a:ea typeface="IBM Plex Sans Arabic" pitchFamily="34" charset="-122"/>
                <a:cs typeface="IBM Plex Sans Arabic" pitchFamily="34" charset="-120"/>
              </a:rPr>
              <a:t>أشرف الكحلوت</a:t>
            </a:r>
            <a:pPr rtl="1" algn="r" indent="0" marL="0">
              <a:buNone/>
            </a:pPr>
            <a:r>
              <a:rPr lang="ar-SA" altLang="en-US" sz="1050" b="1" dirty="0">
                <a:solidFill>
                  <a:srgbClr val="3EE0F5"/>
                </a:solidFill>
                <a:latin typeface="IBM Plex Sans Arabic" pitchFamily="34" charset="0"/>
                <a:ea typeface="IBM Plex Sans Arabic" pitchFamily="34" charset="-122"/>
                <a:cs typeface="IBM Plex Sans Arabic" pitchFamily="34" charset="-120"/>
              </a:rPr>
              <a:t>   ML Engineer</a:t>
            </a:r>
            <a:endParaRPr lang="ar-SA" sz="1400" dirty="0"/>
          </a:p>
        </p:txBody>
      </p:sp>
      <p:sp>
        <p:nvSpPr>
          <p:cNvPr id="21" name="Text 18"/>
          <p:cNvSpPr txBox="1"/>
          <p:nvPr/>
        </p:nvSpPr>
        <p:spPr>
          <a:xfrm>
            <a:off x="5470855" y="3154680"/>
            <a:ext cx="3383280" cy="416052"/>
          </a:xfrm>
          <a:prstGeom prst="rect">
            <a:avLst/>
          </a:prstGeom>
          <a:noFill/>
          <a:ln/>
        </p:spPr>
        <p:txBody>
          <a:bodyPr wrap="square" lIns="0" tIns="0" rIns="0" bIns="0" rtlCol="0" anchor="ctr"/>
          <a:lstStyle/>
          <a:p>
            <a:pPr rtl="1" algn="r" indent="0" marL="0">
              <a:buNone/>
            </a:pPr>
            <a:r>
              <a:rPr lang="ar-SA" altLang="en-US" sz="1150" dirty="0">
                <a:solidFill>
                  <a:srgbClr val="F3F6FD"/>
                </a:solidFill>
                <a:latin typeface="IBM Plex Sans Arabic" pitchFamily="34" charset="0"/>
                <a:ea typeface="IBM Plex Sans Arabic" pitchFamily="34" charset="-122"/>
                <a:cs typeface="IBM Plex Sans Arabic" pitchFamily="34" charset="-120"/>
              </a:rPr>
              <a:t>Statistics · Cohort logic · Confidence experiments</a:t>
            </a:r>
            <a:endParaRPr lang="ar-SA" sz="1150" dirty="0"/>
          </a:p>
        </p:txBody>
      </p:sp>
      <p:sp>
        <p:nvSpPr>
          <p:cNvPr id="22" name="Text 19"/>
          <p:cNvSpPr txBox="1"/>
          <p:nvPr/>
        </p:nvSpPr>
        <p:spPr>
          <a:xfrm>
            <a:off x="731520" y="3154680"/>
            <a:ext cx="4465015" cy="416052"/>
          </a:xfrm>
          <a:prstGeom prst="rect">
            <a:avLst/>
          </a:prstGeom>
          <a:noFill/>
          <a:ln/>
        </p:spPr>
        <p:txBody>
          <a:bodyPr wrap="square" lIns="0" tIns="0" rIns="0" bIns="0" rtlCol="0" anchor="ctr"/>
          <a:lstStyle/>
          <a:p>
            <a:pPr rtl="1" algn="r" indent="0" marL="0">
              <a:buNone/>
            </a:pPr>
            <a:r>
              <a:rPr lang="ar-SA" altLang="en-US" sz="1150" dirty="0">
                <a:solidFill>
                  <a:srgbClr val="A9B7DA"/>
                </a:solidFill>
                <a:latin typeface="IBM Plex Sans Arabic" pitchFamily="34" charset="0"/>
                <a:ea typeface="IBM Plex Sans Arabic" pitchFamily="34" charset="-122"/>
                <a:cs typeface="IBM Plex Sans Arabic" pitchFamily="34" charset="-120"/>
              </a:rPr>
              <a:t>Golden dataset v1 · Cohort builder · Data-quality checks</a:t>
            </a:r>
            <a:endParaRPr lang="ar-SA" sz="1150" dirty="0"/>
          </a:p>
        </p:txBody>
      </p:sp>
      <p:sp>
        <p:nvSpPr>
          <p:cNvPr id="23" name="Text 20"/>
          <p:cNvSpPr txBox="1"/>
          <p:nvPr/>
        </p:nvSpPr>
        <p:spPr>
          <a:xfrm>
            <a:off x="9174175" y="3607308"/>
            <a:ext cx="2331720" cy="416052"/>
          </a:xfrm>
          <a:prstGeom prst="rect">
            <a:avLst/>
          </a:prstGeom>
          <a:noFill/>
          <a:ln/>
        </p:spPr>
        <p:txBody>
          <a:bodyPr wrap="square" lIns="0" tIns="0" rIns="0" bIns="0" rtlCol="0" anchor="ctr"/>
          <a:lstStyle/>
          <a:p>
            <a:pPr rtl="1" algn="r" indent="0" marL="0">
              <a:buNone/>
            </a:pPr>
            <a:r>
              <a:rPr lang="ar-SA" altLang="en-US" sz="1300" b="1" dirty="0">
                <a:solidFill>
                  <a:srgbClr val="F3F6FD"/>
                </a:solidFill>
                <a:latin typeface="IBM Plex Sans Arabic" pitchFamily="34" charset="0"/>
                <a:ea typeface="IBM Plex Sans Arabic" pitchFamily="34" charset="-122"/>
                <a:cs typeface="IBM Plex Sans Arabic" pitchFamily="34" charset="-120"/>
              </a:rPr>
              <a:t>بشار بدوي</a:t>
            </a:r>
            <a:pPr rtl="1" algn="r" indent="0" marL="0">
              <a:buNone/>
            </a:pPr>
            <a:r>
              <a:rPr lang="ar-SA" altLang="en-US" sz="1050" b="1" dirty="0">
                <a:solidFill>
                  <a:srgbClr val="3EE0F5"/>
                </a:solidFill>
                <a:latin typeface="IBM Plex Sans Arabic" pitchFamily="34" charset="0"/>
                <a:ea typeface="IBM Plex Sans Arabic" pitchFamily="34" charset="-122"/>
                <a:cs typeface="IBM Plex Sans Arabic" pitchFamily="34" charset="-120"/>
              </a:rPr>
              <a:t>   ML Engineer</a:t>
            </a:r>
            <a:endParaRPr lang="ar-SA" sz="1400" dirty="0"/>
          </a:p>
        </p:txBody>
      </p:sp>
      <p:sp>
        <p:nvSpPr>
          <p:cNvPr id="24" name="Text 21"/>
          <p:cNvSpPr txBox="1"/>
          <p:nvPr/>
        </p:nvSpPr>
        <p:spPr>
          <a:xfrm>
            <a:off x="5470855" y="3607308"/>
            <a:ext cx="3383280" cy="416052"/>
          </a:xfrm>
          <a:prstGeom prst="rect">
            <a:avLst/>
          </a:prstGeom>
          <a:noFill/>
          <a:ln/>
        </p:spPr>
        <p:txBody>
          <a:bodyPr wrap="square" lIns="0" tIns="0" rIns="0" bIns="0" rtlCol="0" anchor="ctr"/>
          <a:lstStyle/>
          <a:p>
            <a:pPr rtl="1" algn="r" indent="0" marL="0">
              <a:buNone/>
            </a:pPr>
            <a:r>
              <a:rPr lang="ar-SA" altLang="en-US" sz="1150" dirty="0">
                <a:solidFill>
                  <a:srgbClr val="F3F6FD"/>
                </a:solidFill>
                <a:latin typeface="IBM Plex Sans Arabic" pitchFamily="34" charset="0"/>
                <a:ea typeface="IBM Plex Sans Arabic" pitchFamily="34" charset="-122"/>
                <a:cs typeface="IBM Plex Sans Arabic" pitchFamily="34" charset="-120"/>
              </a:rPr>
              <a:t>Predictive gate · Model comparison · Drift</a:t>
            </a:r>
            <a:endParaRPr lang="ar-SA" sz="1150" dirty="0"/>
          </a:p>
        </p:txBody>
      </p:sp>
      <p:sp>
        <p:nvSpPr>
          <p:cNvPr id="25" name="Text 22"/>
          <p:cNvSpPr txBox="1"/>
          <p:nvPr/>
        </p:nvSpPr>
        <p:spPr>
          <a:xfrm>
            <a:off x="731520" y="3607308"/>
            <a:ext cx="4465015" cy="416052"/>
          </a:xfrm>
          <a:prstGeom prst="rect">
            <a:avLst/>
          </a:prstGeom>
          <a:noFill/>
          <a:ln/>
        </p:spPr>
        <p:txBody>
          <a:bodyPr wrap="square" lIns="0" tIns="0" rIns="0" bIns="0" rtlCol="0" anchor="ctr"/>
          <a:lstStyle/>
          <a:p>
            <a:pPr rtl="1" algn="r" indent="0" marL="0">
              <a:buNone/>
            </a:pPr>
            <a:r>
              <a:rPr lang="ar-SA" altLang="en-US" sz="1150" dirty="0">
                <a:solidFill>
                  <a:srgbClr val="A9B7DA"/>
                </a:solidFill>
                <a:latin typeface="IBM Plex Sans Arabic" pitchFamily="34" charset="0"/>
                <a:ea typeface="IBM Plex Sans Arabic" pitchFamily="34" charset="-122"/>
                <a:cs typeface="IBM Plex Sans Arabic" pitchFamily="34" charset="-120"/>
              </a:rPr>
              <a:t>Evaluation thresholds · Predictive gate policy</a:t>
            </a:r>
            <a:endParaRPr lang="ar-SA" sz="1150" dirty="0"/>
          </a:p>
        </p:txBody>
      </p:sp>
      <p:sp>
        <p:nvSpPr>
          <p:cNvPr id="26" name="Shape 23"/>
          <p:cNvSpPr/>
          <p:nvPr/>
        </p:nvSpPr>
        <p:spPr>
          <a:xfrm>
            <a:off x="594360" y="4059936"/>
            <a:ext cx="11002975" cy="416052"/>
          </a:xfrm>
          <a:prstGeom prst="roundRect">
            <a:avLst>
              <a:gd name="adj" fmla="val 17582"/>
            </a:avLst>
          </a:prstGeom>
          <a:solidFill>
            <a:srgbClr val="0B1634"/>
          </a:solidFill>
          <a:ln/>
        </p:spPr>
      </p:sp>
      <p:sp>
        <p:nvSpPr>
          <p:cNvPr id="27" name="Text 24"/>
          <p:cNvSpPr txBox="1"/>
          <p:nvPr/>
        </p:nvSpPr>
        <p:spPr>
          <a:xfrm>
            <a:off x="9174175" y="4059936"/>
            <a:ext cx="2331720" cy="416052"/>
          </a:xfrm>
          <a:prstGeom prst="rect">
            <a:avLst/>
          </a:prstGeom>
          <a:noFill/>
          <a:ln/>
        </p:spPr>
        <p:txBody>
          <a:bodyPr wrap="square" lIns="0" tIns="0" rIns="0" bIns="0" rtlCol="0" anchor="ctr"/>
          <a:lstStyle/>
          <a:p>
            <a:pPr rtl="1" algn="r" indent="0" marL="0">
              <a:buNone/>
            </a:pPr>
            <a:r>
              <a:rPr lang="ar-SA" altLang="en-US" sz="1300" b="1" dirty="0">
                <a:solidFill>
                  <a:srgbClr val="F3F6FD"/>
                </a:solidFill>
                <a:latin typeface="IBM Plex Sans Arabic" pitchFamily="34" charset="0"/>
                <a:ea typeface="IBM Plex Sans Arabic" pitchFamily="34" charset="-122"/>
                <a:cs typeface="IBM Plex Sans Arabic" pitchFamily="34" charset="-120"/>
              </a:rPr>
              <a:t>إسراء حمد</a:t>
            </a:r>
            <a:pPr rtl="1" algn="r" indent="0" marL="0">
              <a:buNone/>
            </a:pPr>
            <a:r>
              <a:rPr lang="ar-SA" altLang="en-US" sz="1050" b="1" dirty="0">
                <a:solidFill>
                  <a:srgbClr val="3EE0F5"/>
                </a:solidFill>
                <a:latin typeface="IBM Plex Sans Arabic" pitchFamily="34" charset="0"/>
                <a:ea typeface="IBM Plex Sans Arabic" pitchFamily="34" charset="-122"/>
                <a:cs typeface="IBM Plex Sans Arabic" pitchFamily="34" charset="-120"/>
              </a:rPr>
              <a:t>   AI Integration</a:t>
            </a:r>
            <a:endParaRPr lang="ar-SA" sz="1400" dirty="0"/>
          </a:p>
        </p:txBody>
      </p:sp>
      <p:sp>
        <p:nvSpPr>
          <p:cNvPr id="28" name="Text 25"/>
          <p:cNvSpPr txBox="1"/>
          <p:nvPr/>
        </p:nvSpPr>
        <p:spPr>
          <a:xfrm>
            <a:off x="5470855" y="4059936"/>
            <a:ext cx="3383280" cy="416052"/>
          </a:xfrm>
          <a:prstGeom prst="rect">
            <a:avLst/>
          </a:prstGeom>
          <a:noFill/>
          <a:ln/>
        </p:spPr>
        <p:txBody>
          <a:bodyPr wrap="square" lIns="0" tIns="0" rIns="0" bIns="0" rtlCol="0" anchor="ctr"/>
          <a:lstStyle/>
          <a:p>
            <a:pPr rtl="1" algn="r" indent="0" marL="0">
              <a:buNone/>
            </a:pPr>
            <a:r>
              <a:rPr lang="ar-SA" altLang="en-US" sz="1150" dirty="0">
                <a:solidFill>
                  <a:srgbClr val="F3F6FD"/>
                </a:solidFill>
                <a:latin typeface="IBM Plex Sans Arabic" pitchFamily="34" charset="0"/>
                <a:ea typeface="IBM Plex Sans Arabic" pitchFamily="34" charset="-122"/>
                <a:cs typeface="IBM Plex Sans Arabic" pitchFamily="34" charset="-120"/>
              </a:rPr>
              <a:t>Orchestration · Workers · Observability</a:t>
            </a:r>
            <a:endParaRPr lang="ar-SA" sz="1150" dirty="0"/>
          </a:p>
        </p:txBody>
      </p:sp>
      <p:sp>
        <p:nvSpPr>
          <p:cNvPr id="29" name="Text 26"/>
          <p:cNvSpPr txBox="1"/>
          <p:nvPr/>
        </p:nvSpPr>
        <p:spPr>
          <a:xfrm>
            <a:off x="731520" y="4059936"/>
            <a:ext cx="4465015" cy="416052"/>
          </a:xfrm>
          <a:prstGeom prst="rect">
            <a:avLst/>
          </a:prstGeom>
          <a:noFill/>
          <a:ln/>
        </p:spPr>
        <p:txBody>
          <a:bodyPr wrap="square" lIns="0" tIns="0" rIns="0" bIns="0" rtlCol="0" anchor="ctr"/>
          <a:lstStyle/>
          <a:p>
            <a:pPr rtl="1" algn="r" indent="0" marL="0">
              <a:buNone/>
            </a:pPr>
            <a:r>
              <a:rPr lang="ar-SA" altLang="en-US" sz="1150" dirty="0">
                <a:solidFill>
                  <a:srgbClr val="A9B7DA"/>
                </a:solidFill>
                <a:latin typeface="IBM Plex Sans Arabic" pitchFamily="34" charset="0"/>
                <a:ea typeface="IBM Plex Sans Arabic" pitchFamily="34" charset="-122"/>
                <a:cs typeface="IBM Plex Sans Arabic" pitchFamily="34" charset="-120"/>
              </a:rPr>
              <a:t>Worker orchestration · AI run tracing · Retries</a:t>
            </a:r>
            <a:endParaRPr lang="ar-SA" sz="1150" dirty="0"/>
          </a:p>
        </p:txBody>
      </p:sp>
      <p:sp>
        <p:nvSpPr>
          <p:cNvPr id="30" name="Text 27"/>
          <p:cNvSpPr txBox="1"/>
          <p:nvPr/>
        </p:nvSpPr>
        <p:spPr>
          <a:xfrm>
            <a:off x="9174175" y="4512564"/>
            <a:ext cx="2331720" cy="416052"/>
          </a:xfrm>
          <a:prstGeom prst="rect">
            <a:avLst/>
          </a:prstGeom>
          <a:noFill/>
          <a:ln/>
        </p:spPr>
        <p:txBody>
          <a:bodyPr wrap="square" lIns="0" tIns="0" rIns="0" bIns="0" rtlCol="0" anchor="ctr"/>
          <a:lstStyle/>
          <a:p>
            <a:pPr rtl="1" algn="r" indent="0" marL="0">
              <a:buNone/>
            </a:pPr>
            <a:r>
              <a:rPr lang="ar-SA" altLang="en-US" sz="1300" b="1" dirty="0">
                <a:solidFill>
                  <a:srgbClr val="F3F6FD"/>
                </a:solidFill>
                <a:latin typeface="IBM Plex Sans Arabic" pitchFamily="34" charset="0"/>
                <a:ea typeface="IBM Plex Sans Arabic" pitchFamily="34" charset="-122"/>
                <a:cs typeface="IBM Plex Sans Arabic" pitchFamily="34" charset="-120"/>
              </a:rPr>
              <a:t>براءة النبيه</a:t>
            </a:r>
            <a:pPr rtl="1" algn="r" indent="0" marL="0">
              <a:buNone/>
            </a:pPr>
            <a:r>
              <a:rPr lang="ar-SA" altLang="en-US" sz="1050" b="1" dirty="0">
                <a:solidFill>
                  <a:srgbClr val="3EE0F5"/>
                </a:solidFill>
                <a:latin typeface="IBM Plex Sans Arabic" pitchFamily="34" charset="0"/>
                <a:ea typeface="IBM Plex Sans Arabic" pitchFamily="34" charset="-122"/>
                <a:cs typeface="IBM Plex Sans Arabic" pitchFamily="34" charset="-120"/>
              </a:rPr>
              <a:t>   Backend</a:t>
            </a:r>
            <a:endParaRPr lang="ar-SA" sz="1400" dirty="0"/>
          </a:p>
        </p:txBody>
      </p:sp>
      <p:sp>
        <p:nvSpPr>
          <p:cNvPr id="31" name="Text 28"/>
          <p:cNvSpPr txBox="1"/>
          <p:nvPr/>
        </p:nvSpPr>
        <p:spPr>
          <a:xfrm>
            <a:off x="5470855" y="4512564"/>
            <a:ext cx="3383280" cy="416052"/>
          </a:xfrm>
          <a:prstGeom prst="rect">
            <a:avLst/>
          </a:prstGeom>
          <a:noFill/>
          <a:ln/>
        </p:spPr>
        <p:txBody>
          <a:bodyPr wrap="square" lIns="0" tIns="0" rIns="0" bIns="0" rtlCol="0" anchor="ctr"/>
          <a:lstStyle/>
          <a:p>
            <a:pPr rtl="1" algn="r" indent="0" marL="0">
              <a:buNone/>
            </a:pPr>
            <a:r>
              <a:rPr lang="ar-SA" altLang="en-US" sz="1150" dirty="0">
                <a:solidFill>
                  <a:srgbClr val="F3F6FD"/>
                </a:solidFill>
                <a:latin typeface="IBM Plex Sans Arabic" pitchFamily="34" charset="0"/>
                <a:ea typeface="IBM Plex Sans Arabic" pitchFamily="34" charset="-122"/>
                <a:cs typeface="IBM Plex Sans Arabic" pitchFamily="34" charset="-120"/>
              </a:rPr>
              <a:t>API · Database · Auth · Security</a:t>
            </a:r>
            <a:endParaRPr lang="ar-SA" sz="1150" dirty="0"/>
          </a:p>
        </p:txBody>
      </p:sp>
      <p:sp>
        <p:nvSpPr>
          <p:cNvPr id="32" name="Text 29"/>
          <p:cNvSpPr txBox="1"/>
          <p:nvPr/>
        </p:nvSpPr>
        <p:spPr>
          <a:xfrm>
            <a:off x="731520" y="4512564"/>
            <a:ext cx="4465015" cy="416052"/>
          </a:xfrm>
          <a:prstGeom prst="rect">
            <a:avLst/>
          </a:prstGeom>
          <a:noFill/>
          <a:ln/>
        </p:spPr>
        <p:txBody>
          <a:bodyPr wrap="square" lIns="0" tIns="0" rIns="0" bIns="0" rtlCol="0" anchor="ctr"/>
          <a:lstStyle/>
          <a:p>
            <a:pPr rtl="1" algn="r" indent="0" marL="0">
              <a:buNone/>
            </a:pPr>
            <a:r>
              <a:rPr lang="ar-SA" altLang="en-US" sz="1150" dirty="0">
                <a:solidFill>
                  <a:srgbClr val="A9B7DA"/>
                </a:solidFill>
                <a:latin typeface="IBM Plex Sans Arabic" pitchFamily="34" charset="0"/>
                <a:ea typeface="IBM Plex Sans Arabic" pitchFamily="34" charset="-122"/>
                <a:cs typeface="IBM Plex Sans Arabic" pitchFamily="34" charset="-120"/>
              </a:rPr>
              <a:t>Auth + Tenant · PostgreSQL schema · Import APIs · Docker + CI</a:t>
            </a:r>
            <a:endParaRPr lang="ar-SA" sz="1150" dirty="0"/>
          </a:p>
        </p:txBody>
      </p:sp>
      <p:sp>
        <p:nvSpPr>
          <p:cNvPr id="33" name="Shape 30"/>
          <p:cNvSpPr/>
          <p:nvPr/>
        </p:nvSpPr>
        <p:spPr>
          <a:xfrm>
            <a:off x="594360" y="4965192"/>
            <a:ext cx="11002975" cy="416052"/>
          </a:xfrm>
          <a:prstGeom prst="roundRect">
            <a:avLst>
              <a:gd name="adj" fmla="val 17582"/>
            </a:avLst>
          </a:prstGeom>
          <a:solidFill>
            <a:srgbClr val="0B1634"/>
          </a:solidFill>
          <a:ln/>
        </p:spPr>
      </p:sp>
      <p:sp>
        <p:nvSpPr>
          <p:cNvPr id="34" name="Text 31"/>
          <p:cNvSpPr txBox="1"/>
          <p:nvPr/>
        </p:nvSpPr>
        <p:spPr>
          <a:xfrm>
            <a:off x="9174175" y="4965192"/>
            <a:ext cx="2331720" cy="416052"/>
          </a:xfrm>
          <a:prstGeom prst="rect">
            <a:avLst/>
          </a:prstGeom>
          <a:noFill/>
          <a:ln/>
        </p:spPr>
        <p:txBody>
          <a:bodyPr wrap="square" lIns="0" tIns="0" rIns="0" bIns="0" rtlCol="0" anchor="ctr"/>
          <a:lstStyle/>
          <a:p>
            <a:pPr rtl="1" algn="r" indent="0" marL="0">
              <a:buNone/>
            </a:pPr>
            <a:r>
              <a:rPr lang="ar-SA" altLang="en-US" sz="1300" b="1" dirty="0">
                <a:solidFill>
                  <a:srgbClr val="F3F6FD"/>
                </a:solidFill>
                <a:latin typeface="IBM Plex Sans Arabic" pitchFamily="34" charset="0"/>
                <a:ea typeface="IBM Plex Sans Arabic" pitchFamily="34" charset="-122"/>
                <a:cs typeface="IBM Plex Sans Arabic" pitchFamily="34" charset="-120"/>
              </a:rPr>
              <a:t>جنى</a:t>
            </a:r>
            <a:pPr rtl="1" algn="r" indent="0" marL="0">
              <a:buNone/>
            </a:pPr>
            <a:r>
              <a:rPr lang="ar-SA" altLang="en-US" sz="1050" b="1" dirty="0">
                <a:solidFill>
                  <a:srgbClr val="3EE0F5"/>
                </a:solidFill>
                <a:latin typeface="IBM Plex Sans Arabic" pitchFamily="34" charset="0"/>
                <a:ea typeface="IBM Plex Sans Arabic" pitchFamily="34" charset="-122"/>
                <a:cs typeface="IBM Plex Sans Arabic" pitchFamily="34" charset="-120"/>
              </a:rPr>
              <a:t>   UI/UX</a:t>
            </a:r>
            <a:endParaRPr lang="ar-SA" sz="1400" dirty="0"/>
          </a:p>
        </p:txBody>
      </p:sp>
      <p:sp>
        <p:nvSpPr>
          <p:cNvPr id="35" name="Text 32"/>
          <p:cNvSpPr txBox="1"/>
          <p:nvPr/>
        </p:nvSpPr>
        <p:spPr>
          <a:xfrm>
            <a:off x="5470855" y="4965192"/>
            <a:ext cx="3383280" cy="416052"/>
          </a:xfrm>
          <a:prstGeom prst="rect">
            <a:avLst/>
          </a:prstGeom>
          <a:noFill/>
          <a:ln/>
        </p:spPr>
        <p:txBody>
          <a:bodyPr wrap="square" lIns="0" tIns="0" rIns="0" bIns="0" rtlCol="0" anchor="ctr"/>
          <a:lstStyle/>
          <a:p>
            <a:pPr rtl="1" algn="r" indent="0" marL="0">
              <a:buNone/>
            </a:pPr>
            <a:r>
              <a:rPr lang="ar-SA" altLang="en-US" sz="1150" dirty="0">
                <a:solidFill>
                  <a:srgbClr val="F3F6FD"/>
                </a:solidFill>
                <a:latin typeface="IBM Plex Sans Arabic" pitchFamily="34" charset="0"/>
                <a:ea typeface="IBM Plex Sans Arabic" pitchFamily="34" charset="-122"/>
                <a:cs typeface="IBM Plex Sans Arabic" pitchFamily="34" charset="-120"/>
              </a:rPr>
              <a:t>UX flows · Design system · UI states</a:t>
            </a:r>
            <a:endParaRPr lang="ar-SA" sz="1150" dirty="0"/>
          </a:p>
        </p:txBody>
      </p:sp>
      <p:sp>
        <p:nvSpPr>
          <p:cNvPr id="36" name="Text 33"/>
          <p:cNvSpPr txBox="1"/>
          <p:nvPr/>
        </p:nvSpPr>
        <p:spPr>
          <a:xfrm>
            <a:off x="731520" y="4965192"/>
            <a:ext cx="4465015" cy="416052"/>
          </a:xfrm>
          <a:prstGeom prst="rect">
            <a:avLst/>
          </a:prstGeom>
          <a:noFill/>
          <a:ln/>
        </p:spPr>
        <p:txBody>
          <a:bodyPr wrap="square" lIns="0" tIns="0" rIns="0" bIns="0" rtlCol="0" anchor="ctr"/>
          <a:lstStyle/>
          <a:p>
            <a:pPr rtl="1" algn="r" indent="0" marL="0">
              <a:buNone/>
            </a:pPr>
            <a:r>
              <a:rPr lang="ar-SA" altLang="en-US" sz="1150" dirty="0">
                <a:solidFill>
                  <a:srgbClr val="A9B7DA"/>
                </a:solidFill>
                <a:latin typeface="IBM Plex Sans Arabic" pitchFamily="34" charset="0"/>
                <a:ea typeface="IBM Plex Sans Arabic" pitchFamily="34" charset="-122"/>
                <a:cs typeface="IBM Plex Sans Arabic" pitchFamily="34" charset="-120"/>
              </a:rPr>
              <a:t>Role Calibration flow · Signal Investigation · UI states</a:t>
            </a:r>
            <a:endParaRPr lang="ar-SA" sz="1150" dirty="0"/>
          </a:p>
        </p:txBody>
      </p:sp>
      <p:sp>
        <p:nvSpPr>
          <p:cNvPr id="37" name="Text 34"/>
          <p:cNvSpPr txBox="1"/>
          <p:nvPr/>
        </p:nvSpPr>
        <p:spPr>
          <a:xfrm>
            <a:off x="9174175" y="5417820"/>
            <a:ext cx="2331720" cy="416052"/>
          </a:xfrm>
          <a:prstGeom prst="rect">
            <a:avLst/>
          </a:prstGeom>
          <a:noFill/>
          <a:ln/>
        </p:spPr>
        <p:txBody>
          <a:bodyPr wrap="square" lIns="0" tIns="0" rIns="0" bIns="0" rtlCol="0" anchor="ctr"/>
          <a:lstStyle/>
          <a:p>
            <a:pPr rtl="1" algn="r" indent="0" marL="0">
              <a:buNone/>
            </a:pPr>
            <a:r>
              <a:rPr lang="ar-SA" altLang="en-US" sz="1300" b="1" dirty="0">
                <a:solidFill>
                  <a:srgbClr val="F3F6FD"/>
                </a:solidFill>
                <a:latin typeface="IBM Plex Sans Arabic" pitchFamily="34" charset="0"/>
                <a:ea typeface="IBM Plex Sans Arabic" pitchFamily="34" charset="-122"/>
                <a:cs typeface="IBM Plex Sans Arabic" pitchFamily="34" charset="-120"/>
              </a:rPr>
              <a:t>عمار رمضان</a:t>
            </a:r>
            <a:pPr rtl="1" algn="r" indent="0" marL="0">
              <a:buNone/>
            </a:pPr>
            <a:r>
              <a:rPr lang="ar-SA" altLang="en-US" sz="1050" b="1" dirty="0">
                <a:solidFill>
                  <a:srgbClr val="3EE0F5"/>
                </a:solidFill>
                <a:latin typeface="IBM Plex Sans Arabic" pitchFamily="34" charset="0"/>
                <a:ea typeface="IBM Plex Sans Arabic" pitchFamily="34" charset="-122"/>
                <a:cs typeface="IBM Plex Sans Arabic" pitchFamily="34" charset="-120"/>
              </a:rPr>
              <a:t>   Frontend</a:t>
            </a:r>
            <a:endParaRPr lang="ar-SA" sz="1400" dirty="0"/>
          </a:p>
        </p:txBody>
      </p:sp>
      <p:sp>
        <p:nvSpPr>
          <p:cNvPr id="38" name="Text 35"/>
          <p:cNvSpPr txBox="1"/>
          <p:nvPr/>
        </p:nvSpPr>
        <p:spPr>
          <a:xfrm>
            <a:off x="5470855" y="5417820"/>
            <a:ext cx="3383280" cy="416052"/>
          </a:xfrm>
          <a:prstGeom prst="rect">
            <a:avLst/>
          </a:prstGeom>
          <a:noFill/>
          <a:ln/>
        </p:spPr>
        <p:txBody>
          <a:bodyPr wrap="square" lIns="0" tIns="0" rIns="0" bIns="0" rtlCol="0" anchor="ctr"/>
          <a:lstStyle/>
          <a:p>
            <a:pPr rtl="1" algn="r" indent="0" marL="0">
              <a:buNone/>
            </a:pPr>
            <a:r>
              <a:rPr lang="ar-SA" altLang="en-US" sz="1150" dirty="0">
                <a:solidFill>
                  <a:srgbClr val="F3F6FD"/>
                </a:solidFill>
                <a:latin typeface="IBM Plex Sans Arabic" pitchFamily="34" charset="0"/>
                <a:ea typeface="IBM Plex Sans Arabic" pitchFamily="34" charset="-122"/>
                <a:cs typeface="IBM Plex Sans Arabic" pitchFamily="34" charset="-120"/>
              </a:rPr>
              <a:t>تنفيذ الـFrontend واختباراته</a:t>
            </a:r>
            <a:endParaRPr lang="ar-SA" sz="1150" dirty="0"/>
          </a:p>
        </p:txBody>
      </p:sp>
      <p:sp>
        <p:nvSpPr>
          <p:cNvPr id="39" name="Text 36"/>
          <p:cNvSpPr txBox="1"/>
          <p:nvPr/>
        </p:nvSpPr>
        <p:spPr>
          <a:xfrm>
            <a:off x="731520" y="5417820"/>
            <a:ext cx="4465015" cy="416052"/>
          </a:xfrm>
          <a:prstGeom prst="rect">
            <a:avLst/>
          </a:prstGeom>
          <a:noFill/>
          <a:ln/>
        </p:spPr>
        <p:txBody>
          <a:bodyPr wrap="square" lIns="0" tIns="0" rIns="0" bIns="0" rtlCol="0" anchor="ctr"/>
          <a:lstStyle/>
          <a:p>
            <a:pPr rtl="1" algn="r" indent="0" marL="0">
              <a:buNone/>
            </a:pPr>
            <a:r>
              <a:rPr lang="ar-SA" altLang="en-US" sz="1150" dirty="0">
                <a:solidFill>
                  <a:srgbClr val="A9B7DA"/>
                </a:solidFill>
                <a:latin typeface="IBM Plex Sans Arabic" pitchFamily="34" charset="0"/>
                <a:ea typeface="IBM Plex Sans Arabic" pitchFamily="34" charset="-122"/>
                <a:cs typeface="IBM Plex Sans Arabic" pitchFamily="34" charset="-120"/>
              </a:rPr>
              <a:t>App shell · Role Calibration screen · E2E</a:t>
            </a:r>
            <a:endParaRPr lang="ar-SA" sz="1150" dirty="0"/>
          </a:p>
        </p:txBody>
      </p:sp>
      <p:sp>
        <p:nvSpPr>
          <p:cNvPr id="40" name="Shape 37"/>
          <p:cNvSpPr/>
          <p:nvPr/>
        </p:nvSpPr>
        <p:spPr>
          <a:xfrm>
            <a:off x="594360" y="5870448"/>
            <a:ext cx="11002975" cy="416052"/>
          </a:xfrm>
          <a:prstGeom prst="roundRect">
            <a:avLst>
              <a:gd name="adj" fmla="val 17582"/>
            </a:avLst>
          </a:prstGeom>
          <a:solidFill>
            <a:srgbClr val="0B1634"/>
          </a:solidFill>
          <a:ln/>
        </p:spPr>
      </p:sp>
      <p:sp>
        <p:nvSpPr>
          <p:cNvPr id="41" name="Text 38"/>
          <p:cNvSpPr txBox="1"/>
          <p:nvPr/>
        </p:nvSpPr>
        <p:spPr>
          <a:xfrm>
            <a:off x="9174175" y="5870448"/>
            <a:ext cx="2331720" cy="416052"/>
          </a:xfrm>
          <a:prstGeom prst="rect">
            <a:avLst/>
          </a:prstGeom>
          <a:noFill/>
          <a:ln/>
        </p:spPr>
        <p:txBody>
          <a:bodyPr wrap="square" lIns="0" tIns="0" rIns="0" bIns="0" rtlCol="0" anchor="ctr"/>
          <a:lstStyle/>
          <a:p>
            <a:pPr rtl="1" algn="r" indent="0" marL="0">
              <a:buNone/>
            </a:pPr>
            <a:r>
              <a:rPr lang="ar-SA" altLang="en-US" sz="1300" b="1" dirty="0">
                <a:solidFill>
                  <a:srgbClr val="A9B7DA"/>
                </a:solidFill>
                <a:latin typeface="IBM Plex Sans Arabic" pitchFamily="34" charset="0"/>
                <a:ea typeface="IBM Plex Sans Arabic" pitchFamily="34" charset="-122"/>
                <a:cs typeface="IBM Plex Sans Arabic" pitchFamily="34" charset="-120"/>
              </a:rPr>
              <a:t>أحمد الغرابلي</a:t>
            </a:r>
            <a:pPr rtl="1" algn="r" indent="0" marL="0">
              <a:buNone/>
            </a:pPr>
            <a:r>
              <a:rPr lang="ar-SA" altLang="en-US" sz="1050" b="1" dirty="0">
                <a:solidFill>
                  <a:srgbClr val="6E7FAA"/>
                </a:solidFill>
                <a:latin typeface="IBM Plex Sans Arabic" pitchFamily="34" charset="0"/>
                <a:ea typeface="IBM Plex Sans Arabic" pitchFamily="34" charset="-122"/>
                <a:cs typeface="IBM Plex Sans Arabic" pitchFamily="34" charset="-120"/>
              </a:rPr>
              <a:t>   Mobile</a:t>
            </a:r>
            <a:endParaRPr lang="ar-SA" sz="1400" dirty="0"/>
          </a:p>
        </p:txBody>
      </p:sp>
      <p:sp>
        <p:nvSpPr>
          <p:cNvPr id="42" name="Text 39"/>
          <p:cNvSpPr txBox="1"/>
          <p:nvPr/>
        </p:nvSpPr>
        <p:spPr>
          <a:xfrm>
            <a:off x="5470855" y="5870448"/>
            <a:ext cx="3383280" cy="416052"/>
          </a:xfrm>
          <a:prstGeom prst="rect">
            <a:avLst/>
          </a:prstGeom>
          <a:noFill/>
          <a:ln/>
        </p:spPr>
        <p:txBody>
          <a:bodyPr wrap="square" lIns="0" tIns="0" rIns="0" bIns="0" rtlCol="0" anchor="ctr"/>
          <a:lstStyle/>
          <a:p>
            <a:pPr rtl="1" algn="r" indent="0" marL="0">
              <a:buNone/>
            </a:pPr>
            <a:r>
              <a:rPr lang="ar-SA" altLang="en-US" sz="1150" dirty="0">
                <a:solidFill>
                  <a:srgbClr val="F3F6FD"/>
                </a:solidFill>
                <a:latin typeface="IBM Plex Sans Arabic" pitchFamily="34" charset="0"/>
                <a:ea typeface="IBM Plex Sans Arabic" pitchFamily="34" charset="-122"/>
                <a:cs typeface="IBM Plex Sans Arabic" pitchFamily="34" charset="-120"/>
              </a:rPr>
              <a:t>نطاق الـMobile المؤجّل</a:t>
            </a:r>
            <a:endParaRPr lang="ar-SA" sz="1150" dirty="0"/>
          </a:p>
        </p:txBody>
      </p:sp>
      <p:sp>
        <p:nvSpPr>
          <p:cNvPr id="43" name="Text 40"/>
          <p:cNvSpPr txBox="1"/>
          <p:nvPr/>
        </p:nvSpPr>
        <p:spPr>
          <a:xfrm>
            <a:off x="731520" y="5870448"/>
            <a:ext cx="4465015" cy="416052"/>
          </a:xfrm>
          <a:prstGeom prst="rect">
            <a:avLst/>
          </a:prstGeom>
          <a:noFill/>
          <a:ln/>
        </p:spPr>
        <p:txBody>
          <a:bodyPr wrap="square" lIns="0" tIns="0" rIns="0" bIns="0" rtlCol="0" anchor="ctr"/>
          <a:lstStyle/>
          <a:p>
            <a:pPr rtl="1" algn="r" indent="0" marL="0">
              <a:buNone/>
            </a:pPr>
            <a:r>
              <a:rPr lang="ar-SA" altLang="en-US" sz="1150" dirty="0">
                <a:solidFill>
                  <a:srgbClr val="A9B7DA"/>
                </a:solidFill>
                <a:latin typeface="IBM Plex Sans Arabic" pitchFamily="34" charset="0"/>
                <a:ea typeface="IBM Plex Sans Arabic" pitchFamily="34" charset="-122"/>
                <a:cs typeface="IBM Plex Sans Arabic" pitchFamily="34" charset="-120"/>
              </a:rPr>
              <a:t>Deferred-scope note · Future architecture note</a:t>
            </a:r>
            <a:endParaRPr lang="ar-SA"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508760" y="457200"/>
            <a:ext cx="10088575" cy="274320"/>
          </a:xfrm>
          <a:prstGeom prst="rect">
            <a:avLst/>
          </a:prstGeom>
          <a:noFill/>
          <a:ln/>
        </p:spPr>
        <p:txBody>
          <a:bodyPr wrap="square" lIns="0" tIns="0" rIns="0" bIns="0" rtlCol="0" anchor="t"/>
          <a:lstStyle/>
          <a:p>
            <a:pPr rtl="1" algn="r" indent="0" marL="0">
              <a:buNone/>
            </a:pPr>
            <a:r>
              <a:rPr lang="ar-SA" altLang="en-US" sz="1200" b="1" spc="100" kern="0" dirty="0">
                <a:solidFill>
                  <a:srgbClr val="3EE0F5"/>
                </a:solidFill>
                <a:latin typeface="IBM Plex Sans Arabic" pitchFamily="34" charset="0"/>
                <a:ea typeface="IBM Plex Sans Arabic" pitchFamily="34" charset="-122"/>
                <a:cs typeface="IBM Plex Sans Arabic" pitchFamily="34" charset="-120"/>
              </a:rPr>
              <a:t>09  ·  EXECUTION — كيف سنعمل؟</a:t>
            </a:r>
            <a:endParaRPr lang="ar-SA" sz="1200" dirty="0"/>
          </a:p>
        </p:txBody>
      </p:sp>
      <p:sp>
        <p:nvSpPr>
          <p:cNvPr id="3" name="Text 1"/>
          <p:cNvSpPr txBox="1"/>
          <p:nvPr/>
        </p:nvSpPr>
        <p:spPr>
          <a:xfrm>
            <a:off x="1508760" y="731520"/>
            <a:ext cx="10088575" cy="640080"/>
          </a:xfrm>
          <a:prstGeom prst="rect">
            <a:avLst/>
          </a:prstGeom>
          <a:noFill/>
          <a:ln/>
        </p:spPr>
        <p:txBody>
          <a:bodyPr wrap="square" lIns="0" tIns="0" rIns="0" bIns="0" rtlCol="0" anchor="t"/>
          <a:lstStyle/>
          <a:p>
            <a:pPr rtl="1" algn="r" indent="0" marL="0">
              <a:buNone/>
            </a:pPr>
            <a:r>
              <a:rPr lang="ar-SA" altLang="en-US" sz="3200" b="1" dirty="0">
                <a:solidFill>
                  <a:srgbClr val="F3F6FD"/>
                </a:solidFill>
                <a:latin typeface="IBM Plex Sans Arabic" pitchFamily="34" charset="0"/>
                <a:ea typeface="IBM Plex Sans Arabic" pitchFamily="34" charset="-122"/>
                <a:cs typeface="IBM Plex Sans Arabic" pitchFamily="34" charset="-120"/>
              </a:rPr>
              <a:t>طريقة عمل الفريق</a:t>
            </a:r>
            <a:endParaRPr lang="ar-SA" sz="3200" dirty="0"/>
          </a:p>
        </p:txBody>
      </p:sp>
      <p:sp>
        <p:nvSpPr>
          <p:cNvPr id="4" name="Text 2"/>
          <p:cNvSpPr txBox="1"/>
          <p:nvPr/>
        </p:nvSpPr>
        <p:spPr>
          <a:xfrm>
            <a:off x="594360" y="1353312"/>
            <a:ext cx="11002975" cy="365760"/>
          </a:xfrm>
          <a:prstGeom prst="rect">
            <a:avLst/>
          </a:prstGeom>
          <a:noFill/>
          <a:ln/>
        </p:spPr>
        <p:txBody>
          <a:bodyPr wrap="square" lIns="0" tIns="0" rIns="0" bIns="0" rtlCol="0" anchor="t"/>
          <a:lstStyle/>
          <a:p>
            <a:pPr rtl="1" algn="r" indent="0" marL="0">
              <a:buNone/>
            </a:pPr>
            <a:r>
              <a:rPr lang="ar-SA" altLang="en-US" sz="1500" dirty="0">
                <a:solidFill>
                  <a:srgbClr val="A9B7DA"/>
                </a:solidFill>
                <a:latin typeface="IBM Plex Sans Arabic" pitchFamily="34" charset="0"/>
                <a:ea typeface="IBM Plex Sans Arabic" pitchFamily="34" charset="-122"/>
                <a:cs typeface="IBM Plex Sans Arabic" pitchFamily="34" charset="-120"/>
              </a:rPr>
              <a:t>لا يدخل أي طلب جديد إلى الكود مباشرة؛ يتحوّل أولًا إلى Task لها Owner واحد ومعايير قبول واضحة.</a:t>
            </a:r>
            <a:endParaRPr lang="ar-SA" sz="1500" dirty="0"/>
          </a:p>
        </p:txBody>
      </p:sp>
      <p:pic>
        <p:nvPicPr>
          <p:cNvPr id="5" name="Image 0" descr="/tmp/claude-0/-home-user-ghassankmiqdad/d1991e4f-aee0-5e68-9a9d-3fc00accdf9d/scratchpad/build/assets/mark_sm.png">    </p:cNvPr>
          <p:cNvPicPr>
            <a:picLocks noChangeAspect="1"/>
          </p:cNvPicPr>
          <p:nvPr/>
        </p:nvPicPr>
        <p:blipFill>
          <a:blip r:embed="rId2"/>
          <a:stretch>
            <a:fillRect/>
          </a:stretch>
        </p:blipFill>
        <p:spPr>
          <a:xfrm>
            <a:off x="594360" y="475488"/>
            <a:ext cx="566928" cy="443515"/>
          </a:xfrm>
          <a:prstGeom prst="rect">
            <a:avLst/>
          </a:prstGeom>
        </p:spPr>
      </p:pic>
      <p:sp>
        <p:nvSpPr>
          <p:cNvPr id="6" name="Text 3"/>
          <p:cNvSpPr txBox="1"/>
          <p:nvPr/>
        </p:nvSpPr>
        <p:spPr>
          <a:xfrm>
            <a:off x="7939735" y="6400800"/>
            <a:ext cx="3657600" cy="228600"/>
          </a:xfrm>
          <a:prstGeom prst="rect">
            <a:avLst/>
          </a:prstGeom>
          <a:noFill/>
          <a:ln/>
        </p:spPr>
        <p:txBody>
          <a:bodyPr wrap="square" lIns="0" tIns="0" rIns="0" bIns="0" rtlCol="0" anchor="t"/>
          <a:lstStyle/>
          <a:p>
            <a:pPr rtl="1" algn="r" indent="0" marL="0">
              <a:buNone/>
            </a:pPr>
            <a:r>
              <a:rPr lang="ar-SA" altLang="en-US" sz="900" dirty="0">
                <a:solidFill>
                  <a:srgbClr val="6E7FAA"/>
                </a:solidFill>
                <a:latin typeface="IBM Plex Sans Arabic" pitchFamily="34" charset="0"/>
                <a:ea typeface="IBM Plex Sans Arabic" pitchFamily="34" charset="-122"/>
                <a:cs typeface="IBM Plex Sans Arabic" pitchFamily="34" charset="-120"/>
              </a:rPr>
              <a:t>NestHire · اجتماع الانطلاق</a:t>
            </a:r>
            <a:endParaRPr lang="ar-SA" sz="900" dirty="0"/>
          </a:p>
        </p:txBody>
      </p:sp>
      <p:sp>
        <p:nvSpPr>
          <p:cNvPr id="7" name="Text 4"/>
          <p:cNvSpPr txBox="1"/>
          <p:nvPr/>
        </p:nvSpPr>
        <p:spPr>
          <a:xfrm>
            <a:off x="594360" y="6400800"/>
            <a:ext cx="1097280" cy="228600"/>
          </a:xfrm>
          <a:prstGeom prst="rect">
            <a:avLst/>
          </a:prstGeom>
          <a:noFill/>
          <a:ln/>
        </p:spPr>
        <p:txBody>
          <a:bodyPr wrap="square" lIns="0" tIns="0" rIns="0" bIns="0" rtlCol="0" anchor="t"/>
          <a:lstStyle/>
          <a:p>
            <a:pPr algn="l" indent="0" marL="0">
              <a:buNone/>
            </a:pPr>
            <a:r>
              <a:rPr lang="ar-SA" altLang="en-US" sz="900" dirty="0">
                <a:solidFill>
                  <a:srgbClr val="6E7FAA"/>
                </a:solidFill>
                <a:latin typeface="IBM Plex Sans Arabic" pitchFamily="34" charset="0"/>
                <a:ea typeface="IBM Plex Sans Arabic" pitchFamily="34" charset="-122"/>
                <a:cs typeface="IBM Plex Sans Arabic" pitchFamily="34" charset="-120"/>
              </a:rPr>
              <a:t>14 / 18</a:t>
            </a:r>
            <a:endParaRPr lang="ar-SA" sz="900" dirty="0"/>
          </a:p>
        </p:txBody>
      </p:sp>
      <p:sp>
        <p:nvSpPr>
          <p:cNvPr id="8" name="Shape 5"/>
          <p:cNvSpPr/>
          <p:nvPr/>
        </p:nvSpPr>
        <p:spPr>
          <a:xfrm>
            <a:off x="10571321" y="1920240"/>
            <a:ext cx="676656" cy="676656"/>
          </a:xfrm>
          <a:prstGeom prst="ellipse">
            <a:avLst/>
          </a:prstGeom>
          <a:solidFill>
            <a:srgbClr val="10204A"/>
          </a:solidFill>
          <a:ln w="9525">
            <a:solidFill>
              <a:srgbClr val="2AA6F7"/>
            </a:solidFill>
            <a:prstDash val="solid"/>
          </a:ln>
        </p:spPr>
      </p:sp>
      <p:pic>
        <p:nvPicPr>
          <p:cNvPr id="9" name="Image 1" descr="preencoded.png">    </p:cNvPr>
          <p:cNvPicPr>
            <a:picLocks noChangeAspect="1"/>
          </p:cNvPicPr>
          <p:nvPr/>
        </p:nvPicPr>
        <p:blipFill>
          <a:blip r:embed="rId3"/>
          <a:stretch>
            <a:fillRect/>
          </a:stretch>
        </p:blipFill>
        <p:spPr>
          <a:xfrm>
            <a:off x="10747252" y="2096171"/>
            <a:ext cx="324795" cy="324795"/>
          </a:xfrm>
          <a:prstGeom prst="rect">
            <a:avLst/>
          </a:prstGeom>
        </p:spPr>
      </p:pic>
      <p:sp>
        <p:nvSpPr>
          <p:cNvPr id="10" name="Shape 6"/>
          <p:cNvSpPr/>
          <p:nvPr/>
        </p:nvSpPr>
        <p:spPr>
          <a:xfrm flipH="1">
            <a:off x="9945757" y="2258568"/>
            <a:ext cx="552412" cy="91"/>
          </a:xfrm>
          <a:prstGeom prst="line">
            <a:avLst/>
          </a:prstGeom>
          <a:noFill/>
          <a:ln w="15875">
            <a:solidFill>
              <a:srgbClr val="2AA6F7"/>
            </a:solidFill>
            <a:prstDash val="solid"/>
            <a:tailEnd type="triangle"/>
          </a:ln>
        </p:spPr>
      </p:sp>
      <p:sp>
        <p:nvSpPr>
          <p:cNvPr id="11" name="Text 7"/>
          <p:cNvSpPr txBox="1"/>
          <p:nvPr/>
        </p:nvSpPr>
        <p:spPr>
          <a:xfrm>
            <a:off x="10258539" y="2706624"/>
            <a:ext cx="1302220" cy="274320"/>
          </a:xfrm>
          <a:prstGeom prst="rect">
            <a:avLst/>
          </a:prstGeom>
          <a:noFill/>
          <a:ln/>
        </p:spPr>
        <p:txBody>
          <a:bodyPr wrap="square" lIns="0" tIns="0" rIns="0" bIns="0" rtlCol="0" anchor="t"/>
          <a:lstStyle/>
          <a:p>
            <a:pPr algn="ctr" indent="0" marL="0">
              <a:buNone/>
            </a:pPr>
            <a:r>
              <a:rPr lang="ar-SA" altLang="en-US" sz="1300" b="1" dirty="0">
                <a:solidFill>
                  <a:srgbClr val="F3F6FD"/>
                </a:solidFill>
                <a:latin typeface="IBM Plex Sans Arabic" pitchFamily="34" charset="0"/>
                <a:ea typeface="IBM Plex Sans Arabic" pitchFamily="34" charset="-122"/>
                <a:cs typeface="IBM Plex Sans Arabic" pitchFamily="34" charset="-120"/>
              </a:rPr>
              <a:t>Task</a:t>
            </a:r>
            <a:endParaRPr lang="ar-SA" sz="1300" dirty="0"/>
          </a:p>
        </p:txBody>
      </p:sp>
      <p:sp>
        <p:nvSpPr>
          <p:cNvPr id="12" name="Text 8"/>
          <p:cNvSpPr txBox="1"/>
          <p:nvPr/>
        </p:nvSpPr>
        <p:spPr>
          <a:xfrm>
            <a:off x="10276827" y="2999232"/>
            <a:ext cx="1265644" cy="457200"/>
          </a:xfrm>
          <a:prstGeom prst="rect">
            <a:avLst/>
          </a:prstGeom>
          <a:noFill/>
          <a:ln/>
        </p:spPr>
        <p:txBody>
          <a:bodyPr wrap="square" lIns="0" tIns="0" rIns="0" bIns="0" rtlCol="0" anchor="t"/>
          <a:lstStyle/>
          <a:p>
            <a:pPr algn="ctr" indent="0" marL="0">
              <a:buNone/>
            </a:pPr>
            <a:r>
              <a:rPr lang="ar-SA" altLang="en-US" sz="1050" dirty="0">
                <a:solidFill>
                  <a:srgbClr val="A9B7DA"/>
                </a:solidFill>
                <a:latin typeface="IBM Plex Sans Arabic" pitchFamily="34" charset="0"/>
                <a:ea typeface="IBM Plex Sans Arabic" pitchFamily="34" charset="-122"/>
                <a:cs typeface="IBM Plex Sans Arabic" pitchFamily="34" charset="-120"/>
              </a:rPr>
              <a:t>Issue + Owner واحد</a:t>
            </a:r>
            <a:endParaRPr lang="ar-SA" sz="1050" dirty="0"/>
          </a:p>
        </p:txBody>
      </p:sp>
      <p:sp>
        <p:nvSpPr>
          <p:cNvPr id="13" name="Shape 9"/>
          <p:cNvSpPr/>
          <p:nvPr/>
        </p:nvSpPr>
        <p:spPr>
          <a:xfrm>
            <a:off x="9195949" y="1920240"/>
            <a:ext cx="676656" cy="676656"/>
          </a:xfrm>
          <a:prstGeom prst="ellipse">
            <a:avLst/>
          </a:prstGeom>
          <a:solidFill>
            <a:srgbClr val="10204A"/>
          </a:solidFill>
          <a:ln w="9525">
            <a:solidFill>
              <a:srgbClr val="2AA6F7"/>
            </a:solidFill>
            <a:prstDash val="solid"/>
          </a:ln>
        </p:spPr>
      </p:sp>
      <p:pic>
        <p:nvPicPr>
          <p:cNvPr id="14" name="Image 2" descr="preencoded.png">    </p:cNvPr>
          <p:cNvPicPr>
            <a:picLocks noChangeAspect="1"/>
          </p:cNvPicPr>
          <p:nvPr/>
        </p:nvPicPr>
        <p:blipFill>
          <a:blip r:embed="rId4"/>
          <a:stretch>
            <a:fillRect/>
          </a:stretch>
        </p:blipFill>
        <p:spPr>
          <a:xfrm>
            <a:off x="9371880" y="2096171"/>
            <a:ext cx="324795" cy="324795"/>
          </a:xfrm>
          <a:prstGeom prst="rect">
            <a:avLst/>
          </a:prstGeom>
        </p:spPr>
      </p:pic>
      <p:sp>
        <p:nvSpPr>
          <p:cNvPr id="15" name="Shape 10"/>
          <p:cNvSpPr/>
          <p:nvPr/>
        </p:nvSpPr>
        <p:spPr>
          <a:xfrm flipH="1">
            <a:off x="8570385" y="2258568"/>
            <a:ext cx="552412" cy="91"/>
          </a:xfrm>
          <a:prstGeom prst="line">
            <a:avLst/>
          </a:prstGeom>
          <a:noFill/>
          <a:ln w="15875">
            <a:solidFill>
              <a:srgbClr val="2AA6F7"/>
            </a:solidFill>
            <a:prstDash val="solid"/>
            <a:tailEnd type="triangle"/>
          </a:ln>
        </p:spPr>
      </p:sp>
      <p:sp>
        <p:nvSpPr>
          <p:cNvPr id="16" name="Text 11"/>
          <p:cNvSpPr txBox="1"/>
          <p:nvPr/>
        </p:nvSpPr>
        <p:spPr>
          <a:xfrm>
            <a:off x="8883167" y="2706624"/>
            <a:ext cx="1302220" cy="274320"/>
          </a:xfrm>
          <a:prstGeom prst="rect">
            <a:avLst/>
          </a:prstGeom>
          <a:noFill/>
          <a:ln/>
        </p:spPr>
        <p:txBody>
          <a:bodyPr wrap="square" lIns="0" tIns="0" rIns="0" bIns="0" rtlCol="0" anchor="t"/>
          <a:lstStyle/>
          <a:p>
            <a:pPr algn="ctr" indent="0" marL="0">
              <a:buNone/>
            </a:pPr>
            <a:r>
              <a:rPr lang="ar-SA" altLang="en-US" sz="1300" b="1" dirty="0">
                <a:solidFill>
                  <a:srgbClr val="F3F6FD"/>
                </a:solidFill>
                <a:latin typeface="IBM Plex Sans Arabic" pitchFamily="34" charset="0"/>
                <a:ea typeface="IBM Plex Sans Arabic" pitchFamily="34" charset="-122"/>
                <a:cs typeface="IBM Plex Sans Arabic" pitchFamily="34" charset="-120"/>
              </a:rPr>
              <a:t>Branch</a:t>
            </a:r>
            <a:endParaRPr lang="ar-SA" sz="1300" dirty="0"/>
          </a:p>
        </p:txBody>
      </p:sp>
      <p:sp>
        <p:nvSpPr>
          <p:cNvPr id="17" name="Text 12"/>
          <p:cNvSpPr txBox="1"/>
          <p:nvPr/>
        </p:nvSpPr>
        <p:spPr>
          <a:xfrm>
            <a:off x="8901455" y="2999232"/>
            <a:ext cx="1265644" cy="457200"/>
          </a:xfrm>
          <a:prstGeom prst="rect">
            <a:avLst/>
          </a:prstGeom>
          <a:noFill/>
          <a:ln/>
        </p:spPr>
        <p:txBody>
          <a:bodyPr wrap="square" lIns="0" tIns="0" rIns="0" bIns="0" rtlCol="0" anchor="t"/>
          <a:lstStyle/>
          <a:p>
            <a:pPr rtl="1" algn="ctr" indent="0" marL="0">
              <a:buNone/>
            </a:pPr>
            <a:r>
              <a:rPr lang="ar-SA" altLang="en-US" sz="1050" dirty="0">
                <a:solidFill>
                  <a:srgbClr val="A9B7DA"/>
                </a:solidFill>
                <a:latin typeface="IBM Plex Sans Arabic" pitchFamily="34" charset="0"/>
                <a:ea typeface="IBM Plex Sans Arabic" pitchFamily="34" charset="-122"/>
                <a:cs typeface="IBM Plex Sans Arabic" pitchFamily="34" charset="-120"/>
              </a:rPr>
              <a:t>فرع لكل Task</a:t>
            </a:r>
            <a:endParaRPr lang="ar-SA" sz="1050" dirty="0"/>
          </a:p>
        </p:txBody>
      </p:sp>
      <p:sp>
        <p:nvSpPr>
          <p:cNvPr id="18" name="Shape 13"/>
          <p:cNvSpPr/>
          <p:nvPr/>
        </p:nvSpPr>
        <p:spPr>
          <a:xfrm>
            <a:off x="7820577" y="1920240"/>
            <a:ext cx="676656" cy="676656"/>
          </a:xfrm>
          <a:prstGeom prst="ellipse">
            <a:avLst/>
          </a:prstGeom>
          <a:solidFill>
            <a:srgbClr val="10204A"/>
          </a:solidFill>
          <a:ln w="9525">
            <a:solidFill>
              <a:srgbClr val="2AA6F7"/>
            </a:solidFill>
            <a:prstDash val="solid"/>
          </a:ln>
        </p:spPr>
      </p:sp>
      <p:pic>
        <p:nvPicPr>
          <p:cNvPr id="19" name="Image 3" descr="preencoded.png">    </p:cNvPr>
          <p:cNvPicPr>
            <a:picLocks noChangeAspect="1"/>
          </p:cNvPicPr>
          <p:nvPr/>
        </p:nvPicPr>
        <p:blipFill>
          <a:blip r:embed="rId5"/>
          <a:stretch>
            <a:fillRect/>
          </a:stretch>
        </p:blipFill>
        <p:spPr>
          <a:xfrm>
            <a:off x="7996508" y="2096171"/>
            <a:ext cx="324795" cy="324795"/>
          </a:xfrm>
          <a:prstGeom prst="rect">
            <a:avLst/>
          </a:prstGeom>
        </p:spPr>
      </p:pic>
      <p:sp>
        <p:nvSpPr>
          <p:cNvPr id="20" name="Shape 14"/>
          <p:cNvSpPr/>
          <p:nvPr/>
        </p:nvSpPr>
        <p:spPr>
          <a:xfrm flipH="1">
            <a:off x="7195014" y="2258568"/>
            <a:ext cx="552412" cy="91"/>
          </a:xfrm>
          <a:prstGeom prst="line">
            <a:avLst/>
          </a:prstGeom>
          <a:noFill/>
          <a:ln w="15875">
            <a:solidFill>
              <a:srgbClr val="2AA6F7"/>
            </a:solidFill>
            <a:prstDash val="solid"/>
            <a:tailEnd type="triangle"/>
          </a:ln>
        </p:spPr>
      </p:sp>
      <p:sp>
        <p:nvSpPr>
          <p:cNvPr id="21" name="Text 15"/>
          <p:cNvSpPr txBox="1"/>
          <p:nvPr/>
        </p:nvSpPr>
        <p:spPr>
          <a:xfrm>
            <a:off x="7507796" y="2706624"/>
            <a:ext cx="1302220" cy="274320"/>
          </a:xfrm>
          <a:prstGeom prst="rect">
            <a:avLst/>
          </a:prstGeom>
          <a:noFill/>
          <a:ln/>
        </p:spPr>
        <p:txBody>
          <a:bodyPr wrap="square" lIns="0" tIns="0" rIns="0" bIns="0" rtlCol="0" anchor="t"/>
          <a:lstStyle/>
          <a:p>
            <a:pPr algn="ctr" indent="0" marL="0">
              <a:buNone/>
            </a:pPr>
            <a:r>
              <a:rPr lang="ar-SA" altLang="en-US" sz="1300" b="1" dirty="0">
                <a:solidFill>
                  <a:srgbClr val="F3F6FD"/>
                </a:solidFill>
                <a:latin typeface="IBM Plex Sans Arabic" pitchFamily="34" charset="0"/>
                <a:ea typeface="IBM Plex Sans Arabic" pitchFamily="34" charset="-122"/>
                <a:cs typeface="IBM Plex Sans Arabic" pitchFamily="34" charset="-120"/>
              </a:rPr>
              <a:t>Development</a:t>
            </a:r>
            <a:endParaRPr lang="ar-SA" sz="1300" dirty="0"/>
          </a:p>
        </p:txBody>
      </p:sp>
      <p:sp>
        <p:nvSpPr>
          <p:cNvPr id="22" name="Text 16"/>
          <p:cNvSpPr txBox="1"/>
          <p:nvPr/>
        </p:nvSpPr>
        <p:spPr>
          <a:xfrm>
            <a:off x="7526084" y="2999232"/>
            <a:ext cx="1265644" cy="457200"/>
          </a:xfrm>
          <a:prstGeom prst="rect">
            <a:avLst/>
          </a:prstGeom>
          <a:noFill/>
          <a:ln/>
        </p:spPr>
        <p:txBody>
          <a:bodyPr wrap="square" lIns="0" tIns="0" rIns="0" bIns="0" rtlCol="0" anchor="t"/>
          <a:lstStyle/>
          <a:p>
            <a:pPr rtl="1" algn="ctr" indent="0" marL="0">
              <a:buNone/>
            </a:pPr>
            <a:r>
              <a:rPr lang="ar-SA" altLang="en-US" sz="1050" dirty="0">
                <a:solidFill>
                  <a:srgbClr val="A9B7DA"/>
                </a:solidFill>
                <a:latin typeface="IBM Plex Sans Arabic" pitchFamily="34" charset="0"/>
                <a:ea typeface="IBM Plex Sans Arabic" pitchFamily="34" charset="-122"/>
                <a:cs typeface="IBM Plex Sans Arabic" pitchFamily="34" charset="-120"/>
              </a:rPr>
              <a:t>ضمن الـContract</a:t>
            </a:r>
            <a:endParaRPr lang="ar-SA" sz="1050" dirty="0"/>
          </a:p>
        </p:txBody>
      </p:sp>
      <p:sp>
        <p:nvSpPr>
          <p:cNvPr id="23" name="Shape 17"/>
          <p:cNvSpPr/>
          <p:nvPr/>
        </p:nvSpPr>
        <p:spPr>
          <a:xfrm>
            <a:off x="6445206" y="1920240"/>
            <a:ext cx="676656" cy="676656"/>
          </a:xfrm>
          <a:prstGeom prst="ellipse">
            <a:avLst/>
          </a:prstGeom>
          <a:solidFill>
            <a:srgbClr val="1F6FEB"/>
          </a:solidFill>
          <a:ln w="9525">
            <a:solidFill>
              <a:srgbClr val="3EE0F5"/>
            </a:solidFill>
            <a:prstDash val="solid"/>
          </a:ln>
        </p:spPr>
      </p:sp>
      <p:pic>
        <p:nvPicPr>
          <p:cNvPr id="24" name="Image 4" descr="preencoded.png">    </p:cNvPr>
          <p:cNvPicPr>
            <a:picLocks noChangeAspect="1"/>
          </p:cNvPicPr>
          <p:nvPr/>
        </p:nvPicPr>
        <p:blipFill>
          <a:blip r:embed="rId6"/>
          <a:stretch>
            <a:fillRect/>
          </a:stretch>
        </p:blipFill>
        <p:spPr>
          <a:xfrm>
            <a:off x="6621136" y="2096171"/>
            <a:ext cx="324795" cy="324795"/>
          </a:xfrm>
          <a:prstGeom prst="rect">
            <a:avLst/>
          </a:prstGeom>
        </p:spPr>
      </p:pic>
      <p:sp>
        <p:nvSpPr>
          <p:cNvPr id="25" name="Shape 18"/>
          <p:cNvSpPr/>
          <p:nvPr/>
        </p:nvSpPr>
        <p:spPr>
          <a:xfrm flipH="1">
            <a:off x="5819642" y="2258568"/>
            <a:ext cx="552412" cy="91"/>
          </a:xfrm>
          <a:prstGeom prst="line">
            <a:avLst/>
          </a:prstGeom>
          <a:noFill/>
          <a:ln w="15875">
            <a:solidFill>
              <a:srgbClr val="2AA6F7"/>
            </a:solidFill>
            <a:prstDash val="solid"/>
            <a:tailEnd type="triangle"/>
          </a:ln>
        </p:spPr>
      </p:sp>
      <p:sp>
        <p:nvSpPr>
          <p:cNvPr id="26" name="Text 19"/>
          <p:cNvSpPr txBox="1"/>
          <p:nvPr/>
        </p:nvSpPr>
        <p:spPr>
          <a:xfrm>
            <a:off x="6132424" y="2706624"/>
            <a:ext cx="1302220" cy="274320"/>
          </a:xfrm>
          <a:prstGeom prst="rect">
            <a:avLst/>
          </a:prstGeom>
          <a:noFill/>
          <a:ln/>
        </p:spPr>
        <p:txBody>
          <a:bodyPr wrap="square" lIns="0" tIns="0" rIns="0" bIns="0" rtlCol="0" anchor="t"/>
          <a:lstStyle/>
          <a:p>
            <a:pPr algn="ctr" indent="0" marL="0">
              <a:buNone/>
            </a:pPr>
            <a:r>
              <a:rPr lang="ar-SA" altLang="en-US" sz="1300" b="1" dirty="0">
                <a:solidFill>
                  <a:srgbClr val="F3F6FD"/>
                </a:solidFill>
                <a:latin typeface="IBM Plex Sans Arabic" pitchFamily="34" charset="0"/>
                <a:ea typeface="IBM Plex Sans Arabic" pitchFamily="34" charset="-122"/>
                <a:cs typeface="IBM Plex Sans Arabic" pitchFamily="34" charset="-120"/>
              </a:rPr>
              <a:t>Pull Request</a:t>
            </a:r>
            <a:endParaRPr lang="ar-SA" sz="1300" dirty="0"/>
          </a:p>
        </p:txBody>
      </p:sp>
      <p:sp>
        <p:nvSpPr>
          <p:cNvPr id="27" name="Text 20"/>
          <p:cNvSpPr txBox="1"/>
          <p:nvPr/>
        </p:nvSpPr>
        <p:spPr>
          <a:xfrm>
            <a:off x="6150712" y="2999232"/>
            <a:ext cx="1265644" cy="457200"/>
          </a:xfrm>
          <a:prstGeom prst="rect">
            <a:avLst/>
          </a:prstGeom>
          <a:noFill/>
          <a:ln/>
        </p:spPr>
        <p:txBody>
          <a:bodyPr wrap="square" lIns="0" tIns="0" rIns="0" bIns="0" rtlCol="0" anchor="t"/>
          <a:lstStyle/>
          <a:p>
            <a:pPr rtl="1" algn="ctr" indent="0" marL="0">
              <a:buNone/>
            </a:pPr>
            <a:r>
              <a:rPr lang="ar-SA" altLang="en-US" sz="1050" dirty="0">
                <a:solidFill>
                  <a:srgbClr val="A9B7DA"/>
                </a:solidFill>
                <a:latin typeface="IBM Plex Sans Arabic" pitchFamily="34" charset="0"/>
                <a:ea typeface="IBM Plex Sans Arabic" pitchFamily="34" charset="-122"/>
                <a:cs typeface="IBM Plex Sans Arabic" pitchFamily="34" charset="-120"/>
              </a:rPr>
              <a:t>مع Evidence of Done</a:t>
            </a:r>
            <a:endParaRPr lang="ar-SA" sz="1050" dirty="0"/>
          </a:p>
        </p:txBody>
      </p:sp>
      <p:sp>
        <p:nvSpPr>
          <p:cNvPr id="28" name="Shape 21"/>
          <p:cNvSpPr/>
          <p:nvPr/>
        </p:nvSpPr>
        <p:spPr>
          <a:xfrm>
            <a:off x="5069834" y="1920240"/>
            <a:ext cx="676656" cy="676656"/>
          </a:xfrm>
          <a:prstGeom prst="ellipse">
            <a:avLst/>
          </a:prstGeom>
          <a:solidFill>
            <a:srgbClr val="10204A"/>
          </a:solidFill>
          <a:ln w="9525">
            <a:solidFill>
              <a:srgbClr val="2AA6F7"/>
            </a:solidFill>
            <a:prstDash val="solid"/>
          </a:ln>
        </p:spPr>
      </p:sp>
      <p:pic>
        <p:nvPicPr>
          <p:cNvPr id="29" name="Image 5" descr="preencoded.png">    </p:cNvPr>
          <p:cNvPicPr>
            <a:picLocks noChangeAspect="1"/>
          </p:cNvPicPr>
          <p:nvPr/>
        </p:nvPicPr>
        <p:blipFill>
          <a:blip r:embed="rId7"/>
          <a:stretch>
            <a:fillRect/>
          </a:stretch>
        </p:blipFill>
        <p:spPr>
          <a:xfrm>
            <a:off x="5245764" y="2096171"/>
            <a:ext cx="324795" cy="324795"/>
          </a:xfrm>
          <a:prstGeom prst="rect">
            <a:avLst/>
          </a:prstGeom>
        </p:spPr>
      </p:pic>
      <p:sp>
        <p:nvSpPr>
          <p:cNvPr id="30" name="Shape 22"/>
          <p:cNvSpPr/>
          <p:nvPr/>
        </p:nvSpPr>
        <p:spPr>
          <a:xfrm flipH="1">
            <a:off x="4444270" y="2258568"/>
            <a:ext cx="552412" cy="91"/>
          </a:xfrm>
          <a:prstGeom prst="line">
            <a:avLst/>
          </a:prstGeom>
          <a:noFill/>
          <a:ln w="15875">
            <a:solidFill>
              <a:srgbClr val="2AA6F7"/>
            </a:solidFill>
            <a:prstDash val="solid"/>
            <a:tailEnd type="triangle"/>
          </a:ln>
        </p:spPr>
      </p:sp>
      <p:sp>
        <p:nvSpPr>
          <p:cNvPr id="31" name="Text 23"/>
          <p:cNvSpPr txBox="1"/>
          <p:nvPr/>
        </p:nvSpPr>
        <p:spPr>
          <a:xfrm>
            <a:off x="4757052" y="2706624"/>
            <a:ext cx="1302220" cy="274320"/>
          </a:xfrm>
          <a:prstGeom prst="rect">
            <a:avLst/>
          </a:prstGeom>
          <a:noFill/>
          <a:ln/>
        </p:spPr>
        <p:txBody>
          <a:bodyPr wrap="square" lIns="0" tIns="0" rIns="0" bIns="0" rtlCol="0" anchor="t"/>
          <a:lstStyle/>
          <a:p>
            <a:pPr algn="ctr" indent="0" marL="0">
              <a:buNone/>
            </a:pPr>
            <a:r>
              <a:rPr lang="ar-SA" altLang="en-US" sz="1300" b="1" dirty="0">
                <a:solidFill>
                  <a:srgbClr val="F3F6FD"/>
                </a:solidFill>
                <a:latin typeface="IBM Plex Sans Arabic" pitchFamily="34" charset="0"/>
                <a:ea typeface="IBM Plex Sans Arabic" pitchFamily="34" charset="-122"/>
                <a:cs typeface="IBM Plex Sans Arabic" pitchFamily="34" charset="-120"/>
              </a:rPr>
              <a:t>Code Review</a:t>
            </a:r>
            <a:endParaRPr lang="ar-SA" sz="1300" dirty="0"/>
          </a:p>
        </p:txBody>
      </p:sp>
      <p:sp>
        <p:nvSpPr>
          <p:cNvPr id="32" name="Text 24"/>
          <p:cNvSpPr txBox="1"/>
          <p:nvPr/>
        </p:nvSpPr>
        <p:spPr>
          <a:xfrm>
            <a:off x="4775340" y="2999232"/>
            <a:ext cx="1265644" cy="457200"/>
          </a:xfrm>
          <a:prstGeom prst="rect">
            <a:avLst/>
          </a:prstGeom>
          <a:noFill/>
          <a:ln/>
        </p:spPr>
        <p:txBody>
          <a:bodyPr wrap="square" lIns="0" tIns="0" rIns="0" bIns="0" rtlCol="0" anchor="t"/>
          <a:lstStyle/>
          <a:p>
            <a:pPr rtl="1" algn="ctr" indent="0" marL="0">
              <a:buNone/>
            </a:pPr>
            <a:r>
              <a:rPr lang="ar-SA" altLang="en-US" sz="1050" dirty="0">
                <a:solidFill>
                  <a:srgbClr val="A9B7DA"/>
                </a:solidFill>
                <a:latin typeface="IBM Plex Sans Arabic" pitchFamily="34" charset="0"/>
                <a:ea typeface="IBM Plex Sans Arabic" pitchFamily="34" charset="-122"/>
                <a:cs typeface="IBM Plex Sans Arabic" pitchFamily="34" charset="-120"/>
              </a:rPr>
              <a:t>صاحب المجال</a:t>
            </a:r>
            <a:endParaRPr lang="ar-SA" sz="1050" dirty="0"/>
          </a:p>
        </p:txBody>
      </p:sp>
      <p:sp>
        <p:nvSpPr>
          <p:cNvPr id="33" name="Shape 25"/>
          <p:cNvSpPr/>
          <p:nvPr/>
        </p:nvSpPr>
        <p:spPr>
          <a:xfrm>
            <a:off x="3694462" y="1920240"/>
            <a:ext cx="676656" cy="676656"/>
          </a:xfrm>
          <a:prstGeom prst="ellipse">
            <a:avLst/>
          </a:prstGeom>
          <a:solidFill>
            <a:srgbClr val="10204A"/>
          </a:solidFill>
          <a:ln w="9525">
            <a:solidFill>
              <a:srgbClr val="2AA6F7"/>
            </a:solidFill>
            <a:prstDash val="solid"/>
          </a:ln>
        </p:spPr>
      </p:sp>
      <p:pic>
        <p:nvPicPr>
          <p:cNvPr id="34" name="Image 6" descr="preencoded.png">    </p:cNvPr>
          <p:cNvPicPr>
            <a:picLocks noChangeAspect="1"/>
          </p:cNvPicPr>
          <p:nvPr/>
        </p:nvPicPr>
        <p:blipFill>
          <a:blip r:embed="rId8"/>
          <a:stretch>
            <a:fillRect/>
          </a:stretch>
        </p:blipFill>
        <p:spPr>
          <a:xfrm>
            <a:off x="3870392" y="2096171"/>
            <a:ext cx="324795" cy="324795"/>
          </a:xfrm>
          <a:prstGeom prst="rect">
            <a:avLst/>
          </a:prstGeom>
        </p:spPr>
      </p:pic>
      <p:sp>
        <p:nvSpPr>
          <p:cNvPr id="35" name="Shape 26"/>
          <p:cNvSpPr/>
          <p:nvPr/>
        </p:nvSpPr>
        <p:spPr>
          <a:xfrm flipH="1">
            <a:off x="3068898" y="2258568"/>
            <a:ext cx="552412" cy="91"/>
          </a:xfrm>
          <a:prstGeom prst="line">
            <a:avLst/>
          </a:prstGeom>
          <a:noFill/>
          <a:ln w="15875">
            <a:solidFill>
              <a:srgbClr val="2AA6F7"/>
            </a:solidFill>
            <a:prstDash val="solid"/>
            <a:tailEnd type="triangle"/>
          </a:ln>
        </p:spPr>
      </p:sp>
      <p:sp>
        <p:nvSpPr>
          <p:cNvPr id="36" name="Text 27"/>
          <p:cNvSpPr txBox="1"/>
          <p:nvPr/>
        </p:nvSpPr>
        <p:spPr>
          <a:xfrm>
            <a:off x="3381680" y="2706624"/>
            <a:ext cx="1302220" cy="274320"/>
          </a:xfrm>
          <a:prstGeom prst="rect">
            <a:avLst/>
          </a:prstGeom>
          <a:noFill/>
          <a:ln/>
        </p:spPr>
        <p:txBody>
          <a:bodyPr wrap="square" lIns="0" tIns="0" rIns="0" bIns="0" rtlCol="0" anchor="t"/>
          <a:lstStyle/>
          <a:p>
            <a:pPr algn="ctr" indent="0" marL="0">
              <a:buNone/>
            </a:pPr>
            <a:r>
              <a:rPr lang="ar-SA" altLang="en-US" sz="1300" b="1" dirty="0">
                <a:solidFill>
                  <a:srgbClr val="F3F6FD"/>
                </a:solidFill>
                <a:latin typeface="IBM Plex Sans Arabic" pitchFamily="34" charset="0"/>
                <a:ea typeface="IBM Plex Sans Arabic" pitchFamily="34" charset="-122"/>
                <a:cs typeface="IBM Plex Sans Arabic" pitchFamily="34" charset="-120"/>
              </a:rPr>
              <a:t>Testing</a:t>
            </a:r>
            <a:endParaRPr lang="ar-SA" sz="1300" dirty="0"/>
          </a:p>
        </p:txBody>
      </p:sp>
      <p:sp>
        <p:nvSpPr>
          <p:cNvPr id="37" name="Text 28"/>
          <p:cNvSpPr txBox="1"/>
          <p:nvPr/>
        </p:nvSpPr>
        <p:spPr>
          <a:xfrm>
            <a:off x="3399968" y="2999232"/>
            <a:ext cx="1265644" cy="457200"/>
          </a:xfrm>
          <a:prstGeom prst="rect">
            <a:avLst/>
          </a:prstGeom>
          <a:noFill/>
          <a:ln/>
        </p:spPr>
        <p:txBody>
          <a:bodyPr wrap="square" lIns="0" tIns="0" rIns="0" bIns="0" rtlCol="0" anchor="t"/>
          <a:lstStyle/>
          <a:p>
            <a:pPr algn="ctr" indent="0" marL="0">
              <a:buNone/>
            </a:pPr>
            <a:r>
              <a:rPr lang="ar-SA" altLang="en-US" sz="1050" dirty="0">
                <a:solidFill>
                  <a:srgbClr val="A9B7DA"/>
                </a:solidFill>
                <a:latin typeface="IBM Plex Sans Arabic" pitchFamily="34" charset="0"/>
                <a:ea typeface="IBM Plex Sans Arabic" pitchFamily="34" charset="-122"/>
                <a:cs typeface="IBM Plex Sans Arabic" pitchFamily="34" charset="-120"/>
              </a:rPr>
              <a:t>Unit · Integration · E2E · AI</a:t>
            </a:r>
            <a:endParaRPr lang="ar-SA" sz="1050" dirty="0"/>
          </a:p>
        </p:txBody>
      </p:sp>
      <p:sp>
        <p:nvSpPr>
          <p:cNvPr id="38" name="Shape 29"/>
          <p:cNvSpPr/>
          <p:nvPr/>
        </p:nvSpPr>
        <p:spPr>
          <a:xfrm>
            <a:off x="2319090" y="1920240"/>
            <a:ext cx="676656" cy="676656"/>
          </a:xfrm>
          <a:prstGeom prst="ellipse">
            <a:avLst/>
          </a:prstGeom>
          <a:solidFill>
            <a:srgbClr val="10204A"/>
          </a:solidFill>
          <a:ln w="9525">
            <a:solidFill>
              <a:srgbClr val="2AA6F7"/>
            </a:solidFill>
            <a:prstDash val="solid"/>
          </a:ln>
        </p:spPr>
      </p:sp>
      <p:pic>
        <p:nvPicPr>
          <p:cNvPr id="39" name="Image 7" descr="preencoded.png">    </p:cNvPr>
          <p:cNvPicPr>
            <a:picLocks noChangeAspect="1"/>
          </p:cNvPicPr>
          <p:nvPr/>
        </p:nvPicPr>
        <p:blipFill>
          <a:blip r:embed="rId9"/>
          <a:stretch>
            <a:fillRect/>
          </a:stretch>
        </p:blipFill>
        <p:spPr>
          <a:xfrm>
            <a:off x="2495020" y="2096171"/>
            <a:ext cx="324795" cy="324795"/>
          </a:xfrm>
          <a:prstGeom prst="rect">
            <a:avLst/>
          </a:prstGeom>
        </p:spPr>
      </p:pic>
      <p:sp>
        <p:nvSpPr>
          <p:cNvPr id="40" name="Shape 30"/>
          <p:cNvSpPr/>
          <p:nvPr/>
        </p:nvSpPr>
        <p:spPr>
          <a:xfrm flipH="1">
            <a:off x="1693526" y="2258568"/>
            <a:ext cx="552412" cy="91"/>
          </a:xfrm>
          <a:prstGeom prst="line">
            <a:avLst/>
          </a:prstGeom>
          <a:noFill/>
          <a:ln w="15875">
            <a:solidFill>
              <a:srgbClr val="2AA6F7"/>
            </a:solidFill>
            <a:prstDash val="solid"/>
            <a:tailEnd type="triangle"/>
          </a:ln>
        </p:spPr>
      </p:sp>
      <p:sp>
        <p:nvSpPr>
          <p:cNvPr id="41" name="Text 31"/>
          <p:cNvSpPr txBox="1"/>
          <p:nvPr/>
        </p:nvSpPr>
        <p:spPr>
          <a:xfrm>
            <a:off x="2006308" y="2706624"/>
            <a:ext cx="1302220" cy="274320"/>
          </a:xfrm>
          <a:prstGeom prst="rect">
            <a:avLst/>
          </a:prstGeom>
          <a:noFill/>
          <a:ln/>
        </p:spPr>
        <p:txBody>
          <a:bodyPr wrap="square" lIns="0" tIns="0" rIns="0" bIns="0" rtlCol="0" anchor="t"/>
          <a:lstStyle/>
          <a:p>
            <a:pPr algn="ctr" indent="0" marL="0">
              <a:buNone/>
            </a:pPr>
            <a:r>
              <a:rPr lang="ar-SA" altLang="en-US" sz="1300" b="1" dirty="0">
                <a:solidFill>
                  <a:srgbClr val="F3F6FD"/>
                </a:solidFill>
                <a:latin typeface="IBM Plex Sans Arabic" pitchFamily="34" charset="0"/>
                <a:ea typeface="IBM Plex Sans Arabic" pitchFamily="34" charset="-122"/>
                <a:cs typeface="IBM Plex Sans Arabic" pitchFamily="34" charset="-120"/>
              </a:rPr>
              <a:t>Merge</a:t>
            </a:r>
            <a:endParaRPr lang="ar-SA" sz="1300" dirty="0"/>
          </a:p>
        </p:txBody>
      </p:sp>
      <p:sp>
        <p:nvSpPr>
          <p:cNvPr id="42" name="Text 32"/>
          <p:cNvSpPr txBox="1"/>
          <p:nvPr/>
        </p:nvSpPr>
        <p:spPr>
          <a:xfrm>
            <a:off x="2024596" y="2999232"/>
            <a:ext cx="1265644" cy="457200"/>
          </a:xfrm>
          <a:prstGeom prst="rect">
            <a:avLst/>
          </a:prstGeom>
          <a:noFill/>
          <a:ln/>
        </p:spPr>
        <p:txBody>
          <a:bodyPr wrap="square" lIns="0" tIns="0" rIns="0" bIns="0" rtlCol="0" anchor="t"/>
          <a:lstStyle/>
          <a:p>
            <a:pPr rtl="1" algn="ctr" indent="0" marL="0">
              <a:buNone/>
            </a:pPr>
            <a:r>
              <a:rPr lang="ar-SA" altLang="en-US" sz="1050" dirty="0">
                <a:solidFill>
                  <a:srgbClr val="A9B7DA"/>
                </a:solidFill>
                <a:latin typeface="IBM Plex Sans Arabic" pitchFamily="34" charset="0"/>
                <a:ea typeface="IBM Plex Sans Arabic" pitchFamily="34" charset="-122"/>
                <a:cs typeface="IBM Plex Sans Arabic" pitchFamily="34" charset="-120"/>
              </a:rPr>
              <a:t>بعد نجاح الـCI</a:t>
            </a:r>
            <a:endParaRPr lang="ar-SA" sz="1050" dirty="0"/>
          </a:p>
        </p:txBody>
      </p:sp>
      <p:sp>
        <p:nvSpPr>
          <p:cNvPr id="43" name="Shape 33"/>
          <p:cNvSpPr/>
          <p:nvPr/>
        </p:nvSpPr>
        <p:spPr>
          <a:xfrm>
            <a:off x="943718" y="1920240"/>
            <a:ext cx="676656" cy="676656"/>
          </a:xfrm>
          <a:prstGeom prst="ellipse">
            <a:avLst/>
          </a:prstGeom>
          <a:solidFill>
            <a:srgbClr val="10204A"/>
          </a:solidFill>
          <a:ln w="9525">
            <a:solidFill>
              <a:srgbClr val="2AA6F7"/>
            </a:solidFill>
            <a:prstDash val="solid"/>
          </a:ln>
        </p:spPr>
      </p:sp>
      <p:pic>
        <p:nvPicPr>
          <p:cNvPr id="44" name="Image 8" descr="preencoded.png">    </p:cNvPr>
          <p:cNvPicPr>
            <a:picLocks noChangeAspect="1"/>
          </p:cNvPicPr>
          <p:nvPr/>
        </p:nvPicPr>
        <p:blipFill>
          <a:blip r:embed="rId10"/>
          <a:stretch>
            <a:fillRect/>
          </a:stretch>
        </p:blipFill>
        <p:spPr>
          <a:xfrm>
            <a:off x="1119649" y="2096171"/>
            <a:ext cx="324795" cy="324795"/>
          </a:xfrm>
          <a:prstGeom prst="rect">
            <a:avLst/>
          </a:prstGeom>
        </p:spPr>
      </p:pic>
      <p:sp>
        <p:nvSpPr>
          <p:cNvPr id="45" name="Text 34"/>
          <p:cNvSpPr txBox="1"/>
          <p:nvPr/>
        </p:nvSpPr>
        <p:spPr>
          <a:xfrm>
            <a:off x="630936" y="2706624"/>
            <a:ext cx="1302220" cy="274320"/>
          </a:xfrm>
          <a:prstGeom prst="rect">
            <a:avLst/>
          </a:prstGeom>
          <a:noFill/>
          <a:ln/>
        </p:spPr>
        <p:txBody>
          <a:bodyPr wrap="square" lIns="0" tIns="0" rIns="0" bIns="0" rtlCol="0" anchor="t"/>
          <a:lstStyle/>
          <a:p>
            <a:pPr algn="ctr" indent="0" marL="0">
              <a:buNone/>
            </a:pPr>
            <a:r>
              <a:rPr lang="ar-SA" altLang="en-US" sz="1300" b="1" dirty="0">
                <a:solidFill>
                  <a:srgbClr val="F3F6FD"/>
                </a:solidFill>
                <a:latin typeface="IBM Plex Sans Arabic" pitchFamily="34" charset="0"/>
                <a:ea typeface="IBM Plex Sans Arabic" pitchFamily="34" charset="-122"/>
                <a:cs typeface="IBM Plex Sans Arabic" pitchFamily="34" charset="-120"/>
              </a:rPr>
              <a:t>Staging</a:t>
            </a:r>
            <a:endParaRPr lang="ar-SA" sz="1300" dirty="0"/>
          </a:p>
        </p:txBody>
      </p:sp>
      <p:sp>
        <p:nvSpPr>
          <p:cNvPr id="46" name="Text 35"/>
          <p:cNvSpPr txBox="1"/>
          <p:nvPr/>
        </p:nvSpPr>
        <p:spPr>
          <a:xfrm>
            <a:off x="649224" y="2999232"/>
            <a:ext cx="1265644" cy="457200"/>
          </a:xfrm>
          <a:prstGeom prst="rect">
            <a:avLst/>
          </a:prstGeom>
          <a:noFill/>
          <a:ln/>
        </p:spPr>
        <p:txBody>
          <a:bodyPr wrap="square" lIns="0" tIns="0" rIns="0" bIns="0" rtlCol="0" anchor="t"/>
          <a:lstStyle/>
          <a:p>
            <a:pPr rtl="1" algn="ctr" indent="0" marL="0">
              <a:buNone/>
            </a:pPr>
            <a:r>
              <a:rPr lang="ar-SA" altLang="en-US" sz="1050" dirty="0">
                <a:solidFill>
                  <a:srgbClr val="A9B7DA"/>
                </a:solidFill>
                <a:latin typeface="IBM Plex Sans Arabic" pitchFamily="34" charset="0"/>
                <a:ea typeface="IBM Plex Sans Arabic" pitchFamily="34" charset="-122"/>
                <a:cs typeface="IBM Plex Sans Arabic" pitchFamily="34" charset="-120"/>
              </a:rPr>
              <a:t>اختبار End-to-End</a:t>
            </a:r>
            <a:endParaRPr lang="ar-SA" sz="1050" dirty="0"/>
          </a:p>
        </p:txBody>
      </p:sp>
      <p:sp>
        <p:nvSpPr>
          <p:cNvPr id="47" name="Shape 36"/>
          <p:cNvSpPr/>
          <p:nvPr/>
        </p:nvSpPr>
        <p:spPr>
          <a:xfrm>
            <a:off x="8112557" y="3794760"/>
            <a:ext cx="3484778" cy="2331720"/>
          </a:xfrm>
          <a:prstGeom prst="roundRect">
            <a:avLst>
              <a:gd name="adj" fmla="val 5490"/>
            </a:avLst>
          </a:prstGeom>
          <a:solidFill>
            <a:srgbClr val="0B1634"/>
          </a:solidFill>
          <a:ln w="9525">
            <a:solidFill>
              <a:srgbClr val="1E3570"/>
            </a:solidFill>
            <a:prstDash val="solid"/>
          </a:ln>
        </p:spPr>
      </p:sp>
      <p:sp>
        <p:nvSpPr>
          <p:cNvPr id="48" name="Shape 37"/>
          <p:cNvSpPr/>
          <p:nvPr/>
        </p:nvSpPr>
        <p:spPr>
          <a:xfrm>
            <a:off x="10911535" y="3977640"/>
            <a:ext cx="457200" cy="457200"/>
          </a:xfrm>
          <a:prstGeom prst="ellipse">
            <a:avLst/>
          </a:prstGeom>
          <a:solidFill>
            <a:srgbClr val="10204A"/>
          </a:solidFill>
          <a:ln w="9525">
            <a:solidFill>
              <a:srgbClr val="1E3570"/>
            </a:solidFill>
            <a:prstDash val="solid"/>
          </a:ln>
        </p:spPr>
      </p:sp>
      <p:pic>
        <p:nvPicPr>
          <p:cNvPr id="49" name="Image 9" descr="preencoded.png">    </p:cNvPr>
          <p:cNvPicPr>
            <a:picLocks noChangeAspect="1"/>
          </p:cNvPicPr>
          <p:nvPr/>
        </p:nvPicPr>
        <p:blipFill>
          <a:blip r:embed="rId11"/>
          <a:stretch>
            <a:fillRect/>
          </a:stretch>
        </p:blipFill>
        <p:spPr>
          <a:xfrm>
            <a:off x="11030407" y="4096512"/>
            <a:ext cx="219456" cy="219456"/>
          </a:xfrm>
          <a:prstGeom prst="rect">
            <a:avLst/>
          </a:prstGeom>
        </p:spPr>
      </p:pic>
      <p:sp>
        <p:nvSpPr>
          <p:cNvPr id="50" name="Text 38"/>
          <p:cNvSpPr txBox="1"/>
          <p:nvPr/>
        </p:nvSpPr>
        <p:spPr>
          <a:xfrm>
            <a:off x="8341157" y="4032504"/>
            <a:ext cx="2616098" cy="347472"/>
          </a:xfrm>
          <a:prstGeom prst="rect">
            <a:avLst/>
          </a:prstGeom>
          <a:noFill/>
          <a:ln/>
        </p:spPr>
        <p:txBody>
          <a:bodyPr wrap="square" lIns="0" tIns="0" rIns="0" bIns="0" rtlCol="0" anchor="t"/>
          <a:lstStyle/>
          <a:p>
            <a:pPr rtl="1" algn="r" indent="0" marL="0">
              <a:buNone/>
            </a:pPr>
            <a:r>
              <a:rPr lang="ar-SA" altLang="en-US" sz="1600" b="1" dirty="0">
                <a:solidFill>
                  <a:srgbClr val="F3F6FD"/>
                </a:solidFill>
                <a:latin typeface="IBM Plex Sans Arabic" pitchFamily="34" charset="0"/>
                <a:ea typeface="IBM Plex Sans Arabic" pitchFamily="34" charset="-122"/>
                <a:cs typeface="IBM Plex Sans Arabic" pitchFamily="34" charset="-120"/>
              </a:rPr>
              <a:t>GitHub</a:t>
            </a:r>
            <a:endParaRPr lang="ar-SA" sz="1600" dirty="0"/>
          </a:p>
        </p:txBody>
      </p:sp>
      <p:sp>
        <p:nvSpPr>
          <p:cNvPr id="51" name="Text 39"/>
          <p:cNvSpPr txBox="1"/>
          <p:nvPr/>
        </p:nvSpPr>
        <p:spPr>
          <a:xfrm>
            <a:off x="8341157" y="4572000"/>
            <a:ext cx="3027578" cy="1143000"/>
          </a:xfrm>
          <a:prstGeom prst="rect">
            <a:avLst/>
          </a:prstGeom>
          <a:noFill/>
          <a:ln/>
        </p:spPr>
        <p:txBody>
          <a:bodyPr wrap="square" lIns="0" tIns="0" rIns="0" bIns="0" rtlCol="0" anchor="t"/>
          <a:lstStyle/>
          <a:p>
            <a:pPr rtl="1" algn="r" marL="177800" indent="-177800">
              <a:spcAft>
                <a:spcPts val="500"/>
              </a:spcAft>
              <a:buSzPct val="100000"/>
              <a:buChar char="●"/>
            </a:pPr>
            <a:r>
              <a:rPr lang="ar-SA" altLang="en-US" sz="1250" dirty="0">
                <a:solidFill>
                  <a:srgbClr val="F3F6FD"/>
                </a:solidFill>
                <a:latin typeface="IBM Plex Sans Arabic" pitchFamily="34" charset="0"/>
                <a:ea typeface="IBM Plex Sans Arabic" pitchFamily="34" charset="-122"/>
                <a:cs typeface="IBM Plex Sans Arabic" pitchFamily="34" charset="-120"/>
              </a:rPr>
              <a:t>Issue لكل Task بمعرّف مثل BE-001</a:t>
            </a:r>
            <a:endParaRPr lang="ar-SA" sz="1250" dirty="0"/>
          </a:p>
          <a:p>
            <a:pPr rtl="1" algn="r" marL="177800" indent="-177800">
              <a:spcAft>
                <a:spcPts val="500"/>
              </a:spcAft>
              <a:buSzPct val="100000"/>
              <a:buChar char="●"/>
            </a:pPr>
            <a:r>
              <a:rPr lang="ar-SA" altLang="en-US" sz="1250" dirty="0">
                <a:solidFill>
                  <a:srgbClr val="F3F6FD"/>
                </a:solidFill>
                <a:latin typeface="IBM Plex Sans Arabic" pitchFamily="34" charset="0"/>
                <a:ea typeface="IBM Plex Sans Arabic" pitchFamily="34" charset="-122"/>
                <a:cs typeface="IBM Plex Sans Arabic" pitchFamily="34" charset="-120"/>
              </a:rPr>
              <a:t>Branch لكل Task</a:t>
            </a:r>
            <a:endParaRPr lang="ar-SA" sz="1250" dirty="0"/>
          </a:p>
          <a:p>
            <a:pPr rtl="1" algn="r" marL="177800" indent="-177800">
              <a:spcAft>
                <a:spcPts val="500"/>
              </a:spcAft>
              <a:buSzPct val="100000"/>
              <a:buChar char="●"/>
            </a:pPr>
            <a:r>
              <a:rPr lang="ar-SA" altLang="en-US" sz="1250" dirty="0">
                <a:solidFill>
                  <a:srgbClr val="F3F6FD"/>
                </a:solidFill>
                <a:latin typeface="IBM Plex Sans Arabic" pitchFamily="34" charset="0"/>
                <a:ea typeface="IBM Plex Sans Arabic" pitchFamily="34" charset="-122"/>
                <a:cs typeface="IBM Plex Sans Arabic" pitchFamily="34" charset="-120"/>
              </a:rPr>
              <a:t>Pull Request مع Reviewer واضح</a:t>
            </a:r>
            <a:endParaRPr lang="ar-SA" sz="1250" dirty="0"/>
          </a:p>
          <a:p>
            <a:pPr rtl="1" algn="r" marL="177800" indent="-177800">
              <a:spcAft>
                <a:spcPts val="500"/>
              </a:spcAft>
              <a:buSzPct val="100000"/>
              <a:buChar char="●"/>
            </a:pPr>
            <a:r>
              <a:rPr lang="ar-SA" altLang="en-US" sz="1250" dirty="0">
                <a:solidFill>
                  <a:srgbClr val="F3F6FD"/>
                </a:solidFill>
                <a:latin typeface="IBM Plex Sans Arabic" pitchFamily="34" charset="0"/>
                <a:ea typeface="IBM Plex Sans Arabic" pitchFamily="34" charset="-122"/>
                <a:cs typeface="IBM Plex Sans Arabic" pitchFamily="34" charset="-120"/>
              </a:rPr>
              <a:t>docs/product · docs/ai · docs/api</a:t>
            </a:r>
            <a:endParaRPr lang="ar-SA" sz="1250" dirty="0"/>
          </a:p>
        </p:txBody>
      </p:sp>
      <p:sp>
        <p:nvSpPr>
          <p:cNvPr id="52" name="Shape 40"/>
          <p:cNvSpPr/>
          <p:nvPr/>
        </p:nvSpPr>
        <p:spPr>
          <a:xfrm>
            <a:off x="8295437" y="5669280"/>
            <a:ext cx="3119018" cy="329184"/>
          </a:xfrm>
          <a:prstGeom prst="roundRect">
            <a:avLst>
              <a:gd name="adj" fmla="val 50000"/>
            </a:avLst>
          </a:prstGeom>
          <a:solidFill>
            <a:srgbClr val="2A1F0A"/>
          </a:solidFill>
          <a:ln w="9525">
            <a:solidFill>
              <a:srgbClr val="FFB547"/>
            </a:solidFill>
            <a:prstDash val="solid"/>
          </a:ln>
        </p:spPr>
      </p:sp>
      <p:sp>
        <p:nvSpPr>
          <p:cNvPr id="53" name="Text 41"/>
          <p:cNvSpPr txBox="1"/>
          <p:nvPr/>
        </p:nvSpPr>
        <p:spPr>
          <a:xfrm>
            <a:off x="8295437" y="5669280"/>
            <a:ext cx="3119018" cy="329184"/>
          </a:xfrm>
          <a:prstGeom prst="rect">
            <a:avLst/>
          </a:prstGeom>
          <a:noFill/>
          <a:ln/>
        </p:spPr>
        <p:txBody>
          <a:bodyPr wrap="square" lIns="0" tIns="0" rIns="0" bIns="0" rtlCol="0" anchor="ctr"/>
          <a:lstStyle/>
          <a:p>
            <a:pPr rtl="1" algn="ctr" indent="0" marL="0">
              <a:buNone/>
            </a:pPr>
            <a:r>
              <a:rPr lang="ar-SA" altLang="en-US" sz="1050" b="1" dirty="0">
                <a:solidFill>
                  <a:srgbClr val="FFB547"/>
                </a:solidFill>
                <a:latin typeface="IBM Plex Sans Arabic" pitchFamily="34" charset="0"/>
                <a:ea typeface="IBM Plex Sans Arabic" pitchFamily="34" charset="-122"/>
                <a:cs typeface="IBM Plex Sans Arabic" pitchFamily="34" charset="-120"/>
              </a:rPr>
              <a:t>قرار اليوم: تسمية الـBranches وقالب الـPR</a:t>
            </a:r>
            <a:endParaRPr lang="ar-SA" sz="1050" dirty="0"/>
          </a:p>
        </p:txBody>
      </p:sp>
      <p:sp>
        <p:nvSpPr>
          <p:cNvPr id="54" name="Shape 42"/>
          <p:cNvSpPr/>
          <p:nvPr/>
        </p:nvSpPr>
        <p:spPr>
          <a:xfrm>
            <a:off x="4353458" y="3794760"/>
            <a:ext cx="3484778" cy="2331720"/>
          </a:xfrm>
          <a:prstGeom prst="roundRect">
            <a:avLst>
              <a:gd name="adj" fmla="val 5490"/>
            </a:avLst>
          </a:prstGeom>
          <a:solidFill>
            <a:srgbClr val="0B1634"/>
          </a:solidFill>
          <a:ln w="9525">
            <a:solidFill>
              <a:srgbClr val="1E3570"/>
            </a:solidFill>
            <a:prstDash val="solid"/>
          </a:ln>
        </p:spPr>
      </p:sp>
      <p:sp>
        <p:nvSpPr>
          <p:cNvPr id="55" name="Shape 43"/>
          <p:cNvSpPr/>
          <p:nvPr/>
        </p:nvSpPr>
        <p:spPr>
          <a:xfrm>
            <a:off x="7152437" y="3977640"/>
            <a:ext cx="457200" cy="457200"/>
          </a:xfrm>
          <a:prstGeom prst="ellipse">
            <a:avLst/>
          </a:prstGeom>
          <a:solidFill>
            <a:srgbClr val="10204A"/>
          </a:solidFill>
          <a:ln w="9525">
            <a:solidFill>
              <a:srgbClr val="1E3570"/>
            </a:solidFill>
            <a:prstDash val="solid"/>
          </a:ln>
        </p:spPr>
      </p:sp>
      <p:pic>
        <p:nvPicPr>
          <p:cNvPr id="56" name="Image 10" descr="preencoded.png">    </p:cNvPr>
          <p:cNvPicPr>
            <a:picLocks noChangeAspect="1"/>
          </p:cNvPicPr>
          <p:nvPr/>
        </p:nvPicPr>
        <p:blipFill>
          <a:blip r:embed="rId12"/>
          <a:stretch>
            <a:fillRect/>
          </a:stretch>
        </p:blipFill>
        <p:spPr>
          <a:xfrm>
            <a:off x="7271309" y="4096512"/>
            <a:ext cx="219456" cy="219456"/>
          </a:xfrm>
          <a:prstGeom prst="rect">
            <a:avLst/>
          </a:prstGeom>
        </p:spPr>
      </p:pic>
      <p:sp>
        <p:nvSpPr>
          <p:cNvPr id="57" name="Text 44"/>
          <p:cNvSpPr txBox="1"/>
          <p:nvPr/>
        </p:nvSpPr>
        <p:spPr>
          <a:xfrm>
            <a:off x="4582058" y="4032504"/>
            <a:ext cx="2616098" cy="347472"/>
          </a:xfrm>
          <a:prstGeom prst="rect">
            <a:avLst/>
          </a:prstGeom>
          <a:noFill/>
          <a:ln/>
        </p:spPr>
        <p:txBody>
          <a:bodyPr wrap="square" lIns="0" tIns="0" rIns="0" bIns="0" rtlCol="0" anchor="t"/>
          <a:lstStyle/>
          <a:p>
            <a:pPr rtl="1" algn="r" indent="0" marL="0">
              <a:buNone/>
            </a:pPr>
            <a:r>
              <a:rPr lang="ar-SA" altLang="en-US" sz="1600" b="1" dirty="0">
                <a:solidFill>
                  <a:srgbClr val="F3F6FD"/>
                </a:solidFill>
                <a:latin typeface="IBM Plex Sans Arabic" pitchFamily="34" charset="0"/>
                <a:ea typeface="IBM Plex Sans Arabic" pitchFamily="34" charset="-122"/>
                <a:cs typeface="IBM Plex Sans Arabic" pitchFamily="34" charset="-120"/>
              </a:rPr>
              <a:t>إيقاع الفريق</a:t>
            </a:r>
            <a:endParaRPr lang="ar-SA" sz="1600" dirty="0"/>
          </a:p>
        </p:txBody>
      </p:sp>
      <p:sp>
        <p:nvSpPr>
          <p:cNvPr id="58" name="Text 45"/>
          <p:cNvSpPr txBox="1"/>
          <p:nvPr/>
        </p:nvSpPr>
        <p:spPr>
          <a:xfrm>
            <a:off x="4582058" y="4572000"/>
            <a:ext cx="3027578" cy="1143000"/>
          </a:xfrm>
          <a:prstGeom prst="rect">
            <a:avLst/>
          </a:prstGeom>
          <a:noFill/>
          <a:ln/>
        </p:spPr>
        <p:txBody>
          <a:bodyPr wrap="square" lIns="0" tIns="0" rIns="0" bIns="0" rtlCol="0" anchor="t"/>
          <a:lstStyle/>
          <a:p>
            <a:pPr rtl="1" algn="r" marL="177800" indent="-177800">
              <a:spcAft>
                <a:spcPts val="500"/>
              </a:spcAft>
              <a:buSzPct val="100000"/>
              <a:buChar char="●"/>
            </a:pPr>
            <a:r>
              <a:rPr lang="ar-SA" altLang="en-US" sz="1250" dirty="0">
                <a:solidFill>
                  <a:srgbClr val="F3F6FD"/>
                </a:solidFill>
                <a:latin typeface="IBM Plex Sans Arabic" pitchFamily="34" charset="0"/>
                <a:ea typeface="IBM Plex Sans Arabic" pitchFamily="34" charset="-122"/>
                <a:cs typeface="IBM Plex Sans Arabic" pitchFamily="34" charset="-120"/>
              </a:rPr>
              <a:t>يوميًا: Done · In Progress · Blocked · Next</a:t>
            </a:r>
            <a:endParaRPr lang="ar-SA" sz="1250" dirty="0"/>
          </a:p>
          <a:p>
            <a:pPr rtl="1" algn="r" marL="177800" indent="-177800">
              <a:spcAft>
                <a:spcPts val="500"/>
              </a:spcAft>
              <a:buSzPct val="100000"/>
              <a:buChar char="●"/>
            </a:pPr>
            <a:r>
              <a:rPr lang="ar-SA" altLang="en-US" sz="1250" dirty="0">
                <a:solidFill>
                  <a:srgbClr val="F3F6FD"/>
                </a:solidFill>
                <a:latin typeface="IBM Plex Sans Arabic" pitchFamily="34" charset="0"/>
                <a:ea typeface="IBM Plex Sans Arabic" pitchFamily="34" charset="-122"/>
                <a:cs typeface="IBM Plex Sans Arabic" pitchFamily="34" charset="-120"/>
              </a:rPr>
              <a:t>2-3 مرات أسبوعيًا: AI/Engineering sync</a:t>
            </a:r>
            <a:endParaRPr lang="ar-SA" sz="1250" dirty="0"/>
          </a:p>
          <a:p>
            <a:pPr rtl="1" algn="r" marL="177800" indent="-177800">
              <a:spcAft>
                <a:spcPts val="500"/>
              </a:spcAft>
              <a:buSzPct val="100000"/>
              <a:buChar char="●"/>
            </a:pPr>
            <a:r>
              <a:rPr lang="ar-SA" altLang="en-US" sz="1250" dirty="0">
                <a:solidFill>
                  <a:srgbClr val="F3F6FD"/>
                </a:solidFill>
                <a:latin typeface="IBM Plex Sans Arabic" pitchFamily="34" charset="0"/>
                <a:ea typeface="IBM Plex Sans Arabic" pitchFamily="34" charset="-122"/>
                <a:cs typeface="IBM Plex Sans Arabic" pitchFamily="34" charset="-120"/>
              </a:rPr>
              <a:t>أسبوعيًا: مراجعة Product + AI + Engineering</a:t>
            </a:r>
            <a:endParaRPr lang="ar-SA" sz="1250" dirty="0"/>
          </a:p>
        </p:txBody>
      </p:sp>
      <p:sp>
        <p:nvSpPr>
          <p:cNvPr id="59" name="Shape 46"/>
          <p:cNvSpPr/>
          <p:nvPr/>
        </p:nvSpPr>
        <p:spPr>
          <a:xfrm>
            <a:off x="594360" y="3794760"/>
            <a:ext cx="3484778" cy="2331720"/>
          </a:xfrm>
          <a:prstGeom prst="roundRect">
            <a:avLst>
              <a:gd name="adj" fmla="val 5490"/>
            </a:avLst>
          </a:prstGeom>
          <a:solidFill>
            <a:srgbClr val="0B1634"/>
          </a:solidFill>
          <a:ln w="9525">
            <a:solidFill>
              <a:srgbClr val="1E3570"/>
            </a:solidFill>
            <a:prstDash val="solid"/>
          </a:ln>
        </p:spPr>
      </p:sp>
      <p:sp>
        <p:nvSpPr>
          <p:cNvPr id="60" name="Shape 47"/>
          <p:cNvSpPr/>
          <p:nvPr/>
        </p:nvSpPr>
        <p:spPr>
          <a:xfrm>
            <a:off x="3393338" y="3977640"/>
            <a:ext cx="457200" cy="457200"/>
          </a:xfrm>
          <a:prstGeom prst="ellipse">
            <a:avLst/>
          </a:prstGeom>
          <a:solidFill>
            <a:srgbClr val="10204A"/>
          </a:solidFill>
          <a:ln w="9525">
            <a:solidFill>
              <a:srgbClr val="1E3570"/>
            </a:solidFill>
            <a:prstDash val="solid"/>
          </a:ln>
        </p:spPr>
      </p:sp>
      <p:pic>
        <p:nvPicPr>
          <p:cNvPr id="61" name="Image 11" descr="preencoded.png">    </p:cNvPr>
          <p:cNvPicPr>
            <a:picLocks noChangeAspect="1"/>
          </p:cNvPicPr>
          <p:nvPr/>
        </p:nvPicPr>
        <p:blipFill>
          <a:blip r:embed="rId13"/>
          <a:stretch>
            <a:fillRect/>
          </a:stretch>
        </p:blipFill>
        <p:spPr>
          <a:xfrm>
            <a:off x="3512210" y="4096512"/>
            <a:ext cx="219456" cy="219456"/>
          </a:xfrm>
          <a:prstGeom prst="rect">
            <a:avLst/>
          </a:prstGeom>
        </p:spPr>
      </p:pic>
      <p:sp>
        <p:nvSpPr>
          <p:cNvPr id="62" name="Text 48"/>
          <p:cNvSpPr txBox="1"/>
          <p:nvPr/>
        </p:nvSpPr>
        <p:spPr>
          <a:xfrm>
            <a:off x="822960" y="4032504"/>
            <a:ext cx="2616098" cy="347472"/>
          </a:xfrm>
          <a:prstGeom prst="rect">
            <a:avLst/>
          </a:prstGeom>
          <a:noFill/>
          <a:ln/>
        </p:spPr>
        <p:txBody>
          <a:bodyPr wrap="square" lIns="0" tIns="0" rIns="0" bIns="0" rtlCol="0" anchor="t"/>
          <a:lstStyle/>
          <a:p>
            <a:pPr rtl="1" algn="r" indent="0" marL="0">
              <a:buNone/>
            </a:pPr>
            <a:r>
              <a:rPr lang="ar-SA" altLang="en-US" sz="1600" b="1" dirty="0">
                <a:solidFill>
                  <a:srgbClr val="F3F6FD"/>
                </a:solidFill>
                <a:latin typeface="IBM Plex Sans Arabic" pitchFamily="34" charset="0"/>
                <a:ea typeface="IBM Plex Sans Arabic" pitchFamily="34" charset="-122"/>
                <a:cs typeface="IBM Plex Sans Arabic" pitchFamily="34" charset="-120"/>
              </a:rPr>
              <a:t>قواعد العمل</a:t>
            </a:r>
            <a:endParaRPr lang="ar-SA" sz="1600" dirty="0"/>
          </a:p>
        </p:txBody>
      </p:sp>
      <p:sp>
        <p:nvSpPr>
          <p:cNvPr id="63" name="Text 49"/>
          <p:cNvSpPr txBox="1"/>
          <p:nvPr/>
        </p:nvSpPr>
        <p:spPr>
          <a:xfrm>
            <a:off x="822960" y="4572000"/>
            <a:ext cx="3027578" cy="1143000"/>
          </a:xfrm>
          <a:prstGeom prst="rect">
            <a:avLst/>
          </a:prstGeom>
          <a:noFill/>
          <a:ln/>
        </p:spPr>
        <p:txBody>
          <a:bodyPr wrap="square" lIns="0" tIns="0" rIns="0" bIns="0" rtlCol="0" anchor="t"/>
          <a:lstStyle/>
          <a:p>
            <a:pPr rtl="1" algn="r" marL="177800" indent="-177800">
              <a:spcAft>
                <a:spcPts val="500"/>
              </a:spcAft>
              <a:buSzPct val="100000"/>
              <a:buChar char="●"/>
            </a:pPr>
            <a:r>
              <a:rPr lang="ar-SA" altLang="en-US" sz="1250" dirty="0">
                <a:solidFill>
                  <a:srgbClr val="F3F6FD"/>
                </a:solidFill>
                <a:latin typeface="IBM Plex Sans Arabic" pitchFamily="34" charset="0"/>
                <a:ea typeface="IBM Plex Sans Arabic" pitchFamily="34" charset="-122"/>
                <a:cs typeface="IBM Plex Sans Arabic" pitchFamily="34" charset="-120"/>
              </a:rPr>
              <a:t>لا كود قبل Contract ومعايير قبول واضحة</a:t>
            </a:r>
            <a:endParaRPr lang="ar-SA" sz="1250" dirty="0"/>
          </a:p>
          <a:p>
            <a:pPr rtl="1" algn="r" marL="177800" indent="-177800">
              <a:spcAft>
                <a:spcPts val="500"/>
              </a:spcAft>
              <a:buSzPct val="100000"/>
              <a:buChar char="●"/>
            </a:pPr>
            <a:r>
              <a:rPr lang="ar-SA" altLang="en-US" sz="1250" dirty="0">
                <a:solidFill>
                  <a:srgbClr val="F3F6FD"/>
                </a:solidFill>
                <a:latin typeface="IBM Plex Sans Arabic" pitchFamily="34" charset="0"/>
                <a:ea typeface="IBM Plex Sans Arabic" pitchFamily="34" charset="-122"/>
                <a:cs typeface="IBM Plex Sans Arabic" pitchFamily="34" charset="-120"/>
              </a:rPr>
              <a:t>أي تغيير جوهري = Change Request</a:t>
            </a:r>
            <a:endParaRPr lang="ar-SA" sz="1250" dirty="0"/>
          </a:p>
          <a:p>
            <a:pPr rtl="1" algn="r" marL="177800" indent="-177800">
              <a:spcAft>
                <a:spcPts val="500"/>
              </a:spcAft>
              <a:buSzPct val="100000"/>
              <a:buChar char="●"/>
            </a:pPr>
            <a:r>
              <a:rPr lang="ar-SA" altLang="en-US" sz="1250" dirty="0">
                <a:solidFill>
                  <a:srgbClr val="F3F6FD"/>
                </a:solidFill>
                <a:latin typeface="IBM Plex Sans Arabic" pitchFamily="34" charset="0"/>
                <a:ea typeface="IBM Plex Sans Arabic" pitchFamily="34" charset="-122"/>
                <a:cs typeface="IBM Plex Sans Arabic" pitchFamily="34" charset="-120"/>
              </a:rPr>
              <a:t>Done = Tests + Docs + Review + Staging</a:t>
            </a:r>
            <a:endParaRPr lang="ar-SA"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508760" y="457200"/>
            <a:ext cx="10088575" cy="274320"/>
          </a:xfrm>
          <a:prstGeom prst="rect">
            <a:avLst/>
          </a:prstGeom>
          <a:noFill/>
          <a:ln/>
        </p:spPr>
        <p:txBody>
          <a:bodyPr wrap="square" lIns="0" tIns="0" rIns="0" bIns="0" rtlCol="0" anchor="t"/>
          <a:lstStyle/>
          <a:p>
            <a:pPr rtl="1" algn="r" indent="0" marL="0">
              <a:buNone/>
            </a:pPr>
            <a:r>
              <a:rPr lang="ar-SA" altLang="en-US" sz="1200" b="1" spc="100" kern="0" dirty="0">
                <a:solidFill>
                  <a:srgbClr val="3EE0F5"/>
                </a:solidFill>
                <a:latin typeface="IBM Plex Sans Arabic" pitchFamily="34" charset="0"/>
                <a:ea typeface="IBM Plex Sans Arabic" pitchFamily="34" charset="-122"/>
                <a:cs typeface="IBM Plex Sans Arabic" pitchFamily="34" charset="-120"/>
              </a:rPr>
              <a:t>09  ·  EXECUTION — Roadmap</a:t>
            </a:r>
            <a:endParaRPr lang="ar-SA" sz="1200" dirty="0"/>
          </a:p>
        </p:txBody>
      </p:sp>
      <p:sp>
        <p:nvSpPr>
          <p:cNvPr id="3" name="Text 1"/>
          <p:cNvSpPr txBox="1"/>
          <p:nvPr/>
        </p:nvSpPr>
        <p:spPr>
          <a:xfrm>
            <a:off x="1508760" y="731520"/>
            <a:ext cx="10088575" cy="640080"/>
          </a:xfrm>
          <a:prstGeom prst="rect">
            <a:avLst/>
          </a:prstGeom>
          <a:noFill/>
          <a:ln/>
        </p:spPr>
        <p:txBody>
          <a:bodyPr wrap="square" lIns="0" tIns="0" rIns="0" bIns="0" rtlCol="0" anchor="t"/>
          <a:lstStyle/>
          <a:p>
            <a:pPr rtl="1" algn="r" indent="0" marL="0">
              <a:buNone/>
            </a:pPr>
            <a:r>
              <a:rPr lang="ar-SA" altLang="en-US" sz="3200" b="1" dirty="0">
                <a:solidFill>
                  <a:srgbClr val="F3F6FD"/>
                </a:solidFill>
                <a:latin typeface="IBM Plex Sans Arabic" pitchFamily="34" charset="0"/>
                <a:ea typeface="IBM Plex Sans Arabic" pitchFamily="34" charset="-122"/>
                <a:cs typeface="IBM Plex Sans Arabic" pitchFamily="34" charset="-120"/>
              </a:rPr>
              <a:t>خارطة الطريق إلى الـPilot الأول</a:t>
            </a:r>
            <a:endParaRPr lang="ar-SA" sz="3200" dirty="0"/>
          </a:p>
        </p:txBody>
      </p:sp>
      <p:pic>
        <p:nvPicPr>
          <p:cNvPr id="4" name="Image 0" descr="/tmp/claude-0/-home-user-ghassankmiqdad/d1991e4f-aee0-5e68-9a9d-3fc00accdf9d/scratchpad/build/assets/mark_sm.png">    </p:cNvPr>
          <p:cNvPicPr>
            <a:picLocks noChangeAspect="1"/>
          </p:cNvPicPr>
          <p:nvPr/>
        </p:nvPicPr>
        <p:blipFill>
          <a:blip r:embed="rId2"/>
          <a:stretch>
            <a:fillRect/>
          </a:stretch>
        </p:blipFill>
        <p:spPr>
          <a:xfrm>
            <a:off x="594360" y="475488"/>
            <a:ext cx="566928" cy="443515"/>
          </a:xfrm>
          <a:prstGeom prst="rect">
            <a:avLst/>
          </a:prstGeom>
        </p:spPr>
      </p:pic>
      <p:sp>
        <p:nvSpPr>
          <p:cNvPr id="5" name="Text 2"/>
          <p:cNvSpPr txBox="1"/>
          <p:nvPr/>
        </p:nvSpPr>
        <p:spPr>
          <a:xfrm>
            <a:off x="7939735" y="6400800"/>
            <a:ext cx="3657600" cy="228600"/>
          </a:xfrm>
          <a:prstGeom prst="rect">
            <a:avLst/>
          </a:prstGeom>
          <a:noFill/>
          <a:ln/>
        </p:spPr>
        <p:txBody>
          <a:bodyPr wrap="square" lIns="0" tIns="0" rIns="0" bIns="0" rtlCol="0" anchor="t"/>
          <a:lstStyle/>
          <a:p>
            <a:pPr rtl="1" algn="r" indent="0" marL="0">
              <a:buNone/>
            </a:pPr>
            <a:r>
              <a:rPr lang="ar-SA" altLang="en-US" sz="900" dirty="0">
                <a:solidFill>
                  <a:srgbClr val="6E7FAA"/>
                </a:solidFill>
                <a:latin typeface="IBM Plex Sans Arabic" pitchFamily="34" charset="0"/>
                <a:ea typeface="IBM Plex Sans Arabic" pitchFamily="34" charset="-122"/>
                <a:cs typeface="IBM Plex Sans Arabic" pitchFamily="34" charset="-120"/>
              </a:rPr>
              <a:t>NestHire · اجتماع الانطلاق</a:t>
            </a:r>
            <a:endParaRPr lang="ar-SA" sz="900" dirty="0"/>
          </a:p>
        </p:txBody>
      </p:sp>
      <p:sp>
        <p:nvSpPr>
          <p:cNvPr id="6" name="Text 3"/>
          <p:cNvSpPr txBox="1"/>
          <p:nvPr/>
        </p:nvSpPr>
        <p:spPr>
          <a:xfrm>
            <a:off x="594360" y="6400800"/>
            <a:ext cx="1097280" cy="228600"/>
          </a:xfrm>
          <a:prstGeom prst="rect">
            <a:avLst/>
          </a:prstGeom>
          <a:noFill/>
          <a:ln/>
        </p:spPr>
        <p:txBody>
          <a:bodyPr wrap="square" lIns="0" tIns="0" rIns="0" bIns="0" rtlCol="0" anchor="t"/>
          <a:lstStyle/>
          <a:p>
            <a:pPr algn="l" indent="0" marL="0">
              <a:buNone/>
            </a:pPr>
            <a:r>
              <a:rPr lang="ar-SA" altLang="en-US" sz="900" dirty="0">
                <a:solidFill>
                  <a:srgbClr val="6E7FAA"/>
                </a:solidFill>
                <a:latin typeface="IBM Plex Sans Arabic" pitchFamily="34" charset="0"/>
                <a:ea typeface="IBM Plex Sans Arabic" pitchFamily="34" charset="-122"/>
                <a:cs typeface="IBM Plex Sans Arabic" pitchFamily="34" charset="-120"/>
              </a:rPr>
              <a:t>15 / 18</a:t>
            </a:r>
            <a:endParaRPr lang="ar-SA" sz="900" dirty="0"/>
          </a:p>
        </p:txBody>
      </p:sp>
      <p:sp>
        <p:nvSpPr>
          <p:cNvPr id="7" name="Shape 4"/>
          <p:cNvSpPr/>
          <p:nvPr/>
        </p:nvSpPr>
        <p:spPr>
          <a:xfrm flipH="1">
            <a:off x="1380287" y="2468880"/>
            <a:ext cx="9431122" cy="91"/>
          </a:xfrm>
          <a:prstGeom prst="line">
            <a:avLst/>
          </a:prstGeom>
          <a:noFill/>
          <a:ln w="25400">
            <a:solidFill>
              <a:srgbClr val="1E3570"/>
            </a:solidFill>
            <a:prstDash val="solid"/>
          </a:ln>
        </p:spPr>
      </p:sp>
      <p:sp>
        <p:nvSpPr>
          <p:cNvPr id="8" name="Text 5"/>
          <p:cNvSpPr txBox="1"/>
          <p:nvPr/>
        </p:nvSpPr>
        <p:spPr>
          <a:xfrm>
            <a:off x="10025482" y="1874520"/>
            <a:ext cx="1571854" cy="256032"/>
          </a:xfrm>
          <a:prstGeom prst="rect">
            <a:avLst/>
          </a:prstGeom>
          <a:noFill/>
          <a:ln/>
        </p:spPr>
        <p:txBody>
          <a:bodyPr wrap="square" lIns="0" tIns="0" rIns="0" bIns="0" rtlCol="0" anchor="t"/>
          <a:lstStyle/>
          <a:p>
            <a:pPr algn="ctr" indent="0" marL="0">
              <a:buNone/>
            </a:pPr>
            <a:r>
              <a:rPr lang="ar-SA" altLang="en-US" sz="1100" b="1" dirty="0">
                <a:solidFill>
                  <a:srgbClr val="3EE0F5"/>
                </a:solidFill>
                <a:latin typeface="IBM Plex Sans Arabic" pitchFamily="34" charset="0"/>
                <a:ea typeface="IBM Plex Sans Arabic" pitchFamily="34" charset="-122"/>
                <a:cs typeface="IBM Plex Sans Arabic" pitchFamily="34" charset="-120"/>
              </a:rPr>
              <a:t>Phase 01</a:t>
            </a:r>
            <a:endParaRPr lang="ar-SA" sz="1100" dirty="0"/>
          </a:p>
        </p:txBody>
      </p:sp>
      <p:sp>
        <p:nvSpPr>
          <p:cNvPr id="9" name="Shape 6"/>
          <p:cNvSpPr/>
          <p:nvPr/>
        </p:nvSpPr>
        <p:spPr>
          <a:xfrm>
            <a:off x="10582808" y="2240280"/>
            <a:ext cx="457200" cy="457200"/>
          </a:xfrm>
          <a:prstGeom prst="ellipse">
            <a:avLst/>
          </a:prstGeom>
          <a:solidFill>
            <a:srgbClr val="10204A"/>
          </a:solidFill>
          <a:ln w="15875">
            <a:solidFill>
              <a:srgbClr val="2AA6F7"/>
            </a:solidFill>
            <a:prstDash val="solid"/>
          </a:ln>
        </p:spPr>
      </p:sp>
      <p:sp>
        <p:nvSpPr>
          <p:cNvPr id="10" name="Text 7"/>
          <p:cNvSpPr txBox="1"/>
          <p:nvPr/>
        </p:nvSpPr>
        <p:spPr>
          <a:xfrm>
            <a:off x="10582808" y="2240280"/>
            <a:ext cx="457200" cy="457200"/>
          </a:xfrm>
          <a:prstGeom prst="rect">
            <a:avLst/>
          </a:prstGeom>
          <a:noFill/>
          <a:ln/>
        </p:spPr>
        <p:txBody>
          <a:bodyPr wrap="square" lIns="0" tIns="0" rIns="0" bIns="0" rtlCol="0" anchor="ctr"/>
          <a:lstStyle/>
          <a:p>
            <a:pPr algn="ctr" indent="0" marL="0">
              <a:buNone/>
            </a:pPr>
            <a:r>
              <a:rPr lang="ar-SA" altLang="en-US" sz="1400" b="1" dirty="0">
                <a:solidFill>
                  <a:srgbClr val="F3F6FD"/>
                </a:solidFill>
                <a:latin typeface="IBM Plex Sans Arabic" pitchFamily="34" charset="0"/>
                <a:ea typeface="IBM Plex Sans Arabic" pitchFamily="34" charset="-122"/>
                <a:cs typeface="IBM Plex Sans Arabic" pitchFamily="34" charset="-120"/>
              </a:rPr>
              <a:t>1</a:t>
            </a:r>
            <a:endParaRPr lang="ar-SA" sz="1400" dirty="0"/>
          </a:p>
        </p:txBody>
      </p:sp>
      <p:sp>
        <p:nvSpPr>
          <p:cNvPr id="11" name="Shape 8"/>
          <p:cNvSpPr/>
          <p:nvPr/>
        </p:nvSpPr>
        <p:spPr>
          <a:xfrm>
            <a:off x="10080346" y="2880360"/>
            <a:ext cx="1462126" cy="1874520"/>
          </a:xfrm>
          <a:prstGeom prst="roundRect">
            <a:avLst>
              <a:gd name="adj" fmla="val 8755"/>
            </a:avLst>
          </a:prstGeom>
          <a:solidFill>
            <a:srgbClr val="0B1634"/>
          </a:solidFill>
          <a:ln w="9525">
            <a:solidFill>
              <a:srgbClr val="1E3570"/>
            </a:solidFill>
            <a:prstDash val="solid"/>
          </a:ln>
        </p:spPr>
      </p:sp>
      <p:sp>
        <p:nvSpPr>
          <p:cNvPr id="12" name="Text 9"/>
          <p:cNvSpPr txBox="1"/>
          <p:nvPr/>
        </p:nvSpPr>
        <p:spPr>
          <a:xfrm>
            <a:off x="10135210" y="2944368"/>
            <a:ext cx="1352398" cy="457200"/>
          </a:xfrm>
          <a:prstGeom prst="rect">
            <a:avLst/>
          </a:prstGeom>
          <a:noFill/>
          <a:ln/>
        </p:spPr>
        <p:txBody>
          <a:bodyPr wrap="square" lIns="0" tIns="0" rIns="0" bIns="0" rtlCol="0" anchor="ctr"/>
          <a:lstStyle/>
          <a:p>
            <a:pPr rtl="1" algn="ctr" indent="0" marL="0">
              <a:lnSpc>
                <a:spcPct val="95000"/>
              </a:lnSpc>
              <a:buNone/>
            </a:pPr>
            <a:r>
              <a:rPr lang="ar-SA" altLang="en-US" sz="1300" b="1" dirty="0">
                <a:solidFill>
                  <a:srgbClr val="F3F6FD"/>
                </a:solidFill>
                <a:latin typeface="IBM Plex Sans Arabic" pitchFamily="34" charset="0"/>
                <a:ea typeface="IBM Plex Sans Arabic" pitchFamily="34" charset="-122"/>
                <a:cs typeface="IBM Plex Sans Arabic" pitchFamily="34" charset="-120"/>
              </a:rPr>
              <a:t>البحث والتحقق</a:t>
            </a:r>
            <a:endParaRPr lang="ar-SA" sz="1300" dirty="0"/>
          </a:p>
        </p:txBody>
      </p:sp>
      <p:sp>
        <p:nvSpPr>
          <p:cNvPr id="13" name="Text 10"/>
          <p:cNvSpPr txBox="1"/>
          <p:nvPr/>
        </p:nvSpPr>
        <p:spPr>
          <a:xfrm>
            <a:off x="10135210" y="3401568"/>
            <a:ext cx="1352398" cy="219456"/>
          </a:xfrm>
          <a:prstGeom prst="rect">
            <a:avLst/>
          </a:prstGeom>
          <a:noFill/>
          <a:ln/>
        </p:spPr>
        <p:txBody>
          <a:bodyPr wrap="square" lIns="0" tIns="0" rIns="0" bIns="0" rtlCol="0" anchor="t"/>
          <a:lstStyle/>
          <a:p>
            <a:pPr algn="ctr" indent="0" marL="0">
              <a:buNone/>
            </a:pPr>
            <a:r>
              <a:rPr lang="ar-SA" altLang="en-US" sz="1050" b="1" dirty="0">
                <a:solidFill>
                  <a:srgbClr val="3EE0F5"/>
                </a:solidFill>
                <a:latin typeface="IBM Plex Sans Arabic" pitchFamily="34" charset="0"/>
                <a:ea typeface="IBM Plex Sans Arabic" pitchFamily="34" charset="-122"/>
                <a:cs typeface="IBM Plex Sans Arabic" pitchFamily="34" charset="-120"/>
              </a:rPr>
              <a:t>Research</a:t>
            </a:r>
            <a:endParaRPr lang="ar-SA" sz="1050" dirty="0"/>
          </a:p>
        </p:txBody>
      </p:sp>
      <p:sp>
        <p:nvSpPr>
          <p:cNvPr id="14" name="Shape 11"/>
          <p:cNvSpPr/>
          <p:nvPr/>
        </p:nvSpPr>
        <p:spPr>
          <a:xfrm>
            <a:off x="10262768" y="3657600"/>
            <a:ext cx="1097280" cy="274320"/>
          </a:xfrm>
          <a:prstGeom prst="roundRect">
            <a:avLst>
              <a:gd name="adj" fmla="val 50000"/>
            </a:avLst>
          </a:prstGeom>
          <a:solidFill>
            <a:srgbClr val="050B1E"/>
          </a:solidFill>
          <a:ln w="9525">
            <a:solidFill>
              <a:srgbClr val="1E3570"/>
            </a:solidFill>
            <a:prstDash val="solid"/>
          </a:ln>
        </p:spPr>
      </p:sp>
      <p:sp>
        <p:nvSpPr>
          <p:cNvPr id="15" name="Text 12"/>
          <p:cNvSpPr txBox="1"/>
          <p:nvPr/>
        </p:nvSpPr>
        <p:spPr>
          <a:xfrm>
            <a:off x="10262768" y="3657600"/>
            <a:ext cx="1097280" cy="274320"/>
          </a:xfrm>
          <a:prstGeom prst="rect">
            <a:avLst/>
          </a:prstGeom>
          <a:noFill/>
          <a:ln/>
        </p:spPr>
        <p:txBody>
          <a:bodyPr wrap="square" lIns="0" tIns="0" rIns="0" bIns="0" rtlCol="0" anchor="ctr"/>
          <a:lstStyle/>
          <a:p>
            <a:pPr rtl="1" algn="ctr" indent="0" marL="0">
              <a:buNone/>
            </a:pPr>
            <a:r>
              <a:rPr lang="ar-SA" altLang="en-US" sz="1000" b="1" dirty="0">
                <a:solidFill>
                  <a:srgbClr val="2AA6F7"/>
                </a:solidFill>
                <a:latin typeface="IBM Plex Sans Arabic" pitchFamily="34" charset="0"/>
                <a:ea typeface="IBM Plex Sans Arabic" pitchFamily="34" charset="-122"/>
                <a:cs typeface="IBM Plex Sans Arabic" pitchFamily="34" charset="-120"/>
              </a:rPr>
              <a:t>بالتوازي</a:t>
            </a:r>
            <a:endParaRPr lang="ar-SA" sz="1000" dirty="0"/>
          </a:p>
        </p:txBody>
      </p:sp>
      <p:sp>
        <p:nvSpPr>
          <p:cNvPr id="16" name="Text 13"/>
          <p:cNvSpPr txBox="1"/>
          <p:nvPr/>
        </p:nvSpPr>
        <p:spPr>
          <a:xfrm>
            <a:off x="10153498" y="4023360"/>
            <a:ext cx="1315822" cy="713232"/>
          </a:xfrm>
          <a:prstGeom prst="rect">
            <a:avLst/>
          </a:prstGeom>
          <a:noFill/>
          <a:ln/>
        </p:spPr>
        <p:txBody>
          <a:bodyPr wrap="square" lIns="0" tIns="0" rIns="0" bIns="0" rtlCol="0" anchor="t"/>
          <a:lstStyle/>
          <a:p>
            <a:pPr algn="ctr" indent="0" marL="0">
              <a:buNone/>
            </a:pPr>
            <a:r>
              <a:rPr lang="ar-SA" altLang="en-US" sz="1050" dirty="0">
                <a:solidFill>
                  <a:srgbClr val="A9B7DA"/>
                </a:solidFill>
                <a:latin typeface="IBM Plex Sans Arabic" pitchFamily="34" charset="0"/>
                <a:ea typeface="IBM Plex Sans Arabic" pitchFamily="34" charset="-122"/>
                <a:cs typeface="IBM Plex Sans Arabic" pitchFamily="34" charset="-120"/>
              </a:rPr>
              <a:t>Discovery interviews + Data feasibility audits</a:t>
            </a:r>
            <a:endParaRPr lang="ar-SA" sz="1050" dirty="0"/>
          </a:p>
        </p:txBody>
      </p:sp>
      <p:sp>
        <p:nvSpPr>
          <p:cNvPr id="17" name="Text 14"/>
          <p:cNvSpPr txBox="1"/>
          <p:nvPr/>
        </p:nvSpPr>
        <p:spPr>
          <a:xfrm>
            <a:off x="8453628" y="1874520"/>
            <a:ext cx="1571854" cy="256032"/>
          </a:xfrm>
          <a:prstGeom prst="rect">
            <a:avLst/>
          </a:prstGeom>
          <a:noFill/>
          <a:ln/>
        </p:spPr>
        <p:txBody>
          <a:bodyPr wrap="square" lIns="0" tIns="0" rIns="0" bIns="0" rtlCol="0" anchor="t"/>
          <a:lstStyle/>
          <a:p>
            <a:pPr algn="ctr" indent="0" marL="0">
              <a:buNone/>
            </a:pPr>
            <a:r>
              <a:rPr lang="ar-SA" altLang="en-US" sz="1100" b="1" dirty="0">
                <a:solidFill>
                  <a:srgbClr val="3EE0F5"/>
                </a:solidFill>
                <a:latin typeface="IBM Plex Sans Arabic" pitchFamily="34" charset="0"/>
                <a:ea typeface="IBM Plex Sans Arabic" pitchFamily="34" charset="-122"/>
                <a:cs typeface="IBM Plex Sans Arabic" pitchFamily="34" charset="-120"/>
              </a:rPr>
              <a:t>Phase 02</a:t>
            </a:r>
            <a:endParaRPr lang="ar-SA" sz="1100" dirty="0"/>
          </a:p>
        </p:txBody>
      </p:sp>
      <p:sp>
        <p:nvSpPr>
          <p:cNvPr id="18" name="Shape 15"/>
          <p:cNvSpPr/>
          <p:nvPr/>
        </p:nvSpPr>
        <p:spPr>
          <a:xfrm>
            <a:off x="9010955" y="2240280"/>
            <a:ext cx="457200" cy="457200"/>
          </a:xfrm>
          <a:prstGeom prst="ellipse">
            <a:avLst/>
          </a:prstGeom>
          <a:solidFill>
            <a:srgbClr val="10204A"/>
          </a:solidFill>
          <a:ln w="15875">
            <a:solidFill>
              <a:srgbClr val="2AA6F7"/>
            </a:solidFill>
            <a:prstDash val="solid"/>
          </a:ln>
        </p:spPr>
      </p:sp>
      <p:sp>
        <p:nvSpPr>
          <p:cNvPr id="19" name="Text 16"/>
          <p:cNvSpPr txBox="1"/>
          <p:nvPr/>
        </p:nvSpPr>
        <p:spPr>
          <a:xfrm>
            <a:off x="9010955" y="2240280"/>
            <a:ext cx="457200" cy="457200"/>
          </a:xfrm>
          <a:prstGeom prst="rect">
            <a:avLst/>
          </a:prstGeom>
          <a:noFill/>
          <a:ln/>
        </p:spPr>
        <p:txBody>
          <a:bodyPr wrap="square" lIns="0" tIns="0" rIns="0" bIns="0" rtlCol="0" anchor="ctr"/>
          <a:lstStyle/>
          <a:p>
            <a:pPr algn="ctr" indent="0" marL="0">
              <a:buNone/>
            </a:pPr>
            <a:r>
              <a:rPr lang="ar-SA" altLang="en-US" sz="1400" b="1" dirty="0">
                <a:solidFill>
                  <a:srgbClr val="F3F6FD"/>
                </a:solidFill>
                <a:latin typeface="IBM Plex Sans Arabic" pitchFamily="34" charset="0"/>
                <a:ea typeface="IBM Plex Sans Arabic" pitchFamily="34" charset="-122"/>
                <a:cs typeface="IBM Plex Sans Arabic" pitchFamily="34" charset="-120"/>
              </a:rPr>
              <a:t>2</a:t>
            </a:r>
            <a:endParaRPr lang="ar-SA" sz="1400" dirty="0"/>
          </a:p>
        </p:txBody>
      </p:sp>
      <p:sp>
        <p:nvSpPr>
          <p:cNvPr id="20" name="Shape 17"/>
          <p:cNvSpPr/>
          <p:nvPr/>
        </p:nvSpPr>
        <p:spPr>
          <a:xfrm>
            <a:off x="8508492" y="2880360"/>
            <a:ext cx="1462126" cy="1874520"/>
          </a:xfrm>
          <a:prstGeom prst="roundRect">
            <a:avLst>
              <a:gd name="adj" fmla="val 8755"/>
            </a:avLst>
          </a:prstGeom>
          <a:solidFill>
            <a:srgbClr val="0B1634"/>
          </a:solidFill>
          <a:ln w="9525">
            <a:solidFill>
              <a:srgbClr val="1E3570"/>
            </a:solidFill>
            <a:prstDash val="solid"/>
          </a:ln>
        </p:spPr>
      </p:sp>
      <p:sp>
        <p:nvSpPr>
          <p:cNvPr id="21" name="Text 18"/>
          <p:cNvSpPr txBox="1"/>
          <p:nvPr/>
        </p:nvSpPr>
        <p:spPr>
          <a:xfrm>
            <a:off x="8563356" y="2944368"/>
            <a:ext cx="1352398" cy="457200"/>
          </a:xfrm>
          <a:prstGeom prst="rect">
            <a:avLst/>
          </a:prstGeom>
          <a:noFill/>
          <a:ln/>
        </p:spPr>
        <p:txBody>
          <a:bodyPr wrap="square" lIns="0" tIns="0" rIns="0" bIns="0" rtlCol="0" anchor="ctr"/>
          <a:lstStyle/>
          <a:p>
            <a:pPr rtl="1" algn="ctr" indent="0" marL="0">
              <a:lnSpc>
                <a:spcPct val="95000"/>
              </a:lnSpc>
              <a:buNone/>
            </a:pPr>
            <a:r>
              <a:rPr lang="ar-SA" altLang="en-US" sz="1300" b="1" dirty="0">
                <a:solidFill>
                  <a:srgbClr val="F3F6FD"/>
                </a:solidFill>
                <a:latin typeface="IBM Plex Sans Arabic" pitchFamily="34" charset="0"/>
                <a:ea typeface="IBM Plex Sans Arabic" pitchFamily="34" charset="-122"/>
                <a:cs typeface="IBM Plex Sans Arabic" pitchFamily="34" charset="-120"/>
              </a:rPr>
              <a:t>التخطيط والمعمارية</a:t>
            </a:r>
            <a:endParaRPr lang="ar-SA" sz="1300" dirty="0"/>
          </a:p>
        </p:txBody>
      </p:sp>
      <p:sp>
        <p:nvSpPr>
          <p:cNvPr id="22" name="Text 19"/>
          <p:cNvSpPr txBox="1"/>
          <p:nvPr/>
        </p:nvSpPr>
        <p:spPr>
          <a:xfrm>
            <a:off x="8563356" y="3401568"/>
            <a:ext cx="1352398" cy="219456"/>
          </a:xfrm>
          <a:prstGeom prst="rect">
            <a:avLst/>
          </a:prstGeom>
          <a:noFill/>
          <a:ln/>
        </p:spPr>
        <p:txBody>
          <a:bodyPr wrap="square" lIns="0" tIns="0" rIns="0" bIns="0" rtlCol="0" anchor="t"/>
          <a:lstStyle/>
          <a:p>
            <a:pPr algn="ctr" indent="0" marL="0">
              <a:buNone/>
            </a:pPr>
            <a:r>
              <a:rPr lang="ar-SA" altLang="en-US" sz="1050" b="1" dirty="0">
                <a:solidFill>
                  <a:srgbClr val="3EE0F5"/>
                </a:solidFill>
                <a:latin typeface="IBM Plex Sans Arabic" pitchFamily="34" charset="0"/>
                <a:ea typeface="IBM Plex Sans Arabic" pitchFamily="34" charset="-122"/>
                <a:cs typeface="IBM Plex Sans Arabic" pitchFamily="34" charset="-120"/>
              </a:rPr>
              <a:t>Planning</a:t>
            </a:r>
            <a:endParaRPr lang="ar-SA" sz="1050" dirty="0"/>
          </a:p>
        </p:txBody>
      </p:sp>
      <p:sp>
        <p:nvSpPr>
          <p:cNvPr id="23" name="Shape 20"/>
          <p:cNvSpPr/>
          <p:nvPr/>
        </p:nvSpPr>
        <p:spPr>
          <a:xfrm>
            <a:off x="8690915" y="3657600"/>
            <a:ext cx="1097280" cy="274320"/>
          </a:xfrm>
          <a:prstGeom prst="roundRect">
            <a:avLst>
              <a:gd name="adj" fmla="val 50000"/>
            </a:avLst>
          </a:prstGeom>
          <a:solidFill>
            <a:srgbClr val="050B1E"/>
          </a:solidFill>
          <a:ln w="9525">
            <a:solidFill>
              <a:srgbClr val="1E3570"/>
            </a:solidFill>
            <a:prstDash val="solid"/>
          </a:ln>
        </p:spPr>
      </p:sp>
      <p:sp>
        <p:nvSpPr>
          <p:cNvPr id="24" name="Text 21"/>
          <p:cNvSpPr txBox="1"/>
          <p:nvPr/>
        </p:nvSpPr>
        <p:spPr>
          <a:xfrm>
            <a:off x="8690915" y="3657600"/>
            <a:ext cx="1097280" cy="274320"/>
          </a:xfrm>
          <a:prstGeom prst="rect">
            <a:avLst/>
          </a:prstGeom>
          <a:noFill/>
          <a:ln/>
        </p:spPr>
        <p:txBody>
          <a:bodyPr wrap="square" lIns="0" tIns="0" rIns="0" bIns="0" rtlCol="0" anchor="ctr"/>
          <a:lstStyle/>
          <a:p>
            <a:pPr rtl="1" algn="ctr" indent="0" marL="0">
              <a:buNone/>
            </a:pPr>
            <a:r>
              <a:rPr lang="ar-SA" altLang="en-US" sz="1000" b="1" dirty="0">
                <a:solidFill>
                  <a:srgbClr val="2AA6F7"/>
                </a:solidFill>
                <a:latin typeface="IBM Plex Sans Arabic" pitchFamily="34" charset="0"/>
                <a:ea typeface="IBM Plex Sans Arabic" pitchFamily="34" charset="-122"/>
                <a:cs typeface="IBM Plex Sans Arabic" pitchFamily="34" charset="-120"/>
              </a:rPr>
              <a:t>Sprint 0–1</a:t>
            </a:r>
            <a:endParaRPr lang="ar-SA" sz="1000" dirty="0"/>
          </a:p>
        </p:txBody>
      </p:sp>
      <p:sp>
        <p:nvSpPr>
          <p:cNvPr id="25" name="Text 22"/>
          <p:cNvSpPr txBox="1"/>
          <p:nvPr/>
        </p:nvSpPr>
        <p:spPr>
          <a:xfrm>
            <a:off x="8581644" y="4023360"/>
            <a:ext cx="1315822" cy="713232"/>
          </a:xfrm>
          <a:prstGeom prst="rect">
            <a:avLst/>
          </a:prstGeom>
          <a:noFill/>
          <a:ln/>
        </p:spPr>
        <p:txBody>
          <a:bodyPr wrap="square" lIns="0" tIns="0" rIns="0" bIns="0" rtlCol="0" anchor="t"/>
          <a:lstStyle/>
          <a:p>
            <a:pPr algn="ctr" indent="0" marL="0">
              <a:buNone/>
            </a:pPr>
            <a:r>
              <a:rPr lang="ar-SA" altLang="en-US" sz="1050" dirty="0">
                <a:solidFill>
                  <a:srgbClr val="A9B7DA"/>
                </a:solidFill>
                <a:latin typeface="IBM Plex Sans Arabic" pitchFamily="34" charset="0"/>
                <a:ea typeface="IBM Plex Sans Arabic" pitchFamily="34" charset="-122"/>
                <a:cs typeface="IBM Plex Sans Arabic" pitchFamily="34" charset="-120"/>
              </a:rPr>
              <a:t>Repo · Conventions · Schemas · Data contract</a:t>
            </a:r>
            <a:endParaRPr lang="ar-SA" sz="1050" dirty="0"/>
          </a:p>
        </p:txBody>
      </p:sp>
      <p:sp>
        <p:nvSpPr>
          <p:cNvPr id="26" name="Text 23"/>
          <p:cNvSpPr txBox="1"/>
          <p:nvPr/>
        </p:nvSpPr>
        <p:spPr>
          <a:xfrm>
            <a:off x="6881774" y="1874520"/>
            <a:ext cx="1571854" cy="256032"/>
          </a:xfrm>
          <a:prstGeom prst="rect">
            <a:avLst/>
          </a:prstGeom>
          <a:noFill/>
          <a:ln/>
        </p:spPr>
        <p:txBody>
          <a:bodyPr wrap="square" lIns="0" tIns="0" rIns="0" bIns="0" rtlCol="0" anchor="t"/>
          <a:lstStyle/>
          <a:p>
            <a:pPr algn="ctr" indent="0" marL="0">
              <a:buNone/>
            </a:pPr>
            <a:r>
              <a:rPr lang="ar-SA" altLang="en-US" sz="1100" b="1" dirty="0">
                <a:solidFill>
                  <a:srgbClr val="3EE0F5"/>
                </a:solidFill>
                <a:latin typeface="IBM Plex Sans Arabic" pitchFamily="34" charset="0"/>
                <a:ea typeface="IBM Plex Sans Arabic" pitchFamily="34" charset="-122"/>
                <a:cs typeface="IBM Plex Sans Arabic" pitchFamily="34" charset="-120"/>
              </a:rPr>
              <a:t>Phase 03</a:t>
            </a:r>
            <a:endParaRPr lang="ar-SA" sz="1100" dirty="0"/>
          </a:p>
        </p:txBody>
      </p:sp>
      <p:sp>
        <p:nvSpPr>
          <p:cNvPr id="27" name="Shape 24"/>
          <p:cNvSpPr/>
          <p:nvPr/>
        </p:nvSpPr>
        <p:spPr>
          <a:xfrm>
            <a:off x="7439101" y="2240280"/>
            <a:ext cx="457200" cy="457200"/>
          </a:xfrm>
          <a:prstGeom prst="ellipse">
            <a:avLst/>
          </a:prstGeom>
          <a:solidFill>
            <a:srgbClr val="10204A"/>
          </a:solidFill>
          <a:ln w="15875">
            <a:solidFill>
              <a:srgbClr val="2AA6F7"/>
            </a:solidFill>
            <a:prstDash val="solid"/>
          </a:ln>
        </p:spPr>
      </p:sp>
      <p:sp>
        <p:nvSpPr>
          <p:cNvPr id="28" name="Text 25"/>
          <p:cNvSpPr txBox="1"/>
          <p:nvPr/>
        </p:nvSpPr>
        <p:spPr>
          <a:xfrm>
            <a:off x="7439101" y="2240280"/>
            <a:ext cx="457200" cy="457200"/>
          </a:xfrm>
          <a:prstGeom prst="rect">
            <a:avLst/>
          </a:prstGeom>
          <a:noFill/>
          <a:ln/>
        </p:spPr>
        <p:txBody>
          <a:bodyPr wrap="square" lIns="0" tIns="0" rIns="0" bIns="0" rtlCol="0" anchor="ctr"/>
          <a:lstStyle/>
          <a:p>
            <a:pPr algn="ctr" indent="0" marL="0">
              <a:buNone/>
            </a:pPr>
            <a:r>
              <a:rPr lang="ar-SA" altLang="en-US" sz="1400" b="1" dirty="0">
                <a:solidFill>
                  <a:srgbClr val="F3F6FD"/>
                </a:solidFill>
                <a:latin typeface="IBM Plex Sans Arabic" pitchFamily="34" charset="0"/>
                <a:ea typeface="IBM Plex Sans Arabic" pitchFamily="34" charset="-122"/>
                <a:cs typeface="IBM Plex Sans Arabic" pitchFamily="34" charset="-120"/>
              </a:rPr>
              <a:t>3</a:t>
            </a:r>
            <a:endParaRPr lang="ar-SA" sz="1400" dirty="0"/>
          </a:p>
        </p:txBody>
      </p:sp>
      <p:sp>
        <p:nvSpPr>
          <p:cNvPr id="29" name="Shape 26"/>
          <p:cNvSpPr/>
          <p:nvPr/>
        </p:nvSpPr>
        <p:spPr>
          <a:xfrm>
            <a:off x="6936638" y="2880360"/>
            <a:ext cx="1462126" cy="1874520"/>
          </a:xfrm>
          <a:prstGeom prst="roundRect">
            <a:avLst>
              <a:gd name="adj" fmla="val 8755"/>
            </a:avLst>
          </a:prstGeom>
          <a:solidFill>
            <a:srgbClr val="0B1634"/>
          </a:solidFill>
          <a:ln w="9525">
            <a:solidFill>
              <a:srgbClr val="1E3570"/>
            </a:solidFill>
            <a:prstDash val="solid"/>
          </a:ln>
        </p:spPr>
      </p:sp>
      <p:sp>
        <p:nvSpPr>
          <p:cNvPr id="30" name="Text 27"/>
          <p:cNvSpPr txBox="1"/>
          <p:nvPr/>
        </p:nvSpPr>
        <p:spPr>
          <a:xfrm>
            <a:off x="6991502" y="2944368"/>
            <a:ext cx="1352398" cy="457200"/>
          </a:xfrm>
          <a:prstGeom prst="rect">
            <a:avLst/>
          </a:prstGeom>
          <a:noFill/>
          <a:ln/>
        </p:spPr>
        <p:txBody>
          <a:bodyPr wrap="square" lIns="0" tIns="0" rIns="0" bIns="0" rtlCol="0" anchor="ctr"/>
          <a:lstStyle/>
          <a:p>
            <a:pPr rtl="1" algn="ctr" indent="0" marL="0">
              <a:lnSpc>
                <a:spcPct val="95000"/>
              </a:lnSpc>
              <a:buNone/>
            </a:pPr>
            <a:r>
              <a:rPr lang="ar-SA" altLang="en-US" sz="1300" b="1" dirty="0">
                <a:solidFill>
                  <a:srgbClr val="F3F6FD"/>
                </a:solidFill>
                <a:latin typeface="IBM Plex Sans Arabic" pitchFamily="34" charset="0"/>
                <a:ea typeface="IBM Plex Sans Arabic" pitchFamily="34" charset="-122"/>
                <a:cs typeface="IBM Plex Sans Arabic" pitchFamily="34" charset="-120"/>
              </a:rPr>
              <a:t>التطوير الأساسي</a:t>
            </a:r>
            <a:endParaRPr lang="ar-SA" sz="1300" dirty="0"/>
          </a:p>
        </p:txBody>
      </p:sp>
      <p:sp>
        <p:nvSpPr>
          <p:cNvPr id="31" name="Text 28"/>
          <p:cNvSpPr txBox="1"/>
          <p:nvPr/>
        </p:nvSpPr>
        <p:spPr>
          <a:xfrm>
            <a:off x="6991502" y="3401568"/>
            <a:ext cx="1352398" cy="219456"/>
          </a:xfrm>
          <a:prstGeom prst="rect">
            <a:avLst/>
          </a:prstGeom>
          <a:noFill/>
          <a:ln/>
        </p:spPr>
        <p:txBody>
          <a:bodyPr wrap="square" lIns="0" tIns="0" rIns="0" bIns="0" rtlCol="0" anchor="t"/>
          <a:lstStyle/>
          <a:p>
            <a:pPr algn="ctr" indent="0" marL="0">
              <a:buNone/>
            </a:pPr>
            <a:r>
              <a:rPr lang="ar-SA" altLang="en-US" sz="1050" b="1" dirty="0">
                <a:solidFill>
                  <a:srgbClr val="3EE0F5"/>
                </a:solidFill>
                <a:latin typeface="IBM Plex Sans Arabic" pitchFamily="34" charset="0"/>
                <a:ea typeface="IBM Plex Sans Arabic" pitchFamily="34" charset="-122"/>
                <a:cs typeface="IBM Plex Sans Arabic" pitchFamily="34" charset="-120"/>
              </a:rPr>
              <a:t>Development</a:t>
            </a:r>
            <a:endParaRPr lang="ar-SA" sz="1050" dirty="0"/>
          </a:p>
        </p:txBody>
      </p:sp>
      <p:sp>
        <p:nvSpPr>
          <p:cNvPr id="32" name="Shape 29"/>
          <p:cNvSpPr/>
          <p:nvPr/>
        </p:nvSpPr>
        <p:spPr>
          <a:xfrm>
            <a:off x="7119061" y="3657600"/>
            <a:ext cx="1097280" cy="274320"/>
          </a:xfrm>
          <a:prstGeom prst="roundRect">
            <a:avLst>
              <a:gd name="adj" fmla="val 50000"/>
            </a:avLst>
          </a:prstGeom>
          <a:solidFill>
            <a:srgbClr val="050B1E"/>
          </a:solidFill>
          <a:ln w="9525">
            <a:solidFill>
              <a:srgbClr val="1E3570"/>
            </a:solidFill>
            <a:prstDash val="solid"/>
          </a:ln>
        </p:spPr>
      </p:sp>
      <p:sp>
        <p:nvSpPr>
          <p:cNvPr id="33" name="Text 30"/>
          <p:cNvSpPr txBox="1"/>
          <p:nvPr/>
        </p:nvSpPr>
        <p:spPr>
          <a:xfrm>
            <a:off x="7119061" y="3657600"/>
            <a:ext cx="1097280" cy="274320"/>
          </a:xfrm>
          <a:prstGeom prst="rect">
            <a:avLst/>
          </a:prstGeom>
          <a:noFill/>
          <a:ln/>
        </p:spPr>
        <p:txBody>
          <a:bodyPr wrap="square" lIns="0" tIns="0" rIns="0" bIns="0" rtlCol="0" anchor="ctr"/>
          <a:lstStyle/>
          <a:p>
            <a:pPr rtl="1" algn="ctr" indent="0" marL="0">
              <a:buNone/>
            </a:pPr>
            <a:r>
              <a:rPr lang="ar-SA" altLang="en-US" sz="1000" b="1" dirty="0">
                <a:solidFill>
                  <a:srgbClr val="2AA6F7"/>
                </a:solidFill>
                <a:latin typeface="IBM Plex Sans Arabic" pitchFamily="34" charset="0"/>
                <a:ea typeface="IBM Plex Sans Arabic" pitchFamily="34" charset="-122"/>
                <a:cs typeface="IBM Plex Sans Arabic" pitchFamily="34" charset="-120"/>
              </a:rPr>
              <a:t>Sprint 2</a:t>
            </a:r>
            <a:endParaRPr lang="ar-SA" sz="1000" dirty="0"/>
          </a:p>
        </p:txBody>
      </p:sp>
      <p:sp>
        <p:nvSpPr>
          <p:cNvPr id="34" name="Text 31"/>
          <p:cNvSpPr txBox="1"/>
          <p:nvPr/>
        </p:nvSpPr>
        <p:spPr>
          <a:xfrm>
            <a:off x="7009790" y="4023360"/>
            <a:ext cx="1315822" cy="713232"/>
          </a:xfrm>
          <a:prstGeom prst="rect">
            <a:avLst/>
          </a:prstGeom>
          <a:noFill/>
          <a:ln/>
        </p:spPr>
        <p:txBody>
          <a:bodyPr wrap="square" lIns="0" tIns="0" rIns="0" bIns="0" rtlCol="0" anchor="t"/>
          <a:lstStyle/>
          <a:p>
            <a:pPr algn="ctr" indent="0" marL="0">
              <a:buNone/>
            </a:pPr>
            <a:r>
              <a:rPr lang="ar-SA" altLang="en-US" sz="1050" dirty="0">
                <a:solidFill>
                  <a:srgbClr val="A9B7DA"/>
                </a:solidFill>
                <a:latin typeface="IBM Plex Sans Arabic" pitchFamily="34" charset="0"/>
                <a:ea typeface="IBM Plex Sans Arabic" pitchFamily="34" charset="-122"/>
                <a:cs typeface="IBM Plex Sans Arabic" pitchFamily="34" charset="-120"/>
              </a:rPr>
              <a:t>Data import + Evidence ingestion</a:t>
            </a:r>
            <a:endParaRPr lang="ar-SA" sz="1050" dirty="0"/>
          </a:p>
        </p:txBody>
      </p:sp>
      <p:sp>
        <p:nvSpPr>
          <p:cNvPr id="35" name="Text 32"/>
          <p:cNvSpPr txBox="1"/>
          <p:nvPr/>
        </p:nvSpPr>
        <p:spPr>
          <a:xfrm>
            <a:off x="5309921" y="1874520"/>
            <a:ext cx="1571854" cy="256032"/>
          </a:xfrm>
          <a:prstGeom prst="rect">
            <a:avLst/>
          </a:prstGeom>
          <a:noFill/>
          <a:ln/>
        </p:spPr>
        <p:txBody>
          <a:bodyPr wrap="square" lIns="0" tIns="0" rIns="0" bIns="0" rtlCol="0" anchor="t"/>
          <a:lstStyle/>
          <a:p>
            <a:pPr algn="ctr" indent="0" marL="0">
              <a:buNone/>
            </a:pPr>
            <a:r>
              <a:rPr lang="ar-SA" altLang="en-US" sz="1100" b="1" dirty="0">
                <a:solidFill>
                  <a:srgbClr val="3EE0F5"/>
                </a:solidFill>
                <a:latin typeface="IBM Plex Sans Arabic" pitchFamily="34" charset="0"/>
                <a:ea typeface="IBM Plex Sans Arabic" pitchFamily="34" charset="-122"/>
                <a:cs typeface="IBM Plex Sans Arabic" pitchFamily="34" charset="-120"/>
              </a:rPr>
              <a:t>Phase 04</a:t>
            </a:r>
            <a:endParaRPr lang="ar-SA" sz="1100" dirty="0"/>
          </a:p>
        </p:txBody>
      </p:sp>
      <p:sp>
        <p:nvSpPr>
          <p:cNvPr id="36" name="Shape 33"/>
          <p:cNvSpPr/>
          <p:nvPr/>
        </p:nvSpPr>
        <p:spPr>
          <a:xfrm>
            <a:off x="5867248" y="2240280"/>
            <a:ext cx="457200" cy="457200"/>
          </a:xfrm>
          <a:prstGeom prst="ellipse">
            <a:avLst/>
          </a:prstGeom>
          <a:solidFill>
            <a:srgbClr val="10204A"/>
          </a:solidFill>
          <a:ln w="15875">
            <a:solidFill>
              <a:srgbClr val="2AA6F7"/>
            </a:solidFill>
            <a:prstDash val="solid"/>
          </a:ln>
        </p:spPr>
      </p:sp>
      <p:sp>
        <p:nvSpPr>
          <p:cNvPr id="37" name="Text 34"/>
          <p:cNvSpPr txBox="1"/>
          <p:nvPr/>
        </p:nvSpPr>
        <p:spPr>
          <a:xfrm>
            <a:off x="5867248" y="2240280"/>
            <a:ext cx="457200" cy="457200"/>
          </a:xfrm>
          <a:prstGeom prst="rect">
            <a:avLst/>
          </a:prstGeom>
          <a:noFill/>
          <a:ln/>
        </p:spPr>
        <p:txBody>
          <a:bodyPr wrap="square" lIns="0" tIns="0" rIns="0" bIns="0" rtlCol="0" anchor="ctr"/>
          <a:lstStyle/>
          <a:p>
            <a:pPr algn="ctr" indent="0" marL="0">
              <a:buNone/>
            </a:pPr>
            <a:r>
              <a:rPr lang="ar-SA" altLang="en-US" sz="1400" b="1" dirty="0">
                <a:solidFill>
                  <a:srgbClr val="F3F6FD"/>
                </a:solidFill>
                <a:latin typeface="IBM Plex Sans Arabic" pitchFamily="34" charset="0"/>
                <a:ea typeface="IBM Plex Sans Arabic" pitchFamily="34" charset="-122"/>
                <a:cs typeface="IBM Plex Sans Arabic" pitchFamily="34" charset="-120"/>
              </a:rPr>
              <a:t>4</a:t>
            </a:r>
            <a:endParaRPr lang="ar-SA" sz="1400" dirty="0"/>
          </a:p>
        </p:txBody>
      </p:sp>
      <p:sp>
        <p:nvSpPr>
          <p:cNvPr id="38" name="Shape 35"/>
          <p:cNvSpPr/>
          <p:nvPr/>
        </p:nvSpPr>
        <p:spPr>
          <a:xfrm>
            <a:off x="5364785" y="2880360"/>
            <a:ext cx="1462126" cy="1874520"/>
          </a:xfrm>
          <a:prstGeom prst="roundRect">
            <a:avLst>
              <a:gd name="adj" fmla="val 8755"/>
            </a:avLst>
          </a:prstGeom>
          <a:solidFill>
            <a:srgbClr val="0B1634"/>
          </a:solidFill>
          <a:ln w="9525">
            <a:solidFill>
              <a:srgbClr val="1E3570"/>
            </a:solidFill>
            <a:prstDash val="solid"/>
          </a:ln>
        </p:spPr>
      </p:sp>
      <p:sp>
        <p:nvSpPr>
          <p:cNvPr id="39" name="Text 36"/>
          <p:cNvSpPr txBox="1"/>
          <p:nvPr/>
        </p:nvSpPr>
        <p:spPr>
          <a:xfrm>
            <a:off x="5419649" y="2944368"/>
            <a:ext cx="1352398" cy="457200"/>
          </a:xfrm>
          <a:prstGeom prst="rect">
            <a:avLst/>
          </a:prstGeom>
          <a:noFill/>
          <a:ln/>
        </p:spPr>
        <p:txBody>
          <a:bodyPr wrap="square" lIns="0" tIns="0" rIns="0" bIns="0" rtlCol="0" anchor="ctr"/>
          <a:lstStyle/>
          <a:p>
            <a:pPr rtl="1" algn="ctr" indent="0" marL="0">
              <a:lnSpc>
                <a:spcPct val="95000"/>
              </a:lnSpc>
              <a:buNone/>
            </a:pPr>
            <a:r>
              <a:rPr lang="ar-SA" altLang="en-US" sz="1300" b="1" dirty="0">
                <a:solidFill>
                  <a:srgbClr val="F3F6FD"/>
                </a:solidFill>
                <a:latin typeface="IBM Plex Sans Arabic" pitchFamily="34" charset="0"/>
                <a:ea typeface="IBM Plex Sans Arabic" pitchFamily="34" charset="-122"/>
                <a:cs typeface="IBM Plex Sans Arabic" pitchFamily="34" charset="-120"/>
              </a:rPr>
              <a:t>الذكاء</a:t>
            </a:r>
            <a:endParaRPr lang="ar-SA" sz="1300" dirty="0"/>
          </a:p>
        </p:txBody>
      </p:sp>
      <p:sp>
        <p:nvSpPr>
          <p:cNvPr id="40" name="Text 37"/>
          <p:cNvSpPr txBox="1"/>
          <p:nvPr/>
        </p:nvSpPr>
        <p:spPr>
          <a:xfrm>
            <a:off x="5419649" y="3401568"/>
            <a:ext cx="1352398" cy="219456"/>
          </a:xfrm>
          <a:prstGeom prst="rect">
            <a:avLst/>
          </a:prstGeom>
          <a:noFill/>
          <a:ln/>
        </p:spPr>
        <p:txBody>
          <a:bodyPr wrap="square" lIns="0" tIns="0" rIns="0" bIns="0" rtlCol="0" anchor="t"/>
          <a:lstStyle/>
          <a:p>
            <a:pPr algn="ctr" indent="0" marL="0">
              <a:buNone/>
            </a:pPr>
            <a:r>
              <a:rPr lang="ar-SA" altLang="en-US" sz="1050" b="1" dirty="0">
                <a:solidFill>
                  <a:srgbClr val="3EE0F5"/>
                </a:solidFill>
                <a:latin typeface="IBM Plex Sans Arabic" pitchFamily="34" charset="0"/>
                <a:ea typeface="IBM Plex Sans Arabic" pitchFamily="34" charset="-122"/>
                <a:cs typeface="IBM Plex Sans Arabic" pitchFamily="34" charset="-120"/>
              </a:rPr>
              <a:t>AI / ML</a:t>
            </a:r>
            <a:endParaRPr lang="ar-SA" sz="1050" dirty="0"/>
          </a:p>
        </p:txBody>
      </p:sp>
      <p:sp>
        <p:nvSpPr>
          <p:cNvPr id="41" name="Shape 38"/>
          <p:cNvSpPr/>
          <p:nvPr/>
        </p:nvSpPr>
        <p:spPr>
          <a:xfrm>
            <a:off x="5547208" y="3657600"/>
            <a:ext cx="1097280" cy="274320"/>
          </a:xfrm>
          <a:prstGeom prst="roundRect">
            <a:avLst>
              <a:gd name="adj" fmla="val 50000"/>
            </a:avLst>
          </a:prstGeom>
          <a:solidFill>
            <a:srgbClr val="050B1E"/>
          </a:solidFill>
          <a:ln w="9525">
            <a:solidFill>
              <a:srgbClr val="1E3570"/>
            </a:solidFill>
            <a:prstDash val="solid"/>
          </a:ln>
        </p:spPr>
      </p:sp>
      <p:sp>
        <p:nvSpPr>
          <p:cNvPr id="42" name="Text 39"/>
          <p:cNvSpPr txBox="1"/>
          <p:nvPr/>
        </p:nvSpPr>
        <p:spPr>
          <a:xfrm>
            <a:off x="5547208" y="3657600"/>
            <a:ext cx="1097280" cy="274320"/>
          </a:xfrm>
          <a:prstGeom prst="rect">
            <a:avLst/>
          </a:prstGeom>
          <a:noFill/>
          <a:ln/>
        </p:spPr>
        <p:txBody>
          <a:bodyPr wrap="square" lIns="0" tIns="0" rIns="0" bIns="0" rtlCol="0" anchor="ctr"/>
          <a:lstStyle/>
          <a:p>
            <a:pPr rtl="1" algn="ctr" indent="0" marL="0">
              <a:buNone/>
            </a:pPr>
            <a:r>
              <a:rPr lang="ar-SA" altLang="en-US" sz="1000" b="1" dirty="0">
                <a:solidFill>
                  <a:srgbClr val="2AA6F7"/>
                </a:solidFill>
                <a:latin typeface="IBM Plex Sans Arabic" pitchFamily="34" charset="0"/>
                <a:ea typeface="IBM Plex Sans Arabic" pitchFamily="34" charset="-122"/>
                <a:cs typeface="IBM Plex Sans Arabic" pitchFamily="34" charset="-120"/>
              </a:rPr>
              <a:t>Sprint 3–4</a:t>
            </a:r>
            <a:endParaRPr lang="ar-SA" sz="1000" dirty="0"/>
          </a:p>
        </p:txBody>
      </p:sp>
      <p:sp>
        <p:nvSpPr>
          <p:cNvPr id="43" name="Text 40"/>
          <p:cNvSpPr txBox="1"/>
          <p:nvPr/>
        </p:nvSpPr>
        <p:spPr>
          <a:xfrm>
            <a:off x="5437937" y="4023360"/>
            <a:ext cx="1315822" cy="713232"/>
          </a:xfrm>
          <a:prstGeom prst="rect">
            <a:avLst/>
          </a:prstGeom>
          <a:noFill/>
          <a:ln/>
        </p:spPr>
        <p:txBody>
          <a:bodyPr wrap="square" lIns="0" tIns="0" rIns="0" bIns="0" rtlCol="0" anchor="t"/>
          <a:lstStyle/>
          <a:p>
            <a:pPr algn="ctr" indent="0" marL="0">
              <a:buNone/>
            </a:pPr>
            <a:r>
              <a:rPr lang="ar-SA" altLang="en-US" sz="1050" dirty="0">
                <a:solidFill>
                  <a:srgbClr val="A9B7DA"/>
                </a:solidFill>
                <a:latin typeface="IBM Plex Sans Arabic" pitchFamily="34" charset="0"/>
                <a:ea typeface="IBM Plex Sans Arabic" pitchFamily="34" charset="-122"/>
                <a:cs typeface="IBM Plex Sans Arabic" pitchFamily="34" charset="-120"/>
              </a:rPr>
              <a:t>Extraction · Golden dataset · Calibration · Findings</a:t>
            </a:r>
            <a:endParaRPr lang="ar-SA" sz="1050" dirty="0"/>
          </a:p>
        </p:txBody>
      </p:sp>
      <p:sp>
        <p:nvSpPr>
          <p:cNvPr id="44" name="Text 41"/>
          <p:cNvSpPr txBox="1"/>
          <p:nvPr/>
        </p:nvSpPr>
        <p:spPr>
          <a:xfrm>
            <a:off x="3738067" y="1874520"/>
            <a:ext cx="1571854" cy="256032"/>
          </a:xfrm>
          <a:prstGeom prst="rect">
            <a:avLst/>
          </a:prstGeom>
          <a:noFill/>
          <a:ln/>
        </p:spPr>
        <p:txBody>
          <a:bodyPr wrap="square" lIns="0" tIns="0" rIns="0" bIns="0" rtlCol="0" anchor="t"/>
          <a:lstStyle/>
          <a:p>
            <a:pPr algn="ctr" indent="0" marL="0">
              <a:buNone/>
            </a:pPr>
            <a:r>
              <a:rPr lang="ar-SA" altLang="en-US" sz="1100" b="1" dirty="0">
                <a:solidFill>
                  <a:srgbClr val="3EE0F5"/>
                </a:solidFill>
                <a:latin typeface="IBM Plex Sans Arabic" pitchFamily="34" charset="0"/>
                <a:ea typeface="IBM Plex Sans Arabic" pitchFamily="34" charset="-122"/>
                <a:cs typeface="IBM Plex Sans Arabic" pitchFamily="34" charset="-120"/>
              </a:rPr>
              <a:t>Phase 05</a:t>
            </a:r>
            <a:endParaRPr lang="ar-SA" sz="1100" dirty="0"/>
          </a:p>
        </p:txBody>
      </p:sp>
      <p:sp>
        <p:nvSpPr>
          <p:cNvPr id="45" name="Shape 42"/>
          <p:cNvSpPr/>
          <p:nvPr/>
        </p:nvSpPr>
        <p:spPr>
          <a:xfrm>
            <a:off x="4295394" y="2240280"/>
            <a:ext cx="457200" cy="457200"/>
          </a:xfrm>
          <a:prstGeom prst="ellipse">
            <a:avLst/>
          </a:prstGeom>
          <a:solidFill>
            <a:srgbClr val="10204A"/>
          </a:solidFill>
          <a:ln w="15875">
            <a:solidFill>
              <a:srgbClr val="2AA6F7"/>
            </a:solidFill>
            <a:prstDash val="solid"/>
          </a:ln>
        </p:spPr>
      </p:sp>
      <p:sp>
        <p:nvSpPr>
          <p:cNvPr id="46" name="Text 43"/>
          <p:cNvSpPr txBox="1"/>
          <p:nvPr/>
        </p:nvSpPr>
        <p:spPr>
          <a:xfrm>
            <a:off x="4295394" y="2240280"/>
            <a:ext cx="457200" cy="457200"/>
          </a:xfrm>
          <a:prstGeom prst="rect">
            <a:avLst/>
          </a:prstGeom>
          <a:noFill/>
          <a:ln/>
        </p:spPr>
        <p:txBody>
          <a:bodyPr wrap="square" lIns="0" tIns="0" rIns="0" bIns="0" rtlCol="0" anchor="ctr"/>
          <a:lstStyle/>
          <a:p>
            <a:pPr algn="ctr" indent="0" marL="0">
              <a:buNone/>
            </a:pPr>
            <a:r>
              <a:rPr lang="ar-SA" altLang="en-US" sz="1400" b="1" dirty="0">
                <a:solidFill>
                  <a:srgbClr val="F3F6FD"/>
                </a:solidFill>
                <a:latin typeface="IBM Plex Sans Arabic" pitchFamily="34" charset="0"/>
                <a:ea typeface="IBM Plex Sans Arabic" pitchFamily="34" charset="-122"/>
                <a:cs typeface="IBM Plex Sans Arabic" pitchFamily="34" charset="-120"/>
              </a:rPr>
              <a:t>5</a:t>
            </a:r>
            <a:endParaRPr lang="ar-SA" sz="1400" dirty="0"/>
          </a:p>
        </p:txBody>
      </p:sp>
      <p:sp>
        <p:nvSpPr>
          <p:cNvPr id="47" name="Shape 44"/>
          <p:cNvSpPr/>
          <p:nvPr/>
        </p:nvSpPr>
        <p:spPr>
          <a:xfrm>
            <a:off x="3792931" y="2880360"/>
            <a:ext cx="1462126" cy="1874520"/>
          </a:xfrm>
          <a:prstGeom prst="roundRect">
            <a:avLst>
              <a:gd name="adj" fmla="val 8755"/>
            </a:avLst>
          </a:prstGeom>
          <a:solidFill>
            <a:srgbClr val="0B1634"/>
          </a:solidFill>
          <a:ln w="9525">
            <a:solidFill>
              <a:srgbClr val="1E3570"/>
            </a:solidFill>
            <a:prstDash val="solid"/>
          </a:ln>
        </p:spPr>
      </p:sp>
      <p:sp>
        <p:nvSpPr>
          <p:cNvPr id="48" name="Text 45"/>
          <p:cNvSpPr txBox="1"/>
          <p:nvPr/>
        </p:nvSpPr>
        <p:spPr>
          <a:xfrm>
            <a:off x="3847795" y="2944368"/>
            <a:ext cx="1352398" cy="457200"/>
          </a:xfrm>
          <a:prstGeom prst="rect">
            <a:avLst/>
          </a:prstGeom>
          <a:noFill/>
          <a:ln/>
        </p:spPr>
        <p:txBody>
          <a:bodyPr wrap="square" lIns="0" tIns="0" rIns="0" bIns="0" rtlCol="0" anchor="ctr"/>
          <a:lstStyle/>
          <a:p>
            <a:pPr rtl="1" algn="ctr" indent="0" marL="0">
              <a:lnSpc>
                <a:spcPct val="95000"/>
              </a:lnSpc>
              <a:buNone/>
            </a:pPr>
            <a:r>
              <a:rPr lang="ar-SA" altLang="en-US" sz="1300" b="1" dirty="0">
                <a:solidFill>
                  <a:srgbClr val="F3F6FD"/>
                </a:solidFill>
                <a:latin typeface="IBM Plex Sans Arabic" pitchFamily="34" charset="0"/>
                <a:ea typeface="IBM Plex Sans Arabic" pitchFamily="34" charset="-122"/>
                <a:cs typeface="IBM Plex Sans Arabic" pitchFamily="34" charset="-120"/>
              </a:rPr>
              <a:t>التكامل</a:t>
            </a:r>
            <a:endParaRPr lang="ar-SA" sz="1300" dirty="0"/>
          </a:p>
        </p:txBody>
      </p:sp>
      <p:sp>
        <p:nvSpPr>
          <p:cNvPr id="49" name="Text 46"/>
          <p:cNvSpPr txBox="1"/>
          <p:nvPr/>
        </p:nvSpPr>
        <p:spPr>
          <a:xfrm>
            <a:off x="3847795" y="3401568"/>
            <a:ext cx="1352398" cy="219456"/>
          </a:xfrm>
          <a:prstGeom prst="rect">
            <a:avLst/>
          </a:prstGeom>
          <a:noFill/>
          <a:ln/>
        </p:spPr>
        <p:txBody>
          <a:bodyPr wrap="square" lIns="0" tIns="0" rIns="0" bIns="0" rtlCol="0" anchor="t"/>
          <a:lstStyle/>
          <a:p>
            <a:pPr algn="ctr" indent="0" marL="0">
              <a:buNone/>
            </a:pPr>
            <a:r>
              <a:rPr lang="ar-SA" altLang="en-US" sz="1050" b="1" dirty="0">
                <a:solidFill>
                  <a:srgbClr val="3EE0F5"/>
                </a:solidFill>
                <a:latin typeface="IBM Plex Sans Arabic" pitchFamily="34" charset="0"/>
                <a:ea typeface="IBM Plex Sans Arabic" pitchFamily="34" charset="-122"/>
                <a:cs typeface="IBM Plex Sans Arabic" pitchFamily="34" charset="-120"/>
              </a:rPr>
              <a:t>Integration</a:t>
            </a:r>
            <a:endParaRPr lang="ar-SA" sz="1050" dirty="0"/>
          </a:p>
        </p:txBody>
      </p:sp>
      <p:sp>
        <p:nvSpPr>
          <p:cNvPr id="50" name="Shape 47"/>
          <p:cNvSpPr/>
          <p:nvPr/>
        </p:nvSpPr>
        <p:spPr>
          <a:xfrm>
            <a:off x="3975354" y="3657600"/>
            <a:ext cx="1097280" cy="274320"/>
          </a:xfrm>
          <a:prstGeom prst="roundRect">
            <a:avLst>
              <a:gd name="adj" fmla="val 50000"/>
            </a:avLst>
          </a:prstGeom>
          <a:solidFill>
            <a:srgbClr val="050B1E"/>
          </a:solidFill>
          <a:ln w="9525">
            <a:solidFill>
              <a:srgbClr val="1E3570"/>
            </a:solidFill>
            <a:prstDash val="solid"/>
          </a:ln>
        </p:spPr>
      </p:sp>
      <p:sp>
        <p:nvSpPr>
          <p:cNvPr id="51" name="Text 48"/>
          <p:cNvSpPr txBox="1"/>
          <p:nvPr/>
        </p:nvSpPr>
        <p:spPr>
          <a:xfrm>
            <a:off x="3975354" y="3657600"/>
            <a:ext cx="1097280" cy="274320"/>
          </a:xfrm>
          <a:prstGeom prst="rect">
            <a:avLst/>
          </a:prstGeom>
          <a:noFill/>
          <a:ln/>
        </p:spPr>
        <p:txBody>
          <a:bodyPr wrap="square" lIns="0" tIns="0" rIns="0" bIns="0" rtlCol="0" anchor="ctr"/>
          <a:lstStyle/>
          <a:p>
            <a:pPr rtl="1" algn="ctr" indent="0" marL="0">
              <a:buNone/>
            </a:pPr>
            <a:r>
              <a:rPr lang="ar-SA" altLang="en-US" sz="1000" b="1" dirty="0">
                <a:solidFill>
                  <a:srgbClr val="2AA6F7"/>
                </a:solidFill>
                <a:latin typeface="IBM Plex Sans Arabic" pitchFamily="34" charset="0"/>
                <a:ea typeface="IBM Plex Sans Arabic" pitchFamily="34" charset="-122"/>
                <a:cs typeface="IBM Plex Sans Arabic" pitchFamily="34" charset="-120"/>
              </a:rPr>
              <a:t>Sprint 5–6</a:t>
            </a:r>
            <a:endParaRPr lang="ar-SA" sz="1000" dirty="0"/>
          </a:p>
        </p:txBody>
      </p:sp>
      <p:sp>
        <p:nvSpPr>
          <p:cNvPr id="52" name="Text 49"/>
          <p:cNvSpPr txBox="1"/>
          <p:nvPr/>
        </p:nvSpPr>
        <p:spPr>
          <a:xfrm>
            <a:off x="3866083" y="4023360"/>
            <a:ext cx="1315822" cy="713232"/>
          </a:xfrm>
          <a:prstGeom prst="rect">
            <a:avLst/>
          </a:prstGeom>
          <a:noFill/>
          <a:ln/>
        </p:spPr>
        <p:txBody>
          <a:bodyPr wrap="square" lIns="0" tIns="0" rIns="0" bIns="0" rtlCol="0" anchor="t"/>
          <a:lstStyle/>
          <a:p>
            <a:pPr algn="ctr" indent="0" marL="0">
              <a:buNone/>
            </a:pPr>
            <a:r>
              <a:rPr lang="ar-SA" altLang="en-US" sz="1050" dirty="0">
                <a:solidFill>
                  <a:srgbClr val="A9B7DA"/>
                </a:solidFill>
                <a:latin typeface="IBM Plex Sans Arabic" pitchFamily="34" charset="0"/>
                <a:ea typeface="IBM Plex Sans Arabic" pitchFamily="34" charset="-122"/>
                <a:cs typeface="IBM Plex Sans Arabic" pitchFamily="34" charset="-120"/>
              </a:rPr>
              <a:t>Calibration UI · Human review · History</a:t>
            </a:r>
            <a:endParaRPr lang="ar-SA" sz="1050" dirty="0"/>
          </a:p>
        </p:txBody>
      </p:sp>
      <p:sp>
        <p:nvSpPr>
          <p:cNvPr id="53" name="Text 50"/>
          <p:cNvSpPr txBox="1"/>
          <p:nvPr/>
        </p:nvSpPr>
        <p:spPr>
          <a:xfrm>
            <a:off x="2166214" y="1874520"/>
            <a:ext cx="1571854" cy="256032"/>
          </a:xfrm>
          <a:prstGeom prst="rect">
            <a:avLst/>
          </a:prstGeom>
          <a:noFill/>
          <a:ln/>
        </p:spPr>
        <p:txBody>
          <a:bodyPr wrap="square" lIns="0" tIns="0" rIns="0" bIns="0" rtlCol="0" anchor="t"/>
          <a:lstStyle/>
          <a:p>
            <a:pPr algn="ctr" indent="0" marL="0">
              <a:buNone/>
            </a:pPr>
            <a:r>
              <a:rPr lang="ar-SA" altLang="en-US" sz="1100" b="1" dirty="0">
                <a:solidFill>
                  <a:srgbClr val="3EE0F5"/>
                </a:solidFill>
                <a:latin typeface="IBM Plex Sans Arabic" pitchFamily="34" charset="0"/>
                <a:ea typeface="IBM Plex Sans Arabic" pitchFamily="34" charset="-122"/>
                <a:cs typeface="IBM Plex Sans Arabic" pitchFamily="34" charset="-120"/>
              </a:rPr>
              <a:t>Phase 06</a:t>
            </a:r>
            <a:endParaRPr lang="ar-SA" sz="1100" dirty="0"/>
          </a:p>
        </p:txBody>
      </p:sp>
      <p:sp>
        <p:nvSpPr>
          <p:cNvPr id="54" name="Shape 51"/>
          <p:cNvSpPr/>
          <p:nvPr/>
        </p:nvSpPr>
        <p:spPr>
          <a:xfrm>
            <a:off x="2723540" y="2240280"/>
            <a:ext cx="457200" cy="457200"/>
          </a:xfrm>
          <a:prstGeom prst="ellipse">
            <a:avLst/>
          </a:prstGeom>
          <a:solidFill>
            <a:srgbClr val="10204A"/>
          </a:solidFill>
          <a:ln w="15875">
            <a:solidFill>
              <a:srgbClr val="2AA6F7"/>
            </a:solidFill>
            <a:prstDash val="solid"/>
          </a:ln>
        </p:spPr>
      </p:sp>
      <p:sp>
        <p:nvSpPr>
          <p:cNvPr id="55" name="Text 52"/>
          <p:cNvSpPr txBox="1"/>
          <p:nvPr/>
        </p:nvSpPr>
        <p:spPr>
          <a:xfrm>
            <a:off x="2723540" y="2240280"/>
            <a:ext cx="457200" cy="457200"/>
          </a:xfrm>
          <a:prstGeom prst="rect">
            <a:avLst/>
          </a:prstGeom>
          <a:noFill/>
          <a:ln/>
        </p:spPr>
        <p:txBody>
          <a:bodyPr wrap="square" lIns="0" tIns="0" rIns="0" bIns="0" rtlCol="0" anchor="ctr"/>
          <a:lstStyle/>
          <a:p>
            <a:pPr algn="ctr" indent="0" marL="0">
              <a:buNone/>
            </a:pPr>
            <a:r>
              <a:rPr lang="ar-SA" altLang="en-US" sz="1400" b="1" dirty="0">
                <a:solidFill>
                  <a:srgbClr val="F3F6FD"/>
                </a:solidFill>
                <a:latin typeface="IBM Plex Sans Arabic" pitchFamily="34" charset="0"/>
                <a:ea typeface="IBM Plex Sans Arabic" pitchFamily="34" charset="-122"/>
                <a:cs typeface="IBM Plex Sans Arabic" pitchFamily="34" charset="-120"/>
              </a:rPr>
              <a:t>6</a:t>
            </a:r>
            <a:endParaRPr lang="ar-SA" sz="1400" dirty="0"/>
          </a:p>
        </p:txBody>
      </p:sp>
      <p:sp>
        <p:nvSpPr>
          <p:cNvPr id="56" name="Shape 53"/>
          <p:cNvSpPr/>
          <p:nvPr/>
        </p:nvSpPr>
        <p:spPr>
          <a:xfrm>
            <a:off x="2221078" y="2880360"/>
            <a:ext cx="1462126" cy="1874520"/>
          </a:xfrm>
          <a:prstGeom prst="roundRect">
            <a:avLst>
              <a:gd name="adj" fmla="val 8755"/>
            </a:avLst>
          </a:prstGeom>
          <a:solidFill>
            <a:srgbClr val="0B1634"/>
          </a:solidFill>
          <a:ln w="9525">
            <a:solidFill>
              <a:srgbClr val="1E3570"/>
            </a:solidFill>
            <a:prstDash val="solid"/>
          </a:ln>
        </p:spPr>
      </p:sp>
      <p:sp>
        <p:nvSpPr>
          <p:cNvPr id="57" name="Text 54"/>
          <p:cNvSpPr txBox="1"/>
          <p:nvPr/>
        </p:nvSpPr>
        <p:spPr>
          <a:xfrm>
            <a:off x="2275942" y="2944368"/>
            <a:ext cx="1352398" cy="457200"/>
          </a:xfrm>
          <a:prstGeom prst="rect">
            <a:avLst/>
          </a:prstGeom>
          <a:noFill/>
          <a:ln/>
        </p:spPr>
        <p:txBody>
          <a:bodyPr wrap="square" lIns="0" tIns="0" rIns="0" bIns="0" rtlCol="0" anchor="ctr"/>
          <a:lstStyle/>
          <a:p>
            <a:pPr rtl="1" algn="ctr" indent="0" marL="0">
              <a:lnSpc>
                <a:spcPct val="95000"/>
              </a:lnSpc>
              <a:buNone/>
            </a:pPr>
            <a:r>
              <a:rPr lang="ar-SA" altLang="en-US" sz="1300" b="1" dirty="0">
                <a:solidFill>
                  <a:srgbClr val="F3F6FD"/>
                </a:solidFill>
                <a:latin typeface="IBM Plex Sans Arabic" pitchFamily="34" charset="0"/>
                <a:ea typeface="IBM Plex Sans Arabic" pitchFamily="34" charset="-122"/>
                <a:cs typeface="IBM Plex Sans Arabic" pitchFamily="34" charset="-120"/>
              </a:rPr>
              <a:t>الاختبار</a:t>
            </a:r>
            <a:endParaRPr lang="ar-SA" sz="1300" dirty="0"/>
          </a:p>
        </p:txBody>
      </p:sp>
      <p:sp>
        <p:nvSpPr>
          <p:cNvPr id="58" name="Text 55"/>
          <p:cNvSpPr txBox="1"/>
          <p:nvPr/>
        </p:nvSpPr>
        <p:spPr>
          <a:xfrm>
            <a:off x="2275942" y="3401568"/>
            <a:ext cx="1352398" cy="219456"/>
          </a:xfrm>
          <a:prstGeom prst="rect">
            <a:avLst/>
          </a:prstGeom>
          <a:noFill/>
          <a:ln/>
        </p:spPr>
        <p:txBody>
          <a:bodyPr wrap="square" lIns="0" tIns="0" rIns="0" bIns="0" rtlCol="0" anchor="t"/>
          <a:lstStyle/>
          <a:p>
            <a:pPr algn="ctr" indent="0" marL="0">
              <a:buNone/>
            </a:pPr>
            <a:r>
              <a:rPr lang="ar-SA" altLang="en-US" sz="1050" b="1" dirty="0">
                <a:solidFill>
                  <a:srgbClr val="3EE0F5"/>
                </a:solidFill>
                <a:latin typeface="IBM Plex Sans Arabic" pitchFamily="34" charset="0"/>
                <a:ea typeface="IBM Plex Sans Arabic" pitchFamily="34" charset="-122"/>
                <a:cs typeface="IBM Plex Sans Arabic" pitchFamily="34" charset="-120"/>
              </a:rPr>
              <a:t>Testing</a:t>
            </a:r>
            <a:endParaRPr lang="ar-SA" sz="1050" dirty="0"/>
          </a:p>
        </p:txBody>
      </p:sp>
      <p:sp>
        <p:nvSpPr>
          <p:cNvPr id="59" name="Shape 56"/>
          <p:cNvSpPr/>
          <p:nvPr/>
        </p:nvSpPr>
        <p:spPr>
          <a:xfrm>
            <a:off x="2403500" y="3657600"/>
            <a:ext cx="1097280" cy="274320"/>
          </a:xfrm>
          <a:prstGeom prst="roundRect">
            <a:avLst>
              <a:gd name="adj" fmla="val 50000"/>
            </a:avLst>
          </a:prstGeom>
          <a:solidFill>
            <a:srgbClr val="050B1E"/>
          </a:solidFill>
          <a:ln w="9525">
            <a:solidFill>
              <a:srgbClr val="1E3570"/>
            </a:solidFill>
            <a:prstDash val="solid"/>
          </a:ln>
        </p:spPr>
      </p:sp>
      <p:sp>
        <p:nvSpPr>
          <p:cNvPr id="60" name="Text 57"/>
          <p:cNvSpPr txBox="1"/>
          <p:nvPr/>
        </p:nvSpPr>
        <p:spPr>
          <a:xfrm>
            <a:off x="2403500" y="3657600"/>
            <a:ext cx="1097280" cy="274320"/>
          </a:xfrm>
          <a:prstGeom prst="rect">
            <a:avLst/>
          </a:prstGeom>
          <a:noFill/>
          <a:ln/>
        </p:spPr>
        <p:txBody>
          <a:bodyPr wrap="square" lIns="0" tIns="0" rIns="0" bIns="0" rtlCol="0" anchor="ctr"/>
          <a:lstStyle/>
          <a:p>
            <a:pPr rtl="1" algn="ctr" indent="0" marL="0">
              <a:buNone/>
            </a:pPr>
            <a:r>
              <a:rPr lang="ar-SA" altLang="en-US" sz="1000" b="1" dirty="0">
                <a:solidFill>
                  <a:srgbClr val="2AA6F7"/>
                </a:solidFill>
                <a:latin typeface="IBM Plex Sans Arabic" pitchFamily="34" charset="0"/>
                <a:ea typeface="IBM Plex Sans Arabic" pitchFamily="34" charset="-122"/>
                <a:cs typeface="IBM Plex Sans Arabic" pitchFamily="34" charset="-120"/>
              </a:rPr>
              <a:t>Sprint 7</a:t>
            </a:r>
            <a:endParaRPr lang="ar-SA" sz="1000" dirty="0"/>
          </a:p>
        </p:txBody>
      </p:sp>
      <p:sp>
        <p:nvSpPr>
          <p:cNvPr id="61" name="Text 58"/>
          <p:cNvSpPr txBox="1"/>
          <p:nvPr/>
        </p:nvSpPr>
        <p:spPr>
          <a:xfrm>
            <a:off x="2294230" y="4023360"/>
            <a:ext cx="1315822" cy="713232"/>
          </a:xfrm>
          <a:prstGeom prst="rect">
            <a:avLst/>
          </a:prstGeom>
          <a:noFill/>
          <a:ln/>
        </p:spPr>
        <p:txBody>
          <a:bodyPr wrap="square" lIns="0" tIns="0" rIns="0" bIns="0" rtlCol="0" anchor="t"/>
          <a:lstStyle/>
          <a:p>
            <a:pPr algn="ctr" indent="0" marL="0">
              <a:buNone/>
            </a:pPr>
            <a:r>
              <a:rPr lang="ar-SA" altLang="en-US" sz="1050" dirty="0">
                <a:solidFill>
                  <a:srgbClr val="A9B7DA"/>
                </a:solidFill>
                <a:latin typeface="IBM Plex Sans Arabic" pitchFamily="34" charset="0"/>
                <a:ea typeface="IBM Plex Sans Arabic" pitchFamily="34" charset="-122"/>
                <a:cs typeface="IBM Plex Sans Arabic" pitchFamily="34" charset="-120"/>
              </a:rPr>
              <a:t>Observability · Regression · Security</a:t>
            </a:r>
            <a:endParaRPr lang="ar-SA" sz="1050" dirty="0"/>
          </a:p>
        </p:txBody>
      </p:sp>
      <p:sp>
        <p:nvSpPr>
          <p:cNvPr id="62" name="Text 59"/>
          <p:cNvSpPr txBox="1"/>
          <p:nvPr/>
        </p:nvSpPr>
        <p:spPr>
          <a:xfrm>
            <a:off x="594360" y="1874520"/>
            <a:ext cx="1571854" cy="256032"/>
          </a:xfrm>
          <a:prstGeom prst="rect">
            <a:avLst/>
          </a:prstGeom>
          <a:noFill/>
          <a:ln/>
        </p:spPr>
        <p:txBody>
          <a:bodyPr wrap="square" lIns="0" tIns="0" rIns="0" bIns="0" rtlCol="0" anchor="t"/>
          <a:lstStyle/>
          <a:p>
            <a:pPr algn="ctr" indent="0" marL="0">
              <a:buNone/>
            </a:pPr>
            <a:r>
              <a:rPr lang="ar-SA" altLang="en-US" sz="1100" b="1" dirty="0">
                <a:solidFill>
                  <a:srgbClr val="3EE0F5"/>
                </a:solidFill>
                <a:latin typeface="IBM Plex Sans Arabic" pitchFamily="34" charset="0"/>
                <a:ea typeface="IBM Plex Sans Arabic" pitchFamily="34" charset="-122"/>
                <a:cs typeface="IBM Plex Sans Arabic" pitchFamily="34" charset="-120"/>
              </a:rPr>
              <a:t>Phase 07</a:t>
            </a:r>
            <a:endParaRPr lang="ar-SA" sz="1100" dirty="0"/>
          </a:p>
        </p:txBody>
      </p:sp>
      <p:sp>
        <p:nvSpPr>
          <p:cNvPr id="63" name="Shape 60"/>
          <p:cNvSpPr/>
          <p:nvPr/>
        </p:nvSpPr>
        <p:spPr>
          <a:xfrm>
            <a:off x="1151687" y="2240280"/>
            <a:ext cx="457200" cy="457200"/>
          </a:xfrm>
          <a:prstGeom prst="ellipse">
            <a:avLst/>
          </a:prstGeom>
          <a:solidFill>
            <a:srgbClr val="1F6FEB"/>
          </a:solidFill>
          <a:ln w="19050">
            <a:solidFill>
              <a:srgbClr val="3EE0F5"/>
            </a:solidFill>
            <a:prstDash val="solid"/>
          </a:ln>
        </p:spPr>
      </p:sp>
      <p:sp>
        <p:nvSpPr>
          <p:cNvPr id="64" name="Text 61"/>
          <p:cNvSpPr txBox="1"/>
          <p:nvPr/>
        </p:nvSpPr>
        <p:spPr>
          <a:xfrm>
            <a:off x="1151687" y="2240280"/>
            <a:ext cx="457200" cy="457200"/>
          </a:xfrm>
          <a:prstGeom prst="rect">
            <a:avLst/>
          </a:prstGeom>
          <a:noFill/>
          <a:ln/>
        </p:spPr>
        <p:txBody>
          <a:bodyPr wrap="square" lIns="0" tIns="0" rIns="0" bIns="0" rtlCol="0" anchor="ctr"/>
          <a:lstStyle/>
          <a:p>
            <a:pPr algn="ctr" indent="0" marL="0">
              <a:buNone/>
            </a:pPr>
            <a:r>
              <a:rPr lang="ar-SA" altLang="en-US" sz="1400" b="1" dirty="0">
                <a:solidFill>
                  <a:srgbClr val="F3F6FD"/>
                </a:solidFill>
                <a:latin typeface="IBM Plex Sans Arabic" pitchFamily="34" charset="0"/>
                <a:ea typeface="IBM Plex Sans Arabic" pitchFamily="34" charset="-122"/>
                <a:cs typeface="IBM Plex Sans Arabic" pitchFamily="34" charset="-120"/>
              </a:rPr>
              <a:t>7</a:t>
            </a:r>
            <a:endParaRPr lang="ar-SA" sz="1400" dirty="0"/>
          </a:p>
        </p:txBody>
      </p:sp>
      <p:sp>
        <p:nvSpPr>
          <p:cNvPr id="65" name="Shape 62"/>
          <p:cNvSpPr/>
          <p:nvPr/>
        </p:nvSpPr>
        <p:spPr>
          <a:xfrm>
            <a:off x="649224" y="2880360"/>
            <a:ext cx="1462126" cy="1874520"/>
          </a:xfrm>
          <a:prstGeom prst="roundRect">
            <a:avLst>
              <a:gd name="adj" fmla="val 8755"/>
            </a:avLst>
          </a:prstGeom>
          <a:solidFill>
            <a:srgbClr val="0C2152"/>
          </a:solidFill>
          <a:ln w="15875">
            <a:solidFill>
              <a:srgbClr val="3EE0F5"/>
            </a:solidFill>
            <a:prstDash val="solid"/>
          </a:ln>
        </p:spPr>
      </p:sp>
      <p:sp>
        <p:nvSpPr>
          <p:cNvPr id="66" name="Text 63"/>
          <p:cNvSpPr txBox="1"/>
          <p:nvPr/>
        </p:nvSpPr>
        <p:spPr>
          <a:xfrm>
            <a:off x="704088" y="2944368"/>
            <a:ext cx="1352398" cy="457200"/>
          </a:xfrm>
          <a:prstGeom prst="rect">
            <a:avLst/>
          </a:prstGeom>
          <a:noFill/>
          <a:ln/>
        </p:spPr>
        <p:txBody>
          <a:bodyPr wrap="square" lIns="0" tIns="0" rIns="0" bIns="0" rtlCol="0" anchor="ctr"/>
          <a:lstStyle/>
          <a:p>
            <a:pPr rtl="1" algn="ctr" indent="0" marL="0">
              <a:lnSpc>
                <a:spcPct val="95000"/>
              </a:lnSpc>
              <a:buNone/>
            </a:pPr>
            <a:r>
              <a:rPr lang="ar-SA" altLang="en-US" sz="1300" b="1" dirty="0">
                <a:solidFill>
                  <a:srgbClr val="F3F6FD"/>
                </a:solidFill>
                <a:latin typeface="IBM Plex Sans Arabic" pitchFamily="34" charset="0"/>
                <a:ea typeface="IBM Plex Sans Arabic" pitchFamily="34" charset="-122"/>
                <a:cs typeface="IBM Plex Sans Arabic" pitchFamily="34" charset="-120"/>
              </a:rPr>
              <a:t>الـPilot</a:t>
            </a:r>
            <a:endParaRPr lang="ar-SA" sz="1300" dirty="0"/>
          </a:p>
        </p:txBody>
      </p:sp>
      <p:sp>
        <p:nvSpPr>
          <p:cNvPr id="67" name="Text 64"/>
          <p:cNvSpPr txBox="1"/>
          <p:nvPr/>
        </p:nvSpPr>
        <p:spPr>
          <a:xfrm>
            <a:off x="704088" y="3401568"/>
            <a:ext cx="1352398" cy="219456"/>
          </a:xfrm>
          <a:prstGeom prst="rect">
            <a:avLst/>
          </a:prstGeom>
          <a:noFill/>
          <a:ln/>
        </p:spPr>
        <p:txBody>
          <a:bodyPr wrap="square" lIns="0" tIns="0" rIns="0" bIns="0" rtlCol="0" anchor="t"/>
          <a:lstStyle/>
          <a:p>
            <a:pPr algn="ctr" indent="0" marL="0">
              <a:buNone/>
            </a:pPr>
            <a:r>
              <a:rPr lang="ar-SA" altLang="en-US" sz="1050" b="1" dirty="0">
                <a:solidFill>
                  <a:srgbClr val="3EE0F5"/>
                </a:solidFill>
                <a:latin typeface="IBM Plex Sans Arabic" pitchFamily="34" charset="0"/>
                <a:ea typeface="IBM Plex Sans Arabic" pitchFamily="34" charset="-122"/>
                <a:cs typeface="IBM Plex Sans Arabic" pitchFamily="34" charset="-120"/>
              </a:rPr>
              <a:t>Demo / MVP</a:t>
            </a:r>
            <a:endParaRPr lang="ar-SA" sz="1050" dirty="0"/>
          </a:p>
        </p:txBody>
      </p:sp>
      <p:sp>
        <p:nvSpPr>
          <p:cNvPr id="68" name="Shape 65"/>
          <p:cNvSpPr/>
          <p:nvPr/>
        </p:nvSpPr>
        <p:spPr>
          <a:xfrm>
            <a:off x="831647" y="3657600"/>
            <a:ext cx="1097280" cy="274320"/>
          </a:xfrm>
          <a:prstGeom prst="roundRect">
            <a:avLst>
              <a:gd name="adj" fmla="val 50000"/>
            </a:avLst>
          </a:prstGeom>
          <a:solidFill>
            <a:srgbClr val="050B1E"/>
          </a:solidFill>
          <a:ln w="9525">
            <a:solidFill>
              <a:srgbClr val="1E3570"/>
            </a:solidFill>
            <a:prstDash val="solid"/>
          </a:ln>
        </p:spPr>
      </p:sp>
      <p:sp>
        <p:nvSpPr>
          <p:cNvPr id="69" name="Text 66"/>
          <p:cNvSpPr txBox="1"/>
          <p:nvPr/>
        </p:nvSpPr>
        <p:spPr>
          <a:xfrm>
            <a:off x="831647" y="3657600"/>
            <a:ext cx="1097280" cy="274320"/>
          </a:xfrm>
          <a:prstGeom prst="rect">
            <a:avLst/>
          </a:prstGeom>
          <a:noFill/>
          <a:ln/>
        </p:spPr>
        <p:txBody>
          <a:bodyPr wrap="square" lIns="0" tIns="0" rIns="0" bIns="0" rtlCol="0" anchor="ctr"/>
          <a:lstStyle/>
          <a:p>
            <a:pPr rtl="1" algn="ctr" indent="0" marL="0">
              <a:buNone/>
            </a:pPr>
            <a:r>
              <a:rPr lang="ar-SA" altLang="en-US" sz="1000" b="1" dirty="0">
                <a:solidFill>
                  <a:srgbClr val="2AA6F7"/>
                </a:solidFill>
                <a:latin typeface="IBM Plex Sans Arabic" pitchFamily="34" charset="0"/>
                <a:ea typeface="IBM Plex Sans Arabic" pitchFamily="34" charset="-122"/>
                <a:cs typeface="IBM Plex Sans Arabic" pitchFamily="34" charset="-120"/>
              </a:rPr>
              <a:t>Sprint 8</a:t>
            </a:r>
            <a:endParaRPr lang="ar-SA" sz="1000" dirty="0"/>
          </a:p>
        </p:txBody>
      </p:sp>
      <p:sp>
        <p:nvSpPr>
          <p:cNvPr id="70" name="Text 67"/>
          <p:cNvSpPr txBox="1"/>
          <p:nvPr/>
        </p:nvSpPr>
        <p:spPr>
          <a:xfrm>
            <a:off x="722376" y="4023360"/>
            <a:ext cx="1315822" cy="713232"/>
          </a:xfrm>
          <a:prstGeom prst="rect">
            <a:avLst/>
          </a:prstGeom>
          <a:noFill/>
          <a:ln/>
        </p:spPr>
        <p:txBody>
          <a:bodyPr wrap="square" lIns="0" tIns="0" rIns="0" bIns="0" rtlCol="0" anchor="t"/>
          <a:lstStyle/>
          <a:p>
            <a:pPr rtl="1" algn="ctr" indent="0" marL="0">
              <a:buNone/>
            </a:pPr>
            <a:r>
              <a:rPr lang="ar-SA" altLang="en-US" sz="1050" dirty="0">
                <a:solidFill>
                  <a:srgbClr val="A9B7DA"/>
                </a:solidFill>
                <a:latin typeface="IBM Plex Sans Arabic" pitchFamily="34" charset="0"/>
                <a:ea typeface="IBM Plex Sans Arabic" pitchFamily="34" charset="-122"/>
                <a:cs typeface="IBM Plex Sans Arabic" pitchFamily="34" charset="-120"/>
              </a:rPr>
              <a:t>Pilot مع عميل حقيقي وخطة قياس</a:t>
            </a:r>
            <a:endParaRPr lang="ar-SA" sz="1050" dirty="0"/>
          </a:p>
        </p:txBody>
      </p:sp>
      <p:sp>
        <p:nvSpPr>
          <p:cNvPr id="71" name="Shape 68"/>
          <p:cNvSpPr/>
          <p:nvPr/>
        </p:nvSpPr>
        <p:spPr>
          <a:xfrm>
            <a:off x="8112557" y="4983480"/>
            <a:ext cx="3484778" cy="868680"/>
          </a:xfrm>
          <a:prstGeom prst="roundRect">
            <a:avLst>
              <a:gd name="adj" fmla="val 14737"/>
            </a:avLst>
          </a:prstGeom>
          <a:solidFill>
            <a:srgbClr val="10204A"/>
          </a:solidFill>
          <a:ln w="9525">
            <a:solidFill>
              <a:srgbClr val="1E3570"/>
            </a:solidFill>
            <a:prstDash val="solid"/>
          </a:ln>
        </p:spPr>
      </p:sp>
      <p:sp>
        <p:nvSpPr>
          <p:cNvPr id="72" name="Text 69"/>
          <p:cNvSpPr txBox="1"/>
          <p:nvPr/>
        </p:nvSpPr>
        <p:spPr>
          <a:xfrm>
            <a:off x="8341157" y="5093208"/>
            <a:ext cx="3027578" cy="274320"/>
          </a:xfrm>
          <a:prstGeom prst="rect">
            <a:avLst/>
          </a:prstGeom>
          <a:noFill/>
          <a:ln/>
        </p:spPr>
        <p:txBody>
          <a:bodyPr wrap="square" lIns="0" tIns="0" rIns="0" bIns="0" rtlCol="0" anchor="t"/>
          <a:lstStyle/>
          <a:p>
            <a:pPr rtl="1" algn="r" indent="0" marL="0">
              <a:buNone/>
            </a:pPr>
            <a:r>
              <a:rPr lang="ar-SA" altLang="en-US" sz="1300" b="1" dirty="0">
                <a:solidFill>
                  <a:srgbClr val="3EE0F5"/>
                </a:solidFill>
                <a:latin typeface="IBM Plex Sans Arabic" pitchFamily="34" charset="0"/>
                <a:ea typeface="IBM Plex Sans Arabic" pitchFamily="34" charset="-122"/>
                <a:cs typeface="IBM Plex Sans Arabic" pitchFamily="34" charset="-120"/>
              </a:rPr>
              <a:t>أول 30 يومًا</a:t>
            </a:r>
            <a:endParaRPr lang="ar-SA" sz="1300" dirty="0"/>
          </a:p>
        </p:txBody>
      </p:sp>
      <p:sp>
        <p:nvSpPr>
          <p:cNvPr id="73" name="Text 70"/>
          <p:cNvSpPr txBox="1"/>
          <p:nvPr/>
        </p:nvSpPr>
        <p:spPr>
          <a:xfrm>
            <a:off x="8341157" y="5404104"/>
            <a:ext cx="3027578" cy="365760"/>
          </a:xfrm>
          <a:prstGeom prst="rect">
            <a:avLst/>
          </a:prstGeom>
          <a:noFill/>
          <a:ln/>
        </p:spPr>
        <p:txBody>
          <a:bodyPr wrap="square" lIns="0" tIns="0" rIns="0" bIns="0" rtlCol="0" anchor="t"/>
          <a:lstStyle/>
          <a:p>
            <a:pPr rtl="1" algn="r" indent="0" marL="0">
              <a:buNone/>
            </a:pPr>
            <a:r>
              <a:rPr lang="ar-SA" altLang="en-US" sz="1200" dirty="0">
                <a:solidFill>
                  <a:srgbClr val="F3F6FD"/>
                </a:solidFill>
                <a:latin typeface="IBM Plex Sans Arabic" pitchFamily="34" charset="0"/>
                <a:ea typeface="IBM Plex Sans Arabic" pitchFamily="34" charset="-122"/>
                <a:cs typeface="IBM Plex Sans Arabic" pitchFamily="34" charset="-120"/>
              </a:rPr>
              <a:t>Contracts · Discovery · Data feasibility · MVP skeleton</a:t>
            </a:r>
            <a:endParaRPr lang="ar-SA" sz="1200" dirty="0"/>
          </a:p>
        </p:txBody>
      </p:sp>
      <p:sp>
        <p:nvSpPr>
          <p:cNvPr id="74" name="Shape 71"/>
          <p:cNvSpPr/>
          <p:nvPr/>
        </p:nvSpPr>
        <p:spPr>
          <a:xfrm>
            <a:off x="4353458" y="4983480"/>
            <a:ext cx="3484778" cy="868680"/>
          </a:xfrm>
          <a:prstGeom prst="roundRect">
            <a:avLst>
              <a:gd name="adj" fmla="val 14737"/>
            </a:avLst>
          </a:prstGeom>
          <a:solidFill>
            <a:srgbClr val="10204A"/>
          </a:solidFill>
          <a:ln w="9525">
            <a:solidFill>
              <a:srgbClr val="1E3570"/>
            </a:solidFill>
            <a:prstDash val="solid"/>
          </a:ln>
        </p:spPr>
      </p:sp>
      <p:sp>
        <p:nvSpPr>
          <p:cNvPr id="75" name="Text 72"/>
          <p:cNvSpPr txBox="1"/>
          <p:nvPr/>
        </p:nvSpPr>
        <p:spPr>
          <a:xfrm>
            <a:off x="4582058" y="5093208"/>
            <a:ext cx="3027578" cy="274320"/>
          </a:xfrm>
          <a:prstGeom prst="rect">
            <a:avLst/>
          </a:prstGeom>
          <a:noFill/>
          <a:ln/>
        </p:spPr>
        <p:txBody>
          <a:bodyPr wrap="square" lIns="0" tIns="0" rIns="0" bIns="0" rtlCol="0" anchor="t"/>
          <a:lstStyle/>
          <a:p>
            <a:pPr rtl="1" algn="r" indent="0" marL="0">
              <a:buNone/>
            </a:pPr>
            <a:r>
              <a:rPr lang="ar-SA" altLang="en-US" sz="1300" b="1" dirty="0">
                <a:solidFill>
                  <a:srgbClr val="3EE0F5"/>
                </a:solidFill>
                <a:latin typeface="IBM Plex Sans Arabic" pitchFamily="34" charset="0"/>
                <a:ea typeface="IBM Plex Sans Arabic" pitchFamily="34" charset="-122"/>
                <a:cs typeface="IBM Plex Sans Arabic" pitchFamily="34" charset="-120"/>
              </a:rPr>
              <a:t>من اليوم 31 إلى 60</a:t>
            </a:r>
            <a:endParaRPr lang="ar-SA" sz="1300" dirty="0"/>
          </a:p>
        </p:txBody>
      </p:sp>
      <p:sp>
        <p:nvSpPr>
          <p:cNvPr id="76" name="Text 73"/>
          <p:cNvSpPr txBox="1"/>
          <p:nvPr/>
        </p:nvSpPr>
        <p:spPr>
          <a:xfrm>
            <a:off x="4582058" y="5404104"/>
            <a:ext cx="3027578" cy="365760"/>
          </a:xfrm>
          <a:prstGeom prst="rect">
            <a:avLst/>
          </a:prstGeom>
          <a:noFill/>
          <a:ln/>
        </p:spPr>
        <p:txBody>
          <a:bodyPr wrap="square" lIns="0" tIns="0" rIns="0" bIns="0" rtlCol="0" anchor="t"/>
          <a:lstStyle/>
          <a:p>
            <a:pPr rtl="1" algn="r" indent="0" marL="0">
              <a:buNone/>
            </a:pPr>
            <a:r>
              <a:rPr lang="ar-SA" altLang="en-US" sz="1200" dirty="0">
                <a:solidFill>
                  <a:srgbClr val="F3F6FD"/>
                </a:solidFill>
                <a:latin typeface="IBM Plex Sans Arabic" pitchFamily="34" charset="0"/>
                <a:ea typeface="IBM Plex Sans Arabic" pitchFamily="34" charset="-122"/>
                <a:cs typeface="IBM Plex Sans Arabic" pitchFamily="34" charset="-120"/>
              </a:rPr>
              <a:t>مسار Pilot داخلي End-to-End + Regression suite</a:t>
            </a:r>
            <a:endParaRPr lang="ar-SA" sz="1200" dirty="0"/>
          </a:p>
        </p:txBody>
      </p:sp>
      <p:sp>
        <p:nvSpPr>
          <p:cNvPr id="77" name="Shape 74"/>
          <p:cNvSpPr/>
          <p:nvPr/>
        </p:nvSpPr>
        <p:spPr>
          <a:xfrm>
            <a:off x="594360" y="4983480"/>
            <a:ext cx="3484778" cy="868680"/>
          </a:xfrm>
          <a:prstGeom prst="roundRect">
            <a:avLst>
              <a:gd name="adj" fmla="val 14737"/>
            </a:avLst>
          </a:prstGeom>
          <a:solidFill>
            <a:srgbClr val="10204A"/>
          </a:solidFill>
          <a:ln w="9525">
            <a:solidFill>
              <a:srgbClr val="1E3570"/>
            </a:solidFill>
            <a:prstDash val="solid"/>
          </a:ln>
        </p:spPr>
      </p:sp>
      <p:sp>
        <p:nvSpPr>
          <p:cNvPr id="78" name="Text 75"/>
          <p:cNvSpPr txBox="1"/>
          <p:nvPr/>
        </p:nvSpPr>
        <p:spPr>
          <a:xfrm>
            <a:off x="822960" y="5093208"/>
            <a:ext cx="3027578" cy="274320"/>
          </a:xfrm>
          <a:prstGeom prst="rect">
            <a:avLst/>
          </a:prstGeom>
          <a:noFill/>
          <a:ln/>
        </p:spPr>
        <p:txBody>
          <a:bodyPr wrap="square" lIns="0" tIns="0" rIns="0" bIns="0" rtlCol="0" anchor="t"/>
          <a:lstStyle/>
          <a:p>
            <a:pPr rtl="1" algn="r" indent="0" marL="0">
              <a:buNone/>
            </a:pPr>
            <a:r>
              <a:rPr lang="ar-SA" altLang="en-US" sz="1300" b="1" dirty="0">
                <a:solidFill>
                  <a:srgbClr val="3EE0F5"/>
                </a:solidFill>
                <a:latin typeface="IBM Plex Sans Arabic" pitchFamily="34" charset="0"/>
                <a:ea typeface="IBM Plex Sans Arabic" pitchFamily="34" charset="-122"/>
                <a:cs typeface="IBM Plex Sans Arabic" pitchFamily="34" charset="-120"/>
              </a:rPr>
              <a:t>من اليوم 61 إلى 90</a:t>
            </a:r>
            <a:endParaRPr lang="ar-SA" sz="1300" dirty="0"/>
          </a:p>
        </p:txBody>
      </p:sp>
      <p:sp>
        <p:nvSpPr>
          <p:cNvPr id="79" name="Text 76"/>
          <p:cNvSpPr txBox="1"/>
          <p:nvPr/>
        </p:nvSpPr>
        <p:spPr>
          <a:xfrm>
            <a:off x="822960" y="5404104"/>
            <a:ext cx="3027578" cy="365760"/>
          </a:xfrm>
          <a:prstGeom prst="rect">
            <a:avLst/>
          </a:prstGeom>
          <a:noFill/>
          <a:ln/>
        </p:spPr>
        <p:txBody>
          <a:bodyPr wrap="square" lIns="0" tIns="0" rIns="0" bIns="0" rtlCol="0" anchor="t"/>
          <a:lstStyle/>
          <a:p>
            <a:pPr rtl="1" algn="r" indent="0" marL="0">
              <a:buNone/>
            </a:pPr>
            <a:r>
              <a:rPr lang="ar-SA" altLang="en-US" sz="1200" dirty="0">
                <a:solidFill>
                  <a:srgbClr val="F3F6FD"/>
                </a:solidFill>
                <a:latin typeface="IBM Plex Sans Arabic" pitchFamily="34" charset="0"/>
                <a:ea typeface="IBM Plex Sans Arabic" pitchFamily="34" charset="-122"/>
                <a:cs typeface="IBM Plex Sans Arabic" pitchFamily="34" charset="-120"/>
              </a:rPr>
              <a:t>Pilot حقيقي · Finding قابل للتنفيذ · إشارة استمرار</a:t>
            </a:r>
            <a:endParaRPr lang="ar-SA" sz="1200" dirty="0"/>
          </a:p>
        </p:txBody>
      </p:sp>
      <p:sp>
        <p:nvSpPr>
          <p:cNvPr id="80" name="Shape 77"/>
          <p:cNvSpPr/>
          <p:nvPr/>
        </p:nvSpPr>
        <p:spPr>
          <a:xfrm>
            <a:off x="5562295" y="5989320"/>
            <a:ext cx="6035040" cy="329184"/>
          </a:xfrm>
          <a:prstGeom prst="roundRect">
            <a:avLst>
              <a:gd name="adj" fmla="val 50000"/>
            </a:avLst>
          </a:prstGeom>
          <a:solidFill>
            <a:srgbClr val="2A1F0A"/>
          </a:solidFill>
          <a:ln w="9525">
            <a:solidFill>
              <a:srgbClr val="FFB547"/>
            </a:solidFill>
            <a:prstDash val="solid"/>
          </a:ln>
        </p:spPr>
      </p:sp>
      <p:sp>
        <p:nvSpPr>
          <p:cNvPr id="81" name="Text 78"/>
          <p:cNvSpPr txBox="1"/>
          <p:nvPr/>
        </p:nvSpPr>
        <p:spPr>
          <a:xfrm>
            <a:off x="5562295" y="5989320"/>
            <a:ext cx="6035040" cy="329184"/>
          </a:xfrm>
          <a:prstGeom prst="rect">
            <a:avLst/>
          </a:prstGeom>
          <a:noFill/>
          <a:ln/>
        </p:spPr>
        <p:txBody>
          <a:bodyPr wrap="square" lIns="0" tIns="0" rIns="0" bIns="0" rtlCol="0" anchor="ctr"/>
          <a:lstStyle/>
          <a:p>
            <a:pPr rtl="1" algn="ctr" indent="0" marL="0">
              <a:buNone/>
            </a:pPr>
            <a:r>
              <a:rPr lang="ar-SA" altLang="en-US" sz="1050" b="1" dirty="0">
                <a:solidFill>
                  <a:srgbClr val="FFB547"/>
                </a:solidFill>
                <a:latin typeface="IBM Plex Sans Arabic" pitchFamily="34" charset="0"/>
                <a:ea typeface="IBM Plex Sans Arabic" pitchFamily="34" charset="-122"/>
                <a:cs typeface="IBM Plex Sans Arabic" pitchFamily="34" charset="-120"/>
              </a:rPr>
              <a:t>أهداف تشغيلية للتحقق — مدة الـSprint والتواريخ الفعلية تُحدَّد اليوم</a:t>
            </a:r>
            <a:endParaRPr lang="ar-SA"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508760" y="457200"/>
            <a:ext cx="10088575" cy="274320"/>
          </a:xfrm>
          <a:prstGeom prst="rect">
            <a:avLst/>
          </a:prstGeom>
          <a:noFill/>
          <a:ln/>
        </p:spPr>
        <p:txBody>
          <a:bodyPr wrap="square" lIns="0" tIns="0" rIns="0" bIns="0" rtlCol="0" anchor="t"/>
          <a:lstStyle/>
          <a:p>
            <a:pPr rtl="1" algn="r" indent="0" marL="0">
              <a:buNone/>
            </a:pPr>
            <a:r>
              <a:rPr lang="ar-SA" altLang="en-US" sz="1200" b="1" spc="100" kern="0" dirty="0">
                <a:solidFill>
                  <a:srgbClr val="3EE0F5"/>
                </a:solidFill>
                <a:latin typeface="IBM Plex Sans Arabic" pitchFamily="34" charset="0"/>
                <a:ea typeface="IBM Plex Sans Arabic" pitchFamily="34" charset="-122"/>
                <a:cs typeface="IBM Plex Sans Arabic" pitchFamily="34" charset="-120"/>
              </a:rPr>
              <a:t>10  ·  NEXT STEP — ماذا نفعل بعد الاجتماع؟</a:t>
            </a:r>
            <a:endParaRPr lang="ar-SA" sz="1200" dirty="0"/>
          </a:p>
        </p:txBody>
      </p:sp>
      <p:sp>
        <p:nvSpPr>
          <p:cNvPr id="3" name="Text 1"/>
          <p:cNvSpPr txBox="1"/>
          <p:nvPr/>
        </p:nvSpPr>
        <p:spPr>
          <a:xfrm>
            <a:off x="1508760" y="731520"/>
            <a:ext cx="10088575" cy="640080"/>
          </a:xfrm>
          <a:prstGeom prst="rect">
            <a:avLst/>
          </a:prstGeom>
          <a:noFill/>
          <a:ln/>
        </p:spPr>
        <p:txBody>
          <a:bodyPr wrap="square" lIns="0" tIns="0" rIns="0" bIns="0" rtlCol="0" anchor="t"/>
          <a:lstStyle/>
          <a:p>
            <a:pPr rtl="1" algn="r" indent="0" marL="0">
              <a:buNone/>
            </a:pPr>
            <a:r>
              <a:rPr lang="ar-SA" altLang="en-US" sz="3200" b="1" dirty="0">
                <a:solidFill>
                  <a:srgbClr val="F3F6FD"/>
                </a:solidFill>
                <a:latin typeface="IBM Plex Sans Arabic" pitchFamily="34" charset="0"/>
                <a:ea typeface="IBM Plex Sans Arabic" pitchFamily="34" charset="-122"/>
                <a:cs typeface="IBM Plex Sans Arabic" pitchFamily="34" charset="-120"/>
              </a:rPr>
              <a:t>أول مهمة لكل عضو — تبدأ الآن</a:t>
            </a:r>
            <a:endParaRPr lang="ar-SA" sz="3200" dirty="0"/>
          </a:p>
        </p:txBody>
      </p:sp>
      <p:pic>
        <p:nvPicPr>
          <p:cNvPr id="4" name="Image 0" descr="/tmp/claude-0/-home-user-ghassankmiqdad/d1991e4f-aee0-5e68-9a9d-3fc00accdf9d/scratchpad/build/assets/mark_sm.png">    </p:cNvPr>
          <p:cNvPicPr>
            <a:picLocks noChangeAspect="1"/>
          </p:cNvPicPr>
          <p:nvPr/>
        </p:nvPicPr>
        <p:blipFill>
          <a:blip r:embed="rId2"/>
          <a:stretch>
            <a:fillRect/>
          </a:stretch>
        </p:blipFill>
        <p:spPr>
          <a:xfrm>
            <a:off x="594360" y="475488"/>
            <a:ext cx="566928" cy="443515"/>
          </a:xfrm>
          <a:prstGeom prst="rect">
            <a:avLst/>
          </a:prstGeom>
        </p:spPr>
      </p:pic>
      <p:sp>
        <p:nvSpPr>
          <p:cNvPr id="5" name="Text 2"/>
          <p:cNvSpPr txBox="1"/>
          <p:nvPr/>
        </p:nvSpPr>
        <p:spPr>
          <a:xfrm>
            <a:off x="7939735" y="6400800"/>
            <a:ext cx="3657600" cy="228600"/>
          </a:xfrm>
          <a:prstGeom prst="rect">
            <a:avLst/>
          </a:prstGeom>
          <a:noFill/>
          <a:ln/>
        </p:spPr>
        <p:txBody>
          <a:bodyPr wrap="square" lIns="0" tIns="0" rIns="0" bIns="0" rtlCol="0" anchor="t"/>
          <a:lstStyle/>
          <a:p>
            <a:pPr rtl="1" algn="r" indent="0" marL="0">
              <a:buNone/>
            </a:pPr>
            <a:r>
              <a:rPr lang="ar-SA" altLang="en-US" sz="900" dirty="0">
                <a:solidFill>
                  <a:srgbClr val="6E7FAA"/>
                </a:solidFill>
                <a:latin typeface="IBM Plex Sans Arabic" pitchFamily="34" charset="0"/>
                <a:ea typeface="IBM Plex Sans Arabic" pitchFamily="34" charset="-122"/>
                <a:cs typeface="IBM Plex Sans Arabic" pitchFamily="34" charset="-120"/>
              </a:rPr>
              <a:t>NestHire · اجتماع الانطلاق</a:t>
            </a:r>
            <a:endParaRPr lang="ar-SA" sz="900" dirty="0"/>
          </a:p>
        </p:txBody>
      </p:sp>
      <p:sp>
        <p:nvSpPr>
          <p:cNvPr id="6" name="Text 3"/>
          <p:cNvSpPr txBox="1"/>
          <p:nvPr/>
        </p:nvSpPr>
        <p:spPr>
          <a:xfrm>
            <a:off x="594360" y="6400800"/>
            <a:ext cx="1097280" cy="228600"/>
          </a:xfrm>
          <a:prstGeom prst="rect">
            <a:avLst/>
          </a:prstGeom>
          <a:noFill/>
          <a:ln/>
        </p:spPr>
        <p:txBody>
          <a:bodyPr wrap="square" lIns="0" tIns="0" rIns="0" bIns="0" rtlCol="0" anchor="t"/>
          <a:lstStyle/>
          <a:p>
            <a:pPr algn="l" indent="0" marL="0">
              <a:buNone/>
            </a:pPr>
            <a:r>
              <a:rPr lang="ar-SA" altLang="en-US" sz="900" dirty="0">
                <a:solidFill>
                  <a:srgbClr val="6E7FAA"/>
                </a:solidFill>
                <a:latin typeface="IBM Plex Sans Arabic" pitchFamily="34" charset="0"/>
                <a:ea typeface="IBM Plex Sans Arabic" pitchFamily="34" charset="-122"/>
                <a:cs typeface="IBM Plex Sans Arabic" pitchFamily="34" charset="-120"/>
              </a:rPr>
              <a:t>16 / 18</a:t>
            </a:r>
            <a:endParaRPr lang="ar-SA" sz="900" dirty="0"/>
          </a:p>
        </p:txBody>
      </p:sp>
      <p:sp>
        <p:nvSpPr>
          <p:cNvPr id="7" name="Shape 4"/>
          <p:cNvSpPr/>
          <p:nvPr/>
        </p:nvSpPr>
        <p:spPr>
          <a:xfrm>
            <a:off x="8082077" y="1783080"/>
            <a:ext cx="3515258" cy="1371600"/>
          </a:xfrm>
          <a:prstGeom prst="roundRect">
            <a:avLst>
              <a:gd name="adj" fmla="val 9333"/>
            </a:avLst>
          </a:prstGeom>
          <a:solidFill>
            <a:srgbClr val="0C2152"/>
          </a:solidFill>
          <a:ln w="15875">
            <a:solidFill>
              <a:srgbClr val="3EE0F5"/>
            </a:solidFill>
            <a:prstDash val="solid"/>
          </a:ln>
        </p:spPr>
      </p:sp>
      <p:sp>
        <p:nvSpPr>
          <p:cNvPr id="8" name="Shape 5"/>
          <p:cNvSpPr/>
          <p:nvPr/>
        </p:nvSpPr>
        <p:spPr>
          <a:xfrm>
            <a:off x="10993831" y="1938528"/>
            <a:ext cx="420624" cy="420624"/>
          </a:xfrm>
          <a:prstGeom prst="ellipse">
            <a:avLst/>
          </a:prstGeom>
          <a:solidFill>
            <a:srgbClr val="1F6FEB"/>
          </a:solidFill>
          <a:ln w="9525">
            <a:solidFill>
              <a:srgbClr val="2AA6F7"/>
            </a:solidFill>
            <a:prstDash val="solid"/>
          </a:ln>
        </p:spPr>
      </p:sp>
      <p:sp>
        <p:nvSpPr>
          <p:cNvPr id="9" name="Text 6"/>
          <p:cNvSpPr txBox="1"/>
          <p:nvPr/>
        </p:nvSpPr>
        <p:spPr>
          <a:xfrm>
            <a:off x="10993831" y="1920240"/>
            <a:ext cx="420624" cy="420624"/>
          </a:xfrm>
          <a:prstGeom prst="rect">
            <a:avLst/>
          </a:prstGeom>
          <a:noFill/>
          <a:ln/>
        </p:spPr>
        <p:txBody>
          <a:bodyPr wrap="square" lIns="0" tIns="0" rIns="0" bIns="0" rtlCol="0" anchor="ctr"/>
          <a:lstStyle/>
          <a:p>
            <a:pPr rtl="1" algn="ctr" indent="0" marL="0">
              <a:buNone/>
            </a:pPr>
            <a:r>
              <a:rPr lang="ar-SA" altLang="en-US" sz="1400" b="1" dirty="0">
                <a:solidFill>
                  <a:srgbClr val="F3F6FD"/>
                </a:solidFill>
                <a:latin typeface="IBM Plex Sans Arabic" pitchFamily="34" charset="0"/>
                <a:ea typeface="IBM Plex Sans Arabic" pitchFamily="34" charset="-122"/>
                <a:cs typeface="IBM Plex Sans Arabic" pitchFamily="34" charset="-120"/>
              </a:rPr>
              <a:t>غ</a:t>
            </a:r>
            <a:endParaRPr lang="ar-SA" sz="1400" dirty="0"/>
          </a:p>
        </p:txBody>
      </p:sp>
      <p:sp>
        <p:nvSpPr>
          <p:cNvPr id="10" name="Text 7"/>
          <p:cNvSpPr txBox="1"/>
          <p:nvPr/>
        </p:nvSpPr>
        <p:spPr>
          <a:xfrm>
            <a:off x="9545117" y="1965960"/>
            <a:ext cx="1366418" cy="365760"/>
          </a:xfrm>
          <a:prstGeom prst="rect">
            <a:avLst/>
          </a:prstGeom>
          <a:noFill/>
          <a:ln/>
        </p:spPr>
        <p:txBody>
          <a:bodyPr wrap="square" lIns="0" tIns="0" rIns="0" bIns="0" rtlCol="0" anchor="ctr"/>
          <a:lstStyle/>
          <a:p>
            <a:pPr rtl="1" algn="r" indent="0" marL="0">
              <a:buNone/>
            </a:pPr>
            <a:r>
              <a:rPr lang="ar-SA" altLang="en-US" sz="1400" b="1" dirty="0">
                <a:solidFill>
                  <a:srgbClr val="F3F6FD"/>
                </a:solidFill>
                <a:latin typeface="IBM Plex Sans Arabic" pitchFamily="34" charset="0"/>
                <a:ea typeface="IBM Plex Sans Arabic" pitchFamily="34" charset="-122"/>
                <a:cs typeface="IBM Plex Sans Arabic" pitchFamily="34" charset="-120"/>
              </a:rPr>
              <a:t>غسان مقداد</a:t>
            </a:r>
            <a:endParaRPr lang="ar-SA" sz="1400" dirty="0"/>
          </a:p>
        </p:txBody>
      </p:sp>
      <p:sp>
        <p:nvSpPr>
          <p:cNvPr id="11" name="Shape 8"/>
          <p:cNvSpPr/>
          <p:nvPr/>
        </p:nvSpPr>
        <p:spPr>
          <a:xfrm>
            <a:off x="8246669" y="1984248"/>
            <a:ext cx="1298448" cy="292608"/>
          </a:xfrm>
          <a:prstGeom prst="roundRect">
            <a:avLst>
              <a:gd name="adj" fmla="val 50000"/>
            </a:avLst>
          </a:prstGeom>
          <a:solidFill>
            <a:srgbClr val="2A1F0A"/>
          </a:solidFill>
          <a:ln w="9525">
            <a:solidFill>
              <a:srgbClr val="FFB547"/>
            </a:solidFill>
            <a:prstDash val="solid"/>
          </a:ln>
        </p:spPr>
      </p:sp>
      <p:sp>
        <p:nvSpPr>
          <p:cNvPr id="12" name="Text 9"/>
          <p:cNvSpPr txBox="1"/>
          <p:nvPr/>
        </p:nvSpPr>
        <p:spPr>
          <a:xfrm>
            <a:off x="8246669" y="1984248"/>
            <a:ext cx="1298448" cy="292608"/>
          </a:xfrm>
          <a:prstGeom prst="rect">
            <a:avLst/>
          </a:prstGeom>
          <a:noFill/>
          <a:ln/>
        </p:spPr>
        <p:txBody>
          <a:bodyPr wrap="square" lIns="0" tIns="0" rIns="0" bIns="0" rtlCol="0" anchor="ctr"/>
          <a:lstStyle/>
          <a:p>
            <a:pPr rtl="1" algn="ctr" indent="0" marL="0">
              <a:buNone/>
            </a:pPr>
            <a:r>
              <a:rPr lang="ar-SA" altLang="en-US" sz="950" b="1" dirty="0">
                <a:solidFill>
                  <a:srgbClr val="FFB547"/>
                </a:solidFill>
                <a:latin typeface="IBM Plex Sans Arabic" pitchFamily="34" charset="0"/>
                <a:ea typeface="IBM Plex Sans Arabic" pitchFamily="34" charset="-122"/>
                <a:cs typeface="IBM Plex Sans Arabic" pitchFamily="34" charset="-120"/>
              </a:rPr>
              <a:t>الموعد: يُحدَّد اليوم</a:t>
            </a:r>
            <a:endParaRPr lang="ar-SA" sz="950" dirty="0"/>
          </a:p>
        </p:txBody>
      </p:sp>
      <p:sp>
        <p:nvSpPr>
          <p:cNvPr id="13" name="Text 10"/>
          <p:cNvSpPr txBox="1"/>
          <p:nvPr/>
        </p:nvSpPr>
        <p:spPr>
          <a:xfrm>
            <a:off x="8264957" y="2368296"/>
            <a:ext cx="3149498" cy="420624"/>
          </a:xfrm>
          <a:prstGeom prst="rect">
            <a:avLst/>
          </a:prstGeom>
          <a:noFill/>
          <a:ln/>
        </p:spPr>
        <p:txBody>
          <a:bodyPr wrap="square" lIns="0" tIns="0" rIns="0" bIns="0" rtlCol="0" anchor="ctr"/>
          <a:lstStyle/>
          <a:p>
            <a:pPr rtl="1" algn="r" indent="0" marL="0">
              <a:buNone/>
            </a:pPr>
            <a:r>
              <a:rPr lang="ar-SA" altLang="en-US" sz="1200" b="1" dirty="0">
                <a:solidFill>
                  <a:srgbClr val="F3F6FD"/>
                </a:solidFill>
                <a:latin typeface="IBM Plex Sans Arabic" pitchFamily="34" charset="0"/>
                <a:ea typeface="IBM Plex Sans Arabic" pitchFamily="34" charset="-122"/>
                <a:cs typeface="IBM Plex Sans Arabic" pitchFamily="34" charset="-120"/>
              </a:rPr>
              <a:t>تجميد نطاق MVP + Role Success + Data contract</a:t>
            </a:r>
            <a:endParaRPr lang="ar-SA" sz="1200" dirty="0"/>
          </a:p>
        </p:txBody>
      </p:sp>
      <p:sp>
        <p:nvSpPr>
          <p:cNvPr id="14" name="Text 11"/>
          <p:cNvSpPr txBox="1"/>
          <p:nvPr/>
        </p:nvSpPr>
        <p:spPr>
          <a:xfrm>
            <a:off x="8264957" y="2788920"/>
            <a:ext cx="3149498" cy="274320"/>
          </a:xfrm>
          <a:prstGeom prst="rect">
            <a:avLst/>
          </a:prstGeom>
          <a:noFill/>
          <a:ln/>
        </p:spPr>
        <p:txBody>
          <a:bodyPr wrap="square" lIns="0" tIns="0" rIns="0" bIns="0" rtlCol="0" anchor="t"/>
          <a:lstStyle/>
          <a:p>
            <a:pPr rtl="1" algn="r" indent="0" marL="0">
              <a:buNone/>
            </a:pPr>
            <a:r>
              <a:rPr lang="ar-SA" altLang="en-US" sz="1150" b="1" dirty="0">
                <a:solidFill>
                  <a:srgbClr val="3EE0F5"/>
                </a:solidFill>
                <a:latin typeface="IBM Plex Sans Arabic" pitchFamily="34" charset="0"/>
                <a:ea typeface="IBM Plex Sans Arabic" pitchFamily="34" charset="-122"/>
                <a:cs typeface="IBM Plex Sans Arabic" pitchFamily="34" charset="-120"/>
              </a:rPr>
              <a:t>شرط الخروج: </a:t>
            </a:r>
            <a:pPr rtl="1" algn="r" indent="0" marL="0">
              <a:buNone/>
            </a:pPr>
            <a:r>
              <a:rPr lang="ar-SA" altLang="en-US" sz="1150" dirty="0">
                <a:solidFill>
                  <a:srgbClr val="A9B7DA"/>
                </a:solidFill>
                <a:latin typeface="IBM Plex Sans Arabic" pitchFamily="34" charset="0"/>
                <a:ea typeface="IBM Plex Sans Arabic" pitchFamily="34" charset="-122"/>
                <a:cs typeface="IBM Plex Sans Arabic" pitchFamily="34" charset="-120"/>
              </a:rPr>
              <a:t>Contracts موثّقة ومعتمدة</a:t>
            </a:r>
            <a:endParaRPr lang="ar-SA" sz="1150" dirty="0"/>
          </a:p>
        </p:txBody>
      </p:sp>
      <p:sp>
        <p:nvSpPr>
          <p:cNvPr id="15" name="Shape 12"/>
          <p:cNvSpPr/>
          <p:nvPr/>
        </p:nvSpPr>
        <p:spPr>
          <a:xfrm>
            <a:off x="4338218" y="1783080"/>
            <a:ext cx="3515258" cy="1371600"/>
          </a:xfrm>
          <a:prstGeom prst="roundRect">
            <a:avLst>
              <a:gd name="adj" fmla="val 9333"/>
            </a:avLst>
          </a:prstGeom>
          <a:solidFill>
            <a:srgbClr val="0B1634"/>
          </a:solidFill>
          <a:ln w="9525">
            <a:solidFill>
              <a:srgbClr val="1E3570"/>
            </a:solidFill>
            <a:prstDash val="solid"/>
          </a:ln>
        </p:spPr>
      </p:sp>
      <p:sp>
        <p:nvSpPr>
          <p:cNvPr id="16" name="Shape 13"/>
          <p:cNvSpPr/>
          <p:nvPr/>
        </p:nvSpPr>
        <p:spPr>
          <a:xfrm>
            <a:off x="7249973" y="1938528"/>
            <a:ext cx="420624" cy="420624"/>
          </a:xfrm>
          <a:prstGeom prst="ellipse">
            <a:avLst/>
          </a:prstGeom>
          <a:solidFill>
            <a:srgbClr val="1F6FEB"/>
          </a:solidFill>
          <a:ln w="9525">
            <a:solidFill>
              <a:srgbClr val="2AA6F7"/>
            </a:solidFill>
            <a:prstDash val="solid"/>
          </a:ln>
        </p:spPr>
      </p:sp>
      <p:sp>
        <p:nvSpPr>
          <p:cNvPr id="17" name="Text 14"/>
          <p:cNvSpPr txBox="1"/>
          <p:nvPr/>
        </p:nvSpPr>
        <p:spPr>
          <a:xfrm>
            <a:off x="7249973" y="1920240"/>
            <a:ext cx="420624" cy="420624"/>
          </a:xfrm>
          <a:prstGeom prst="rect">
            <a:avLst/>
          </a:prstGeom>
          <a:noFill/>
          <a:ln/>
        </p:spPr>
        <p:txBody>
          <a:bodyPr wrap="square" lIns="0" tIns="0" rIns="0" bIns="0" rtlCol="0" anchor="ctr"/>
          <a:lstStyle/>
          <a:p>
            <a:pPr rtl="1" algn="ctr" indent="0" marL="0">
              <a:buNone/>
            </a:pPr>
            <a:r>
              <a:rPr lang="ar-SA" altLang="en-US" sz="1400" b="1" dirty="0">
                <a:solidFill>
                  <a:srgbClr val="F3F6FD"/>
                </a:solidFill>
                <a:latin typeface="IBM Plex Sans Arabic" pitchFamily="34" charset="0"/>
                <a:ea typeface="IBM Plex Sans Arabic" pitchFamily="34" charset="-122"/>
                <a:cs typeface="IBM Plex Sans Arabic" pitchFamily="34" charset="-120"/>
              </a:rPr>
              <a:t>ب</a:t>
            </a:r>
            <a:endParaRPr lang="ar-SA" sz="1400" dirty="0"/>
          </a:p>
        </p:txBody>
      </p:sp>
      <p:sp>
        <p:nvSpPr>
          <p:cNvPr id="18" name="Text 15"/>
          <p:cNvSpPr txBox="1"/>
          <p:nvPr/>
        </p:nvSpPr>
        <p:spPr>
          <a:xfrm>
            <a:off x="5801258" y="1965960"/>
            <a:ext cx="1366418" cy="365760"/>
          </a:xfrm>
          <a:prstGeom prst="rect">
            <a:avLst/>
          </a:prstGeom>
          <a:noFill/>
          <a:ln/>
        </p:spPr>
        <p:txBody>
          <a:bodyPr wrap="square" lIns="0" tIns="0" rIns="0" bIns="0" rtlCol="0" anchor="ctr"/>
          <a:lstStyle/>
          <a:p>
            <a:pPr rtl="1" algn="r" indent="0" marL="0">
              <a:buNone/>
            </a:pPr>
            <a:r>
              <a:rPr lang="ar-SA" altLang="en-US" sz="1400" b="1" dirty="0">
                <a:solidFill>
                  <a:srgbClr val="F3F6FD"/>
                </a:solidFill>
                <a:latin typeface="IBM Plex Sans Arabic" pitchFamily="34" charset="0"/>
                <a:ea typeface="IBM Plex Sans Arabic" pitchFamily="34" charset="-122"/>
                <a:cs typeface="IBM Plex Sans Arabic" pitchFamily="34" charset="-120"/>
              </a:rPr>
              <a:t>براءة النبيه</a:t>
            </a:r>
            <a:endParaRPr lang="ar-SA" sz="1400" dirty="0"/>
          </a:p>
        </p:txBody>
      </p:sp>
      <p:sp>
        <p:nvSpPr>
          <p:cNvPr id="19" name="Shape 16"/>
          <p:cNvSpPr/>
          <p:nvPr/>
        </p:nvSpPr>
        <p:spPr>
          <a:xfrm>
            <a:off x="4502810" y="1984248"/>
            <a:ext cx="1298448" cy="292608"/>
          </a:xfrm>
          <a:prstGeom prst="roundRect">
            <a:avLst>
              <a:gd name="adj" fmla="val 50000"/>
            </a:avLst>
          </a:prstGeom>
          <a:solidFill>
            <a:srgbClr val="2A1F0A"/>
          </a:solidFill>
          <a:ln w="9525">
            <a:solidFill>
              <a:srgbClr val="FFB547"/>
            </a:solidFill>
            <a:prstDash val="solid"/>
          </a:ln>
        </p:spPr>
      </p:sp>
      <p:sp>
        <p:nvSpPr>
          <p:cNvPr id="20" name="Text 17"/>
          <p:cNvSpPr txBox="1"/>
          <p:nvPr/>
        </p:nvSpPr>
        <p:spPr>
          <a:xfrm>
            <a:off x="4502810" y="1984248"/>
            <a:ext cx="1298448" cy="292608"/>
          </a:xfrm>
          <a:prstGeom prst="rect">
            <a:avLst/>
          </a:prstGeom>
          <a:noFill/>
          <a:ln/>
        </p:spPr>
        <p:txBody>
          <a:bodyPr wrap="square" lIns="0" tIns="0" rIns="0" bIns="0" rtlCol="0" anchor="ctr"/>
          <a:lstStyle/>
          <a:p>
            <a:pPr rtl="1" algn="ctr" indent="0" marL="0">
              <a:buNone/>
            </a:pPr>
            <a:r>
              <a:rPr lang="ar-SA" altLang="en-US" sz="950" b="1" dirty="0">
                <a:solidFill>
                  <a:srgbClr val="FFB547"/>
                </a:solidFill>
                <a:latin typeface="IBM Plex Sans Arabic" pitchFamily="34" charset="0"/>
                <a:ea typeface="IBM Plex Sans Arabic" pitchFamily="34" charset="-122"/>
                <a:cs typeface="IBM Plex Sans Arabic" pitchFamily="34" charset="-120"/>
              </a:rPr>
              <a:t>الموعد: يُحدَّد اليوم</a:t>
            </a:r>
            <a:endParaRPr lang="ar-SA" sz="950" dirty="0"/>
          </a:p>
        </p:txBody>
      </p:sp>
      <p:sp>
        <p:nvSpPr>
          <p:cNvPr id="21" name="Text 18"/>
          <p:cNvSpPr txBox="1"/>
          <p:nvPr/>
        </p:nvSpPr>
        <p:spPr>
          <a:xfrm>
            <a:off x="4521098" y="2368296"/>
            <a:ext cx="3149498" cy="420624"/>
          </a:xfrm>
          <a:prstGeom prst="rect">
            <a:avLst/>
          </a:prstGeom>
          <a:noFill/>
          <a:ln/>
        </p:spPr>
        <p:txBody>
          <a:bodyPr wrap="square" lIns="0" tIns="0" rIns="0" bIns="0" rtlCol="0" anchor="ctr"/>
          <a:lstStyle/>
          <a:p>
            <a:pPr algn="r" indent="0" marL="0">
              <a:buNone/>
            </a:pPr>
            <a:r>
              <a:rPr lang="ar-SA" altLang="en-US" sz="1200" b="1" dirty="0">
                <a:solidFill>
                  <a:srgbClr val="F3F6FD"/>
                </a:solidFill>
                <a:latin typeface="IBM Plex Sans Arabic" pitchFamily="34" charset="0"/>
                <a:ea typeface="IBM Plex Sans Arabic" pitchFamily="34" charset="-122"/>
                <a:cs typeface="IBM Plex Sans Arabic" pitchFamily="34" charset="-120"/>
              </a:rPr>
              <a:t>Auth + Tenant + DB skeleton + Import foundation</a:t>
            </a:r>
            <a:endParaRPr lang="ar-SA" sz="1200" dirty="0"/>
          </a:p>
        </p:txBody>
      </p:sp>
      <p:sp>
        <p:nvSpPr>
          <p:cNvPr id="22" name="Text 19"/>
          <p:cNvSpPr txBox="1"/>
          <p:nvPr/>
        </p:nvSpPr>
        <p:spPr>
          <a:xfrm>
            <a:off x="4521098" y="2788920"/>
            <a:ext cx="3149498" cy="274320"/>
          </a:xfrm>
          <a:prstGeom prst="rect">
            <a:avLst/>
          </a:prstGeom>
          <a:noFill/>
          <a:ln/>
        </p:spPr>
        <p:txBody>
          <a:bodyPr wrap="square" lIns="0" tIns="0" rIns="0" bIns="0" rtlCol="0" anchor="t"/>
          <a:lstStyle/>
          <a:p>
            <a:pPr rtl="1" algn="r" indent="0" marL="0">
              <a:buNone/>
            </a:pPr>
            <a:r>
              <a:rPr lang="ar-SA" altLang="en-US" sz="1150" b="1" dirty="0">
                <a:solidFill>
                  <a:srgbClr val="3EE0F5"/>
                </a:solidFill>
                <a:latin typeface="IBM Plex Sans Arabic" pitchFamily="34" charset="0"/>
                <a:ea typeface="IBM Plex Sans Arabic" pitchFamily="34" charset="-122"/>
                <a:cs typeface="IBM Plex Sans Arabic" pitchFamily="34" charset="-120"/>
              </a:rPr>
              <a:t>شرط الخروج: </a:t>
            </a:r>
            <a:pPr rtl="1" algn="r" indent="0" marL="0">
              <a:buNone/>
            </a:pPr>
            <a:r>
              <a:rPr lang="ar-SA" altLang="en-US" sz="1150" dirty="0">
                <a:solidFill>
                  <a:srgbClr val="A9B7DA"/>
                </a:solidFill>
                <a:latin typeface="IBM Plex Sans Arabic" pitchFamily="34" charset="0"/>
                <a:ea typeface="IBM Plex Sans Arabic" pitchFamily="34" charset="-122"/>
                <a:cs typeface="IBM Plex Sans Arabic" pitchFamily="34" charset="-120"/>
              </a:rPr>
              <a:t>API + migrations + tests تعمل</a:t>
            </a:r>
            <a:endParaRPr lang="ar-SA" sz="1150" dirty="0"/>
          </a:p>
        </p:txBody>
      </p:sp>
      <p:sp>
        <p:nvSpPr>
          <p:cNvPr id="23" name="Shape 20"/>
          <p:cNvSpPr/>
          <p:nvPr/>
        </p:nvSpPr>
        <p:spPr>
          <a:xfrm>
            <a:off x="594360" y="1783080"/>
            <a:ext cx="3515258" cy="1371600"/>
          </a:xfrm>
          <a:prstGeom prst="roundRect">
            <a:avLst>
              <a:gd name="adj" fmla="val 9333"/>
            </a:avLst>
          </a:prstGeom>
          <a:solidFill>
            <a:srgbClr val="0B1634"/>
          </a:solidFill>
          <a:ln w="9525">
            <a:solidFill>
              <a:srgbClr val="1E3570"/>
            </a:solidFill>
            <a:prstDash val="solid"/>
          </a:ln>
        </p:spPr>
      </p:sp>
      <p:sp>
        <p:nvSpPr>
          <p:cNvPr id="24" name="Shape 21"/>
          <p:cNvSpPr/>
          <p:nvPr/>
        </p:nvSpPr>
        <p:spPr>
          <a:xfrm>
            <a:off x="3506114" y="1938528"/>
            <a:ext cx="420624" cy="420624"/>
          </a:xfrm>
          <a:prstGeom prst="ellipse">
            <a:avLst/>
          </a:prstGeom>
          <a:solidFill>
            <a:srgbClr val="1F6FEB"/>
          </a:solidFill>
          <a:ln w="9525">
            <a:solidFill>
              <a:srgbClr val="2AA6F7"/>
            </a:solidFill>
            <a:prstDash val="solid"/>
          </a:ln>
        </p:spPr>
      </p:sp>
      <p:sp>
        <p:nvSpPr>
          <p:cNvPr id="25" name="Text 22"/>
          <p:cNvSpPr txBox="1"/>
          <p:nvPr/>
        </p:nvSpPr>
        <p:spPr>
          <a:xfrm>
            <a:off x="3506114" y="1920240"/>
            <a:ext cx="420624" cy="420624"/>
          </a:xfrm>
          <a:prstGeom prst="rect">
            <a:avLst/>
          </a:prstGeom>
          <a:noFill/>
          <a:ln/>
        </p:spPr>
        <p:txBody>
          <a:bodyPr wrap="square" lIns="0" tIns="0" rIns="0" bIns="0" rtlCol="0" anchor="ctr"/>
          <a:lstStyle/>
          <a:p>
            <a:pPr rtl="1" algn="ctr" indent="0" marL="0">
              <a:buNone/>
            </a:pPr>
            <a:r>
              <a:rPr lang="ar-SA" altLang="en-US" sz="1400" b="1" dirty="0">
                <a:solidFill>
                  <a:srgbClr val="F3F6FD"/>
                </a:solidFill>
                <a:latin typeface="IBM Plex Sans Arabic" pitchFamily="34" charset="0"/>
                <a:ea typeface="IBM Plex Sans Arabic" pitchFamily="34" charset="-122"/>
                <a:cs typeface="IBM Plex Sans Arabic" pitchFamily="34" charset="-120"/>
              </a:rPr>
              <a:t>ع</a:t>
            </a:r>
            <a:endParaRPr lang="ar-SA" sz="1400" dirty="0"/>
          </a:p>
        </p:txBody>
      </p:sp>
      <p:sp>
        <p:nvSpPr>
          <p:cNvPr id="26" name="Text 23"/>
          <p:cNvSpPr txBox="1"/>
          <p:nvPr/>
        </p:nvSpPr>
        <p:spPr>
          <a:xfrm>
            <a:off x="2057400" y="1965960"/>
            <a:ext cx="1366418" cy="365760"/>
          </a:xfrm>
          <a:prstGeom prst="rect">
            <a:avLst/>
          </a:prstGeom>
          <a:noFill/>
          <a:ln/>
        </p:spPr>
        <p:txBody>
          <a:bodyPr wrap="square" lIns="0" tIns="0" rIns="0" bIns="0" rtlCol="0" anchor="ctr"/>
          <a:lstStyle/>
          <a:p>
            <a:pPr rtl="1" algn="r" indent="0" marL="0">
              <a:buNone/>
            </a:pPr>
            <a:r>
              <a:rPr lang="ar-SA" altLang="en-US" sz="1400" b="1" dirty="0">
                <a:solidFill>
                  <a:srgbClr val="F3F6FD"/>
                </a:solidFill>
                <a:latin typeface="IBM Plex Sans Arabic" pitchFamily="34" charset="0"/>
                <a:ea typeface="IBM Plex Sans Arabic" pitchFamily="34" charset="-122"/>
                <a:cs typeface="IBM Plex Sans Arabic" pitchFamily="34" charset="-120"/>
              </a:rPr>
              <a:t>عبدالله فسفس</a:t>
            </a:r>
            <a:endParaRPr lang="ar-SA" sz="1400" dirty="0"/>
          </a:p>
        </p:txBody>
      </p:sp>
      <p:sp>
        <p:nvSpPr>
          <p:cNvPr id="27" name="Shape 24"/>
          <p:cNvSpPr/>
          <p:nvPr/>
        </p:nvSpPr>
        <p:spPr>
          <a:xfrm>
            <a:off x="758952" y="1984248"/>
            <a:ext cx="1298448" cy="292608"/>
          </a:xfrm>
          <a:prstGeom prst="roundRect">
            <a:avLst>
              <a:gd name="adj" fmla="val 50000"/>
            </a:avLst>
          </a:prstGeom>
          <a:solidFill>
            <a:srgbClr val="2A1F0A"/>
          </a:solidFill>
          <a:ln w="9525">
            <a:solidFill>
              <a:srgbClr val="FFB547"/>
            </a:solidFill>
            <a:prstDash val="solid"/>
          </a:ln>
        </p:spPr>
      </p:sp>
      <p:sp>
        <p:nvSpPr>
          <p:cNvPr id="28" name="Text 25"/>
          <p:cNvSpPr txBox="1"/>
          <p:nvPr/>
        </p:nvSpPr>
        <p:spPr>
          <a:xfrm>
            <a:off x="758952" y="1984248"/>
            <a:ext cx="1298448" cy="292608"/>
          </a:xfrm>
          <a:prstGeom prst="rect">
            <a:avLst/>
          </a:prstGeom>
          <a:noFill/>
          <a:ln/>
        </p:spPr>
        <p:txBody>
          <a:bodyPr wrap="square" lIns="0" tIns="0" rIns="0" bIns="0" rtlCol="0" anchor="ctr"/>
          <a:lstStyle/>
          <a:p>
            <a:pPr rtl="1" algn="ctr" indent="0" marL="0">
              <a:buNone/>
            </a:pPr>
            <a:r>
              <a:rPr lang="ar-SA" altLang="en-US" sz="950" b="1" dirty="0">
                <a:solidFill>
                  <a:srgbClr val="FFB547"/>
                </a:solidFill>
                <a:latin typeface="IBM Plex Sans Arabic" pitchFamily="34" charset="0"/>
                <a:ea typeface="IBM Plex Sans Arabic" pitchFamily="34" charset="-122"/>
                <a:cs typeface="IBM Plex Sans Arabic" pitchFamily="34" charset="-120"/>
              </a:rPr>
              <a:t>الموعد: يُحدَّد اليوم</a:t>
            </a:r>
            <a:endParaRPr lang="ar-SA" sz="950" dirty="0"/>
          </a:p>
        </p:txBody>
      </p:sp>
      <p:sp>
        <p:nvSpPr>
          <p:cNvPr id="29" name="Text 26"/>
          <p:cNvSpPr txBox="1"/>
          <p:nvPr/>
        </p:nvSpPr>
        <p:spPr>
          <a:xfrm>
            <a:off x="777240" y="2368296"/>
            <a:ext cx="3149498" cy="420624"/>
          </a:xfrm>
          <a:prstGeom prst="rect">
            <a:avLst/>
          </a:prstGeom>
          <a:noFill/>
          <a:ln/>
        </p:spPr>
        <p:txBody>
          <a:bodyPr wrap="square" lIns="0" tIns="0" rIns="0" bIns="0" rtlCol="0" anchor="ctr"/>
          <a:lstStyle/>
          <a:p>
            <a:pPr algn="r" indent="0" marL="0">
              <a:buNone/>
            </a:pPr>
            <a:r>
              <a:rPr lang="ar-SA" altLang="en-US" sz="1200" b="1" dirty="0">
                <a:solidFill>
                  <a:srgbClr val="F3F6FD"/>
                </a:solidFill>
                <a:latin typeface="IBM Plex Sans Arabic" pitchFamily="34" charset="0"/>
                <a:ea typeface="IBM Plex Sans Arabic" pitchFamily="34" charset="-122"/>
                <a:cs typeface="IBM Plex Sans Arabic" pitchFamily="34" charset="-120"/>
              </a:rPr>
              <a:t>Parsing + Structured evidence extraction</a:t>
            </a:r>
            <a:endParaRPr lang="ar-SA" sz="1200" dirty="0"/>
          </a:p>
        </p:txBody>
      </p:sp>
      <p:sp>
        <p:nvSpPr>
          <p:cNvPr id="30" name="Text 27"/>
          <p:cNvSpPr txBox="1"/>
          <p:nvPr/>
        </p:nvSpPr>
        <p:spPr>
          <a:xfrm>
            <a:off x="777240" y="2788920"/>
            <a:ext cx="3149498" cy="274320"/>
          </a:xfrm>
          <a:prstGeom prst="rect">
            <a:avLst/>
          </a:prstGeom>
          <a:noFill/>
          <a:ln/>
        </p:spPr>
        <p:txBody>
          <a:bodyPr wrap="square" lIns="0" tIns="0" rIns="0" bIns="0" rtlCol="0" anchor="t"/>
          <a:lstStyle/>
          <a:p>
            <a:pPr rtl="1" algn="r" indent="0" marL="0">
              <a:buNone/>
            </a:pPr>
            <a:r>
              <a:rPr lang="ar-SA" altLang="en-US" sz="1150" b="1" dirty="0">
                <a:solidFill>
                  <a:srgbClr val="3EE0F5"/>
                </a:solidFill>
                <a:latin typeface="IBM Plex Sans Arabic" pitchFamily="34" charset="0"/>
                <a:ea typeface="IBM Plex Sans Arabic" pitchFamily="34" charset="-122"/>
                <a:cs typeface="IBM Plex Sans Arabic" pitchFamily="34" charset="-120"/>
              </a:rPr>
              <a:t>شرط الخروج: </a:t>
            </a:r>
            <a:pPr rtl="1" algn="r" indent="0" marL="0">
              <a:buNone/>
            </a:pPr>
            <a:r>
              <a:rPr lang="ar-SA" altLang="en-US" sz="1150" dirty="0">
                <a:solidFill>
                  <a:srgbClr val="A9B7DA"/>
                </a:solidFill>
                <a:latin typeface="IBM Plex Sans Arabic" pitchFamily="34" charset="0"/>
                <a:ea typeface="IBM Plex Sans Arabic" pitchFamily="34" charset="-122"/>
                <a:cs typeface="IBM Plex Sans Arabic" pitchFamily="34" charset="-120"/>
              </a:rPr>
              <a:t>أمثلة Golden تجتاز الـbaseline</a:t>
            </a:r>
            <a:endParaRPr lang="ar-SA" sz="1150" dirty="0"/>
          </a:p>
        </p:txBody>
      </p:sp>
      <p:sp>
        <p:nvSpPr>
          <p:cNvPr id="31" name="Shape 28"/>
          <p:cNvSpPr/>
          <p:nvPr/>
        </p:nvSpPr>
        <p:spPr>
          <a:xfrm>
            <a:off x="8082077" y="3310128"/>
            <a:ext cx="3515258" cy="1371600"/>
          </a:xfrm>
          <a:prstGeom prst="roundRect">
            <a:avLst>
              <a:gd name="adj" fmla="val 9333"/>
            </a:avLst>
          </a:prstGeom>
          <a:solidFill>
            <a:srgbClr val="0B1634"/>
          </a:solidFill>
          <a:ln w="9525">
            <a:solidFill>
              <a:srgbClr val="1E3570"/>
            </a:solidFill>
            <a:prstDash val="solid"/>
          </a:ln>
        </p:spPr>
      </p:sp>
      <p:sp>
        <p:nvSpPr>
          <p:cNvPr id="32" name="Shape 29"/>
          <p:cNvSpPr/>
          <p:nvPr/>
        </p:nvSpPr>
        <p:spPr>
          <a:xfrm>
            <a:off x="10993831" y="3465576"/>
            <a:ext cx="420624" cy="420624"/>
          </a:xfrm>
          <a:prstGeom prst="ellipse">
            <a:avLst/>
          </a:prstGeom>
          <a:solidFill>
            <a:srgbClr val="1F6FEB"/>
          </a:solidFill>
          <a:ln w="9525">
            <a:solidFill>
              <a:srgbClr val="2AA6F7"/>
            </a:solidFill>
            <a:prstDash val="solid"/>
          </a:ln>
        </p:spPr>
      </p:sp>
      <p:sp>
        <p:nvSpPr>
          <p:cNvPr id="33" name="Text 30"/>
          <p:cNvSpPr txBox="1"/>
          <p:nvPr/>
        </p:nvSpPr>
        <p:spPr>
          <a:xfrm>
            <a:off x="10993831" y="3447288"/>
            <a:ext cx="420624" cy="420624"/>
          </a:xfrm>
          <a:prstGeom prst="rect">
            <a:avLst/>
          </a:prstGeom>
          <a:noFill/>
          <a:ln/>
        </p:spPr>
        <p:txBody>
          <a:bodyPr wrap="square" lIns="0" tIns="0" rIns="0" bIns="0" rtlCol="0" anchor="ctr"/>
          <a:lstStyle/>
          <a:p>
            <a:pPr rtl="1" algn="ctr" indent="0" marL="0">
              <a:buNone/>
            </a:pPr>
            <a:r>
              <a:rPr lang="ar-SA" altLang="en-US" sz="1400" b="1" dirty="0">
                <a:solidFill>
                  <a:srgbClr val="F3F6FD"/>
                </a:solidFill>
                <a:latin typeface="IBM Plex Sans Arabic" pitchFamily="34" charset="0"/>
                <a:ea typeface="IBM Plex Sans Arabic" pitchFamily="34" charset="-122"/>
                <a:cs typeface="IBM Plex Sans Arabic" pitchFamily="34" charset="-120"/>
              </a:rPr>
              <a:t>أ</a:t>
            </a:r>
            <a:endParaRPr lang="ar-SA" sz="1400" dirty="0"/>
          </a:p>
        </p:txBody>
      </p:sp>
      <p:sp>
        <p:nvSpPr>
          <p:cNvPr id="34" name="Text 31"/>
          <p:cNvSpPr txBox="1"/>
          <p:nvPr/>
        </p:nvSpPr>
        <p:spPr>
          <a:xfrm>
            <a:off x="9545117" y="3493008"/>
            <a:ext cx="1366418" cy="365760"/>
          </a:xfrm>
          <a:prstGeom prst="rect">
            <a:avLst/>
          </a:prstGeom>
          <a:noFill/>
          <a:ln/>
        </p:spPr>
        <p:txBody>
          <a:bodyPr wrap="square" lIns="0" tIns="0" rIns="0" bIns="0" rtlCol="0" anchor="ctr"/>
          <a:lstStyle/>
          <a:p>
            <a:pPr rtl="1" algn="r" indent="0" marL="0">
              <a:buNone/>
            </a:pPr>
            <a:r>
              <a:rPr lang="ar-SA" altLang="en-US" sz="1400" b="1" dirty="0">
                <a:solidFill>
                  <a:srgbClr val="F3F6FD"/>
                </a:solidFill>
                <a:latin typeface="IBM Plex Sans Arabic" pitchFamily="34" charset="0"/>
                <a:ea typeface="IBM Plex Sans Arabic" pitchFamily="34" charset="-122"/>
                <a:cs typeface="IBM Plex Sans Arabic" pitchFamily="34" charset="-120"/>
              </a:rPr>
              <a:t>أشرف الكحلوت</a:t>
            </a:r>
            <a:endParaRPr lang="ar-SA" sz="1400" dirty="0"/>
          </a:p>
        </p:txBody>
      </p:sp>
      <p:sp>
        <p:nvSpPr>
          <p:cNvPr id="35" name="Shape 32"/>
          <p:cNvSpPr/>
          <p:nvPr/>
        </p:nvSpPr>
        <p:spPr>
          <a:xfrm>
            <a:off x="8246669" y="3511296"/>
            <a:ext cx="1298448" cy="292608"/>
          </a:xfrm>
          <a:prstGeom prst="roundRect">
            <a:avLst>
              <a:gd name="adj" fmla="val 50000"/>
            </a:avLst>
          </a:prstGeom>
          <a:solidFill>
            <a:srgbClr val="2A1F0A"/>
          </a:solidFill>
          <a:ln w="9525">
            <a:solidFill>
              <a:srgbClr val="FFB547"/>
            </a:solidFill>
            <a:prstDash val="solid"/>
          </a:ln>
        </p:spPr>
      </p:sp>
      <p:sp>
        <p:nvSpPr>
          <p:cNvPr id="36" name="Text 33"/>
          <p:cNvSpPr txBox="1"/>
          <p:nvPr/>
        </p:nvSpPr>
        <p:spPr>
          <a:xfrm>
            <a:off x="8246669" y="3511296"/>
            <a:ext cx="1298448" cy="292608"/>
          </a:xfrm>
          <a:prstGeom prst="rect">
            <a:avLst/>
          </a:prstGeom>
          <a:noFill/>
          <a:ln/>
        </p:spPr>
        <p:txBody>
          <a:bodyPr wrap="square" lIns="0" tIns="0" rIns="0" bIns="0" rtlCol="0" anchor="ctr"/>
          <a:lstStyle/>
          <a:p>
            <a:pPr rtl="1" algn="ctr" indent="0" marL="0">
              <a:buNone/>
            </a:pPr>
            <a:r>
              <a:rPr lang="ar-SA" altLang="en-US" sz="950" b="1" dirty="0">
                <a:solidFill>
                  <a:srgbClr val="FFB547"/>
                </a:solidFill>
                <a:latin typeface="IBM Plex Sans Arabic" pitchFamily="34" charset="0"/>
                <a:ea typeface="IBM Plex Sans Arabic" pitchFamily="34" charset="-122"/>
                <a:cs typeface="IBM Plex Sans Arabic" pitchFamily="34" charset="-120"/>
              </a:rPr>
              <a:t>الموعد: يُحدَّد اليوم</a:t>
            </a:r>
            <a:endParaRPr lang="ar-SA" sz="950" dirty="0"/>
          </a:p>
        </p:txBody>
      </p:sp>
      <p:sp>
        <p:nvSpPr>
          <p:cNvPr id="37" name="Text 34"/>
          <p:cNvSpPr txBox="1"/>
          <p:nvPr/>
        </p:nvSpPr>
        <p:spPr>
          <a:xfrm>
            <a:off x="8264957" y="3895344"/>
            <a:ext cx="3149498" cy="420624"/>
          </a:xfrm>
          <a:prstGeom prst="rect">
            <a:avLst/>
          </a:prstGeom>
          <a:noFill/>
          <a:ln/>
        </p:spPr>
        <p:txBody>
          <a:bodyPr wrap="square" lIns="0" tIns="0" rIns="0" bIns="0" rtlCol="0" anchor="ctr"/>
          <a:lstStyle/>
          <a:p>
            <a:pPr algn="r" indent="0" marL="0">
              <a:buNone/>
            </a:pPr>
            <a:r>
              <a:rPr lang="ar-SA" altLang="en-US" sz="1200" b="1" dirty="0">
                <a:solidFill>
                  <a:srgbClr val="F3F6FD"/>
                </a:solidFill>
                <a:latin typeface="IBM Plex Sans Arabic" pitchFamily="34" charset="0"/>
                <a:ea typeface="IBM Plex Sans Arabic" pitchFamily="34" charset="-122"/>
                <a:cs typeface="IBM Plex Sans Arabic" pitchFamily="34" charset="-120"/>
              </a:rPr>
              <a:t>Golden dataset + Cohort/Data-quality foundation</a:t>
            </a:r>
            <a:endParaRPr lang="ar-SA" sz="1200" dirty="0"/>
          </a:p>
        </p:txBody>
      </p:sp>
      <p:sp>
        <p:nvSpPr>
          <p:cNvPr id="38" name="Text 35"/>
          <p:cNvSpPr txBox="1"/>
          <p:nvPr/>
        </p:nvSpPr>
        <p:spPr>
          <a:xfrm>
            <a:off x="8264957" y="4315968"/>
            <a:ext cx="3149498" cy="274320"/>
          </a:xfrm>
          <a:prstGeom prst="rect">
            <a:avLst/>
          </a:prstGeom>
          <a:noFill/>
          <a:ln/>
        </p:spPr>
        <p:txBody>
          <a:bodyPr wrap="square" lIns="0" tIns="0" rIns="0" bIns="0" rtlCol="0" anchor="t"/>
          <a:lstStyle/>
          <a:p>
            <a:pPr rtl="1" algn="r" indent="0" marL="0">
              <a:buNone/>
            </a:pPr>
            <a:r>
              <a:rPr lang="ar-SA" altLang="en-US" sz="1150" b="1" dirty="0">
                <a:solidFill>
                  <a:srgbClr val="3EE0F5"/>
                </a:solidFill>
                <a:latin typeface="IBM Plex Sans Arabic" pitchFamily="34" charset="0"/>
                <a:ea typeface="IBM Plex Sans Arabic" pitchFamily="34" charset="-122"/>
                <a:cs typeface="IBM Plex Sans Arabic" pitchFamily="34" charset="-120"/>
              </a:rPr>
              <a:t>شرط الخروج: </a:t>
            </a:r>
            <a:pPr rtl="1" algn="r" indent="0" marL="0">
              <a:buNone/>
            </a:pPr>
            <a:r>
              <a:rPr lang="ar-SA" altLang="en-US" sz="1150" dirty="0">
                <a:solidFill>
                  <a:srgbClr val="A9B7DA"/>
                </a:solidFill>
                <a:latin typeface="IBM Plex Sans Arabic" pitchFamily="34" charset="0"/>
                <a:ea typeface="IBM Plex Sans Arabic" pitchFamily="34" charset="-122"/>
                <a:cs typeface="IBM Plex Sans Arabic" pitchFamily="34" charset="-120"/>
              </a:rPr>
              <a:t>Dataset + baseline metrics</a:t>
            </a:r>
            <a:endParaRPr lang="ar-SA" sz="1150" dirty="0"/>
          </a:p>
        </p:txBody>
      </p:sp>
      <p:sp>
        <p:nvSpPr>
          <p:cNvPr id="39" name="Shape 36"/>
          <p:cNvSpPr/>
          <p:nvPr/>
        </p:nvSpPr>
        <p:spPr>
          <a:xfrm>
            <a:off x="4338218" y="3310128"/>
            <a:ext cx="3515258" cy="1371600"/>
          </a:xfrm>
          <a:prstGeom prst="roundRect">
            <a:avLst>
              <a:gd name="adj" fmla="val 9333"/>
            </a:avLst>
          </a:prstGeom>
          <a:solidFill>
            <a:srgbClr val="0B1634"/>
          </a:solidFill>
          <a:ln w="9525">
            <a:solidFill>
              <a:srgbClr val="1E3570"/>
            </a:solidFill>
            <a:prstDash val="solid"/>
          </a:ln>
        </p:spPr>
      </p:sp>
      <p:sp>
        <p:nvSpPr>
          <p:cNvPr id="40" name="Shape 37"/>
          <p:cNvSpPr/>
          <p:nvPr/>
        </p:nvSpPr>
        <p:spPr>
          <a:xfrm>
            <a:off x="7249973" y="3465576"/>
            <a:ext cx="420624" cy="420624"/>
          </a:xfrm>
          <a:prstGeom prst="ellipse">
            <a:avLst/>
          </a:prstGeom>
          <a:solidFill>
            <a:srgbClr val="1F6FEB"/>
          </a:solidFill>
          <a:ln w="9525">
            <a:solidFill>
              <a:srgbClr val="2AA6F7"/>
            </a:solidFill>
            <a:prstDash val="solid"/>
          </a:ln>
        </p:spPr>
      </p:sp>
      <p:sp>
        <p:nvSpPr>
          <p:cNvPr id="41" name="Text 38"/>
          <p:cNvSpPr txBox="1"/>
          <p:nvPr/>
        </p:nvSpPr>
        <p:spPr>
          <a:xfrm>
            <a:off x="7249973" y="3447288"/>
            <a:ext cx="420624" cy="420624"/>
          </a:xfrm>
          <a:prstGeom prst="rect">
            <a:avLst/>
          </a:prstGeom>
          <a:noFill/>
          <a:ln/>
        </p:spPr>
        <p:txBody>
          <a:bodyPr wrap="square" lIns="0" tIns="0" rIns="0" bIns="0" rtlCol="0" anchor="ctr"/>
          <a:lstStyle/>
          <a:p>
            <a:pPr rtl="1" algn="ctr" indent="0" marL="0">
              <a:buNone/>
            </a:pPr>
            <a:r>
              <a:rPr lang="ar-SA" altLang="en-US" sz="1400" b="1" dirty="0">
                <a:solidFill>
                  <a:srgbClr val="F3F6FD"/>
                </a:solidFill>
                <a:latin typeface="IBM Plex Sans Arabic" pitchFamily="34" charset="0"/>
                <a:ea typeface="IBM Plex Sans Arabic" pitchFamily="34" charset="-122"/>
                <a:cs typeface="IBM Plex Sans Arabic" pitchFamily="34" charset="-120"/>
              </a:rPr>
              <a:t>ب</a:t>
            </a:r>
            <a:endParaRPr lang="ar-SA" sz="1400" dirty="0"/>
          </a:p>
        </p:txBody>
      </p:sp>
      <p:sp>
        <p:nvSpPr>
          <p:cNvPr id="42" name="Text 39"/>
          <p:cNvSpPr txBox="1"/>
          <p:nvPr/>
        </p:nvSpPr>
        <p:spPr>
          <a:xfrm>
            <a:off x="5801258" y="3493008"/>
            <a:ext cx="1366418" cy="365760"/>
          </a:xfrm>
          <a:prstGeom prst="rect">
            <a:avLst/>
          </a:prstGeom>
          <a:noFill/>
          <a:ln/>
        </p:spPr>
        <p:txBody>
          <a:bodyPr wrap="square" lIns="0" tIns="0" rIns="0" bIns="0" rtlCol="0" anchor="ctr"/>
          <a:lstStyle/>
          <a:p>
            <a:pPr rtl="1" algn="r" indent="0" marL="0">
              <a:buNone/>
            </a:pPr>
            <a:r>
              <a:rPr lang="ar-SA" altLang="en-US" sz="1400" b="1" dirty="0">
                <a:solidFill>
                  <a:srgbClr val="F3F6FD"/>
                </a:solidFill>
                <a:latin typeface="IBM Plex Sans Arabic" pitchFamily="34" charset="0"/>
                <a:ea typeface="IBM Plex Sans Arabic" pitchFamily="34" charset="-122"/>
                <a:cs typeface="IBM Plex Sans Arabic" pitchFamily="34" charset="-120"/>
              </a:rPr>
              <a:t>بشار بدوي</a:t>
            </a:r>
            <a:endParaRPr lang="ar-SA" sz="1400" dirty="0"/>
          </a:p>
        </p:txBody>
      </p:sp>
      <p:sp>
        <p:nvSpPr>
          <p:cNvPr id="43" name="Shape 40"/>
          <p:cNvSpPr/>
          <p:nvPr/>
        </p:nvSpPr>
        <p:spPr>
          <a:xfrm>
            <a:off x="4502810" y="3511296"/>
            <a:ext cx="1298448" cy="292608"/>
          </a:xfrm>
          <a:prstGeom prst="roundRect">
            <a:avLst>
              <a:gd name="adj" fmla="val 50000"/>
            </a:avLst>
          </a:prstGeom>
          <a:solidFill>
            <a:srgbClr val="2A1F0A"/>
          </a:solidFill>
          <a:ln w="9525">
            <a:solidFill>
              <a:srgbClr val="FFB547"/>
            </a:solidFill>
            <a:prstDash val="solid"/>
          </a:ln>
        </p:spPr>
      </p:sp>
      <p:sp>
        <p:nvSpPr>
          <p:cNvPr id="44" name="Text 41"/>
          <p:cNvSpPr txBox="1"/>
          <p:nvPr/>
        </p:nvSpPr>
        <p:spPr>
          <a:xfrm>
            <a:off x="4502810" y="3511296"/>
            <a:ext cx="1298448" cy="292608"/>
          </a:xfrm>
          <a:prstGeom prst="rect">
            <a:avLst/>
          </a:prstGeom>
          <a:noFill/>
          <a:ln/>
        </p:spPr>
        <p:txBody>
          <a:bodyPr wrap="square" lIns="0" tIns="0" rIns="0" bIns="0" rtlCol="0" anchor="ctr"/>
          <a:lstStyle/>
          <a:p>
            <a:pPr rtl="1" algn="ctr" indent="0" marL="0">
              <a:buNone/>
            </a:pPr>
            <a:r>
              <a:rPr lang="ar-SA" altLang="en-US" sz="950" b="1" dirty="0">
                <a:solidFill>
                  <a:srgbClr val="FFB547"/>
                </a:solidFill>
                <a:latin typeface="IBM Plex Sans Arabic" pitchFamily="34" charset="0"/>
                <a:ea typeface="IBM Plex Sans Arabic" pitchFamily="34" charset="-122"/>
                <a:cs typeface="IBM Plex Sans Arabic" pitchFamily="34" charset="-120"/>
              </a:rPr>
              <a:t>الموعد: يُحدَّد اليوم</a:t>
            </a:r>
            <a:endParaRPr lang="ar-SA" sz="950" dirty="0"/>
          </a:p>
        </p:txBody>
      </p:sp>
      <p:sp>
        <p:nvSpPr>
          <p:cNvPr id="45" name="Text 42"/>
          <p:cNvSpPr txBox="1"/>
          <p:nvPr/>
        </p:nvSpPr>
        <p:spPr>
          <a:xfrm>
            <a:off x="4521098" y="3895344"/>
            <a:ext cx="3149498" cy="420624"/>
          </a:xfrm>
          <a:prstGeom prst="rect">
            <a:avLst/>
          </a:prstGeom>
          <a:noFill/>
          <a:ln/>
        </p:spPr>
        <p:txBody>
          <a:bodyPr wrap="square" lIns="0" tIns="0" rIns="0" bIns="0" rtlCol="0" anchor="ctr"/>
          <a:lstStyle/>
          <a:p>
            <a:pPr algn="r" indent="0" marL="0">
              <a:buNone/>
            </a:pPr>
            <a:r>
              <a:rPr lang="ar-SA" altLang="en-US" sz="1200" b="1" dirty="0">
                <a:solidFill>
                  <a:srgbClr val="F3F6FD"/>
                </a:solidFill>
                <a:latin typeface="IBM Plex Sans Arabic" pitchFamily="34" charset="0"/>
                <a:ea typeface="IBM Plex Sans Arabic" pitchFamily="34" charset="-122"/>
                <a:cs typeface="IBM Plex Sans Arabic" pitchFamily="34" charset="-120"/>
              </a:rPr>
              <a:t>Evaluation thresholds + Predictive gate policy</a:t>
            </a:r>
            <a:endParaRPr lang="ar-SA" sz="1200" dirty="0"/>
          </a:p>
        </p:txBody>
      </p:sp>
      <p:sp>
        <p:nvSpPr>
          <p:cNvPr id="46" name="Text 43"/>
          <p:cNvSpPr txBox="1"/>
          <p:nvPr/>
        </p:nvSpPr>
        <p:spPr>
          <a:xfrm>
            <a:off x="4521098" y="4315968"/>
            <a:ext cx="3149498" cy="274320"/>
          </a:xfrm>
          <a:prstGeom prst="rect">
            <a:avLst/>
          </a:prstGeom>
          <a:noFill/>
          <a:ln/>
        </p:spPr>
        <p:txBody>
          <a:bodyPr wrap="square" lIns="0" tIns="0" rIns="0" bIns="0" rtlCol="0" anchor="t"/>
          <a:lstStyle/>
          <a:p>
            <a:pPr rtl="1" algn="r" indent="0" marL="0">
              <a:buNone/>
            </a:pPr>
            <a:r>
              <a:rPr lang="ar-SA" altLang="en-US" sz="1150" b="1" dirty="0">
                <a:solidFill>
                  <a:srgbClr val="3EE0F5"/>
                </a:solidFill>
                <a:latin typeface="IBM Plex Sans Arabic" pitchFamily="34" charset="0"/>
                <a:ea typeface="IBM Plex Sans Arabic" pitchFamily="34" charset="-122"/>
                <a:cs typeface="IBM Plex Sans Arabic" pitchFamily="34" charset="-120"/>
              </a:rPr>
              <a:t>شرط الخروج: </a:t>
            </a:r>
            <a:pPr rtl="1" algn="r" indent="0" marL="0">
              <a:buNone/>
            </a:pPr>
            <a:r>
              <a:rPr lang="ar-SA" altLang="en-US" sz="1150" dirty="0">
                <a:solidFill>
                  <a:srgbClr val="A9B7DA"/>
                </a:solidFill>
                <a:latin typeface="IBM Plex Sans Arabic" pitchFamily="34" charset="0"/>
                <a:ea typeface="IBM Plex Sans Arabic" pitchFamily="34" charset="-122"/>
                <a:cs typeface="IBM Plex Sans Arabic" pitchFamily="34" charset="-120"/>
              </a:rPr>
              <a:t>سياسة مراجَعة وموثّقة</a:t>
            </a:r>
            <a:endParaRPr lang="ar-SA" sz="1150" dirty="0"/>
          </a:p>
        </p:txBody>
      </p:sp>
      <p:sp>
        <p:nvSpPr>
          <p:cNvPr id="47" name="Shape 44"/>
          <p:cNvSpPr/>
          <p:nvPr/>
        </p:nvSpPr>
        <p:spPr>
          <a:xfrm>
            <a:off x="594360" y="3310128"/>
            <a:ext cx="3515258" cy="1371600"/>
          </a:xfrm>
          <a:prstGeom prst="roundRect">
            <a:avLst>
              <a:gd name="adj" fmla="val 9333"/>
            </a:avLst>
          </a:prstGeom>
          <a:solidFill>
            <a:srgbClr val="0B1634"/>
          </a:solidFill>
          <a:ln w="9525">
            <a:solidFill>
              <a:srgbClr val="1E3570"/>
            </a:solidFill>
            <a:prstDash val="solid"/>
          </a:ln>
        </p:spPr>
      </p:sp>
      <p:sp>
        <p:nvSpPr>
          <p:cNvPr id="48" name="Shape 45"/>
          <p:cNvSpPr/>
          <p:nvPr/>
        </p:nvSpPr>
        <p:spPr>
          <a:xfrm>
            <a:off x="3506114" y="3465576"/>
            <a:ext cx="420624" cy="420624"/>
          </a:xfrm>
          <a:prstGeom prst="ellipse">
            <a:avLst/>
          </a:prstGeom>
          <a:solidFill>
            <a:srgbClr val="1F6FEB"/>
          </a:solidFill>
          <a:ln w="9525">
            <a:solidFill>
              <a:srgbClr val="2AA6F7"/>
            </a:solidFill>
            <a:prstDash val="solid"/>
          </a:ln>
        </p:spPr>
      </p:sp>
      <p:sp>
        <p:nvSpPr>
          <p:cNvPr id="49" name="Text 46"/>
          <p:cNvSpPr txBox="1"/>
          <p:nvPr/>
        </p:nvSpPr>
        <p:spPr>
          <a:xfrm>
            <a:off x="3506114" y="3447288"/>
            <a:ext cx="420624" cy="420624"/>
          </a:xfrm>
          <a:prstGeom prst="rect">
            <a:avLst/>
          </a:prstGeom>
          <a:noFill/>
          <a:ln/>
        </p:spPr>
        <p:txBody>
          <a:bodyPr wrap="square" lIns="0" tIns="0" rIns="0" bIns="0" rtlCol="0" anchor="ctr"/>
          <a:lstStyle/>
          <a:p>
            <a:pPr rtl="1" algn="ctr" indent="0" marL="0">
              <a:buNone/>
            </a:pPr>
            <a:r>
              <a:rPr lang="ar-SA" altLang="en-US" sz="1400" b="1" dirty="0">
                <a:solidFill>
                  <a:srgbClr val="F3F6FD"/>
                </a:solidFill>
                <a:latin typeface="IBM Plex Sans Arabic" pitchFamily="34" charset="0"/>
                <a:ea typeface="IBM Plex Sans Arabic" pitchFamily="34" charset="-122"/>
                <a:cs typeface="IBM Plex Sans Arabic" pitchFamily="34" charset="-120"/>
              </a:rPr>
              <a:t>إ</a:t>
            </a:r>
            <a:endParaRPr lang="ar-SA" sz="1400" dirty="0"/>
          </a:p>
        </p:txBody>
      </p:sp>
      <p:sp>
        <p:nvSpPr>
          <p:cNvPr id="50" name="Text 47"/>
          <p:cNvSpPr txBox="1"/>
          <p:nvPr/>
        </p:nvSpPr>
        <p:spPr>
          <a:xfrm>
            <a:off x="2057400" y="3493008"/>
            <a:ext cx="1366418" cy="365760"/>
          </a:xfrm>
          <a:prstGeom prst="rect">
            <a:avLst/>
          </a:prstGeom>
          <a:noFill/>
          <a:ln/>
        </p:spPr>
        <p:txBody>
          <a:bodyPr wrap="square" lIns="0" tIns="0" rIns="0" bIns="0" rtlCol="0" anchor="ctr"/>
          <a:lstStyle/>
          <a:p>
            <a:pPr rtl="1" algn="r" indent="0" marL="0">
              <a:buNone/>
            </a:pPr>
            <a:r>
              <a:rPr lang="ar-SA" altLang="en-US" sz="1400" b="1" dirty="0">
                <a:solidFill>
                  <a:srgbClr val="F3F6FD"/>
                </a:solidFill>
                <a:latin typeface="IBM Plex Sans Arabic" pitchFamily="34" charset="0"/>
                <a:ea typeface="IBM Plex Sans Arabic" pitchFamily="34" charset="-122"/>
                <a:cs typeface="IBM Plex Sans Arabic" pitchFamily="34" charset="-120"/>
              </a:rPr>
              <a:t>إسراء حمد</a:t>
            </a:r>
            <a:endParaRPr lang="ar-SA" sz="1400" dirty="0"/>
          </a:p>
        </p:txBody>
      </p:sp>
      <p:sp>
        <p:nvSpPr>
          <p:cNvPr id="51" name="Shape 48"/>
          <p:cNvSpPr/>
          <p:nvPr/>
        </p:nvSpPr>
        <p:spPr>
          <a:xfrm>
            <a:off x="758952" y="3511296"/>
            <a:ext cx="1298448" cy="292608"/>
          </a:xfrm>
          <a:prstGeom prst="roundRect">
            <a:avLst>
              <a:gd name="adj" fmla="val 50000"/>
            </a:avLst>
          </a:prstGeom>
          <a:solidFill>
            <a:srgbClr val="2A1F0A"/>
          </a:solidFill>
          <a:ln w="9525">
            <a:solidFill>
              <a:srgbClr val="FFB547"/>
            </a:solidFill>
            <a:prstDash val="solid"/>
          </a:ln>
        </p:spPr>
      </p:sp>
      <p:sp>
        <p:nvSpPr>
          <p:cNvPr id="52" name="Text 49"/>
          <p:cNvSpPr txBox="1"/>
          <p:nvPr/>
        </p:nvSpPr>
        <p:spPr>
          <a:xfrm>
            <a:off x="758952" y="3511296"/>
            <a:ext cx="1298448" cy="292608"/>
          </a:xfrm>
          <a:prstGeom prst="rect">
            <a:avLst/>
          </a:prstGeom>
          <a:noFill/>
          <a:ln/>
        </p:spPr>
        <p:txBody>
          <a:bodyPr wrap="square" lIns="0" tIns="0" rIns="0" bIns="0" rtlCol="0" anchor="ctr"/>
          <a:lstStyle/>
          <a:p>
            <a:pPr rtl="1" algn="ctr" indent="0" marL="0">
              <a:buNone/>
            </a:pPr>
            <a:r>
              <a:rPr lang="ar-SA" altLang="en-US" sz="950" b="1" dirty="0">
                <a:solidFill>
                  <a:srgbClr val="FFB547"/>
                </a:solidFill>
                <a:latin typeface="IBM Plex Sans Arabic" pitchFamily="34" charset="0"/>
                <a:ea typeface="IBM Plex Sans Arabic" pitchFamily="34" charset="-122"/>
                <a:cs typeface="IBM Plex Sans Arabic" pitchFamily="34" charset="-120"/>
              </a:rPr>
              <a:t>الموعد: يُحدَّد اليوم</a:t>
            </a:r>
            <a:endParaRPr lang="ar-SA" sz="950" dirty="0"/>
          </a:p>
        </p:txBody>
      </p:sp>
      <p:sp>
        <p:nvSpPr>
          <p:cNvPr id="53" name="Text 50"/>
          <p:cNvSpPr txBox="1"/>
          <p:nvPr/>
        </p:nvSpPr>
        <p:spPr>
          <a:xfrm>
            <a:off x="777240" y="3895344"/>
            <a:ext cx="3149498" cy="420624"/>
          </a:xfrm>
          <a:prstGeom prst="rect">
            <a:avLst/>
          </a:prstGeom>
          <a:noFill/>
          <a:ln/>
        </p:spPr>
        <p:txBody>
          <a:bodyPr wrap="square" lIns="0" tIns="0" rIns="0" bIns="0" rtlCol="0" anchor="ctr"/>
          <a:lstStyle/>
          <a:p>
            <a:pPr algn="r" indent="0" marL="0">
              <a:buNone/>
            </a:pPr>
            <a:r>
              <a:rPr lang="ar-SA" altLang="en-US" sz="1200" b="1" dirty="0">
                <a:solidFill>
                  <a:srgbClr val="F3F6FD"/>
                </a:solidFill>
                <a:latin typeface="IBM Plex Sans Arabic" pitchFamily="34" charset="0"/>
                <a:ea typeface="IBM Plex Sans Arabic" pitchFamily="34" charset="-122"/>
                <a:cs typeface="IBM Plex Sans Arabic" pitchFamily="34" charset="-120"/>
              </a:rPr>
              <a:t>AI worker orchestration + Tracing</a:t>
            </a:r>
            <a:endParaRPr lang="ar-SA" sz="1200" dirty="0"/>
          </a:p>
        </p:txBody>
      </p:sp>
      <p:sp>
        <p:nvSpPr>
          <p:cNvPr id="54" name="Text 51"/>
          <p:cNvSpPr txBox="1"/>
          <p:nvPr/>
        </p:nvSpPr>
        <p:spPr>
          <a:xfrm>
            <a:off x="777240" y="4315968"/>
            <a:ext cx="3149498" cy="274320"/>
          </a:xfrm>
          <a:prstGeom prst="rect">
            <a:avLst/>
          </a:prstGeom>
          <a:noFill/>
          <a:ln/>
        </p:spPr>
        <p:txBody>
          <a:bodyPr wrap="square" lIns="0" tIns="0" rIns="0" bIns="0" rtlCol="0" anchor="t"/>
          <a:lstStyle/>
          <a:p>
            <a:pPr rtl="1" algn="r" indent="0" marL="0">
              <a:buNone/>
            </a:pPr>
            <a:r>
              <a:rPr lang="ar-SA" altLang="en-US" sz="1150" b="1" dirty="0">
                <a:solidFill>
                  <a:srgbClr val="3EE0F5"/>
                </a:solidFill>
                <a:latin typeface="IBM Plex Sans Arabic" pitchFamily="34" charset="0"/>
                <a:ea typeface="IBM Plex Sans Arabic" pitchFamily="34" charset="-122"/>
                <a:cs typeface="IBM Plex Sans Arabic" pitchFamily="34" charset="-120"/>
              </a:rPr>
              <a:t>شرط الخروج: </a:t>
            </a:r>
            <a:pPr rtl="1" algn="r" indent="0" marL="0">
              <a:buNone/>
            </a:pPr>
            <a:r>
              <a:rPr lang="ar-SA" altLang="en-US" sz="1150" dirty="0">
                <a:solidFill>
                  <a:srgbClr val="A9B7DA"/>
                </a:solidFill>
                <a:latin typeface="IBM Plex Sans Arabic" pitchFamily="34" charset="0"/>
                <a:ea typeface="IBM Plex Sans Arabic" pitchFamily="34" charset="-122"/>
                <a:cs typeface="IBM Plex Sans Arabic" pitchFamily="34" charset="-120"/>
              </a:rPr>
              <a:t>Async job trace ظاهر</a:t>
            </a:r>
            <a:endParaRPr lang="ar-SA" sz="1150" dirty="0"/>
          </a:p>
        </p:txBody>
      </p:sp>
      <p:sp>
        <p:nvSpPr>
          <p:cNvPr id="55" name="Shape 52"/>
          <p:cNvSpPr/>
          <p:nvPr/>
        </p:nvSpPr>
        <p:spPr>
          <a:xfrm>
            <a:off x="8082077" y="4837176"/>
            <a:ext cx="3515258" cy="1371600"/>
          </a:xfrm>
          <a:prstGeom prst="roundRect">
            <a:avLst>
              <a:gd name="adj" fmla="val 9333"/>
            </a:avLst>
          </a:prstGeom>
          <a:solidFill>
            <a:srgbClr val="0B1634"/>
          </a:solidFill>
          <a:ln w="9525">
            <a:solidFill>
              <a:srgbClr val="1E3570"/>
            </a:solidFill>
            <a:prstDash val="solid"/>
          </a:ln>
        </p:spPr>
      </p:sp>
      <p:sp>
        <p:nvSpPr>
          <p:cNvPr id="56" name="Shape 53"/>
          <p:cNvSpPr/>
          <p:nvPr/>
        </p:nvSpPr>
        <p:spPr>
          <a:xfrm>
            <a:off x="10993831" y="4992624"/>
            <a:ext cx="420624" cy="420624"/>
          </a:xfrm>
          <a:prstGeom prst="ellipse">
            <a:avLst/>
          </a:prstGeom>
          <a:solidFill>
            <a:srgbClr val="1F6FEB"/>
          </a:solidFill>
          <a:ln w="9525">
            <a:solidFill>
              <a:srgbClr val="2AA6F7"/>
            </a:solidFill>
            <a:prstDash val="solid"/>
          </a:ln>
        </p:spPr>
      </p:sp>
      <p:sp>
        <p:nvSpPr>
          <p:cNvPr id="57" name="Text 54"/>
          <p:cNvSpPr txBox="1"/>
          <p:nvPr/>
        </p:nvSpPr>
        <p:spPr>
          <a:xfrm>
            <a:off x="10993831" y="4974336"/>
            <a:ext cx="420624" cy="420624"/>
          </a:xfrm>
          <a:prstGeom prst="rect">
            <a:avLst/>
          </a:prstGeom>
          <a:noFill/>
          <a:ln/>
        </p:spPr>
        <p:txBody>
          <a:bodyPr wrap="square" lIns="0" tIns="0" rIns="0" bIns="0" rtlCol="0" anchor="ctr"/>
          <a:lstStyle/>
          <a:p>
            <a:pPr rtl="1" algn="ctr" indent="0" marL="0">
              <a:buNone/>
            </a:pPr>
            <a:r>
              <a:rPr lang="ar-SA" altLang="en-US" sz="1400" b="1" dirty="0">
                <a:solidFill>
                  <a:srgbClr val="F3F6FD"/>
                </a:solidFill>
                <a:latin typeface="IBM Plex Sans Arabic" pitchFamily="34" charset="0"/>
                <a:ea typeface="IBM Plex Sans Arabic" pitchFamily="34" charset="-122"/>
                <a:cs typeface="IBM Plex Sans Arabic" pitchFamily="34" charset="-120"/>
              </a:rPr>
              <a:t>ج</a:t>
            </a:r>
            <a:endParaRPr lang="ar-SA" sz="1400" dirty="0"/>
          </a:p>
        </p:txBody>
      </p:sp>
      <p:sp>
        <p:nvSpPr>
          <p:cNvPr id="58" name="Text 55"/>
          <p:cNvSpPr txBox="1"/>
          <p:nvPr/>
        </p:nvSpPr>
        <p:spPr>
          <a:xfrm>
            <a:off x="9545117" y="5020056"/>
            <a:ext cx="1366418" cy="365760"/>
          </a:xfrm>
          <a:prstGeom prst="rect">
            <a:avLst/>
          </a:prstGeom>
          <a:noFill/>
          <a:ln/>
        </p:spPr>
        <p:txBody>
          <a:bodyPr wrap="square" lIns="0" tIns="0" rIns="0" bIns="0" rtlCol="0" anchor="ctr"/>
          <a:lstStyle/>
          <a:p>
            <a:pPr rtl="1" algn="r" indent="0" marL="0">
              <a:buNone/>
            </a:pPr>
            <a:r>
              <a:rPr lang="ar-SA" altLang="en-US" sz="1400" b="1" dirty="0">
                <a:solidFill>
                  <a:srgbClr val="F3F6FD"/>
                </a:solidFill>
                <a:latin typeface="IBM Plex Sans Arabic" pitchFamily="34" charset="0"/>
                <a:ea typeface="IBM Plex Sans Arabic" pitchFamily="34" charset="-122"/>
                <a:cs typeface="IBM Plex Sans Arabic" pitchFamily="34" charset="-120"/>
              </a:rPr>
              <a:t>جنى</a:t>
            </a:r>
            <a:endParaRPr lang="ar-SA" sz="1400" dirty="0"/>
          </a:p>
        </p:txBody>
      </p:sp>
      <p:sp>
        <p:nvSpPr>
          <p:cNvPr id="59" name="Shape 56"/>
          <p:cNvSpPr/>
          <p:nvPr/>
        </p:nvSpPr>
        <p:spPr>
          <a:xfrm>
            <a:off x="8246669" y="5038344"/>
            <a:ext cx="1298448" cy="292608"/>
          </a:xfrm>
          <a:prstGeom prst="roundRect">
            <a:avLst>
              <a:gd name="adj" fmla="val 50000"/>
            </a:avLst>
          </a:prstGeom>
          <a:solidFill>
            <a:srgbClr val="2A1F0A"/>
          </a:solidFill>
          <a:ln w="9525">
            <a:solidFill>
              <a:srgbClr val="FFB547"/>
            </a:solidFill>
            <a:prstDash val="solid"/>
          </a:ln>
        </p:spPr>
      </p:sp>
      <p:sp>
        <p:nvSpPr>
          <p:cNvPr id="60" name="Text 57"/>
          <p:cNvSpPr txBox="1"/>
          <p:nvPr/>
        </p:nvSpPr>
        <p:spPr>
          <a:xfrm>
            <a:off x="8246669" y="5038344"/>
            <a:ext cx="1298448" cy="292608"/>
          </a:xfrm>
          <a:prstGeom prst="rect">
            <a:avLst/>
          </a:prstGeom>
          <a:noFill/>
          <a:ln/>
        </p:spPr>
        <p:txBody>
          <a:bodyPr wrap="square" lIns="0" tIns="0" rIns="0" bIns="0" rtlCol="0" anchor="ctr"/>
          <a:lstStyle/>
          <a:p>
            <a:pPr rtl="1" algn="ctr" indent="0" marL="0">
              <a:buNone/>
            </a:pPr>
            <a:r>
              <a:rPr lang="ar-SA" altLang="en-US" sz="950" b="1" dirty="0">
                <a:solidFill>
                  <a:srgbClr val="FFB547"/>
                </a:solidFill>
                <a:latin typeface="IBM Plex Sans Arabic" pitchFamily="34" charset="0"/>
                <a:ea typeface="IBM Plex Sans Arabic" pitchFamily="34" charset="-122"/>
                <a:cs typeface="IBM Plex Sans Arabic" pitchFamily="34" charset="-120"/>
              </a:rPr>
              <a:t>الموعد: يُحدَّد اليوم</a:t>
            </a:r>
            <a:endParaRPr lang="ar-SA" sz="950" dirty="0"/>
          </a:p>
        </p:txBody>
      </p:sp>
      <p:sp>
        <p:nvSpPr>
          <p:cNvPr id="61" name="Text 58"/>
          <p:cNvSpPr txBox="1"/>
          <p:nvPr/>
        </p:nvSpPr>
        <p:spPr>
          <a:xfrm>
            <a:off x="8264957" y="5422392"/>
            <a:ext cx="3149498" cy="420624"/>
          </a:xfrm>
          <a:prstGeom prst="rect">
            <a:avLst/>
          </a:prstGeom>
          <a:noFill/>
          <a:ln/>
        </p:spPr>
        <p:txBody>
          <a:bodyPr wrap="square" lIns="0" tIns="0" rIns="0" bIns="0" rtlCol="0" anchor="ctr"/>
          <a:lstStyle/>
          <a:p>
            <a:pPr algn="r" indent="0" marL="0">
              <a:buNone/>
            </a:pPr>
            <a:r>
              <a:rPr lang="ar-SA" altLang="en-US" sz="1200" b="1" dirty="0">
                <a:solidFill>
                  <a:srgbClr val="F3F6FD"/>
                </a:solidFill>
                <a:latin typeface="IBM Plex Sans Arabic" pitchFamily="34" charset="0"/>
                <a:ea typeface="IBM Plex Sans Arabic" pitchFamily="34" charset="-122"/>
                <a:cs typeface="IBM Plex Sans Arabic" pitchFamily="34" charset="-120"/>
              </a:rPr>
              <a:t>UX: Role Calibration + Signal Investigation</a:t>
            </a:r>
            <a:endParaRPr lang="ar-SA" sz="1200" dirty="0"/>
          </a:p>
        </p:txBody>
      </p:sp>
      <p:sp>
        <p:nvSpPr>
          <p:cNvPr id="62" name="Text 59"/>
          <p:cNvSpPr txBox="1"/>
          <p:nvPr/>
        </p:nvSpPr>
        <p:spPr>
          <a:xfrm>
            <a:off x="8264957" y="5843016"/>
            <a:ext cx="3149498" cy="274320"/>
          </a:xfrm>
          <a:prstGeom prst="rect">
            <a:avLst/>
          </a:prstGeom>
          <a:noFill/>
          <a:ln/>
        </p:spPr>
        <p:txBody>
          <a:bodyPr wrap="square" lIns="0" tIns="0" rIns="0" bIns="0" rtlCol="0" anchor="t"/>
          <a:lstStyle/>
          <a:p>
            <a:pPr rtl="1" algn="r" indent="0" marL="0">
              <a:buNone/>
            </a:pPr>
            <a:r>
              <a:rPr lang="ar-SA" altLang="en-US" sz="1150" b="1" dirty="0">
                <a:solidFill>
                  <a:srgbClr val="3EE0F5"/>
                </a:solidFill>
                <a:latin typeface="IBM Plex Sans Arabic" pitchFamily="34" charset="0"/>
                <a:ea typeface="IBM Plex Sans Arabic" pitchFamily="34" charset="-122"/>
                <a:cs typeface="IBM Plex Sans Arabic" pitchFamily="34" charset="-120"/>
              </a:rPr>
              <a:t>شرط الخروج: </a:t>
            </a:r>
            <a:pPr rtl="1" algn="r" indent="0" marL="0">
              <a:buNone/>
            </a:pPr>
            <a:r>
              <a:rPr lang="ar-SA" altLang="en-US" sz="1150" dirty="0">
                <a:solidFill>
                  <a:srgbClr val="A9B7DA"/>
                </a:solidFill>
                <a:latin typeface="IBM Plex Sans Arabic" pitchFamily="34" charset="0"/>
                <a:ea typeface="IBM Plex Sans Arabic" pitchFamily="34" charset="-122"/>
                <a:cs typeface="IBM Plex Sans Arabic" pitchFamily="34" charset="-120"/>
              </a:rPr>
              <a:t>Prototype معتمد</a:t>
            </a:r>
            <a:endParaRPr lang="ar-SA" sz="1150" dirty="0"/>
          </a:p>
        </p:txBody>
      </p:sp>
      <p:sp>
        <p:nvSpPr>
          <p:cNvPr id="63" name="Shape 60"/>
          <p:cNvSpPr/>
          <p:nvPr/>
        </p:nvSpPr>
        <p:spPr>
          <a:xfrm>
            <a:off x="4338218" y="4837176"/>
            <a:ext cx="3515258" cy="1371600"/>
          </a:xfrm>
          <a:prstGeom prst="roundRect">
            <a:avLst>
              <a:gd name="adj" fmla="val 9333"/>
            </a:avLst>
          </a:prstGeom>
          <a:solidFill>
            <a:srgbClr val="0B1634"/>
          </a:solidFill>
          <a:ln w="9525">
            <a:solidFill>
              <a:srgbClr val="1E3570"/>
            </a:solidFill>
            <a:prstDash val="solid"/>
          </a:ln>
        </p:spPr>
      </p:sp>
      <p:sp>
        <p:nvSpPr>
          <p:cNvPr id="64" name="Shape 61"/>
          <p:cNvSpPr/>
          <p:nvPr/>
        </p:nvSpPr>
        <p:spPr>
          <a:xfrm>
            <a:off x="7249973" y="4992624"/>
            <a:ext cx="420624" cy="420624"/>
          </a:xfrm>
          <a:prstGeom prst="ellipse">
            <a:avLst/>
          </a:prstGeom>
          <a:solidFill>
            <a:srgbClr val="1F6FEB"/>
          </a:solidFill>
          <a:ln w="9525">
            <a:solidFill>
              <a:srgbClr val="2AA6F7"/>
            </a:solidFill>
            <a:prstDash val="solid"/>
          </a:ln>
        </p:spPr>
      </p:sp>
      <p:sp>
        <p:nvSpPr>
          <p:cNvPr id="65" name="Text 62"/>
          <p:cNvSpPr txBox="1"/>
          <p:nvPr/>
        </p:nvSpPr>
        <p:spPr>
          <a:xfrm>
            <a:off x="7249973" y="4974336"/>
            <a:ext cx="420624" cy="420624"/>
          </a:xfrm>
          <a:prstGeom prst="rect">
            <a:avLst/>
          </a:prstGeom>
          <a:noFill/>
          <a:ln/>
        </p:spPr>
        <p:txBody>
          <a:bodyPr wrap="square" lIns="0" tIns="0" rIns="0" bIns="0" rtlCol="0" anchor="ctr"/>
          <a:lstStyle/>
          <a:p>
            <a:pPr rtl="1" algn="ctr" indent="0" marL="0">
              <a:buNone/>
            </a:pPr>
            <a:r>
              <a:rPr lang="ar-SA" altLang="en-US" sz="1400" b="1" dirty="0">
                <a:solidFill>
                  <a:srgbClr val="F3F6FD"/>
                </a:solidFill>
                <a:latin typeface="IBM Plex Sans Arabic" pitchFamily="34" charset="0"/>
                <a:ea typeface="IBM Plex Sans Arabic" pitchFamily="34" charset="-122"/>
                <a:cs typeface="IBM Plex Sans Arabic" pitchFamily="34" charset="-120"/>
              </a:rPr>
              <a:t>ع</a:t>
            </a:r>
            <a:endParaRPr lang="ar-SA" sz="1400" dirty="0"/>
          </a:p>
        </p:txBody>
      </p:sp>
      <p:sp>
        <p:nvSpPr>
          <p:cNvPr id="66" name="Text 63"/>
          <p:cNvSpPr txBox="1"/>
          <p:nvPr/>
        </p:nvSpPr>
        <p:spPr>
          <a:xfrm>
            <a:off x="5801258" y="5020056"/>
            <a:ext cx="1366418" cy="365760"/>
          </a:xfrm>
          <a:prstGeom prst="rect">
            <a:avLst/>
          </a:prstGeom>
          <a:noFill/>
          <a:ln/>
        </p:spPr>
        <p:txBody>
          <a:bodyPr wrap="square" lIns="0" tIns="0" rIns="0" bIns="0" rtlCol="0" anchor="ctr"/>
          <a:lstStyle/>
          <a:p>
            <a:pPr rtl="1" algn="r" indent="0" marL="0">
              <a:buNone/>
            </a:pPr>
            <a:r>
              <a:rPr lang="ar-SA" altLang="en-US" sz="1400" b="1" dirty="0">
                <a:solidFill>
                  <a:srgbClr val="F3F6FD"/>
                </a:solidFill>
                <a:latin typeface="IBM Plex Sans Arabic" pitchFamily="34" charset="0"/>
                <a:ea typeface="IBM Plex Sans Arabic" pitchFamily="34" charset="-122"/>
                <a:cs typeface="IBM Plex Sans Arabic" pitchFamily="34" charset="-120"/>
              </a:rPr>
              <a:t>عمار رمضان</a:t>
            </a:r>
            <a:endParaRPr lang="ar-SA" sz="1400" dirty="0"/>
          </a:p>
        </p:txBody>
      </p:sp>
      <p:sp>
        <p:nvSpPr>
          <p:cNvPr id="67" name="Shape 64"/>
          <p:cNvSpPr/>
          <p:nvPr/>
        </p:nvSpPr>
        <p:spPr>
          <a:xfrm>
            <a:off x="4502810" y="5038344"/>
            <a:ext cx="1298448" cy="292608"/>
          </a:xfrm>
          <a:prstGeom prst="roundRect">
            <a:avLst>
              <a:gd name="adj" fmla="val 50000"/>
            </a:avLst>
          </a:prstGeom>
          <a:solidFill>
            <a:srgbClr val="2A1F0A"/>
          </a:solidFill>
          <a:ln w="9525">
            <a:solidFill>
              <a:srgbClr val="FFB547"/>
            </a:solidFill>
            <a:prstDash val="solid"/>
          </a:ln>
        </p:spPr>
      </p:sp>
      <p:sp>
        <p:nvSpPr>
          <p:cNvPr id="68" name="Text 65"/>
          <p:cNvSpPr txBox="1"/>
          <p:nvPr/>
        </p:nvSpPr>
        <p:spPr>
          <a:xfrm>
            <a:off x="4502810" y="5038344"/>
            <a:ext cx="1298448" cy="292608"/>
          </a:xfrm>
          <a:prstGeom prst="rect">
            <a:avLst/>
          </a:prstGeom>
          <a:noFill/>
          <a:ln/>
        </p:spPr>
        <p:txBody>
          <a:bodyPr wrap="square" lIns="0" tIns="0" rIns="0" bIns="0" rtlCol="0" anchor="ctr"/>
          <a:lstStyle/>
          <a:p>
            <a:pPr rtl="1" algn="ctr" indent="0" marL="0">
              <a:buNone/>
            </a:pPr>
            <a:r>
              <a:rPr lang="ar-SA" altLang="en-US" sz="950" b="1" dirty="0">
                <a:solidFill>
                  <a:srgbClr val="FFB547"/>
                </a:solidFill>
                <a:latin typeface="IBM Plex Sans Arabic" pitchFamily="34" charset="0"/>
                <a:ea typeface="IBM Plex Sans Arabic" pitchFamily="34" charset="-122"/>
                <a:cs typeface="IBM Plex Sans Arabic" pitchFamily="34" charset="-120"/>
              </a:rPr>
              <a:t>الموعد: يُحدَّد اليوم</a:t>
            </a:r>
            <a:endParaRPr lang="ar-SA" sz="950" dirty="0"/>
          </a:p>
        </p:txBody>
      </p:sp>
      <p:sp>
        <p:nvSpPr>
          <p:cNvPr id="69" name="Text 66"/>
          <p:cNvSpPr txBox="1"/>
          <p:nvPr/>
        </p:nvSpPr>
        <p:spPr>
          <a:xfrm>
            <a:off x="4521098" y="5422392"/>
            <a:ext cx="3149498" cy="420624"/>
          </a:xfrm>
          <a:prstGeom prst="rect">
            <a:avLst/>
          </a:prstGeom>
          <a:noFill/>
          <a:ln/>
        </p:spPr>
        <p:txBody>
          <a:bodyPr wrap="square" lIns="0" tIns="0" rIns="0" bIns="0" rtlCol="0" anchor="ctr"/>
          <a:lstStyle/>
          <a:p>
            <a:pPr rtl="1" algn="r" indent="0" marL="0">
              <a:buNone/>
            </a:pPr>
            <a:r>
              <a:rPr lang="ar-SA" altLang="en-US" sz="1200" b="1" dirty="0">
                <a:solidFill>
                  <a:srgbClr val="F3F6FD"/>
                </a:solidFill>
                <a:latin typeface="IBM Plex Sans Arabic" pitchFamily="34" charset="0"/>
                <a:ea typeface="IBM Plex Sans Arabic" pitchFamily="34" charset="-122"/>
                <a:cs typeface="IBM Plex Sans Arabic" pitchFamily="34" charset="-120"/>
              </a:rPr>
              <a:t>App shell + أول شاشة Calibration</a:t>
            </a:r>
            <a:endParaRPr lang="ar-SA" sz="1200" dirty="0"/>
          </a:p>
        </p:txBody>
      </p:sp>
      <p:sp>
        <p:nvSpPr>
          <p:cNvPr id="70" name="Text 67"/>
          <p:cNvSpPr txBox="1"/>
          <p:nvPr/>
        </p:nvSpPr>
        <p:spPr>
          <a:xfrm>
            <a:off x="4521098" y="5843016"/>
            <a:ext cx="3149498" cy="274320"/>
          </a:xfrm>
          <a:prstGeom prst="rect">
            <a:avLst/>
          </a:prstGeom>
          <a:noFill/>
          <a:ln/>
        </p:spPr>
        <p:txBody>
          <a:bodyPr wrap="square" lIns="0" tIns="0" rIns="0" bIns="0" rtlCol="0" anchor="t"/>
          <a:lstStyle/>
          <a:p>
            <a:pPr rtl="1" algn="r" indent="0" marL="0">
              <a:buNone/>
            </a:pPr>
            <a:r>
              <a:rPr lang="ar-SA" altLang="en-US" sz="1150" b="1" dirty="0">
                <a:solidFill>
                  <a:srgbClr val="3EE0F5"/>
                </a:solidFill>
                <a:latin typeface="IBM Plex Sans Arabic" pitchFamily="34" charset="0"/>
                <a:ea typeface="IBM Plex Sans Arabic" pitchFamily="34" charset="-122"/>
                <a:cs typeface="IBM Plex Sans Arabic" pitchFamily="34" charset="-120"/>
              </a:rPr>
              <a:t>شرط الخروج: </a:t>
            </a:r>
            <a:pPr rtl="1" algn="r" indent="0" marL="0">
              <a:buNone/>
            </a:pPr>
            <a:r>
              <a:rPr lang="ar-SA" altLang="en-US" sz="1150" dirty="0">
                <a:solidFill>
                  <a:srgbClr val="A9B7DA"/>
                </a:solidFill>
                <a:latin typeface="IBM Plex Sans Arabic" pitchFamily="34" charset="0"/>
                <a:ea typeface="IBM Plex Sans Arabic" pitchFamily="34" charset="-122"/>
                <a:cs typeface="IBM Plex Sans Arabic" pitchFamily="34" charset="-120"/>
              </a:rPr>
              <a:t>شاشة متصلة بالـAPI</a:t>
            </a:r>
            <a:endParaRPr lang="ar-SA" sz="1150" dirty="0"/>
          </a:p>
        </p:txBody>
      </p:sp>
      <p:sp>
        <p:nvSpPr>
          <p:cNvPr id="71" name="Shape 68"/>
          <p:cNvSpPr/>
          <p:nvPr/>
        </p:nvSpPr>
        <p:spPr>
          <a:xfrm>
            <a:off x="594360" y="4837176"/>
            <a:ext cx="3515258" cy="1371600"/>
          </a:xfrm>
          <a:prstGeom prst="roundRect">
            <a:avLst>
              <a:gd name="adj" fmla="val 9333"/>
            </a:avLst>
          </a:prstGeom>
          <a:solidFill>
            <a:srgbClr val="0B1634"/>
          </a:solidFill>
          <a:ln w="9525">
            <a:solidFill>
              <a:srgbClr val="1E3570"/>
            </a:solidFill>
            <a:prstDash val="solid"/>
          </a:ln>
        </p:spPr>
      </p:sp>
      <p:sp>
        <p:nvSpPr>
          <p:cNvPr id="72" name="Shape 69"/>
          <p:cNvSpPr/>
          <p:nvPr/>
        </p:nvSpPr>
        <p:spPr>
          <a:xfrm>
            <a:off x="3506114" y="4992624"/>
            <a:ext cx="420624" cy="420624"/>
          </a:xfrm>
          <a:prstGeom prst="ellipse">
            <a:avLst/>
          </a:prstGeom>
          <a:solidFill>
            <a:srgbClr val="1F6FEB"/>
          </a:solidFill>
          <a:ln w="9525">
            <a:solidFill>
              <a:srgbClr val="2AA6F7"/>
            </a:solidFill>
            <a:prstDash val="solid"/>
          </a:ln>
        </p:spPr>
      </p:sp>
      <p:sp>
        <p:nvSpPr>
          <p:cNvPr id="73" name="Text 70"/>
          <p:cNvSpPr txBox="1"/>
          <p:nvPr/>
        </p:nvSpPr>
        <p:spPr>
          <a:xfrm>
            <a:off x="3506114" y="4974336"/>
            <a:ext cx="420624" cy="420624"/>
          </a:xfrm>
          <a:prstGeom prst="rect">
            <a:avLst/>
          </a:prstGeom>
          <a:noFill/>
          <a:ln/>
        </p:spPr>
        <p:txBody>
          <a:bodyPr wrap="square" lIns="0" tIns="0" rIns="0" bIns="0" rtlCol="0" anchor="ctr"/>
          <a:lstStyle/>
          <a:p>
            <a:pPr rtl="1" algn="ctr" indent="0" marL="0">
              <a:buNone/>
            </a:pPr>
            <a:r>
              <a:rPr lang="ar-SA" altLang="en-US" sz="1400" b="1" dirty="0">
                <a:solidFill>
                  <a:srgbClr val="F3F6FD"/>
                </a:solidFill>
                <a:latin typeface="IBM Plex Sans Arabic" pitchFamily="34" charset="0"/>
                <a:ea typeface="IBM Plex Sans Arabic" pitchFamily="34" charset="-122"/>
                <a:cs typeface="IBM Plex Sans Arabic" pitchFamily="34" charset="-120"/>
              </a:rPr>
              <a:t>أ</a:t>
            </a:r>
            <a:endParaRPr lang="ar-SA" sz="1400" dirty="0"/>
          </a:p>
        </p:txBody>
      </p:sp>
      <p:sp>
        <p:nvSpPr>
          <p:cNvPr id="74" name="Text 71"/>
          <p:cNvSpPr txBox="1"/>
          <p:nvPr/>
        </p:nvSpPr>
        <p:spPr>
          <a:xfrm>
            <a:off x="2057400" y="5020056"/>
            <a:ext cx="1366418" cy="365760"/>
          </a:xfrm>
          <a:prstGeom prst="rect">
            <a:avLst/>
          </a:prstGeom>
          <a:noFill/>
          <a:ln/>
        </p:spPr>
        <p:txBody>
          <a:bodyPr wrap="square" lIns="0" tIns="0" rIns="0" bIns="0" rtlCol="0" anchor="ctr"/>
          <a:lstStyle/>
          <a:p>
            <a:pPr rtl="1" algn="r" indent="0" marL="0">
              <a:buNone/>
            </a:pPr>
            <a:r>
              <a:rPr lang="ar-SA" altLang="en-US" sz="1400" b="1" dirty="0">
                <a:solidFill>
                  <a:srgbClr val="F3F6FD"/>
                </a:solidFill>
                <a:latin typeface="IBM Plex Sans Arabic" pitchFamily="34" charset="0"/>
                <a:ea typeface="IBM Plex Sans Arabic" pitchFamily="34" charset="-122"/>
                <a:cs typeface="IBM Plex Sans Arabic" pitchFamily="34" charset="-120"/>
              </a:rPr>
              <a:t>أحمد الغرابلي</a:t>
            </a:r>
            <a:endParaRPr lang="ar-SA" sz="1400" dirty="0"/>
          </a:p>
        </p:txBody>
      </p:sp>
      <p:sp>
        <p:nvSpPr>
          <p:cNvPr id="75" name="Shape 72"/>
          <p:cNvSpPr/>
          <p:nvPr/>
        </p:nvSpPr>
        <p:spPr>
          <a:xfrm>
            <a:off x="758952" y="5038344"/>
            <a:ext cx="1298448" cy="292608"/>
          </a:xfrm>
          <a:prstGeom prst="roundRect">
            <a:avLst>
              <a:gd name="adj" fmla="val 50000"/>
            </a:avLst>
          </a:prstGeom>
          <a:solidFill>
            <a:srgbClr val="2A1F0A"/>
          </a:solidFill>
          <a:ln w="9525">
            <a:solidFill>
              <a:srgbClr val="FFB547"/>
            </a:solidFill>
            <a:prstDash val="solid"/>
          </a:ln>
        </p:spPr>
      </p:sp>
      <p:sp>
        <p:nvSpPr>
          <p:cNvPr id="76" name="Text 73"/>
          <p:cNvSpPr txBox="1"/>
          <p:nvPr/>
        </p:nvSpPr>
        <p:spPr>
          <a:xfrm>
            <a:off x="758952" y="5038344"/>
            <a:ext cx="1298448" cy="292608"/>
          </a:xfrm>
          <a:prstGeom prst="rect">
            <a:avLst/>
          </a:prstGeom>
          <a:noFill/>
          <a:ln/>
        </p:spPr>
        <p:txBody>
          <a:bodyPr wrap="square" lIns="0" tIns="0" rIns="0" bIns="0" rtlCol="0" anchor="ctr"/>
          <a:lstStyle/>
          <a:p>
            <a:pPr rtl="1" algn="ctr" indent="0" marL="0">
              <a:buNone/>
            </a:pPr>
            <a:r>
              <a:rPr lang="ar-SA" altLang="en-US" sz="950" b="1" dirty="0">
                <a:solidFill>
                  <a:srgbClr val="FFB547"/>
                </a:solidFill>
                <a:latin typeface="IBM Plex Sans Arabic" pitchFamily="34" charset="0"/>
                <a:ea typeface="IBM Plex Sans Arabic" pitchFamily="34" charset="-122"/>
                <a:cs typeface="IBM Plex Sans Arabic" pitchFamily="34" charset="-120"/>
              </a:rPr>
              <a:t>الموعد: يُحدَّد اليوم</a:t>
            </a:r>
            <a:endParaRPr lang="ar-SA" sz="950" dirty="0"/>
          </a:p>
        </p:txBody>
      </p:sp>
      <p:sp>
        <p:nvSpPr>
          <p:cNvPr id="77" name="Text 74"/>
          <p:cNvSpPr txBox="1"/>
          <p:nvPr/>
        </p:nvSpPr>
        <p:spPr>
          <a:xfrm>
            <a:off x="777240" y="5422392"/>
            <a:ext cx="3149498" cy="420624"/>
          </a:xfrm>
          <a:prstGeom prst="rect">
            <a:avLst/>
          </a:prstGeom>
          <a:noFill/>
          <a:ln/>
        </p:spPr>
        <p:txBody>
          <a:bodyPr wrap="square" lIns="0" tIns="0" rIns="0" bIns="0" rtlCol="0" anchor="ctr"/>
          <a:lstStyle/>
          <a:p>
            <a:pPr rtl="1" algn="r" indent="0" marL="0">
              <a:buNone/>
            </a:pPr>
            <a:r>
              <a:rPr lang="ar-SA" altLang="en-US" sz="1200" b="1" dirty="0">
                <a:solidFill>
                  <a:srgbClr val="F3F6FD"/>
                </a:solidFill>
                <a:latin typeface="IBM Plex Sans Arabic" pitchFamily="34" charset="0"/>
                <a:ea typeface="IBM Plex Sans Arabic" pitchFamily="34" charset="-122"/>
                <a:cs typeface="IBM Plex Sans Arabic" pitchFamily="34" charset="-120"/>
              </a:rPr>
              <a:t>مذكرة نطاق الـMobile المؤجّل فقط</a:t>
            </a:r>
            <a:endParaRPr lang="ar-SA" sz="1200" dirty="0"/>
          </a:p>
        </p:txBody>
      </p:sp>
      <p:sp>
        <p:nvSpPr>
          <p:cNvPr id="78" name="Text 75"/>
          <p:cNvSpPr txBox="1"/>
          <p:nvPr/>
        </p:nvSpPr>
        <p:spPr>
          <a:xfrm>
            <a:off x="777240" y="5843016"/>
            <a:ext cx="3149498" cy="274320"/>
          </a:xfrm>
          <a:prstGeom prst="rect">
            <a:avLst/>
          </a:prstGeom>
          <a:noFill/>
          <a:ln/>
        </p:spPr>
        <p:txBody>
          <a:bodyPr wrap="square" lIns="0" tIns="0" rIns="0" bIns="0" rtlCol="0" anchor="t"/>
          <a:lstStyle/>
          <a:p>
            <a:pPr rtl="1" algn="r" indent="0" marL="0">
              <a:buNone/>
            </a:pPr>
            <a:r>
              <a:rPr lang="ar-SA" altLang="en-US" sz="1150" b="1" dirty="0">
                <a:solidFill>
                  <a:srgbClr val="3EE0F5"/>
                </a:solidFill>
                <a:latin typeface="IBM Plex Sans Arabic" pitchFamily="34" charset="0"/>
                <a:ea typeface="IBM Plex Sans Arabic" pitchFamily="34" charset="-122"/>
                <a:cs typeface="IBM Plex Sans Arabic" pitchFamily="34" charset="-120"/>
              </a:rPr>
              <a:t>شرط الخروج: </a:t>
            </a:r>
            <a:pPr rtl="1" algn="r" indent="0" marL="0">
              <a:buNone/>
            </a:pPr>
            <a:r>
              <a:rPr lang="ar-SA" altLang="en-US" sz="1150" dirty="0">
                <a:solidFill>
                  <a:srgbClr val="A9B7DA"/>
                </a:solidFill>
                <a:latin typeface="IBM Plex Sans Arabic" pitchFamily="34" charset="0"/>
                <a:ea typeface="IBM Plex Sans Arabic" pitchFamily="34" charset="-122"/>
                <a:cs typeface="IBM Plex Sans Arabic" pitchFamily="34" charset="-120"/>
              </a:rPr>
              <a:t>Deferred scope موثّق</a:t>
            </a:r>
            <a:endParaRPr lang="ar-SA"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508760" y="457200"/>
            <a:ext cx="10088575" cy="274320"/>
          </a:xfrm>
          <a:prstGeom prst="rect">
            <a:avLst/>
          </a:prstGeom>
          <a:noFill/>
          <a:ln/>
        </p:spPr>
        <p:txBody>
          <a:bodyPr wrap="square" lIns="0" tIns="0" rIns="0" bIns="0" rtlCol="0" anchor="t"/>
          <a:lstStyle/>
          <a:p>
            <a:pPr rtl="1" algn="r" indent="0" marL="0">
              <a:buNone/>
            </a:pPr>
            <a:r>
              <a:rPr lang="ar-SA" altLang="en-US" sz="1200" b="1" spc="100" kern="0" dirty="0">
                <a:solidFill>
                  <a:srgbClr val="3EE0F5"/>
                </a:solidFill>
                <a:latin typeface="IBM Plex Sans Arabic" pitchFamily="34" charset="0"/>
                <a:ea typeface="IBM Plex Sans Arabic" pitchFamily="34" charset="-122"/>
                <a:cs typeface="IBM Plex Sans Arabic" pitchFamily="34" charset="-120"/>
              </a:rPr>
              <a:t>10  ·  NEXT STEP — قرارات الاجتماع</a:t>
            </a:r>
            <a:endParaRPr lang="ar-SA" sz="1200" dirty="0"/>
          </a:p>
        </p:txBody>
      </p:sp>
      <p:sp>
        <p:nvSpPr>
          <p:cNvPr id="3" name="Text 1"/>
          <p:cNvSpPr txBox="1"/>
          <p:nvPr/>
        </p:nvSpPr>
        <p:spPr>
          <a:xfrm>
            <a:off x="1508760" y="731520"/>
            <a:ext cx="10088575" cy="640080"/>
          </a:xfrm>
          <a:prstGeom prst="rect">
            <a:avLst/>
          </a:prstGeom>
          <a:noFill/>
          <a:ln/>
        </p:spPr>
        <p:txBody>
          <a:bodyPr wrap="square" lIns="0" tIns="0" rIns="0" bIns="0" rtlCol="0" anchor="t"/>
          <a:lstStyle/>
          <a:p>
            <a:pPr rtl="1" algn="r" indent="0" marL="0">
              <a:buNone/>
            </a:pPr>
            <a:r>
              <a:rPr lang="ar-SA" altLang="en-US" sz="3200" b="1" dirty="0">
                <a:solidFill>
                  <a:srgbClr val="F3F6FD"/>
                </a:solidFill>
                <a:latin typeface="IBM Plex Sans Arabic" pitchFamily="34" charset="0"/>
                <a:ea typeface="IBM Plex Sans Arabic" pitchFamily="34" charset="-122"/>
                <a:cs typeface="IBM Plex Sans Arabic" pitchFamily="34" charset="-120"/>
              </a:rPr>
              <a:t>ما الذي نحسمه اليوم؟</a:t>
            </a:r>
            <a:endParaRPr lang="ar-SA" sz="3200" dirty="0"/>
          </a:p>
        </p:txBody>
      </p:sp>
      <p:pic>
        <p:nvPicPr>
          <p:cNvPr id="4" name="Image 0" descr="/tmp/claude-0/-home-user-ghassankmiqdad/d1991e4f-aee0-5e68-9a9d-3fc00accdf9d/scratchpad/build/assets/mark_sm.png">    </p:cNvPr>
          <p:cNvPicPr>
            <a:picLocks noChangeAspect="1"/>
          </p:cNvPicPr>
          <p:nvPr/>
        </p:nvPicPr>
        <p:blipFill>
          <a:blip r:embed="rId2"/>
          <a:stretch>
            <a:fillRect/>
          </a:stretch>
        </p:blipFill>
        <p:spPr>
          <a:xfrm>
            <a:off x="594360" y="475488"/>
            <a:ext cx="566928" cy="443515"/>
          </a:xfrm>
          <a:prstGeom prst="rect">
            <a:avLst/>
          </a:prstGeom>
        </p:spPr>
      </p:pic>
      <p:sp>
        <p:nvSpPr>
          <p:cNvPr id="5" name="Text 2"/>
          <p:cNvSpPr txBox="1"/>
          <p:nvPr/>
        </p:nvSpPr>
        <p:spPr>
          <a:xfrm>
            <a:off x="7939735" y="6400800"/>
            <a:ext cx="3657600" cy="228600"/>
          </a:xfrm>
          <a:prstGeom prst="rect">
            <a:avLst/>
          </a:prstGeom>
          <a:noFill/>
          <a:ln/>
        </p:spPr>
        <p:txBody>
          <a:bodyPr wrap="square" lIns="0" tIns="0" rIns="0" bIns="0" rtlCol="0" anchor="t"/>
          <a:lstStyle/>
          <a:p>
            <a:pPr rtl="1" algn="r" indent="0" marL="0">
              <a:buNone/>
            </a:pPr>
            <a:r>
              <a:rPr lang="ar-SA" altLang="en-US" sz="900" dirty="0">
                <a:solidFill>
                  <a:srgbClr val="6E7FAA"/>
                </a:solidFill>
                <a:latin typeface="IBM Plex Sans Arabic" pitchFamily="34" charset="0"/>
                <a:ea typeface="IBM Plex Sans Arabic" pitchFamily="34" charset="-122"/>
                <a:cs typeface="IBM Plex Sans Arabic" pitchFamily="34" charset="-120"/>
              </a:rPr>
              <a:t>NestHire · اجتماع الانطلاق</a:t>
            </a:r>
            <a:endParaRPr lang="ar-SA" sz="900" dirty="0"/>
          </a:p>
        </p:txBody>
      </p:sp>
      <p:sp>
        <p:nvSpPr>
          <p:cNvPr id="6" name="Text 3"/>
          <p:cNvSpPr txBox="1"/>
          <p:nvPr/>
        </p:nvSpPr>
        <p:spPr>
          <a:xfrm>
            <a:off x="594360" y="6400800"/>
            <a:ext cx="1097280" cy="228600"/>
          </a:xfrm>
          <a:prstGeom prst="rect">
            <a:avLst/>
          </a:prstGeom>
          <a:noFill/>
          <a:ln/>
        </p:spPr>
        <p:txBody>
          <a:bodyPr wrap="square" lIns="0" tIns="0" rIns="0" bIns="0" rtlCol="0" anchor="t"/>
          <a:lstStyle/>
          <a:p>
            <a:pPr algn="l" indent="0" marL="0">
              <a:buNone/>
            </a:pPr>
            <a:r>
              <a:rPr lang="ar-SA" altLang="en-US" sz="900" dirty="0">
                <a:solidFill>
                  <a:srgbClr val="6E7FAA"/>
                </a:solidFill>
                <a:latin typeface="IBM Plex Sans Arabic" pitchFamily="34" charset="0"/>
                <a:ea typeface="IBM Plex Sans Arabic" pitchFamily="34" charset="-122"/>
                <a:cs typeface="IBM Plex Sans Arabic" pitchFamily="34" charset="-120"/>
              </a:rPr>
              <a:t>17 / 18</a:t>
            </a:r>
            <a:endParaRPr lang="ar-SA" sz="900" dirty="0"/>
          </a:p>
        </p:txBody>
      </p:sp>
      <p:sp>
        <p:nvSpPr>
          <p:cNvPr id="7" name="Shape 4"/>
          <p:cNvSpPr/>
          <p:nvPr/>
        </p:nvSpPr>
        <p:spPr>
          <a:xfrm>
            <a:off x="4876495" y="1828800"/>
            <a:ext cx="6720840" cy="4315968"/>
          </a:xfrm>
          <a:prstGeom prst="roundRect">
            <a:avLst>
              <a:gd name="adj" fmla="val 2966"/>
            </a:avLst>
          </a:prstGeom>
          <a:solidFill>
            <a:srgbClr val="0B1634"/>
          </a:solidFill>
          <a:ln w="9525">
            <a:solidFill>
              <a:srgbClr val="1E3570"/>
            </a:solidFill>
            <a:prstDash val="solid"/>
          </a:ln>
        </p:spPr>
      </p:sp>
      <p:sp>
        <p:nvSpPr>
          <p:cNvPr id="8" name="Text 5"/>
          <p:cNvSpPr txBox="1"/>
          <p:nvPr/>
        </p:nvSpPr>
        <p:spPr>
          <a:xfrm>
            <a:off x="5150815" y="1993392"/>
            <a:ext cx="6172200" cy="329184"/>
          </a:xfrm>
          <a:prstGeom prst="rect">
            <a:avLst/>
          </a:prstGeom>
          <a:noFill/>
          <a:ln/>
        </p:spPr>
        <p:txBody>
          <a:bodyPr wrap="square" lIns="0" tIns="0" rIns="0" bIns="0" rtlCol="0" anchor="t"/>
          <a:lstStyle/>
          <a:p>
            <a:pPr rtl="1" algn="r" indent="0" marL="0">
              <a:buNone/>
            </a:pPr>
            <a:r>
              <a:rPr lang="ar-SA" altLang="en-US" sz="1500" b="1" dirty="0">
                <a:solidFill>
                  <a:srgbClr val="FFB547"/>
                </a:solidFill>
                <a:latin typeface="IBM Plex Sans Arabic" pitchFamily="34" charset="0"/>
                <a:ea typeface="IBM Plex Sans Arabic" pitchFamily="34" charset="-122"/>
                <a:cs typeface="IBM Plex Sans Arabic" pitchFamily="34" charset="-120"/>
              </a:rPr>
              <a:t>نحسمها اليوم · Decisions Required</a:t>
            </a:r>
            <a:endParaRPr lang="ar-SA" sz="1500" dirty="0"/>
          </a:p>
        </p:txBody>
      </p:sp>
      <p:sp>
        <p:nvSpPr>
          <p:cNvPr id="9" name="Shape 6"/>
          <p:cNvSpPr/>
          <p:nvPr/>
        </p:nvSpPr>
        <p:spPr>
          <a:xfrm>
            <a:off x="11048695" y="2523744"/>
            <a:ext cx="274320" cy="274320"/>
          </a:xfrm>
          <a:prstGeom prst="roundRect">
            <a:avLst>
              <a:gd name="adj" fmla="val 20000"/>
            </a:avLst>
          </a:prstGeom>
          <a:solidFill>
            <a:srgbClr val="050B1E"/>
          </a:solidFill>
          <a:ln w="12700">
            <a:solidFill>
              <a:srgbClr val="FFB547"/>
            </a:solidFill>
            <a:prstDash val="solid"/>
          </a:ln>
        </p:spPr>
      </p:sp>
      <p:sp>
        <p:nvSpPr>
          <p:cNvPr id="10" name="Text 7"/>
          <p:cNvSpPr txBox="1"/>
          <p:nvPr/>
        </p:nvSpPr>
        <p:spPr>
          <a:xfrm>
            <a:off x="10545775" y="2450592"/>
            <a:ext cx="411480" cy="420624"/>
          </a:xfrm>
          <a:prstGeom prst="rect">
            <a:avLst/>
          </a:prstGeom>
          <a:noFill/>
          <a:ln/>
        </p:spPr>
        <p:txBody>
          <a:bodyPr wrap="square" lIns="0" tIns="0" rIns="0" bIns="0" rtlCol="0" anchor="ctr"/>
          <a:lstStyle/>
          <a:p>
            <a:pPr algn="r" indent="0" marL="0">
              <a:buNone/>
            </a:pPr>
            <a:r>
              <a:rPr lang="ar-SA" altLang="en-US" sz="1200" b="1" dirty="0">
                <a:solidFill>
                  <a:srgbClr val="6E7FAA"/>
                </a:solidFill>
                <a:latin typeface="IBM Plex Sans Arabic" pitchFamily="34" charset="0"/>
                <a:ea typeface="IBM Plex Sans Arabic" pitchFamily="34" charset="-122"/>
                <a:cs typeface="IBM Plex Sans Arabic" pitchFamily="34" charset="-120"/>
              </a:rPr>
              <a:t>01</a:t>
            </a:r>
            <a:endParaRPr lang="ar-SA" sz="1200" dirty="0"/>
          </a:p>
        </p:txBody>
      </p:sp>
      <p:sp>
        <p:nvSpPr>
          <p:cNvPr id="11" name="Text 8"/>
          <p:cNvSpPr txBox="1"/>
          <p:nvPr/>
        </p:nvSpPr>
        <p:spPr>
          <a:xfrm>
            <a:off x="5150815" y="2450592"/>
            <a:ext cx="5303520" cy="420624"/>
          </a:xfrm>
          <a:prstGeom prst="rect">
            <a:avLst/>
          </a:prstGeom>
          <a:noFill/>
          <a:ln/>
        </p:spPr>
        <p:txBody>
          <a:bodyPr wrap="square" lIns="0" tIns="0" rIns="0" bIns="0" rtlCol="0" anchor="ctr"/>
          <a:lstStyle/>
          <a:p>
            <a:pPr rtl="1" algn="r" indent="0" marL="0">
              <a:buNone/>
            </a:pPr>
            <a:r>
              <a:rPr lang="ar-SA" altLang="en-US" sz="1400" dirty="0">
                <a:solidFill>
                  <a:srgbClr val="F3F6FD"/>
                </a:solidFill>
                <a:latin typeface="IBM Plex Sans Arabic" pitchFamily="34" charset="0"/>
                <a:ea typeface="IBM Plex Sans Arabic" pitchFamily="34" charset="-122"/>
                <a:cs typeface="IBM Plex Sans Arabic" pitchFamily="34" charset="-120"/>
              </a:rPr>
              <a:t>الاسم والهوية: NestHire أم Nest Hire؟ واعتماد الهوية البصرية</a:t>
            </a:r>
            <a:endParaRPr lang="ar-SA" sz="1400" dirty="0"/>
          </a:p>
        </p:txBody>
      </p:sp>
      <p:sp>
        <p:nvSpPr>
          <p:cNvPr id="12" name="Shape 9"/>
          <p:cNvSpPr/>
          <p:nvPr/>
        </p:nvSpPr>
        <p:spPr>
          <a:xfrm>
            <a:off x="11048695" y="2971800"/>
            <a:ext cx="274320" cy="274320"/>
          </a:xfrm>
          <a:prstGeom prst="roundRect">
            <a:avLst>
              <a:gd name="adj" fmla="val 20000"/>
            </a:avLst>
          </a:prstGeom>
          <a:solidFill>
            <a:srgbClr val="050B1E"/>
          </a:solidFill>
          <a:ln w="12700">
            <a:solidFill>
              <a:srgbClr val="FFB547"/>
            </a:solidFill>
            <a:prstDash val="solid"/>
          </a:ln>
        </p:spPr>
      </p:sp>
      <p:sp>
        <p:nvSpPr>
          <p:cNvPr id="13" name="Text 10"/>
          <p:cNvSpPr txBox="1"/>
          <p:nvPr/>
        </p:nvSpPr>
        <p:spPr>
          <a:xfrm>
            <a:off x="10545775" y="2898648"/>
            <a:ext cx="411480" cy="420624"/>
          </a:xfrm>
          <a:prstGeom prst="rect">
            <a:avLst/>
          </a:prstGeom>
          <a:noFill/>
          <a:ln/>
        </p:spPr>
        <p:txBody>
          <a:bodyPr wrap="square" lIns="0" tIns="0" rIns="0" bIns="0" rtlCol="0" anchor="ctr"/>
          <a:lstStyle/>
          <a:p>
            <a:pPr algn="r" indent="0" marL="0">
              <a:buNone/>
            </a:pPr>
            <a:r>
              <a:rPr lang="ar-SA" altLang="en-US" sz="1200" b="1" dirty="0">
                <a:solidFill>
                  <a:srgbClr val="6E7FAA"/>
                </a:solidFill>
                <a:latin typeface="IBM Plex Sans Arabic" pitchFamily="34" charset="0"/>
                <a:ea typeface="IBM Plex Sans Arabic" pitchFamily="34" charset="-122"/>
                <a:cs typeface="IBM Plex Sans Arabic" pitchFamily="34" charset="-120"/>
              </a:rPr>
              <a:t>02</a:t>
            </a:r>
            <a:endParaRPr lang="ar-SA" sz="1200" dirty="0"/>
          </a:p>
        </p:txBody>
      </p:sp>
      <p:sp>
        <p:nvSpPr>
          <p:cNvPr id="14" name="Text 11"/>
          <p:cNvSpPr txBox="1"/>
          <p:nvPr/>
        </p:nvSpPr>
        <p:spPr>
          <a:xfrm>
            <a:off x="5150815" y="2898648"/>
            <a:ext cx="5303520" cy="420624"/>
          </a:xfrm>
          <a:prstGeom prst="rect">
            <a:avLst/>
          </a:prstGeom>
          <a:noFill/>
          <a:ln/>
        </p:spPr>
        <p:txBody>
          <a:bodyPr wrap="square" lIns="0" tIns="0" rIns="0" bIns="0" rtlCol="0" anchor="ctr"/>
          <a:lstStyle/>
          <a:p>
            <a:pPr rtl="1" algn="r" indent="0" marL="0">
              <a:buNone/>
            </a:pPr>
            <a:r>
              <a:rPr lang="ar-SA" altLang="en-US" sz="1400" dirty="0">
                <a:solidFill>
                  <a:srgbClr val="F3F6FD"/>
                </a:solidFill>
                <a:latin typeface="IBM Plex Sans Arabic" pitchFamily="34" charset="0"/>
                <a:ea typeface="IBM Plex Sans Arabic" pitchFamily="34" charset="-122"/>
                <a:cs typeface="IBM Plex Sans Arabic" pitchFamily="34" charset="-120"/>
              </a:rPr>
              <a:t>تجميد نطاق MVP وتصنيف الخصائص: P0 · P1 · Not Now</a:t>
            </a:r>
            <a:endParaRPr lang="ar-SA" sz="1400" dirty="0"/>
          </a:p>
        </p:txBody>
      </p:sp>
      <p:sp>
        <p:nvSpPr>
          <p:cNvPr id="15" name="Shape 12"/>
          <p:cNvSpPr/>
          <p:nvPr/>
        </p:nvSpPr>
        <p:spPr>
          <a:xfrm>
            <a:off x="11048695" y="3419856"/>
            <a:ext cx="274320" cy="274320"/>
          </a:xfrm>
          <a:prstGeom prst="roundRect">
            <a:avLst>
              <a:gd name="adj" fmla="val 20000"/>
            </a:avLst>
          </a:prstGeom>
          <a:solidFill>
            <a:srgbClr val="050B1E"/>
          </a:solidFill>
          <a:ln w="12700">
            <a:solidFill>
              <a:srgbClr val="FFB547"/>
            </a:solidFill>
            <a:prstDash val="solid"/>
          </a:ln>
        </p:spPr>
      </p:sp>
      <p:sp>
        <p:nvSpPr>
          <p:cNvPr id="16" name="Text 13"/>
          <p:cNvSpPr txBox="1"/>
          <p:nvPr/>
        </p:nvSpPr>
        <p:spPr>
          <a:xfrm>
            <a:off x="10545775" y="3346704"/>
            <a:ext cx="411480" cy="420624"/>
          </a:xfrm>
          <a:prstGeom prst="rect">
            <a:avLst/>
          </a:prstGeom>
          <a:noFill/>
          <a:ln/>
        </p:spPr>
        <p:txBody>
          <a:bodyPr wrap="square" lIns="0" tIns="0" rIns="0" bIns="0" rtlCol="0" anchor="ctr"/>
          <a:lstStyle/>
          <a:p>
            <a:pPr algn="r" indent="0" marL="0">
              <a:buNone/>
            </a:pPr>
            <a:r>
              <a:rPr lang="ar-SA" altLang="en-US" sz="1200" b="1" dirty="0">
                <a:solidFill>
                  <a:srgbClr val="6E7FAA"/>
                </a:solidFill>
                <a:latin typeface="IBM Plex Sans Arabic" pitchFamily="34" charset="0"/>
                <a:ea typeface="IBM Plex Sans Arabic" pitchFamily="34" charset="-122"/>
                <a:cs typeface="IBM Plex Sans Arabic" pitchFamily="34" charset="-120"/>
              </a:rPr>
              <a:t>03</a:t>
            </a:r>
            <a:endParaRPr lang="ar-SA" sz="1200" dirty="0"/>
          </a:p>
        </p:txBody>
      </p:sp>
      <p:sp>
        <p:nvSpPr>
          <p:cNvPr id="17" name="Text 14"/>
          <p:cNvSpPr txBox="1"/>
          <p:nvPr/>
        </p:nvSpPr>
        <p:spPr>
          <a:xfrm>
            <a:off x="5150815" y="3346704"/>
            <a:ext cx="5303520" cy="420624"/>
          </a:xfrm>
          <a:prstGeom prst="rect">
            <a:avLst/>
          </a:prstGeom>
          <a:noFill/>
          <a:ln/>
        </p:spPr>
        <p:txBody>
          <a:bodyPr wrap="square" lIns="0" tIns="0" rIns="0" bIns="0" rtlCol="0" anchor="ctr"/>
          <a:lstStyle/>
          <a:p>
            <a:pPr rtl="1" algn="r" indent="0" marL="0">
              <a:buNone/>
            </a:pPr>
            <a:r>
              <a:rPr lang="ar-SA" altLang="en-US" sz="1400" dirty="0">
                <a:solidFill>
                  <a:srgbClr val="F3F6FD"/>
                </a:solidFill>
                <a:latin typeface="IBM Plex Sans Arabic" pitchFamily="34" charset="0"/>
                <a:ea typeface="IBM Plex Sans Arabic" pitchFamily="34" charset="-122"/>
                <a:cs typeface="IBM Plex Sans Arabic" pitchFamily="34" charset="-120"/>
              </a:rPr>
              <a:t>اعتماد Technology Stack المرجعي</a:t>
            </a:r>
            <a:endParaRPr lang="ar-SA" sz="1400" dirty="0"/>
          </a:p>
        </p:txBody>
      </p:sp>
      <p:sp>
        <p:nvSpPr>
          <p:cNvPr id="18" name="Shape 15"/>
          <p:cNvSpPr/>
          <p:nvPr/>
        </p:nvSpPr>
        <p:spPr>
          <a:xfrm>
            <a:off x="11048695" y="3867912"/>
            <a:ext cx="274320" cy="274320"/>
          </a:xfrm>
          <a:prstGeom prst="roundRect">
            <a:avLst>
              <a:gd name="adj" fmla="val 20000"/>
            </a:avLst>
          </a:prstGeom>
          <a:solidFill>
            <a:srgbClr val="050B1E"/>
          </a:solidFill>
          <a:ln w="12700">
            <a:solidFill>
              <a:srgbClr val="FFB547"/>
            </a:solidFill>
            <a:prstDash val="solid"/>
          </a:ln>
        </p:spPr>
      </p:sp>
      <p:sp>
        <p:nvSpPr>
          <p:cNvPr id="19" name="Text 16"/>
          <p:cNvSpPr txBox="1"/>
          <p:nvPr/>
        </p:nvSpPr>
        <p:spPr>
          <a:xfrm>
            <a:off x="10545775" y="3794760"/>
            <a:ext cx="411480" cy="420624"/>
          </a:xfrm>
          <a:prstGeom prst="rect">
            <a:avLst/>
          </a:prstGeom>
          <a:noFill/>
          <a:ln/>
        </p:spPr>
        <p:txBody>
          <a:bodyPr wrap="square" lIns="0" tIns="0" rIns="0" bIns="0" rtlCol="0" anchor="ctr"/>
          <a:lstStyle/>
          <a:p>
            <a:pPr algn="r" indent="0" marL="0">
              <a:buNone/>
            </a:pPr>
            <a:r>
              <a:rPr lang="ar-SA" altLang="en-US" sz="1200" b="1" dirty="0">
                <a:solidFill>
                  <a:srgbClr val="6E7FAA"/>
                </a:solidFill>
                <a:latin typeface="IBM Plex Sans Arabic" pitchFamily="34" charset="0"/>
                <a:ea typeface="IBM Plex Sans Arabic" pitchFamily="34" charset="-122"/>
                <a:cs typeface="IBM Plex Sans Arabic" pitchFamily="34" charset="-120"/>
              </a:rPr>
              <a:t>04</a:t>
            </a:r>
            <a:endParaRPr lang="ar-SA" sz="1200" dirty="0"/>
          </a:p>
        </p:txBody>
      </p:sp>
      <p:sp>
        <p:nvSpPr>
          <p:cNvPr id="20" name="Text 17"/>
          <p:cNvSpPr txBox="1"/>
          <p:nvPr/>
        </p:nvSpPr>
        <p:spPr>
          <a:xfrm>
            <a:off x="5150815" y="3794760"/>
            <a:ext cx="5303520" cy="420624"/>
          </a:xfrm>
          <a:prstGeom prst="rect">
            <a:avLst/>
          </a:prstGeom>
          <a:noFill/>
          <a:ln/>
        </p:spPr>
        <p:txBody>
          <a:bodyPr wrap="square" lIns="0" tIns="0" rIns="0" bIns="0" rtlCol="0" anchor="ctr"/>
          <a:lstStyle/>
          <a:p>
            <a:pPr rtl="1" algn="r" indent="0" marL="0">
              <a:buNone/>
            </a:pPr>
            <a:r>
              <a:rPr lang="ar-SA" altLang="en-US" sz="1400" dirty="0">
                <a:solidFill>
                  <a:srgbClr val="F3F6FD"/>
                </a:solidFill>
                <a:latin typeface="IBM Plex Sans Arabic" pitchFamily="34" charset="0"/>
                <a:ea typeface="IBM Plex Sans Arabic" pitchFamily="34" charset="-122"/>
                <a:cs typeface="IBM Plex Sans Arabic" pitchFamily="34" charset="-120"/>
              </a:rPr>
              <a:t>اعتماد Architecture: Modular Monolith أولًا</a:t>
            </a:r>
            <a:endParaRPr lang="ar-SA" sz="1400" dirty="0"/>
          </a:p>
        </p:txBody>
      </p:sp>
      <p:sp>
        <p:nvSpPr>
          <p:cNvPr id="21" name="Shape 18"/>
          <p:cNvSpPr/>
          <p:nvPr/>
        </p:nvSpPr>
        <p:spPr>
          <a:xfrm>
            <a:off x="11048695" y="4315968"/>
            <a:ext cx="274320" cy="274320"/>
          </a:xfrm>
          <a:prstGeom prst="roundRect">
            <a:avLst>
              <a:gd name="adj" fmla="val 20000"/>
            </a:avLst>
          </a:prstGeom>
          <a:solidFill>
            <a:srgbClr val="050B1E"/>
          </a:solidFill>
          <a:ln w="12700">
            <a:solidFill>
              <a:srgbClr val="FFB547"/>
            </a:solidFill>
            <a:prstDash val="solid"/>
          </a:ln>
        </p:spPr>
      </p:sp>
      <p:sp>
        <p:nvSpPr>
          <p:cNvPr id="22" name="Text 19"/>
          <p:cNvSpPr txBox="1"/>
          <p:nvPr/>
        </p:nvSpPr>
        <p:spPr>
          <a:xfrm>
            <a:off x="10545775" y="4242816"/>
            <a:ext cx="411480" cy="420624"/>
          </a:xfrm>
          <a:prstGeom prst="rect">
            <a:avLst/>
          </a:prstGeom>
          <a:noFill/>
          <a:ln/>
        </p:spPr>
        <p:txBody>
          <a:bodyPr wrap="square" lIns="0" tIns="0" rIns="0" bIns="0" rtlCol="0" anchor="ctr"/>
          <a:lstStyle/>
          <a:p>
            <a:pPr algn="r" indent="0" marL="0">
              <a:buNone/>
            </a:pPr>
            <a:r>
              <a:rPr lang="ar-SA" altLang="en-US" sz="1200" b="1" dirty="0">
                <a:solidFill>
                  <a:srgbClr val="6E7FAA"/>
                </a:solidFill>
                <a:latin typeface="IBM Plex Sans Arabic" pitchFamily="34" charset="0"/>
                <a:ea typeface="IBM Plex Sans Arabic" pitchFamily="34" charset="-122"/>
                <a:cs typeface="IBM Plex Sans Arabic" pitchFamily="34" charset="-120"/>
              </a:rPr>
              <a:t>05</a:t>
            </a:r>
            <a:endParaRPr lang="ar-SA" sz="1200" dirty="0"/>
          </a:p>
        </p:txBody>
      </p:sp>
      <p:sp>
        <p:nvSpPr>
          <p:cNvPr id="23" name="Text 20"/>
          <p:cNvSpPr txBox="1"/>
          <p:nvPr/>
        </p:nvSpPr>
        <p:spPr>
          <a:xfrm>
            <a:off x="5150815" y="4242816"/>
            <a:ext cx="5303520" cy="420624"/>
          </a:xfrm>
          <a:prstGeom prst="rect">
            <a:avLst/>
          </a:prstGeom>
          <a:noFill/>
          <a:ln/>
        </p:spPr>
        <p:txBody>
          <a:bodyPr wrap="square" lIns="0" tIns="0" rIns="0" bIns="0" rtlCol="0" anchor="ctr"/>
          <a:lstStyle/>
          <a:p>
            <a:pPr rtl="1" algn="r" indent="0" marL="0">
              <a:buNone/>
            </a:pPr>
            <a:r>
              <a:rPr lang="ar-SA" altLang="en-US" sz="1400" dirty="0">
                <a:solidFill>
                  <a:srgbClr val="F3F6FD"/>
                </a:solidFill>
                <a:latin typeface="IBM Plex Sans Arabic" pitchFamily="34" charset="0"/>
                <a:ea typeface="IBM Plex Sans Arabic" pitchFamily="34" charset="-122"/>
                <a:cs typeface="IBM Plex Sans Arabic" pitchFamily="34" charset="-120"/>
              </a:rPr>
              <a:t>تأكيد الأدوار وتعيين Owner لكل مهمة</a:t>
            </a:r>
            <a:endParaRPr lang="ar-SA" sz="1400" dirty="0"/>
          </a:p>
        </p:txBody>
      </p:sp>
      <p:sp>
        <p:nvSpPr>
          <p:cNvPr id="24" name="Shape 21"/>
          <p:cNvSpPr/>
          <p:nvPr/>
        </p:nvSpPr>
        <p:spPr>
          <a:xfrm>
            <a:off x="11048695" y="4764024"/>
            <a:ext cx="274320" cy="274320"/>
          </a:xfrm>
          <a:prstGeom prst="roundRect">
            <a:avLst>
              <a:gd name="adj" fmla="val 20000"/>
            </a:avLst>
          </a:prstGeom>
          <a:solidFill>
            <a:srgbClr val="050B1E"/>
          </a:solidFill>
          <a:ln w="12700">
            <a:solidFill>
              <a:srgbClr val="FFB547"/>
            </a:solidFill>
            <a:prstDash val="solid"/>
          </a:ln>
        </p:spPr>
      </p:sp>
      <p:sp>
        <p:nvSpPr>
          <p:cNvPr id="25" name="Text 22"/>
          <p:cNvSpPr txBox="1"/>
          <p:nvPr/>
        </p:nvSpPr>
        <p:spPr>
          <a:xfrm>
            <a:off x="10545775" y="4690872"/>
            <a:ext cx="411480" cy="420624"/>
          </a:xfrm>
          <a:prstGeom prst="rect">
            <a:avLst/>
          </a:prstGeom>
          <a:noFill/>
          <a:ln/>
        </p:spPr>
        <p:txBody>
          <a:bodyPr wrap="square" lIns="0" tIns="0" rIns="0" bIns="0" rtlCol="0" anchor="ctr"/>
          <a:lstStyle/>
          <a:p>
            <a:pPr algn="r" indent="0" marL="0">
              <a:buNone/>
            </a:pPr>
            <a:r>
              <a:rPr lang="ar-SA" altLang="en-US" sz="1200" b="1" dirty="0">
                <a:solidFill>
                  <a:srgbClr val="6E7FAA"/>
                </a:solidFill>
                <a:latin typeface="IBM Plex Sans Arabic" pitchFamily="34" charset="0"/>
                <a:ea typeface="IBM Plex Sans Arabic" pitchFamily="34" charset="-122"/>
                <a:cs typeface="IBM Plex Sans Arabic" pitchFamily="34" charset="-120"/>
              </a:rPr>
              <a:t>06</a:t>
            </a:r>
            <a:endParaRPr lang="ar-SA" sz="1200" dirty="0"/>
          </a:p>
        </p:txBody>
      </p:sp>
      <p:sp>
        <p:nvSpPr>
          <p:cNvPr id="26" name="Text 23"/>
          <p:cNvSpPr txBox="1"/>
          <p:nvPr/>
        </p:nvSpPr>
        <p:spPr>
          <a:xfrm>
            <a:off x="5150815" y="4690872"/>
            <a:ext cx="5303520" cy="420624"/>
          </a:xfrm>
          <a:prstGeom prst="rect">
            <a:avLst/>
          </a:prstGeom>
          <a:noFill/>
          <a:ln/>
        </p:spPr>
        <p:txBody>
          <a:bodyPr wrap="square" lIns="0" tIns="0" rIns="0" bIns="0" rtlCol="0" anchor="ctr"/>
          <a:lstStyle/>
          <a:p>
            <a:pPr rtl="1" algn="r" indent="0" marL="0">
              <a:buNone/>
            </a:pPr>
            <a:r>
              <a:rPr lang="ar-SA" altLang="en-US" sz="1400" dirty="0">
                <a:solidFill>
                  <a:srgbClr val="F3F6FD"/>
                </a:solidFill>
                <a:latin typeface="IBM Plex Sans Arabic" pitchFamily="34" charset="0"/>
                <a:ea typeface="IBM Plex Sans Arabic" pitchFamily="34" charset="-122"/>
                <a:cs typeface="IBM Plex Sans Arabic" pitchFamily="34" charset="-120"/>
              </a:rPr>
              <a:t>GitHub Workflow: تسمية الـBranches · قالب الـPR · المراجعون</a:t>
            </a:r>
            <a:endParaRPr lang="ar-SA" sz="1400" dirty="0"/>
          </a:p>
        </p:txBody>
      </p:sp>
      <p:sp>
        <p:nvSpPr>
          <p:cNvPr id="27" name="Shape 24"/>
          <p:cNvSpPr/>
          <p:nvPr/>
        </p:nvSpPr>
        <p:spPr>
          <a:xfrm>
            <a:off x="11048695" y="5212080"/>
            <a:ext cx="274320" cy="274320"/>
          </a:xfrm>
          <a:prstGeom prst="roundRect">
            <a:avLst>
              <a:gd name="adj" fmla="val 20000"/>
            </a:avLst>
          </a:prstGeom>
          <a:solidFill>
            <a:srgbClr val="050B1E"/>
          </a:solidFill>
          <a:ln w="12700">
            <a:solidFill>
              <a:srgbClr val="FFB547"/>
            </a:solidFill>
            <a:prstDash val="solid"/>
          </a:ln>
        </p:spPr>
      </p:sp>
      <p:sp>
        <p:nvSpPr>
          <p:cNvPr id="28" name="Text 25"/>
          <p:cNvSpPr txBox="1"/>
          <p:nvPr/>
        </p:nvSpPr>
        <p:spPr>
          <a:xfrm>
            <a:off x="10545775" y="5138928"/>
            <a:ext cx="411480" cy="420624"/>
          </a:xfrm>
          <a:prstGeom prst="rect">
            <a:avLst/>
          </a:prstGeom>
          <a:noFill/>
          <a:ln/>
        </p:spPr>
        <p:txBody>
          <a:bodyPr wrap="square" lIns="0" tIns="0" rIns="0" bIns="0" rtlCol="0" anchor="ctr"/>
          <a:lstStyle/>
          <a:p>
            <a:pPr algn="r" indent="0" marL="0">
              <a:buNone/>
            </a:pPr>
            <a:r>
              <a:rPr lang="ar-SA" altLang="en-US" sz="1200" b="1" dirty="0">
                <a:solidFill>
                  <a:srgbClr val="6E7FAA"/>
                </a:solidFill>
                <a:latin typeface="IBM Plex Sans Arabic" pitchFamily="34" charset="0"/>
                <a:ea typeface="IBM Plex Sans Arabic" pitchFamily="34" charset="-122"/>
                <a:cs typeface="IBM Plex Sans Arabic" pitchFamily="34" charset="-120"/>
              </a:rPr>
              <a:t>07</a:t>
            </a:r>
            <a:endParaRPr lang="ar-SA" sz="1200" dirty="0"/>
          </a:p>
        </p:txBody>
      </p:sp>
      <p:sp>
        <p:nvSpPr>
          <p:cNvPr id="29" name="Text 26"/>
          <p:cNvSpPr txBox="1"/>
          <p:nvPr/>
        </p:nvSpPr>
        <p:spPr>
          <a:xfrm>
            <a:off x="5150815" y="5138928"/>
            <a:ext cx="5303520" cy="420624"/>
          </a:xfrm>
          <a:prstGeom prst="rect">
            <a:avLst/>
          </a:prstGeom>
          <a:noFill/>
          <a:ln/>
        </p:spPr>
        <p:txBody>
          <a:bodyPr wrap="square" lIns="0" tIns="0" rIns="0" bIns="0" rtlCol="0" anchor="ctr"/>
          <a:lstStyle/>
          <a:p>
            <a:pPr rtl="1" algn="r" indent="0" marL="0">
              <a:buNone/>
            </a:pPr>
            <a:r>
              <a:rPr lang="ar-SA" altLang="en-US" sz="1400" dirty="0">
                <a:solidFill>
                  <a:srgbClr val="F3F6FD"/>
                </a:solidFill>
                <a:latin typeface="IBM Plex Sans Arabic" pitchFamily="34" charset="0"/>
                <a:ea typeface="IBM Plex Sans Arabic" pitchFamily="34" charset="-122"/>
                <a:cs typeface="IBM Plex Sans Arabic" pitchFamily="34" charset="-120"/>
              </a:rPr>
              <a:t>Timeline: مدة الـSprint وموعد كل مهمة أولى</a:t>
            </a:r>
            <a:endParaRPr lang="ar-SA" sz="1400" dirty="0"/>
          </a:p>
        </p:txBody>
      </p:sp>
      <p:sp>
        <p:nvSpPr>
          <p:cNvPr id="30" name="Shape 27"/>
          <p:cNvSpPr/>
          <p:nvPr/>
        </p:nvSpPr>
        <p:spPr>
          <a:xfrm>
            <a:off x="11048695" y="5660136"/>
            <a:ext cx="274320" cy="274320"/>
          </a:xfrm>
          <a:prstGeom prst="roundRect">
            <a:avLst>
              <a:gd name="adj" fmla="val 20000"/>
            </a:avLst>
          </a:prstGeom>
          <a:solidFill>
            <a:srgbClr val="050B1E"/>
          </a:solidFill>
          <a:ln w="12700">
            <a:solidFill>
              <a:srgbClr val="FFB547"/>
            </a:solidFill>
            <a:prstDash val="solid"/>
          </a:ln>
        </p:spPr>
      </p:sp>
      <p:sp>
        <p:nvSpPr>
          <p:cNvPr id="31" name="Text 28"/>
          <p:cNvSpPr txBox="1"/>
          <p:nvPr/>
        </p:nvSpPr>
        <p:spPr>
          <a:xfrm>
            <a:off x="10545775" y="5586984"/>
            <a:ext cx="411480" cy="420624"/>
          </a:xfrm>
          <a:prstGeom prst="rect">
            <a:avLst/>
          </a:prstGeom>
          <a:noFill/>
          <a:ln/>
        </p:spPr>
        <p:txBody>
          <a:bodyPr wrap="square" lIns="0" tIns="0" rIns="0" bIns="0" rtlCol="0" anchor="ctr"/>
          <a:lstStyle/>
          <a:p>
            <a:pPr algn="r" indent="0" marL="0">
              <a:buNone/>
            </a:pPr>
            <a:r>
              <a:rPr lang="ar-SA" altLang="en-US" sz="1200" b="1" dirty="0">
                <a:solidFill>
                  <a:srgbClr val="6E7FAA"/>
                </a:solidFill>
                <a:latin typeface="IBM Plex Sans Arabic" pitchFamily="34" charset="0"/>
                <a:ea typeface="IBM Plex Sans Arabic" pitchFamily="34" charset="-122"/>
                <a:cs typeface="IBM Plex Sans Arabic" pitchFamily="34" charset="-120"/>
              </a:rPr>
              <a:t>08</a:t>
            </a:r>
            <a:endParaRPr lang="ar-SA" sz="1200" dirty="0"/>
          </a:p>
        </p:txBody>
      </p:sp>
      <p:sp>
        <p:nvSpPr>
          <p:cNvPr id="32" name="Text 29"/>
          <p:cNvSpPr txBox="1"/>
          <p:nvPr/>
        </p:nvSpPr>
        <p:spPr>
          <a:xfrm>
            <a:off x="5150815" y="5586984"/>
            <a:ext cx="5303520" cy="420624"/>
          </a:xfrm>
          <a:prstGeom prst="rect">
            <a:avLst/>
          </a:prstGeom>
          <a:noFill/>
          <a:ln/>
        </p:spPr>
        <p:txBody>
          <a:bodyPr wrap="square" lIns="0" tIns="0" rIns="0" bIns="0" rtlCol="0" anchor="ctr"/>
          <a:lstStyle/>
          <a:p>
            <a:pPr rtl="1" algn="r" indent="0" marL="0">
              <a:buNone/>
            </a:pPr>
            <a:r>
              <a:rPr lang="ar-SA" altLang="en-US" sz="1400" dirty="0">
                <a:solidFill>
                  <a:srgbClr val="F3F6FD"/>
                </a:solidFill>
                <a:latin typeface="IBM Plex Sans Arabic" pitchFamily="34" charset="0"/>
                <a:ea typeface="IBM Plex Sans Arabic" pitchFamily="34" charset="-122"/>
                <a:cs typeface="IBM Plex Sans Arabic" pitchFamily="34" charset="-120"/>
              </a:rPr>
              <a:t>آلية المتابعة: التحديث اليومي والمراجعة الأسبوعية</a:t>
            </a:r>
            <a:endParaRPr lang="ar-SA" sz="1400" dirty="0"/>
          </a:p>
        </p:txBody>
      </p:sp>
      <p:sp>
        <p:nvSpPr>
          <p:cNvPr id="33" name="Shape 30"/>
          <p:cNvSpPr/>
          <p:nvPr/>
        </p:nvSpPr>
        <p:spPr>
          <a:xfrm>
            <a:off x="594360" y="1828800"/>
            <a:ext cx="4007815" cy="4315968"/>
          </a:xfrm>
          <a:prstGeom prst="roundRect">
            <a:avLst>
              <a:gd name="adj" fmla="val 3194"/>
            </a:avLst>
          </a:prstGeom>
          <a:solidFill>
            <a:srgbClr val="0B1634"/>
          </a:solidFill>
          <a:ln w="9525">
            <a:solidFill>
              <a:srgbClr val="1E3570"/>
            </a:solidFill>
            <a:prstDash val="dash"/>
          </a:ln>
        </p:spPr>
      </p:sp>
      <p:sp>
        <p:nvSpPr>
          <p:cNvPr id="34" name="Text 31"/>
          <p:cNvSpPr txBox="1"/>
          <p:nvPr/>
        </p:nvSpPr>
        <p:spPr>
          <a:xfrm>
            <a:off x="822960" y="1993392"/>
            <a:ext cx="3550615" cy="329184"/>
          </a:xfrm>
          <a:prstGeom prst="rect">
            <a:avLst/>
          </a:prstGeom>
          <a:noFill/>
          <a:ln/>
        </p:spPr>
        <p:txBody>
          <a:bodyPr wrap="square" lIns="0" tIns="0" rIns="0" bIns="0" rtlCol="0" anchor="t"/>
          <a:lstStyle/>
          <a:p>
            <a:pPr rtl="1" algn="r" indent="0" marL="0">
              <a:buNone/>
            </a:pPr>
            <a:r>
              <a:rPr lang="ar-SA" altLang="en-US" sz="1500" b="1" dirty="0">
                <a:solidFill>
                  <a:srgbClr val="A9B7DA"/>
                </a:solidFill>
                <a:latin typeface="IBM Plex Sans Arabic" pitchFamily="34" charset="0"/>
                <a:ea typeface="IBM Plex Sans Arabic" pitchFamily="34" charset="-122"/>
                <a:cs typeface="IBM Plex Sans Arabic" pitchFamily="34" charset="-120"/>
              </a:rPr>
              <a:t>تبقى مفتوحة — لا نخترع إجابتها</a:t>
            </a:r>
            <a:endParaRPr lang="ar-SA" sz="1500" dirty="0"/>
          </a:p>
        </p:txBody>
      </p:sp>
      <p:sp>
        <p:nvSpPr>
          <p:cNvPr id="35" name="Text 32"/>
          <p:cNvSpPr txBox="1"/>
          <p:nvPr/>
        </p:nvSpPr>
        <p:spPr>
          <a:xfrm>
            <a:off x="822960" y="2514600"/>
            <a:ext cx="3550615" cy="2560320"/>
          </a:xfrm>
          <a:prstGeom prst="rect">
            <a:avLst/>
          </a:prstGeom>
          <a:noFill/>
          <a:ln/>
        </p:spPr>
        <p:txBody>
          <a:bodyPr wrap="square" lIns="0" tIns="0" rIns="0" bIns="0" rtlCol="0" anchor="t"/>
          <a:lstStyle/>
          <a:p>
            <a:pPr rtl="1" algn="r" marL="177800" indent="-177800">
              <a:spcAft>
                <a:spcPts val="900"/>
              </a:spcAft>
              <a:buSzPct val="100000"/>
              <a:buChar char="○"/>
            </a:pPr>
            <a:r>
              <a:rPr lang="ar-SA" altLang="en-US" sz="1400" dirty="0">
                <a:solidFill>
                  <a:srgbClr val="F3F6FD"/>
                </a:solidFill>
                <a:latin typeface="IBM Plex Sans Arabic" pitchFamily="34" charset="0"/>
                <a:ea typeface="IBM Plex Sans Arabic" pitchFamily="34" charset="-122"/>
                <a:cs typeface="IBM Plex Sans Arabic" pitchFamily="34" charset="-120"/>
              </a:rPr>
              <a:t>أول ICP وأول Role نبدأ به الـPilot</a:t>
            </a:r>
            <a:endParaRPr lang="ar-SA" sz="1400" dirty="0"/>
          </a:p>
          <a:p>
            <a:pPr rtl="1" algn="r" marL="177800" indent="-177800">
              <a:spcAft>
                <a:spcPts val="900"/>
              </a:spcAft>
              <a:buSzPct val="100000"/>
              <a:buChar char="○"/>
            </a:pPr>
            <a:r>
              <a:rPr lang="ar-SA" altLang="en-US" sz="1400" dirty="0">
                <a:solidFill>
                  <a:srgbClr val="F3F6FD"/>
                </a:solidFill>
                <a:latin typeface="IBM Plex Sans Arabic" pitchFamily="34" charset="0"/>
                <a:ea typeface="IBM Plex Sans Arabic" pitchFamily="34" charset="-122"/>
                <a:cs typeface="IBM Plex Sans Arabic" pitchFamily="34" charset="-120"/>
              </a:rPr>
              <a:t>أول Outcome سنقيسه</a:t>
            </a:r>
            <a:endParaRPr lang="ar-SA" sz="1400" dirty="0"/>
          </a:p>
          <a:p>
            <a:pPr rtl="1" algn="r" marL="177800" indent="-177800">
              <a:spcAft>
                <a:spcPts val="900"/>
              </a:spcAft>
              <a:buSzPct val="100000"/>
              <a:buChar char="○"/>
            </a:pPr>
            <a:r>
              <a:rPr lang="ar-SA" altLang="en-US" sz="1400" dirty="0">
                <a:solidFill>
                  <a:srgbClr val="F3F6FD"/>
                </a:solidFill>
                <a:latin typeface="IBM Plex Sans Arabic" pitchFamily="34" charset="0"/>
                <a:ea typeface="IBM Plex Sans Arabic" pitchFamily="34" charset="-122"/>
                <a:cs typeface="IBM Plex Sans Arabic" pitchFamily="34" charset="-120"/>
              </a:rPr>
              <a:t>الحد الأدنى لحجم الـCohort</a:t>
            </a:r>
            <a:endParaRPr lang="ar-SA" sz="1400" dirty="0"/>
          </a:p>
          <a:p>
            <a:pPr rtl="1" algn="r" marL="177800" indent="-177800">
              <a:spcAft>
                <a:spcPts val="900"/>
              </a:spcAft>
              <a:buSzPct val="100000"/>
              <a:buChar char="○"/>
            </a:pPr>
            <a:r>
              <a:rPr lang="ar-SA" altLang="en-US" sz="1400" dirty="0">
                <a:solidFill>
                  <a:srgbClr val="F3F6FD"/>
                </a:solidFill>
                <a:latin typeface="IBM Plex Sans Arabic" pitchFamily="34" charset="0"/>
                <a:ea typeface="IBM Plex Sans Arabic" pitchFamily="34" charset="-122"/>
                <a:cs typeface="IBM Plex Sans Arabic" pitchFamily="34" charset="-120"/>
              </a:rPr>
              <a:t>التسعير والاستعداد للدفع</a:t>
            </a:r>
            <a:endParaRPr lang="ar-SA" sz="1400" dirty="0"/>
          </a:p>
          <a:p>
            <a:pPr rtl="1" algn="r" marL="177800" indent="-177800">
              <a:spcAft>
                <a:spcPts val="900"/>
              </a:spcAft>
              <a:buSzPct val="100000"/>
              <a:buChar char="○"/>
            </a:pPr>
            <a:r>
              <a:rPr lang="ar-SA" altLang="en-US" sz="1400" dirty="0">
                <a:solidFill>
                  <a:srgbClr val="F3F6FD"/>
                </a:solidFill>
                <a:latin typeface="IBM Plex Sans Arabic" pitchFamily="34" charset="0"/>
                <a:ea typeface="IBM Plex Sans Arabic" pitchFamily="34" charset="-122"/>
                <a:cs typeface="IBM Plex Sans Arabic" pitchFamily="34" charset="-120"/>
              </a:rPr>
              <a:t>أول ATS/HRIS Connector بعد CSV</a:t>
            </a:r>
            <a:endParaRPr lang="ar-SA" sz="1400" dirty="0"/>
          </a:p>
        </p:txBody>
      </p:sp>
      <p:sp>
        <p:nvSpPr>
          <p:cNvPr id="36" name="Shape 33"/>
          <p:cNvSpPr/>
          <p:nvPr/>
        </p:nvSpPr>
        <p:spPr>
          <a:xfrm>
            <a:off x="777240" y="5349240"/>
            <a:ext cx="3642055" cy="566928"/>
          </a:xfrm>
          <a:prstGeom prst="roundRect">
            <a:avLst>
              <a:gd name="adj" fmla="val 19355"/>
            </a:avLst>
          </a:prstGeom>
          <a:solidFill>
            <a:srgbClr val="050B1E"/>
          </a:solidFill>
          <a:ln w="9525">
            <a:solidFill>
              <a:srgbClr val="1E3570"/>
            </a:solidFill>
            <a:prstDash val="solid"/>
          </a:ln>
        </p:spPr>
      </p:sp>
      <p:sp>
        <p:nvSpPr>
          <p:cNvPr id="37" name="Text 34"/>
          <p:cNvSpPr txBox="1"/>
          <p:nvPr/>
        </p:nvSpPr>
        <p:spPr>
          <a:xfrm>
            <a:off x="868680" y="5349240"/>
            <a:ext cx="3459175" cy="566928"/>
          </a:xfrm>
          <a:prstGeom prst="rect">
            <a:avLst/>
          </a:prstGeom>
          <a:noFill/>
          <a:ln/>
        </p:spPr>
        <p:txBody>
          <a:bodyPr wrap="square" lIns="0" tIns="0" rIns="0" bIns="0" rtlCol="0" anchor="ctr"/>
          <a:lstStyle/>
          <a:p>
            <a:pPr rtl="1" algn="ctr" indent="0" marL="0">
              <a:buNone/>
            </a:pPr>
            <a:r>
              <a:rPr lang="ar-SA" altLang="en-US" sz="1250" b="1" dirty="0">
                <a:solidFill>
                  <a:srgbClr val="3EE0F5"/>
                </a:solidFill>
                <a:latin typeface="IBM Plex Sans Arabic" pitchFamily="34" charset="0"/>
                <a:ea typeface="IBM Plex Sans Arabic" pitchFamily="34" charset="-122"/>
                <a:cs typeface="IBM Plex Sans Arabic" pitchFamily="34" charset="-120"/>
              </a:rPr>
              <a:t>تُحسم عبر Customer Discovery والـPilot، لا بالرأي.</a:t>
            </a:r>
            <a:endParaRPr lang="ar-SA"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ghassankmiqdad/d1991e4f-aee0-5e68-9a9d-3fc00accdf9d/scratchpad/build/assets/mark.png">    </p:cNvPr>
          <p:cNvPicPr>
            <a:picLocks noChangeAspect="1"/>
          </p:cNvPicPr>
          <p:nvPr/>
        </p:nvPicPr>
        <p:blipFill>
          <a:blip r:embed="rId2"/>
          <a:stretch>
            <a:fillRect/>
          </a:stretch>
        </p:blipFill>
        <p:spPr>
          <a:xfrm>
            <a:off x="5181448" y="685800"/>
            <a:ext cx="1828800" cy="1430694"/>
          </a:xfrm>
          <a:prstGeom prst="rect">
            <a:avLst/>
          </a:prstGeom>
        </p:spPr>
      </p:pic>
      <p:sp>
        <p:nvSpPr>
          <p:cNvPr id="3" name="Text 0"/>
          <p:cNvSpPr txBox="1"/>
          <p:nvPr/>
        </p:nvSpPr>
        <p:spPr>
          <a:xfrm>
            <a:off x="594360" y="2286000"/>
            <a:ext cx="11002975" cy="914400"/>
          </a:xfrm>
          <a:prstGeom prst="rect">
            <a:avLst/>
          </a:prstGeom>
          <a:noFill/>
          <a:ln/>
        </p:spPr>
        <p:txBody>
          <a:bodyPr wrap="square" lIns="0" tIns="0" rIns="0" bIns="0" rtlCol="0" anchor="t"/>
          <a:lstStyle/>
          <a:p>
            <a:pPr rtl="1" algn="ctr" indent="0" marL="0">
              <a:buNone/>
            </a:pPr>
            <a:r>
              <a:rPr lang="ar-SA" altLang="en-US" sz="5200" b="1" dirty="0">
                <a:solidFill>
                  <a:srgbClr val="F3F6FD"/>
                </a:solidFill>
                <a:latin typeface="IBM Plex Sans Arabic" pitchFamily="34" charset="0"/>
                <a:ea typeface="IBM Plex Sans Arabic" pitchFamily="34" charset="-122"/>
                <a:cs typeface="IBM Plex Sans Arabic" pitchFamily="34" charset="-120"/>
              </a:rPr>
              <a:t>لنبدأ البناء.</a:t>
            </a:r>
            <a:endParaRPr lang="ar-SA" sz="5200" dirty="0"/>
          </a:p>
        </p:txBody>
      </p:sp>
      <p:sp>
        <p:nvSpPr>
          <p:cNvPr id="4" name="Text 1"/>
          <p:cNvSpPr txBox="1"/>
          <p:nvPr/>
        </p:nvSpPr>
        <p:spPr>
          <a:xfrm>
            <a:off x="594360" y="3154680"/>
            <a:ext cx="11002975" cy="411480"/>
          </a:xfrm>
          <a:prstGeom prst="rect">
            <a:avLst/>
          </a:prstGeom>
          <a:noFill/>
          <a:ln/>
        </p:spPr>
        <p:txBody>
          <a:bodyPr wrap="square" lIns="0" tIns="0" rIns="0" bIns="0" rtlCol="0" anchor="t"/>
          <a:lstStyle/>
          <a:p>
            <a:pPr algn="ctr" indent="0" marL="0">
              <a:buNone/>
            </a:pPr>
            <a:r>
              <a:rPr lang="ar-SA" altLang="en-US" sz="2000" b="1" dirty="0">
                <a:solidFill>
                  <a:srgbClr val="3EE0F5"/>
                </a:solidFill>
                <a:latin typeface="IBM Plex Sans Arabic" pitchFamily="34" charset="0"/>
                <a:ea typeface="IBM Plex Sans Arabic" pitchFamily="34" charset="-122"/>
                <a:cs typeface="IBM Plex Sans Arabic" pitchFamily="34" charset="-120"/>
              </a:rPr>
              <a:t>Let's Build It.</a:t>
            </a:r>
            <a:endParaRPr lang="ar-SA" sz="2000" dirty="0"/>
          </a:p>
        </p:txBody>
      </p:sp>
      <p:sp>
        <p:nvSpPr>
          <p:cNvPr id="5" name="Text 2"/>
          <p:cNvSpPr txBox="1"/>
          <p:nvPr/>
        </p:nvSpPr>
        <p:spPr>
          <a:xfrm>
            <a:off x="594360" y="3657600"/>
            <a:ext cx="11002975" cy="411480"/>
          </a:xfrm>
          <a:prstGeom prst="rect">
            <a:avLst/>
          </a:prstGeom>
          <a:noFill/>
          <a:ln/>
        </p:spPr>
        <p:txBody>
          <a:bodyPr wrap="square" lIns="0" tIns="0" rIns="0" bIns="0" rtlCol="0" anchor="t"/>
          <a:lstStyle/>
          <a:p>
            <a:pPr rtl="1" algn="ctr" indent="0" marL="0">
              <a:buNone/>
            </a:pPr>
            <a:r>
              <a:rPr lang="ar-SA" altLang="en-US" sz="1700" dirty="0">
                <a:solidFill>
                  <a:srgbClr val="A9B7DA"/>
                </a:solidFill>
                <a:latin typeface="IBM Plex Sans Arabic" pitchFamily="34" charset="0"/>
                <a:ea typeface="IBM Plex Sans Arabic" pitchFamily="34" charset="-122"/>
                <a:cs typeface="IBM Plex Sans Arabic" pitchFamily="34" charset="-120"/>
              </a:rPr>
              <a:t>نظام توظيف يتعلّم من الأدلة والنتائج… ويتحسّن مع كل دفعة.</a:t>
            </a:r>
            <a:endParaRPr lang="ar-SA" sz="1700" dirty="0"/>
          </a:p>
        </p:txBody>
      </p:sp>
      <p:sp>
        <p:nvSpPr>
          <p:cNvPr id="6" name="Shape 3"/>
          <p:cNvSpPr/>
          <p:nvPr/>
        </p:nvSpPr>
        <p:spPr>
          <a:xfrm>
            <a:off x="9018041" y="4617720"/>
            <a:ext cx="2579294" cy="1188720"/>
          </a:xfrm>
          <a:prstGeom prst="roundRect">
            <a:avLst>
              <a:gd name="adj" fmla="val 10769"/>
            </a:avLst>
          </a:prstGeom>
          <a:solidFill>
            <a:srgbClr val="0B1634">
              <a:alpha val="85000"/>
            </a:srgbClr>
          </a:solidFill>
          <a:ln w="9525">
            <a:solidFill>
              <a:srgbClr val="1E3570"/>
            </a:solidFill>
            <a:prstDash val="solid"/>
          </a:ln>
        </p:spPr>
      </p:sp>
      <p:sp>
        <p:nvSpPr>
          <p:cNvPr id="7" name="Text 4"/>
          <p:cNvSpPr txBox="1"/>
          <p:nvPr/>
        </p:nvSpPr>
        <p:spPr>
          <a:xfrm>
            <a:off x="9200921" y="4782312"/>
            <a:ext cx="2213534" cy="347472"/>
          </a:xfrm>
          <a:prstGeom prst="rect">
            <a:avLst/>
          </a:prstGeom>
          <a:noFill/>
          <a:ln/>
        </p:spPr>
        <p:txBody>
          <a:bodyPr wrap="square" lIns="0" tIns="0" rIns="0" bIns="0" rtlCol="0" anchor="t"/>
          <a:lstStyle/>
          <a:p>
            <a:pPr rtl="1" algn="ctr" indent="0" marL="0">
              <a:buNone/>
            </a:pPr>
            <a:r>
              <a:rPr lang="ar-SA" altLang="en-US" sz="1600" b="1" dirty="0">
                <a:solidFill>
                  <a:srgbClr val="3EE0F5"/>
                </a:solidFill>
                <a:latin typeface="IBM Plex Sans Arabic" pitchFamily="34" charset="0"/>
                <a:ea typeface="IBM Plex Sans Arabic" pitchFamily="34" charset="-122"/>
                <a:cs typeface="IBM Plex Sans Arabic" pitchFamily="34" charset="-120"/>
              </a:rPr>
              <a:t>ماذا نبني؟</a:t>
            </a:r>
            <a:endParaRPr lang="ar-SA" sz="1600" dirty="0"/>
          </a:p>
        </p:txBody>
      </p:sp>
      <p:sp>
        <p:nvSpPr>
          <p:cNvPr id="8" name="Text 5"/>
          <p:cNvSpPr txBox="1"/>
          <p:nvPr/>
        </p:nvSpPr>
        <p:spPr>
          <a:xfrm>
            <a:off x="9200921" y="5166360"/>
            <a:ext cx="2213534" cy="548640"/>
          </a:xfrm>
          <a:prstGeom prst="rect">
            <a:avLst/>
          </a:prstGeom>
          <a:noFill/>
          <a:ln/>
        </p:spPr>
        <p:txBody>
          <a:bodyPr wrap="square" lIns="0" tIns="0" rIns="0" bIns="0" rtlCol="0" anchor="t"/>
          <a:lstStyle/>
          <a:p>
            <a:pPr rtl="1" algn="ctr" indent="0" marL="0">
              <a:buNone/>
            </a:pPr>
            <a:r>
              <a:rPr lang="ar-SA" altLang="en-US" sz="1250" dirty="0">
                <a:solidFill>
                  <a:srgbClr val="F3F6FD"/>
                </a:solidFill>
                <a:latin typeface="IBM Plex Sans Arabic" pitchFamily="34" charset="0"/>
                <a:ea typeface="IBM Plex Sans Arabic" pitchFamily="34" charset="-122"/>
                <a:cs typeface="IBM Plex Sans Arabic" pitchFamily="34" charset="-120"/>
              </a:rPr>
              <a:t>Hiring Decision Calibration Engine</a:t>
            </a:r>
            <a:endParaRPr lang="ar-SA" sz="1250" dirty="0"/>
          </a:p>
        </p:txBody>
      </p:sp>
      <p:sp>
        <p:nvSpPr>
          <p:cNvPr id="9" name="Shape 6"/>
          <p:cNvSpPr/>
          <p:nvPr/>
        </p:nvSpPr>
        <p:spPr>
          <a:xfrm>
            <a:off x="6210148" y="4617720"/>
            <a:ext cx="2579294" cy="1188720"/>
          </a:xfrm>
          <a:prstGeom prst="roundRect">
            <a:avLst>
              <a:gd name="adj" fmla="val 10769"/>
            </a:avLst>
          </a:prstGeom>
          <a:solidFill>
            <a:srgbClr val="0B1634">
              <a:alpha val="85000"/>
            </a:srgbClr>
          </a:solidFill>
          <a:ln w="9525">
            <a:solidFill>
              <a:srgbClr val="1E3570"/>
            </a:solidFill>
            <a:prstDash val="solid"/>
          </a:ln>
        </p:spPr>
      </p:sp>
      <p:sp>
        <p:nvSpPr>
          <p:cNvPr id="10" name="Text 7"/>
          <p:cNvSpPr txBox="1"/>
          <p:nvPr/>
        </p:nvSpPr>
        <p:spPr>
          <a:xfrm>
            <a:off x="6393028" y="4782312"/>
            <a:ext cx="2213534" cy="347472"/>
          </a:xfrm>
          <a:prstGeom prst="rect">
            <a:avLst/>
          </a:prstGeom>
          <a:noFill/>
          <a:ln/>
        </p:spPr>
        <p:txBody>
          <a:bodyPr wrap="square" lIns="0" tIns="0" rIns="0" bIns="0" rtlCol="0" anchor="t"/>
          <a:lstStyle/>
          <a:p>
            <a:pPr rtl="1" algn="ctr" indent="0" marL="0">
              <a:buNone/>
            </a:pPr>
            <a:r>
              <a:rPr lang="ar-SA" altLang="en-US" sz="1600" b="1" dirty="0">
                <a:solidFill>
                  <a:srgbClr val="3EE0F5"/>
                </a:solidFill>
                <a:latin typeface="IBM Plex Sans Arabic" pitchFamily="34" charset="0"/>
                <a:ea typeface="IBM Plex Sans Arabic" pitchFamily="34" charset="-122"/>
                <a:cs typeface="IBM Plex Sans Arabic" pitchFamily="34" charset="-120"/>
              </a:rPr>
              <a:t>لماذا نبنيه؟</a:t>
            </a:r>
            <a:endParaRPr lang="ar-SA" sz="1600" dirty="0"/>
          </a:p>
        </p:txBody>
      </p:sp>
      <p:sp>
        <p:nvSpPr>
          <p:cNvPr id="11" name="Text 8"/>
          <p:cNvSpPr txBox="1"/>
          <p:nvPr/>
        </p:nvSpPr>
        <p:spPr>
          <a:xfrm>
            <a:off x="6393028" y="5166360"/>
            <a:ext cx="2213534" cy="548640"/>
          </a:xfrm>
          <a:prstGeom prst="rect">
            <a:avLst/>
          </a:prstGeom>
          <a:noFill/>
          <a:ln/>
        </p:spPr>
        <p:txBody>
          <a:bodyPr wrap="square" lIns="0" tIns="0" rIns="0" bIns="0" rtlCol="0" anchor="t"/>
          <a:lstStyle/>
          <a:p>
            <a:pPr rtl="1" algn="ctr" indent="0" marL="0">
              <a:buNone/>
            </a:pPr>
            <a:r>
              <a:rPr lang="ar-SA" altLang="en-US" sz="1250" dirty="0">
                <a:solidFill>
                  <a:srgbClr val="F3F6FD"/>
                </a:solidFill>
                <a:latin typeface="IBM Plex Sans Arabic" pitchFamily="34" charset="0"/>
                <a:ea typeface="IBM Plex Sans Arabic" pitchFamily="34" charset="-122"/>
                <a:cs typeface="IBM Plex Sans Arabic" pitchFamily="34" charset="-120"/>
              </a:rPr>
              <a:t>لأن إشارات التوظيف لا تُختبر مقابل النتائج</a:t>
            </a:r>
            <a:endParaRPr lang="ar-SA" sz="1250" dirty="0"/>
          </a:p>
        </p:txBody>
      </p:sp>
      <p:sp>
        <p:nvSpPr>
          <p:cNvPr id="12" name="Shape 9"/>
          <p:cNvSpPr/>
          <p:nvPr/>
        </p:nvSpPr>
        <p:spPr>
          <a:xfrm>
            <a:off x="3402254" y="4617720"/>
            <a:ext cx="2579294" cy="1188720"/>
          </a:xfrm>
          <a:prstGeom prst="roundRect">
            <a:avLst>
              <a:gd name="adj" fmla="val 10769"/>
            </a:avLst>
          </a:prstGeom>
          <a:solidFill>
            <a:srgbClr val="0B1634">
              <a:alpha val="85000"/>
            </a:srgbClr>
          </a:solidFill>
          <a:ln w="9525">
            <a:solidFill>
              <a:srgbClr val="1E3570"/>
            </a:solidFill>
            <a:prstDash val="solid"/>
          </a:ln>
        </p:spPr>
      </p:sp>
      <p:sp>
        <p:nvSpPr>
          <p:cNvPr id="13" name="Text 10"/>
          <p:cNvSpPr txBox="1"/>
          <p:nvPr/>
        </p:nvSpPr>
        <p:spPr>
          <a:xfrm>
            <a:off x="3585134" y="4782312"/>
            <a:ext cx="2213534" cy="347472"/>
          </a:xfrm>
          <a:prstGeom prst="rect">
            <a:avLst/>
          </a:prstGeom>
          <a:noFill/>
          <a:ln/>
        </p:spPr>
        <p:txBody>
          <a:bodyPr wrap="square" lIns="0" tIns="0" rIns="0" bIns="0" rtlCol="0" anchor="t"/>
          <a:lstStyle/>
          <a:p>
            <a:pPr rtl="1" algn="ctr" indent="0" marL="0">
              <a:buNone/>
            </a:pPr>
            <a:r>
              <a:rPr lang="ar-SA" altLang="en-US" sz="1600" b="1" dirty="0">
                <a:solidFill>
                  <a:srgbClr val="3EE0F5"/>
                </a:solidFill>
                <a:latin typeface="IBM Plex Sans Arabic" pitchFamily="34" charset="0"/>
                <a:ea typeface="IBM Plex Sans Arabic" pitchFamily="34" charset="-122"/>
                <a:cs typeface="IBM Plex Sans Arabic" pitchFamily="34" charset="-120"/>
              </a:rPr>
              <a:t>ما دوري؟</a:t>
            </a:r>
            <a:endParaRPr lang="ar-SA" sz="1600" dirty="0"/>
          </a:p>
        </p:txBody>
      </p:sp>
      <p:sp>
        <p:nvSpPr>
          <p:cNvPr id="14" name="Text 11"/>
          <p:cNvSpPr txBox="1"/>
          <p:nvPr/>
        </p:nvSpPr>
        <p:spPr>
          <a:xfrm>
            <a:off x="3585134" y="5166360"/>
            <a:ext cx="2213534" cy="548640"/>
          </a:xfrm>
          <a:prstGeom prst="rect">
            <a:avLst/>
          </a:prstGeom>
          <a:noFill/>
          <a:ln/>
        </p:spPr>
        <p:txBody>
          <a:bodyPr wrap="square" lIns="0" tIns="0" rIns="0" bIns="0" rtlCol="0" anchor="t"/>
          <a:lstStyle/>
          <a:p>
            <a:pPr rtl="1" algn="ctr" indent="0" marL="0">
              <a:buNone/>
            </a:pPr>
            <a:r>
              <a:rPr lang="ar-SA" altLang="en-US" sz="1250" dirty="0">
                <a:solidFill>
                  <a:srgbClr val="F3F6FD"/>
                </a:solidFill>
                <a:latin typeface="IBM Plex Sans Arabic" pitchFamily="34" charset="0"/>
                <a:ea typeface="IBM Plex Sans Arabic" pitchFamily="34" charset="-122"/>
                <a:cs typeface="IBM Plex Sans Arabic" pitchFamily="34" charset="-120"/>
              </a:rPr>
              <a:t>شريحتا الفريق وتوزيع المسؤوليات</a:t>
            </a:r>
            <a:endParaRPr lang="ar-SA" sz="1250" dirty="0"/>
          </a:p>
        </p:txBody>
      </p:sp>
      <p:sp>
        <p:nvSpPr>
          <p:cNvPr id="15" name="Shape 12"/>
          <p:cNvSpPr/>
          <p:nvPr/>
        </p:nvSpPr>
        <p:spPr>
          <a:xfrm>
            <a:off x="594360" y="4617720"/>
            <a:ext cx="2579294" cy="1188720"/>
          </a:xfrm>
          <a:prstGeom prst="roundRect">
            <a:avLst>
              <a:gd name="adj" fmla="val 10769"/>
            </a:avLst>
          </a:prstGeom>
          <a:solidFill>
            <a:srgbClr val="0B1634">
              <a:alpha val="85000"/>
            </a:srgbClr>
          </a:solidFill>
          <a:ln w="9525">
            <a:solidFill>
              <a:srgbClr val="1E3570"/>
            </a:solidFill>
            <a:prstDash val="solid"/>
          </a:ln>
        </p:spPr>
      </p:sp>
      <p:sp>
        <p:nvSpPr>
          <p:cNvPr id="16" name="Text 13"/>
          <p:cNvSpPr txBox="1"/>
          <p:nvPr/>
        </p:nvSpPr>
        <p:spPr>
          <a:xfrm>
            <a:off x="777240" y="4782312"/>
            <a:ext cx="2213534" cy="347472"/>
          </a:xfrm>
          <a:prstGeom prst="rect">
            <a:avLst/>
          </a:prstGeom>
          <a:noFill/>
          <a:ln/>
        </p:spPr>
        <p:txBody>
          <a:bodyPr wrap="square" lIns="0" tIns="0" rIns="0" bIns="0" rtlCol="0" anchor="t"/>
          <a:lstStyle/>
          <a:p>
            <a:pPr rtl="1" algn="ctr" indent="0" marL="0">
              <a:buNone/>
            </a:pPr>
            <a:r>
              <a:rPr lang="ar-SA" altLang="en-US" sz="1600" b="1" dirty="0">
                <a:solidFill>
                  <a:srgbClr val="3EE0F5"/>
                </a:solidFill>
                <a:latin typeface="IBM Plex Sans Arabic" pitchFamily="34" charset="0"/>
                <a:ea typeface="IBM Plex Sans Arabic" pitchFamily="34" charset="-122"/>
                <a:cs typeface="IBM Plex Sans Arabic" pitchFamily="34" charset="-120"/>
              </a:rPr>
              <a:t>ما أول خطوة؟</a:t>
            </a:r>
            <a:endParaRPr lang="ar-SA" sz="1600" dirty="0"/>
          </a:p>
        </p:txBody>
      </p:sp>
      <p:sp>
        <p:nvSpPr>
          <p:cNvPr id="17" name="Text 14"/>
          <p:cNvSpPr txBox="1"/>
          <p:nvPr/>
        </p:nvSpPr>
        <p:spPr>
          <a:xfrm>
            <a:off x="777240" y="5166360"/>
            <a:ext cx="2213534" cy="548640"/>
          </a:xfrm>
          <a:prstGeom prst="rect">
            <a:avLst/>
          </a:prstGeom>
          <a:noFill/>
          <a:ln/>
        </p:spPr>
        <p:txBody>
          <a:bodyPr wrap="square" lIns="0" tIns="0" rIns="0" bIns="0" rtlCol="0" anchor="t"/>
          <a:lstStyle/>
          <a:p>
            <a:pPr rtl="1" algn="ctr" indent="0" marL="0">
              <a:buNone/>
            </a:pPr>
            <a:r>
              <a:rPr lang="ar-SA" altLang="en-US" sz="1250" dirty="0">
                <a:solidFill>
                  <a:srgbClr val="F3F6FD"/>
                </a:solidFill>
                <a:latin typeface="IBM Plex Sans Arabic" pitchFamily="34" charset="0"/>
                <a:ea typeface="IBM Plex Sans Arabic" pitchFamily="34" charset="-122"/>
                <a:cs typeface="IBM Plex Sans Arabic" pitchFamily="34" charset="-120"/>
              </a:rPr>
              <a:t>مهمتك الأولى بموعد يُحدَّد اليوم</a:t>
            </a:r>
            <a:endParaRPr lang="ar-SA"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BM Plex Sans Arab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rab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NestHire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NestHire — اجتماع الانطلاق</dc:title>
  <dc:subject>PptxGenJS Presentation</dc:subject>
  <dc:creator>PptxGenJS</dc:creator>
  <cp:lastModifiedBy>PptxGenJS</cp:lastModifiedBy>
  <cp:revision>1</cp:revision>
  <dcterms:created xsi:type="dcterms:W3CDTF">2026-10-01T19:46:23Z</dcterms:created>
  <dcterms:modified xsi:type="dcterms:W3CDTF">2026-10-01T19:46:23Z</dcterms:modified>
</cp:coreProperties>
</file>