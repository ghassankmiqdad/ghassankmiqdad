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1 دقيقة — ننتهي من هذه الشريحة عند 0:01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«أهلًا بالجميع. هذا هو الاجتماع الرسمي لانطلاق مشروع NestHire. هدفنا اليوم ليس عرض منتج جاهز — لا يوجد منتج بعد. هدفنا أن نخرج جميعًا بفهم واحد لما سنبنيه، ولماذا، وكيف، ومن يملك كل جزء.»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هذا اجتماع مواءمة داخلي للفريق، وليس عرضًا تسويقيًا ولا عرضًا للمستثمرين.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NestHire لم يبدأ تطويره بعد. كل ما في هذا العرض هو تصميم مستهدف وخطة مقترحة. لاحظوا الوسوم على الشرائح: Planned و Proposed و Needs Confirmation و Future Vision.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«قبل أن نتحدث عن المنتج، دعونا نتفق على سبب وجودنا هنا اليوم.»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تحضير قبل الاجتماع: استبدل مربع الشعار بالشعار الرسمي، وطبّق ألوان الهوية الرسمية إن وُجدت (الألوان الحالية مؤقتة)، وحدّث رقم الإصدار بعد مراجعة المحتوى مقابل وثائق المشروع.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0:04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«لدينا سبعة أهداف اليوم [اقرأ العناوين بسرعة]. وعلى اليمين ثمانية أسئلة: في نهاية الاجتماع يجب أن يستطيع كل واحد منكم الإجابة عنها بجملة أو جملتين، دون الرجوع لأحد.»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الاجتماع ناجح فقط إذا خرج كل عضو قادرًا على الإجابة عن الأسئلة الثمانية.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أي سؤال خارج نطاق اليوم يُسجَّل في «Parking Lot» ونعود إليه في نهاية الاجتماع أو بعده، حتى نلتزم بالوقت.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«لنبدأ بأهم نقطة: أين نحن الآن بالضبط؟»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خطة الوقت (Run of Show): السياق 0:00–0:10 · المشكلة والحل والمنتج 0:10–0:25 · الذكاء والمفاهيم الأساسية 0:25–0:38 · المبادئ 0:38–0:42 · المعمارية 0:42–0:46 · الفريق والمسؤوليات 0:46–0:53 · التنفيذ وSprint 1 0:53–1:07 · التوقعات والقرارات والخطوات التالية 1:07–1:15 · أسئلة 10–15 دقيقة. إذا كان الوقت 60 دقيقة فقط: اختصر الشرائح 10–14 إلى 6 دقائق والشرائح 19–20 إلى دقيقتين.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0:07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«قبل أي شيء، لنكن واضحين جدًا: أين نحن؟ الفكرة والرؤية موجودة، وتم جزء من التخطيط والبحث، والفريق تشكّل. لكن التطوير لم يبدأ: لا يوجد كود للمنتج، ولا نماذج، ولا بنية تحتية. التنفيذ يبدأ بعد هذا الاجتماع.»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نحن عند نقطة الانتقال من التخطيط إلى التنفيذ — اليوم هو خط البداية.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أي Prototype أو تجربة سابقة (إن وُجدت) هي للتعلّم فقط وليست بداية التطوير الرسمي. واشرح دليل القراءة أسفل الشريحة: Planned = ميزة مقصودة لم تُبنَ، Proposed = توصية تحتاج اتفاقًا، Needs Confirmation = معلومة لم يتم التحقق منها، Future Vision = اتجاه طويل المدى.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«إذًا، ما الذي نريد أن نصل إليه على المدى الطويل؟»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0:10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«رؤيتنا باختصار: قرارات توظيف مبنية على الأدلة، مفسَّرة بوضوح، ويتخذها البشر. NestHire ليس مجرد نظام يطابق السيرة الذاتية مع الوظيفة. انظروا للمقارنة: النظام التقليدي يبدأ من نص السيرة الذاتية، يبحث عن كلمات، ويعطي رقمًا. نحن نريد أن نبدأ من متطلبات الوظيفة وأدلة المرشح، ونفهم المهارات والخبرة والتقييمات والمقابلات، وننتج تحليلًا قابلًا للتفسير — والقرار يبقى للإنسان.»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الفرق الجوهري: Evidence + Explanation + Human Decision بدلًا من Keywords + Score.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صياغة الرؤية هنا مسودة مشتقة من ملخص المشروع (Needs Confirmation). سنعتمد الصياغة الرسمية من وثائق المشروع. هذه رؤية مستقبلية وليست وصفًا لشيء موجود.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«لماذا نحتاج هذا أصلًا؟ ما المشكلة التي نحلها؟»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0:13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«هذه سبع مشكلات في التوظيف اليوم: الاعتماد الكبير على السيرة الذاتية، المطابقة بالكلمات المفتاحية، صعوبة فهم الخبرة الفعلية، صعوبة التحقق من الأدلة، التقييم اليدوي، صعوبة مقارنة المرشحين، ونقص التفسير في بعض الأنظمة. القاسم المشترك: القرارات تُبنى غالبًا على ادعاءات وكلمات، بدون أدلة وبدون «لماذا» واضحة.»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كل ميزة في NestHire يجب أن ترتبط بواحدة على الأقل من هذه المشكلات. إذا لم ترتبط بأي منها، نسأل: لماذا نبنيها؟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لم نضع أي إحصائيات أو أرقام عن قصد — لا نستخدم أرقامًا غير موثّقة. القائمة من ملخص المشروع وتحتاج تحققًا مقابل وثائق البحث.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«كيف سيحل NestHire هذه المشكلات؟»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0:16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«الفكرة الأساسية هي تغيير المسار. بدلًا من: Resume → Keywords → Match، نريد: Requirements → Evidence → Skills → Experience → Assessments → Interviews → Explainable Analysis → Human Decision. وهذا يعني ثلاثة تحولات: من الادعاءات إلى الأدلة، من الأرقام إلى التفسيرات، ومن الأتمتة إلى قرار بشري.»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آخر خطوة في السلسلة دائمًا قرار بشري — هذا ليس تفصيلًا، بل جزء من تعريف المنتج.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هذا هو الحل المقترح وكل مكوناته Planned — لم يُنفَّذ أي جزء منه بعد.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«لمن نبني هذا الحل؟»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0:18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«المستخدمون حسب ملخص المشروع: من جهة المؤسسة — الشركات، فرق الموارد البشرية، Recruiters، و Hiring Managers. ثم المرشحون. ثم مسؤولو النظام (Administrators).»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لكل فئة احتياج مختلف؛ الواجهات والصلاحيات وتجربة الاستخدام ستختلف حسب الفئة.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الـPersonas وأولوية كل فئة في الإصدار الأول تحتاج تأكيدًا — خاصة: هل للمرشح واجهة خاصة به في الإصدار الأول؟ هذا قرار مفتوح سنعود له في شريحة القرارات المفتوحة. الأوصاف المختصرة على البطاقات مسودة.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«ماذا سيستخدم هؤلاء؟ لننظر إلى المنتج ككل.»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0:21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«المنتج مقسّم إلى 11 وحدة في أربع مجموعات: Core Recruitment (Recruitment و Jobs و Candidates)، و Evaluation (Skills و Experience و Assessments و Interviews)، و Intelligence (Intelligence و Explainability و Recruiter Copilot)، و Platform (Admin).»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هذه خريطة المنتج التي سنشتق منها الـEpics والمهام بعد الاجتماع.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كل الوحدات Planned ولا شيء منها مبني. حدود الوحدات، ونطاق Recruiter Copilot، وما يدخل في الـMVP — كلها تحتاج تأكيدًا. الوصف المختصر تحت كل وحدة مسودة للنقاش.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«كيف تعمل هذه الوحدات معًا من البداية للنهاية؟»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4 دقائق — ننتهي من هذه الشريحة عند 0:25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«هذا هو الـFlow المقترح من البداية للنهاية في عشر خطوات. نبدأ بمتطلبات الوظيفة وبيانات المرشح (Inputs). ثم خطوات يساعد فيها الـAI: استخراج الأدلة، ذكاء المهارات والخبرة، ذكاء التقييمات، ذكاء المقابلات، ثم التحليل القابل للتفسير. بعدها خطوة حماية: فحوص الثقة والعدالة. وأخيرًا خطوتان بشريتان بالكامل: مراجعة الـRecruiter، ثم القرار البشري.»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الألوان توضح من يقوم بماذا: رمادي = مدخلات، أخضر مزرق = بمساعدة AI، داكن = ضمانات، برتقالي = بشر.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لا توجد مرحلة منفذة. اطلب من كل تخصص أن يحدد أين يقع عمله على هذا الـFlow: «أنا أعمل على أي خطوة؟»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«لنفصّل أول جزء: كيف يفهم NestHire الوظيفة؟»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0:27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«قبل أن ننظر لأي مرشح، يجب أن نفهم الوظيفة. الوصف الوظيفي نص غير منظّم. يُفترض أن يحوّله NestHire إلى ملف وظيفي منظّم: المتطلبات، المهارات، الخبرة، المسؤوليات، والكفاءات. هذا الملف يصبح الأساس الذي نقارن عليه كل المرشحين.»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جودة تحليل المرشحين لاحقًا تعتمد على جودة فهم الوظيفة أولًا.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سؤال مفتوح مهم: كيف نوزن المتطلبات (Must-have مقابل Nice-to-have)؟ ومن يراجع الملف المستخرج قبل استخدامه؟ — Needs Confirmation.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«والآن الطرف الآخر: كيف نفهم المرشح؟»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0:29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«على الجانب الآخر نجمع كل ما يخص المرشح: السيرة الذاتية، المشاريع، الخبرة، المهارات، أدلة داعمة أخرى، نتائج التقييمات، والمقابلات. كل هذا يتجمع في Candidate Evidence Profile: مهارات مرتبطة بأدلتها، خبرة في سياقها، إشارات التقييم والمقابلة، الفجوات والمعلومات الناقصة، ومستوى الثقة لكل استنتاج.»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الملف مبني على الأدلة، وليس نسخة من السيرة الذاتية.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هذا تصميم مستهدف (Target Design) وليس نظامًا منفذًا. أنواع المدخلات والصيغ ومصادر البيانات تحتاج تأكيدًا.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«وهذا يقودنا إلى المفهوم الأساسي: Evidence-Based Employment.»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4 دقائق — ننتهي من هذه الشريحة عند 0:33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«هذه أهم شريحة مفاهيمية. خمس كلمات يجب أن نستخدمها جميعًا بنفس المعنى: Claim — ما يقوله المرشح. Evidence — ما يدعم هذا الادعاء أو ينفيه. Inference — ما يستنتجه النظام من الأدلة. Confidence — مدى موثوقية هذا الاستنتاج. Decision — ما يقرره فريق التوظيف. [اقرأ المثال التوضيحي من اليسار لليمين].»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كل نتيجة يعرضها NestHire يجب أن تكون قابلة للتتبع: من الادعاء، إلى الدليل، إلى الاستنتاج، إلى الثقة، إلى قرار بشري.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هذه المصطلحات ستدخل في الـData Model والـAPI والواجهة. Backend و AI و ML و UI/UX يجب أن يستخدموها بنفس التعريف بالضبط. المثال توضيحي فقط وليس مخرجات منتج.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«كيف يظهر هذا للمستخدم؟ من خلال Explainable Matching.»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0:35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«رقم مثل 78% لا يقول لماذا. NestHire يجب أن يجيب عن ستة أسئلة لكل تحليل: لماذا ظهر هذا التحليل؟ ما المتطلبات المدعومة؟ ما الأدلة؟ ما المعلومات الناقصة؟ ما مستوى الثقة؟ وأين نحتاج مراجعة بشرية؟»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الشرح جزء من المنتج نفسه، وليس إضافة نضعها في النهاية.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الرقم 78% توضيحي فقط. هذه الأسئلة الستة مرشحة لتصبح Acceptance Criteria لوحدة Explainability.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«ومن بين هذه الأسئلة، سؤال الثقة يحتاج قاعدة واضحة جدًا.»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0:38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«قاعدة لا نقاش فيها: Confidence Score يقيس موثوقية الأدلة المتوفرة — وليس جودة المرشح. الثقة المنخفضة قد تعني معلومات ناقصة، أو أدلة ضعيفة، أو بيانات غير كافية، أو حاجة لمراجعة بشرية. ولا تعني بالضرورة أن المرشح ضعيف.»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الثقة المنخفضة = اجمع أدلة أكثر أو أشرك إنسانًا. وليست حكمًا على الشخص.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هذه القاعدة تؤثر على كل التخصصات: ML في طريقة حساب الثقة، UI/UX في طريقة عرضها (لا نعرضها أبدًا كتقييم للمرشح)، Backend في طريقة تخزينها، والتسويق في طريقة الحديث عنها.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«وهذه القاعدة جزء من مبدأ أكبر…»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0:40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«AI Assists. Humans Decide. الـAI يساعد في التحليل، والاستخراج، والمقارنة، والتفسير، وتنظيم الأدلة. لكن قرار التوظيف النهائي يبقى دائمًا للإنسان: الإنسان يراجع التحليل والأدلة، ويمكنه أن يعترض على أي مخرج من الـAI أو يتجاوزه، وهو المسؤول عن القرار.»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لا توجد في NestHire أي خطوة يتخذ فيها الـAI قرار التوظيف.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إذا لاحظ أي شخص أثناء التصميم أو التطوير أن ميزة ما تجعل الـAI يقرر بدلًا من الإنسان — يجب أن يرفع ذلك فورًا. (النقاط الثلاث على اليمين مشتقة من مبدأ Human Oversight.)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«هذا المبدأ جزء من مجموعة مبادئ Responsible AI.»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0:42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«سبعة مبادئ: Explainability و Transparency و Human Oversight و Fairness و Evidence-Based Evaluation و Privacy و Security. وعلى اليمين: ما لن يستخدمه NestHire: التعرف على المشاعر، تحليل الوجه، تتبع النظر، تحليل الشخصية من الصوت، والتقييم البيومتري.»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هذه المبادئ قيود تصميم يجب احترامها في كل ميزة، وليست شعارات.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القائمة مأخوذة من ملخص المشروع، ويجب تحويلها إلى سياسة Responsible AI مكتوبة. تفاصيل الخصوصية والأمان (مدة الاحتفاظ بالبيانات، الصلاحيات، الموافقة، المراجعة) — Needs Confirmation.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«كيف سنبني كل هذا تقنيًا؟»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4 دقائق — ننتهي من هذه الشريحة عند 0:46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«هذه معمارية مقترحة من ست طبقات: Client (Web و Mobile)، API (FastAPI كمقترح)، Application (منطق الأعمال)، AI/ML (وحدات AI، نماذج ML، تكامل LLM)، Data (PostgreSQL مع pgvector)، والبنية الداعمة (Redis و Storage و Authentication و Docker). على اليمين: من يملك كل طبقة، وما القرارات التقنية التي يجب تأكيدها في Sprint 1.»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كل تخصص يعرف طبقته وحدودها والواجهات التي يتعامل معها.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لا شيء من هذا منفّذ. التقنيات المذكورة مقترحات من ملخص المشروع، وسيتم اعتمادها رسميًا في Architecture Decision Records خلال Sprint 1. ملكية الطبقات على اليمين مسودة للنقاش.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«من سيبني هذه الطبقات؟ لننتقل إلى الفريق.»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0:48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«هيكل الفريق حسب التخصصات: القيادة (Team Lead)، المنتج، التصميم (UI/UX)، الهندسة (Frontend و Backend و Mobile)، الذكاء (AI Integration و AI Engineering و ML Engineering)، والنمو (Marketing).»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كل تخصص له مكان واضح في الهيكل وخط تواصل مباشر مع Team Lead.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الأسماء غير مدرجة في هذا الإصدار لأنها لم تتوفر في المصادر — أكملها قبل الاجتماع أو خلاله. هل دور Product مستقل أم يتولاه Team Lead؟ Needs Confirmation.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«لننتقل من الهيكل إلى المسؤوليات: من يملك ماذا؟»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0:51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«لكل دور: المسؤولية الأساسية، المخرجات، ما يعتمد عليه، ومن يعمل معه عن قرب. [مرّ على الصفوف الخمسة: Team Lead و UI/UX و Frontend و Backend و Mobile].»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لا توجد مسؤولية بلا مالك، ولا مخرج بلا تخصص مسؤول عنه.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هذه مسودة ملكية وليست قائمة مهام. اطلب من كل شخص أن يؤكد سطره أو يصححه الآن، وسجّل التعديلات مباشرة.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«والآن تخصصات الذكاء والتسويق.»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0:53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«AI Integration يربط قدرات AI/ML بالمنصة ويتولى تكامل الـLLM. AI Engineering يبني وحدات استخراج الأدلة والتحليل والتفسير. ML Engineering يبني نماذج المطابقة والترتيب والـEmbeddings وتقييم الثقة والعدالة. Marketing يتولى الهوية والرسائل والجاهزية للإطلاق.»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ثلاثة أدوار AI تعمل على نفس الـPipeline — تحتاج حدودًا مكتوبة وواضحة.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اتفقوا اليوم على الحدود بين AI Integration و AI Engineering و ML Engineering. التداخل هنا يسبب تكرارًا في العمل أو فجوات لا يملكها أحد. تقسيم المسؤوليات في الجدول مسودة.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«الآن بعد أن عرفنا من يملك ماذا: كيف سنبني NestHire على مراحل؟»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0:56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«ثماني مراحل مقترحة: 1) Foundation، 2) Core Platform، 3) Candidate Intelligence، 4) Assessment &amp; Interview Intelligence، 5) Explainability &amp; Ranking، 6) Integration، 7) Testing، 8) Deployment. Sprint 1 يبدأ من المرحلة الأولى.»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نبني الأساس أولًا، ثم المنصة، ثم طبقات الذكاء، ثم التكامل والإطلاق.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الاختبار والمراجعة والتوثيق مستمرة في كل مرحلة — المرحلة 7 هي اختبار النظام الكامل وليست أول مرة نختبر فيها. التواريخ وموقع Recruiter Copilot في المراحل — Needs Confirmation. محتوى كل مرحلة مسودة مقترحة.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«داخل كل مرحلة، كيف سنعمل يوميًا؟»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0:59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«كل عمل يمر بنفس المسار: Requirement → Epic → Task → Assignment → Development → Review → Testing → Integration → Done. والأدوات: Git و GitHub كمصدر واحد للحقيقة، فرع لكل مهمة، Pull Request مرتبط بالـIssue، مراجعة واحدة على الأقل قبل الدمج، توثيق داخل المستودع، واختبارات مع الكود.»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لا يوجد عمل خارج هذا المسار — إذا لم يكن في GitHub فهو غير موجود.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هذه أعراف مقترحة: اتفقوا عليها اليوم أو عدّلوها، وبعدها تصبح ملزمة للجميع. إعداد CI وأداة إدارة المهام يحتاجان تأكيدًا.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«كيف تتحول الخطة إلى مهام فعلية؟»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1:01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«بعد الاجتماع مباشرة، تتحول الخطة إلى: Modules → Epics → Tasks، وكل مهمة لها: Owner و Priority و Dependencies و Deadline و Definition of Done. [اعرض البطاقة التوضيحية]. والمهمة لا تُعتبر Done إلا إذا حققت الشروط الخمسة على اليمين.»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هذه هي النقطة التي ننتقل فيها من التخطيط إلى التنفيذ.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مهمة بدون Owner أو بدون Definition of Done لا تدخل الـSprint. البطاقة مثال توضيحي فقط.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«فما هو أول Sprint؟»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1:03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«هدف Sprint 1: تأكيد المعمارية، تجهيز طريقة البناء، وتعريف أساس البيانات والتصميم الذي تعتمد عليه كل المراحل اللاحقة. المخرجات المتوقعة ستة: معمارية مؤكدة، مستودع وسير عمل جاهز، مسودة نموذج البيانات، اتجاه التصميم، مواصفات الأدلة والثقة، وقرارات مفتوحة لكل منها مالك.»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Sprint 1 لا يهدف إلى ميزات يراها المستخدم، بل إلى أساس صحيح يمنع إعادة العمل لاحقًا.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مدة الـSprint تحتاج تأكيدًا وتُحدَّد في Sprint Planning.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«لننظر إلى المهام المقترحة.»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4 دقائق — ننتهي من هذه الشريحة عند 1:07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«عشر مهام مقترحة، كل منها مرتبطة بالمعمارية أو بالـFlow. [مرّ على المهام]. لاحظوا التبعيات: المهام 4 و 6 و 9 تعتمد على تأكيد الـStack في المهمة 1، ومواصفات الأدلة (7) تعتمد على نموذج البيانات (3)، وخطة التقييم (8) تعتمد على مواصفات الأدلة (7).»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المهام 1 و 2 و 3 هي المسار الحرج — يجب أن تبدأ أولًا.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الملّاك هنا أدوار وليسوا أشخاصًا؛ الأسماء تُسنَد بعد الاجتماع. المهام مقترحة وقابلة للتعديل في Sprint Planning.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«لكي ينجح هذا، نحتاج قواعد عمل واضحة.»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1:10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«عشر قواعد [اقرأها]. أهمها: لا تجلس على الـBlocker، وأبلغ مبكرًا إذا كان موعد في خطر، و Done يعني merged و tested و documented.»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هذه توقعات مهنية تنطبق على الجميع بلا استثناء — بمن فيهم قائد الفريق.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الإبلاغ المبكر عن مشكلة ليس فشلًا؛ إخفاؤها هو الفشل.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«قبل أن نختم، هناك قرارات مفتوحة يجب أن نغلقها.»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3 دقائق — ننتهي من هذه الشريحة عند 1:13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«هذا العرض بُني من ملخص المشروع فقط، لذلك هناك عشرة قرارات تحتاج تأكيدًا. لكل قرار مالك وموعد.»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لا يبقى قرار مفتوح بلا مالك.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حاول إسناد مالك لكل قرار قبل نهاية هذا الاجتماع. أي قرار بدون مالك اليوم سيصبح Blocker غدًا.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dirty="0"/>
              <a:t>«إذًا، ماذا يحدث بعد هذا الاجتماع؟»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الوقت المقترح: 2 دقيقتان — ننتهي من هذه الشريحة عند 1:15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1) ماذا يقول قائد الاجتماع:</a:t>
            </a:r>
          </a:p>
          <a:p>
            <a:pPr algn="r" rtl="1"/>
            <a:r>
              <a:rPr lang="ar-SA" dirty="0"/>
              <a:t>«اليوم: نفهم. بعد الاجتماع: نُسند المهام. ثم نبني، ونراجع، وندمج، ونختبر، وأخيرًا نطلق. والخطوات الفورية أربع: تأكيد الأسماء والأدوار، إنشاء Issues للـSprint 1 بمالك و Definition of Done، إسناد مالك لكل قرار مفتوح، وعقد Sprint Planning.»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2) الفكرة التي يجب أن يفهمها الفريق:</a:t>
            </a:r>
          </a:p>
          <a:p>
            <a:pPr algn="r" rtl="1"/>
            <a:r>
              <a:rPr lang="ar-SA" dirty="0"/>
              <a:t>Today we align. After today we build.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3) النقطة التي يجب التأكيد عليها:</a:t>
            </a:r>
          </a:p>
          <a:p>
            <a:pPr algn="r" rtl="1"/>
            <a:r>
              <a:rPr lang="ar-SA" dirty="0"/>
              <a:t>AI Assists. Humans Decide. — هذا المبدأ يرافقنا في كل قرار نتخذه في المنتج.</a:t>
            </a:r>
          </a:p>
          <a:p>
            <a:pPr algn="r" rtl="1"/>
            <a:endParaRPr lang="ar-SA" dirty="0"/>
          </a:p>
          <a:p>
            <a:pPr algn="r" rtl="1"/>
            <a:r>
              <a:rPr lang="ar-SA" b="1" dirty="0"/>
              <a:t>4) الانتقال إلى الشريحة التالية:</a:t>
            </a:r>
          </a:p>
          <a:p>
            <a:pPr algn="r" rtl="1"/>
            <a:r>
              <a:rPr lang="ar-SA" b="1" dirty="0"/>
              <a:t>الختام: افتح باب الأسئلة (10–15 دقيقة)، وراجع الـParking Lot، ثم ارجع إلى الأسئلة الثمانية في الشريحة 2 واطلب من 2–3 أعضاء الإجابة عنها باختصار للتأكد من أن الجميع على نفس الصفحة.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0B1F2A"/>
          </a:solidFill>
          <a:ln w="9525">
            <a:solidFill>
              <a:srgbClr val="3B6170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NestHire logo — Needs Confirmation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163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Recruitment &amp; Talent Intelligence Platform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Kickoff &amp; Team Alignment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team meeting  ·  2026  ·  Team 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095451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669280"/>
            <a:ext cx="1095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v0.1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56692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the kickoff brief — to be validated against NestHire project documents.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566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NESTHIRE PATH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15400" y="1097280"/>
            <a:ext cx="0" cy="4709160"/>
          </a:xfrm>
          <a:prstGeom prst="line">
            <a:avLst/>
          </a:prstGeom>
          <a:noFill/>
          <a:ln w="19050">
            <a:solidFill>
              <a:srgbClr val="2E5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005840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941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23960" y="1677924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35440" y="16139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23960" y="2350008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22860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23960" y="3022092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29580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23960" y="3694176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0" y="36301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23960" y="4366260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5440" y="43022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23960" y="5038344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35440" y="49743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Analysis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769096" y="5655564"/>
            <a:ext cx="292608" cy="292608"/>
          </a:xfrm>
          <a:prstGeom prst="ellipse">
            <a:avLst/>
          </a:prstGeom>
          <a:solidFill>
            <a:srgbClr val="D9532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35440" y="56464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KICKOFF PURPOSE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We Here?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goal: everyone leaves this room aligned and ready to start building NestHire.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385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our understanding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picture of NestHire — no private versions.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237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the NestHire vision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NestHire is heading in the long term.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08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full product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modules and the end-to-end 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6941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the system will work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job requirements to a human decision.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2793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each discipline owns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Responsibilities, deliverables, dependencies.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8646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on how we work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Workflow, GitHub, reviews and task management.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522976"/>
            <a:ext cx="402336" cy="40233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4498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ready to execute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Sprint 1 and clear next steps.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1938528"/>
            <a:ext cx="4327855" cy="4069080"/>
          </a:xfrm>
          <a:prstGeom prst="roundRect">
            <a:avLst>
              <a:gd name="adj" fmla="val 2247"/>
            </a:avLst>
          </a:prstGeom>
          <a:solidFill>
            <a:srgbClr val="0B1F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35240" y="21762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EVERYONE CAN ANSWER:</a:t>
            </a:r>
            <a:endParaRPr lang="en-US" sz="1150" dirty="0"/>
          </a:p>
        </p:txBody>
      </p:sp>
      <p:pic>
        <p:nvPicPr>
          <p:cNvPr id="28" name="Image 0" descr="circle 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852928"/>
            <a:ext cx="237744" cy="23774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800100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building?</a:t>
            </a:r>
            <a:endParaRPr lang="en-US" sz="1400" dirty="0"/>
          </a:p>
        </p:txBody>
      </p:sp>
      <p:pic>
        <p:nvPicPr>
          <p:cNvPr id="30" name="Image 1" descr="circle 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241548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001000" y="31775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we building it?</a:t>
            </a:r>
            <a:endParaRPr lang="en-US" sz="1400" dirty="0"/>
          </a:p>
        </p:txBody>
      </p:sp>
      <p:pic>
        <p:nvPicPr>
          <p:cNvPr id="32" name="Image 2" descr="circle 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30168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0010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we building it for?</a:t>
            </a:r>
            <a:endParaRPr lang="en-US" sz="1400" dirty="0"/>
          </a:p>
        </p:txBody>
      </p:sp>
      <p:pic>
        <p:nvPicPr>
          <p:cNvPr id="34" name="Image 3" descr="circle 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018788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001000" y="39547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it work?</a:t>
            </a:r>
            <a:endParaRPr lang="en-US" sz="1400" dirty="0"/>
          </a:p>
        </p:txBody>
      </p:sp>
      <p:pic>
        <p:nvPicPr>
          <p:cNvPr id="36" name="Image 4" descr="circle 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4407408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001000" y="4343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building first?</a:t>
            </a:r>
            <a:endParaRPr lang="en-US" sz="1400" dirty="0"/>
          </a:p>
        </p:txBody>
      </p:sp>
      <p:pic>
        <p:nvPicPr>
          <p:cNvPr id="38" name="Image 5" descr="circle 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796028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001000" y="47320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my role?</a:t>
            </a:r>
            <a:endParaRPr lang="en-US" sz="1400" dirty="0"/>
          </a:p>
        </p:txBody>
      </p:sp>
      <p:pic>
        <p:nvPicPr>
          <p:cNvPr id="40" name="Image 6" descr="circle 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5184648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00100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we work?</a:t>
            </a:r>
            <a:endParaRPr lang="en-US" sz="1400" dirty="0"/>
          </a:p>
        </p:txBody>
      </p:sp>
      <p:pic>
        <p:nvPicPr>
          <p:cNvPr id="42" name="Image 7" descr="circle 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5573268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001000" y="55092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after this meeting?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46" name="Text 3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and planning are in place and the team is formed. Development has not started — it starts after this kickoff.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57807" y="2286000"/>
            <a:ext cx="4438498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305" y="2286000"/>
            <a:ext cx="443849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20063" y="2048256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180" y="2162373"/>
            <a:ext cx="247254" cy="247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06247" y="2724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&amp; Planning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4314" y="3090672"/>
            <a:ext cx="1766987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4314" y="3090672"/>
            <a:ext cx="1766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/ CURRENT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51967" y="3456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defined; initial planning and research done.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39312" y="2048256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1" descr="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429" y="2162373"/>
            <a:ext cx="247254" cy="24725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25496" y="2724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497214" y="3090672"/>
            <a:ext cx="759684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497214" y="3090672"/>
            <a:ext cx="759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FORMED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2871216" y="3456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Disciplines in place; roles confirmed today.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803697" y="1993392"/>
            <a:ext cx="585216" cy="585216"/>
          </a:xfrm>
          <a:prstGeom prst="ellipse">
            <a:avLst/>
          </a:prstGeom>
          <a:solidFill>
            <a:srgbClr val="D9532F"/>
          </a:solidFill>
          <a:ln/>
        </p:spPr>
      </p:sp>
      <p:pic>
        <p:nvPicPr>
          <p:cNvPr id="20" name="Image 2" descr="fla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149" y="2133844"/>
            <a:ext cx="304312" cy="3043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044745" y="2724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758434" y="3090672"/>
            <a:ext cx="675742" cy="256032"/>
          </a:xfrm>
          <a:prstGeom prst="roundRect">
            <a:avLst>
              <a:gd name="adj" fmla="val 50000"/>
            </a:avLst>
          </a:prstGeom>
          <a:solidFill>
            <a:srgbClr val="D9532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758434" y="3090672"/>
            <a:ext cx="675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5090465" y="3456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product, roles and way of working.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077810" y="20482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26" name="Image 3" descr="cod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215798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263994" y="2724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557973" y="3090672"/>
            <a:ext cx="1515161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557973" y="3090672"/>
            <a:ext cx="15151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 YET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09714" y="3456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 code, models or infrastructure yet.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10297058" y="204825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pic>
        <p:nvPicPr>
          <p:cNvPr id="32" name="Image 4" descr="rocke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786" y="2157984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483242" y="2724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9567367" y="3090672"/>
            <a:ext cx="193487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9567367" y="3090672"/>
            <a:ext cx="1934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AFTER KICKOFF</a:t>
            </a:r>
            <a:endParaRPr lang="en-US" sz="850" dirty="0"/>
          </a:p>
        </p:txBody>
      </p:sp>
      <p:sp>
        <p:nvSpPr>
          <p:cNvPr id="36" name="Text 29"/>
          <p:cNvSpPr txBox="1"/>
          <p:nvPr/>
        </p:nvSpPr>
        <p:spPr>
          <a:xfrm>
            <a:off x="9528962" y="3456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begins once roles are assigned.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48640" y="4224528"/>
            <a:ext cx="5413248" cy="1371600"/>
          </a:xfrm>
          <a:prstGeom prst="roundRect">
            <a:avLst>
              <a:gd name="adj" fmla="val 5333"/>
            </a:avLst>
          </a:prstGeom>
          <a:solidFill>
            <a:srgbClr val="E8F3F2"/>
          </a:solidFill>
          <a:ln/>
        </p:spPr>
      </p:sp>
      <p:pic>
        <p:nvPicPr>
          <p:cNvPr id="38" name="Image 5" descr="circle 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891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430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place today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822960" y="47365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idea and vision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planning and research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formed, multi-disciplinary team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6229807" y="4224528"/>
            <a:ext cx="5413248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/>
        </p:spPr>
      </p:sp>
      <p:pic>
        <p:nvPicPr>
          <p:cNvPr id="42" name="Image 6" descr="hourglas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8407" y="4389120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824167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 yet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6504127" y="47365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 (web, mobile, backend)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modules and models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and deployment</a:t>
            </a:r>
            <a:endParaRPr lang="en-US" sz="1250" dirty="0"/>
          </a:p>
        </p:txBody>
      </p:sp>
      <p:sp>
        <p:nvSpPr>
          <p:cNvPr id="45" name="Text 36"/>
          <p:cNvSpPr txBox="1"/>
          <p:nvPr/>
        </p:nvSpPr>
        <p:spPr>
          <a:xfrm>
            <a:off x="548640" y="5852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DECK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2423160" y="5852160"/>
            <a:ext cx="843625" cy="256032"/>
          </a:xfrm>
          <a:prstGeom prst="roundRect">
            <a:avLst>
              <a:gd name="adj" fmla="val 50000"/>
            </a:avLst>
          </a:prstGeom>
          <a:solidFill>
            <a:srgbClr val="E8F3F2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2423160" y="5852160"/>
            <a:ext cx="843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50" dirty="0"/>
          </a:p>
        </p:txBody>
      </p:sp>
      <p:sp>
        <p:nvSpPr>
          <p:cNvPr id="48" name="Text 39"/>
          <p:cNvSpPr txBox="1"/>
          <p:nvPr/>
        </p:nvSpPr>
        <p:spPr>
          <a:xfrm>
            <a:off x="3339937" y="5852160"/>
            <a:ext cx="7991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built yet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4367723" y="5852160"/>
            <a:ext cx="927567" cy="256032"/>
          </a:xfrm>
          <a:prstGeom prst="roundRect">
            <a:avLst>
              <a:gd name="adj" fmla="val 50000"/>
            </a:avLst>
          </a:prstGeom>
          <a:solidFill>
            <a:srgbClr val="E2EBF8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4367723" y="5852160"/>
            <a:ext cx="9275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51" name="Text 42"/>
          <p:cNvSpPr txBox="1"/>
          <p:nvPr/>
        </p:nvSpPr>
        <p:spPr>
          <a:xfrm>
            <a:off x="5368442" y="5852160"/>
            <a:ext cx="534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agree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6131052" y="5852160"/>
            <a:ext cx="1766987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131052" y="5852160"/>
            <a:ext cx="1766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</a:t>
            </a:r>
            <a:endParaRPr lang="en-US" sz="850" dirty="0"/>
          </a:p>
        </p:txBody>
      </p:sp>
      <p:sp>
        <p:nvSpPr>
          <p:cNvPr id="54" name="Text 45"/>
          <p:cNvSpPr txBox="1"/>
          <p:nvPr/>
        </p:nvSpPr>
        <p:spPr>
          <a:xfrm>
            <a:off x="7971191" y="5852160"/>
            <a:ext cx="1011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validated</a:t>
            </a:r>
            <a:endParaRPr lang="en-US" sz="950" dirty="0"/>
          </a:p>
        </p:txBody>
      </p:sp>
      <p:sp>
        <p:nvSpPr>
          <p:cNvPr id="55" name="Shape 46"/>
          <p:cNvSpPr/>
          <p:nvPr/>
        </p:nvSpPr>
        <p:spPr>
          <a:xfrm>
            <a:off x="9211117" y="5852160"/>
            <a:ext cx="1347277" cy="256032"/>
          </a:xfrm>
          <a:prstGeom prst="roundRect">
            <a:avLst>
              <a:gd name="adj" fmla="val 50000"/>
            </a:avLst>
          </a:prstGeom>
          <a:solidFill>
            <a:srgbClr val="ECE6FA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9211117" y="5852160"/>
            <a:ext cx="13472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53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</a:t>
            </a:r>
            <a:endParaRPr lang="en-US" sz="850" dirty="0"/>
          </a:p>
        </p:txBody>
      </p:sp>
      <p:sp>
        <p:nvSpPr>
          <p:cNvPr id="57" name="Text 48"/>
          <p:cNvSpPr txBox="1"/>
          <p:nvPr/>
        </p:nvSpPr>
        <p:spPr>
          <a:xfrm>
            <a:off x="10631546" y="5852160"/>
            <a:ext cx="587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950" dirty="0"/>
          </a:p>
        </p:txBody>
      </p:sp>
      <p:sp>
        <p:nvSpPr>
          <p:cNvPr id="59" name="Text 49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60" name="Text 50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Vision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want NestHire to go — and what makes it more than a CV matching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95778" y="384048"/>
            <a:ext cx="1347277" cy="256032"/>
          </a:xfrm>
          <a:prstGeom prst="roundRect">
            <a:avLst>
              <a:gd name="adj" fmla="val 50000"/>
            </a:avLst>
          </a:prstGeom>
          <a:solidFill>
            <a:srgbClr val="ECE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95778" y="384048"/>
            <a:ext cx="13472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53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4206240" cy="4069080"/>
          </a:xfrm>
          <a:prstGeom prst="roundRect">
            <a:avLst>
              <a:gd name="adj" fmla="val 2247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— DRAFT WORDING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6032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decisions grounded in evidence, explained clearly, and made by people.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60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term: an AI-powered recruitment and talent intelligence platform that helps teams understand real skills and experience — not just keywords.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5440680"/>
            <a:ext cx="1766987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440680"/>
            <a:ext cx="1766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715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wording from project documents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19385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CV matching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33688" y="1938528"/>
            <a:ext cx="2809951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33688" y="1938528"/>
            <a:ext cx="28099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— future vision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432304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FROM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01384" y="2432304"/>
            <a:ext cx="2331720" cy="804672"/>
          </a:xfrm>
          <a:prstGeom prst="roundRect">
            <a:avLst>
              <a:gd name="adj" fmla="val 6818"/>
            </a:avLst>
          </a:prstGeom>
          <a:solidFill>
            <a:srgbClr val="EEF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65976" y="2432304"/>
            <a:ext cx="2002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text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33688" y="2432304"/>
            <a:ext cx="2809951" cy="804672"/>
          </a:xfrm>
          <a:prstGeom prst="roundRect">
            <a:avLst>
              <a:gd name="adj" fmla="val 6818"/>
            </a:avLst>
          </a:prstGeom>
          <a:solidFill>
            <a:srgbClr val="E8F3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98280" y="2432304"/>
            <a:ext cx="248076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requirements + candidate evidence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3328416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01384" y="3328416"/>
            <a:ext cx="2331720" cy="804672"/>
          </a:xfrm>
          <a:prstGeom prst="roundRect">
            <a:avLst>
              <a:gd name="adj" fmla="val 6818"/>
            </a:avLst>
          </a:prstGeom>
          <a:solidFill>
            <a:srgbClr val="EEF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65976" y="3328416"/>
            <a:ext cx="2002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overlap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33688" y="3328416"/>
            <a:ext cx="2809951" cy="804672"/>
          </a:xfrm>
          <a:prstGeom prst="roundRect">
            <a:avLst>
              <a:gd name="adj" fmla="val 6818"/>
            </a:avLst>
          </a:prstGeom>
          <a:solidFill>
            <a:srgbClr val="E8F3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98280" y="3328416"/>
            <a:ext cx="248076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experience, assessments and interviews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224528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01384" y="4224528"/>
            <a:ext cx="2331720" cy="804672"/>
          </a:xfrm>
          <a:prstGeom prst="roundRect">
            <a:avLst>
              <a:gd name="adj" fmla="val 6818"/>
            </a:avLst>
          </a:prstGeom>
          <a:solidFill>
            <a:srgbClr val="EEF2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65976" y="4224528"/>
            <a:ext cx="2002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match score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33688" y="4224528"/>
            <a:ext cx="2809951" cy="804672"/>
          </a:xfrm>
          <a:prstGeom prst="roundRect">
            <a:avLst>
              <a:gd name="adj" fmla="val 6818"/>
            </a:avLst>
          </a:prstGeom>
          <a:solidFill>
            <a:srgbClr val="E8F3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98280" y="4224528"/>
            <a:ext cx="248076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analysis: evidence, gaps, confidence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512064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01384" y="5120640"/>
            <a:ext cx="2331720" cy="804672"/>
          </a:xfrm>
          <a:prstGeom prst="roundRect">
            <a:avLst>
              <a:gd name="adj" fmla="val 6818"/>
            </a:avLst>
          </a:prstGeom>
          <a:solidFill>
            <a:srgbClr val="EEF2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65976" y="5120640"/>
            <a:ext cx="20025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implied by the score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33688" y="5120640"/>
            <a:ext cx="2809951" cy="804672"/>
          </a:xfrm>
          <a:prstGeom prst="roundRect">
            <a:avLst>
              <a:gd name="adj" fmla="val 6818"/>
            </a:avLst>
          </a:prstGeom>
          <a:solidFill>
            <a:srgbClr val="E8F3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98280" y="5120640"/>
            <a:ext cx="248076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by people — AI assists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hiring hard today — the gaps NestHire is meant to close.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7635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7" name="Image 0" descr="file tex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2695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30475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61488"/>
            <a:ext cx="21104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Over-reliance on the CV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64408"/>
            <a:ext cx="211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lean on what is written, not on what is proven.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90595" y="1920240"/>
            <a:ext cx="2567635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9195" y="2148840"/>
            <a:ext cx="502920" cy="50292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13" name="Image 1" descr="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22695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243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619195" y="2761488"/>
            <a:ext cx="21104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matching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3619195" y="3264408"/>
            <a:ext cx="211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words is not the same as understanding fit.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32550" y="1920240"/>
            <a:ext cx="2567635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61150" y="2148840"/>
            <a:ext cx="502920" cy="50292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19" name="Image 2" descr="briefc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851" y="226954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14386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461150" y="2761488"/>
            <a:ext cx="21104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experience is hard to read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6461150" y="3264408"/>
            <a:ext cx="211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depth and context of experience get lost.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074506" y="1920240"/>
            <a:ext cx="2567635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03106" y="2148840"/>
            <a:ext cx="502920" cy="50292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25" name="Image 3" descr="file searc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06" y="2269541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956341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303106" y="2761488"/>
            <a:ext cx="21104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is hard to verify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03106" y="3264408"/>
            <a:ext cx="211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are rarely linked to supporting evidence.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4023360"/>
            <a:ext cx="2567635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31" name="Image 4" descr="hourglas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372661"/>
            <a:ext cx="261518" cy="26151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430475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4864608"/>
            <a:ext cx="21104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evaluation</a:t>
            </a:r>
            <a:endParaRPr lang="en-US" sz="1450" dirty="0"/>
          </a:p>
        </p:txBody>
      </p:sp>
      <p:sp>
        <p:nvSpPr>
          <p:cNvPr id="34" name="Text 27"/>
          <p:cNvSpPr txBox="1"/>
          <p:nvPr/>
        </p:nvSpPr>
        <p:spPr>
          <a:xfrm>
            <a:off x="777240" y="5367528"/>
            <a:ext cx="211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candidates by hand is slow and inconsistent.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3390595" y="4023360"/>
            <a:ext cx="2567635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619195" y="4251960"/>
            <a:ext cx="502920" cy="50292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37" name="Image 5" descr="sca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4372661"/>
            <a:ext cx="261518" cy="26151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27243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3619195" y="4864608"/>
            <a:ext cx="21104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compare candidates</a:t>
            </a:r>
            <a:endParaRPr lang="en-US" sz="1450" dirty="0"/>
          </a:p>
        </p:txBody>
      </p:sp>
      <p:sp>
        <p:nvSpPr>
          <p:cNvPr id="40" name="Text 32"/>
          <p:cNvSpPr txBox="1"/>
          <p:nvPr/>
        </p:nvSpPr>
        <p:spPr>
          <a:xfrm>
            <a:off x="3619195" y="5367528"/>
            <a:ext cx="211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common, structured basis for comparison.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232550" y="4023360"/>
            <a:ext cx="2567635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461150" y="4251960"/>
            <a:ext cx="502920" cy="50292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43" name="Image 6" descr="eye off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851" y="4372661"/>
            <a:ext cx="261518" cy="261518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8114386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461150" y="4864608"/>
            <a:ext cx="21104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or no explanation</a:t>
            </a:r>
            <a:endParaRPr lang="en-US" sz="1450" dirty="0"/>
          </a:p>
        </p:txBody>
      </p:sp>
      <p:sp>
        <p:nvSpPr>
          <p:cNvPr id="46" name="Text 37"/>
          <p:cNvSpPr txBox="1"/>
          <p:nvPr/>
        </p:nvSpPr>
        <p:spPr>
          <a:xfrm>
            <a:off x="6461150" y="5367528"/>
            <a:ext cx="2110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hiring systems give results without the why.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9074506" y="4023360"/>
            <a:ext cx="2567635" cy="1874520"/>
          </a:xfrm>
          <a:prstGeom prst="roundRect">
            <a:avLst>
              <a:gd name="adj" fmla="val 3902"/>
            </a:avLst>
          </a:prstGeom>
          <a:solidFill>
            <a:srgbClr val="0B1F2A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9303106" y="4251960"/>
            <a:ext cx="21104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GAP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9303106" y="4572000"/>
            <a:ext cx="21104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decisions are often made on claims and keywords — without evidence or a clear why.</a:t>
            </a:r>
            <a:endParaRPr lang="en-US" sz="1450" dirty="0"/>
          </a:p>
        </p:txBody>
      </p:sp>
      <p:sp>
        <p:nvSpPr>
          <p:cNvPr id="50" name="Text 41"/>
          <p:cNvSpPr txBox="1"/>
          <p:nvPr/>
        </p:nvSpPr>
        <p:spPr>
          <a:xfrm>
            <a:off x="548640" y="6089904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list from the kickoff brief — to be validated against NestHire research documents. No statistics are shown because none were provided.</a:t>
            </a:r>
            <a:endParaRPr lang="en-US" sz="950" dirty="0"/>
          </a:p>
        </p:txBody>
      </p:sp>
      <p:sp>
        <p:nvSpPr>
          <p:cNvPr id="52" name="Text 4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53" name="Text 43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NestHire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matching keywords on a resume to an evidence-based, explainable picture — and leave the decision to people.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99430" y="384048"/>
            <a:ext cx="843625" cy="256032"/>
          </a:xfrm>
          <a:prstGeom prst="roundRect">
            <a:avLst>
              <a:gd name="adj" fmla="val 50000"/>
            </a:avLst>
          </a:prstGeom>
          <a:solidFill>
            <a:srgbClr val="E8F3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430" y="384048"/>
            <a:ext cx="843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2194560"/>
            <a:ext cx="27432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19659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94560"/>
            <a:ext cx="27432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19659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0640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approach: words in, score out.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764792" y="3474720"/>
            <a:ext cx="171515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963739" y="30175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009459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79891" y="3474720"/>
            <a:ext cx="171515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78839" y="30175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4559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94991" y="3474720"/>
            <a:ext cx="171515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93938" y="30175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39658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10090" y="3474720"/>
            <a:ext cx="171515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09037" y="30175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54757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25189" y="3474720"/>
            <a:ext cx="171515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624137" y="30175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69857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840289" y="3474720"/>
            <a:ext cx="171515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039236" y="30175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084956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Analysis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255388" y="3474720"/>
            <a:ext cx="171515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454335" y="30175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9532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500055" y="3017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251960"/>
            <a:ext cx="3515258" cy="1737360"/>
          </a:xfrm>
          <a:prstGeom prst="roundRect">
            <a:avLst>
              <a:gd name="adj" fmla="val 4211"/>
            </a:avLst>
          </a:prstGeom>
          <a:solidFill>
            <a:srgbClr val="F4F8F8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4416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1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66344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claims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 evidence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" y="5303520"/>
            <a:ext cx="29666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should point back to evidence: projects, experience, assessments, interviews.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338218" y="4251960"/>
            <a:ext cx="3515258" cy="1737360"/>
          </a:xfrm>
          <a:prstGeom prst="roundRect">
            <a:avLst>
              <a:gd name="adj" fmla="val 4211"/>
            </a:avLst>
          </a:prstGeom>
          <a:solidFill>
            <a:srgbClr val="F4F8F8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12538" y="4416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2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612538" y="466344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scores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 explanations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612538" y="5303520"/>
            <a:ext cx="29666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why: which requirements are supported, what is missing, how confident we are.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127797" y="4251960"/>
            <a:ext cx="3515258" cy="1737360"/>
          </a:xfrm>
          <a:prstGeom prst="roundRect">
            <a:avLst>
              <a:gd name="adj" fmla="val 4211"/>
            </a:avLst>
          </a:prstGeom>
          <a:solidFill>
            <a:srgbClr val="F4F8F8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02117" y="4416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3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402117" y="466344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automation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 human decisions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402117" y="5303520"/>
            <a:ext cx="29666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organizes and explains. People review and make the hiring decision.</a:t>
            </a:r>
            <a:endParaRPr lang="en-US" sz="1150" dirty="0"/>
          </a:p>
        </p:txBody>
      </p:sp>
      <p:sp>
        <p:nvSpPr>
          <p:cNvPr id="54" name="Text 51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USERS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NestHire For?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groups named in the kickoff brief. Personas, priorities and first-release scope still need confirmation.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6069" y="384048"/>
            <a:ext cx="1766987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6069" y="384048"/>
            <a:ext cx="1766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01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ORGANIZATION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256763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0" descr="building 2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54386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that adopt NestHire for their hiring.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90595" y="2212848"/>
            <a:ext cx="256763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19195" y="24231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1" descr="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254386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19195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Teams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619195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consistent, explainable hiring processes.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32550" y="2212848"/>
            <a:ext cx="256763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61150" y="24231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0" name="Image 2" descr="user 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851" y="254386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6115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6115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evidence-based analysis and move candidates forward.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074506" y="2212848"/>
            <a:ext cx="256763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03106" y="24231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5" name="Image 3" descr="briefca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06" y="2543861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03106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Managers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303106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analysis and take part in the hiring decision.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224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535424"/>
            <a:ext cx="541050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77240" y="4754880"/>
            <a:ext cx="502920" cy="502920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31" name="Image 4" descr="id car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875581"/>
            <a:ext cx="261518" cy="26151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63040" y="4736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1463040" y="50840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CV, projects, assessments and interviews — evaluated on evidence, not keywords.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3387120" y="4754880"/>
            <a:ext cx="2389144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3387120" y="4754880"/>
            <a:ext cx="2389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CANDIDATE-FACING SCOPE: TBC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6233465" y="4224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233465" y="4535424"/>
            <a:ext cx="541050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462065" y="4754880"/>
            <a:ext cx="502920" cy="502920"/>
          </a:xfrm>
          <a:prstGeom prst="ellipse">
            <a:avLst/>
          </a:prstGeom>
          <a:solidFill>
            <a:srgbClr val="52606D"/>
          </a:solidFill>
          <a:ln/>
        </p:spPr>
      </p:sp>
      <p:pic>
        <p:nvPicPr>
          <p:cNvPr id="39" name="Image 5" descr="user co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766" y="4875581"/>
            <a:ext cx="261518" cy="261518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147865" y="4736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7147865" y="50840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the platform: users, roles, permissions and settings.</a:t>
            </a:r>
            <a:endParaRPr lang="en-US" sz="1150" dirty="0"/>
          </a:p>
        </p:txBody>
      </p:sp>
      <p:sp>
        <p:nvSpPr>
          <p:cNvPr id="43" name="Text 3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44" name="Text 3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PRODUCT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NestHire Product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planned modules in four groups. None are built yet — boundaries will be finalized in the product specification.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99430" y="384048"/>
            <a:ext cx="843625" cy="256032"/>
          </a:xfrm>
          <a:prstGeom prst="roundRect">
            <a:avLst>
              <a:gd name="adj" fmla="val 50000"/>
            </a:avLst>
          </a:prstGeom>
          <a:solidFill>
            <a:srgbClr val="E8F3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430" y="384048"/>
            <a:ext cx="843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RECRUITMENT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42616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11" name="Image 0" descr="workflow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50" y="2743566"/>
            <a:ext cx="218724" cy="2187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25694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287121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pipeline and stages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355848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529584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16" name="Image 1" descr="briefc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50" y="3630534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34440" y="3456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1234440" y="375818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creation and requirements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4242816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4416552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21" name="Image 2" descr="id car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50" y="4517502"/>
            <a:ext cx="218724" cy="21872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34440" y="4343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234440" y="4645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records and profiles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393338" y="1901952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0B1F2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393338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393338" y="2468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530498" y="2642616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28" name="Image 3" descr="puzz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448" y="2743566"/>
            <a:ext cx="218724" cy="21872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079138" y="25694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4079138" y="287121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linked to evidence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393338" y="3355848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530498" y="3529584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33" name="Image 4" descr="layer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448" y="3630534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079138" y="3456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4079138" y="375818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in its context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3393338" y="4242816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530498" y="4416552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38" name="Image 5" descr="clipboard 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448" y="4517502"/>
            <a:ext cx="218724" cy="21872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4079138" y="4343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</a:t>
            </a:r>
            <a:endParaRPr lang="en-US" sz="1350" dirty="0"/>
          </a:p>
        </p:txBody>
      </p:sp>
      <p:sp>
        <p:nvSpPr>
          <p:cNvPr id="40" name="Text 32"/>
          <p:cNvSpPr txBox="1"/>
          <p:nvPr/>
        </p:nvSpPr>
        <p:spPr>
          <a:xfrm>
            <a:off x="4079138" y="4645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results as evidence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3393338" y="5129784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530498" y="530352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43" name="Image 6" descr="mic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1448" y="5404470"/>
            <a:ext cx="218724" cy="21872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079138" y="5230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1350" dirty="0"/>
          </a:p>
        </p:txBody>
      </p:sp>
      <p:sp>
        <p:nvSpPr>
          <p:cNvPr id="45" name="Text 36"/>
          <p:cNvSpPr txBox="1"/>
          <p:nvPr/>
        </p:nvSpPr>
        <p:spPr>
          <a:xfrm>
            <a:off x="4079138" y="55321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inputs as evidence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238037" y="1901952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6238037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6238037" y="2468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375197" y="2642616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50" name="Image 7" descr="brain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6147" y="2743566"/>
            <a:ext cx="218724" cy="21872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923837" y="25694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52" name="Text 42"/>
          <p:cNvSpPr txBox="1"/>
          <p:nvPr/>
        </p:nvSpPr>
        <p:spPr>
          <a:xfrm>
            <a:off x="6923837" y="287121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extraction and analysis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6238037" y="3355848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6375197" y="3529584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55" name="Image 8" descr="ey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147" y="3630534"/>
            <a:ext cx="218724" cy="218724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923837" y="3456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57" name="Text 46"/>
          <p:cNvSpPr txBox="1"/>
          <p:nvPr/>
        </p:nvSpPr>
        <p:spPr>
          <a:xfrm>
            <a:off x="6923837" y="375818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Reasons, evidence, gaps, confidence</a:t>
            </a:r>
            <a:endParaRPr lang="en-US" sz="1050" dirty="0"/>
          </a:p>
        </p:txBody>
      </p:sp>
      <p:sp>
        <p:nvSpPr>
          <p:cNvPr id="58" name="Shape 47"/>
          <p:cNvSpPr/>
          <p:nvPr/>
        </p:nvSpPr>
        <p:spPr>
          <a:xfrm>
            <a:off x="6238037" y="4242816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6375197" y="4416552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60" name="Image 9" descr="bot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6147" y="4517502"/>
            <a:ext cx="218724" cy="218724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6923837" y="4343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Copilot</a:t>
            </a:r>
            <a:endParaRPr lang="en-US" sz="1350" dirty="0"/>
          </a:p>
        </p:txBody>
      </p:sp>
      <p:sp>
        <p:nvSpPr>
          <p:cNvPr id="62" name="Text 50"/>
          <p:cNvSpPr txBox="1"/>
          <p:nvPr/>
        </p:nvSpPr>
        <p:spPr>
          <a:xfrm>
            <a:off x="6923837" y="46451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· </a:t>
            </a:r>
            <a:pPr indent="0" marL="0">
              <a:buNone/>
            </a:pPr>
            <a:r>
              <a:rPr lang="en-US" sz="1050" b="1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TBC</a:t>
            </a:r>
            <a:endParaRPr lang="en-US" sz="1050" dirty="0"/>
          </a:p>
        </p:txBody>
      </p:sp>
      <p:sp>
        <p:nvSpPr>
          <p:cNvPr id="63" name="Shape 51"/>
          <p:cNvSpPr/>
          <p:nvPr/>
        </p:nvSpPr>
        <p:spPr>
          <a:xfrm>
            <a:off x="9082735" y="1901952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0B1F2A"/>
          </a:solidFill>
          <a:ln/>
        </p:spPr>
      </p:sp>
      <p:sp>
        <p:nvSpPr>
          <p:cNvPr id="64" name="Text 52"/>
          <p:cNvSpPr txBox="1"/>
          <p:nvPr/>
        </p:nvSpPr>
        <p:spPr>
          <a:xfrm>
            <a:off x="9082735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50" dirty="0"/>
          </a:p>
        </p:txBody>
      </p:sp>
      <p:sp>
        <p:nvSpPr>
          <p:cNvPr id="65" name="Shape 53"/>
          <p:cNvSpPr/>
          <p:nvPr/>
        </p:nvSpPr>
        <p:spPr>
          <a:xfrm>
            <a:off x="9082735" y="2468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66" name="Shape 54"/>
          <p:cNvSpPr/>
          <p:nvPr/>
        </p:nvSpPr>
        <p:spPr>
          <a:xfrm>
            <a:off x="9219895" y="2642616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67" name="Image 10" descr="settings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0845" y="2743566"/>
            <a:ext cx="218724" cy="218724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9768535" y="25694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50" dirty="0"/>
          </a:p>
        </p:txBody>
      </p:sp>
      <p:sp>
        <p:nvSpPr>
          <p:cNvPr id="69" name="Text 56"/>
          <p:cNvSpPr txBox="1"/>
          <p:nvPr/>
        </p:nvSpPr>
        <p:spPr>
          <a:xfrm>
            <a:off x="9768535" y="287121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roles and settings</a:t>
            </a:r>
            <a:endParaRPr lang="en-US" sz="1050" dirty="0"/>
          </a:p>
        </p:txBody>
      </p:sp>
      <p:sp>
        <p:nvSpPr>
          <p:cNvPr id="70" name="Shape 57"/>
          <p:cNvSpPr/>
          <p:nvPr/>
        </p:nvSpPr>
        <p:spPr>
          <a:xfrm>
            <a:off x="9082735" y="3355848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CEFC0"/>
          </a:solidFill>
          <a:ln/>
        </p:spPr>
      </p:sp>
      <p:pic>
        <p:nvPicPr>
          <p:cNvPr id="71" name="Image 11" descr="triangle alert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5615" y="3538728"/>
            <a:ext cx="292608" cy="292608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9649663" y="35387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</a:t>
            </a:r>
            <a:endParaRPr lang="en-US" sz="1000" dirty="0"/>
          </a:p>
        </p:txBody>
      </p:sp>
      <p:sp>
        <p:nvSpPr>
          <p:cNvPr id="73" name="Text 59"/>
          <p:cNvSpPr txBox="1"/>
          <p:nvPr/>
        </p:nvSpPr>
        <p:spPr>
          <a:xfrm>
            <a:off x="9265615" y="3950208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list is from the kickoff brief.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module boundaries.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modules form the first release (MVP).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Copilot scope and phase.</a:t>
            </a:r>
            <a:endParaRPr lang="en-US" sz="1100" dirty="0"/>
          </a:p>
        </p:txBody>
      </p:sp>
      <p:sp>
        <p:nvSpPr>
          <p:cNvPr id="75" name="Text 6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76" name="Text 61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HOW IT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NestHire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end-to-end flow. No stage is implemented yet — this is what we will build toward.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24243" y="384048"/>
            <a:ext cx="2018812" cy="256032"/>
          </a:xfrm>
          <a:prstGeom prst="roundRect">
            <a:avLst>
              <a:gd name="adj" fmla="val 50000"/>
            </a:avLst>
          </a:prstGeom>
          <a:solidFill>
            <a:srgbClr val="E2EB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24243" y="384048"/>
            <a:ext cx="2018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PRODUCT FLOW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EEF2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93976"/>
            <a:ext cx="292608" cy="292608"/>
          </a:xfrm>
          <a:prstGeom prst="ellipse">
            <a:avLst/>
          </a:prstGeom>
          <a:solidFill>
            <a:srgbClr val="52606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4144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Requirements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87121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role needs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4425" y="2615184"/>
            <a:ext cx="319583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49728" y="196596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EEF2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86888" y="2093976"/>
            <a:ext cx="292608" cy="292608"/>
          </a:xfrm>
          <a:prstGeom prst="ellipse">
            <a:avLst/>
          </a:prstGeom>
          <a:solidFill>
            <a:srgbClr val="52606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86888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986888" y="244144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Data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86888" y="287121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CV, projects, experience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5512" y="2615184"/>
            <a:ext cx="319583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50815" y="196596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5287975" y="209397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87975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287975" y="244144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Extraction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287975" y="287121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evidence from candidate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2615184"/>
            <a:ext cx="319583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51903" y="196596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063" y="209397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89063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589063" y="244144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&amp; Experience Intelligence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89063" y="287121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evidence to skills and experience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87688" y="2615184"/>
            <a:ext cx="319583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752990" y="196596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0F766E"/>
          </a:solidFill>
          <a:ln/>
        </p:spPr>
      </p:sp>
      <p:sp>
        <p:nvSpPr>
          <p:cNvPr id="32" name="Shape 30"/>
          <p:cNvSpPr/>
          <p:nvPr/>
        </p:nvSpPr>
        <p:spPr>
          <a:xfrm>
            <a:off x="9890150" y="209397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890150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890150" y="244144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Intelligence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890150" y="287121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results as evidence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93192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0F766E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" y="40599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440740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Intelligence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483717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inputs as evidence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84425" y="4581144"/>
            <a:ext cx="319583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849728" y="393192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0F766E"/>
          </a:solidFill>
          <a:ln/>
        </p:spPr>
      </p:sp>
      <p:sp>
        <p:nvSpPr>
          <p:cNvPr id="43" name="Shape 41"/>
          <p:cNvSpPr/>
          <p:nvPr/>
        </p:nvSpPr>
        <p:spPr>
          <a:xfrm>
            <a:off x="2986888" y="40599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986888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2986888" y="440740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Analysis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2986888" y="483717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5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vs evidence, with reasons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85512" y="4581144"/>
            <a:ext cx="319583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150815" y="393192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0B1F2A"/>
          </a:solidFill>
          <a:ln/>
        </p:spPr>
      </p:sp>
      <p:sp>
        <p:nvSpPr>
          <p:cNvPr id="49" name="Shape 47"/>
          <p:cNvSpPr/>
          <p:nvPr/>
        </p:nvSpPr>
        <p:spPr>
          <a:xfrm>
            <a:off x="5287975" y="4059936"/>
            <a:ext cx="292608" cy="29260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287975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5287975" y="440740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&amp; Fairness Checks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5287975" y="483717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reliable? Is it fair?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86600" y="4581144"/>
            <a:ext cx="319583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451903" y="393192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D9532F"/>
          </a:solidFill>
          <a:ln/>
        </p:spPr>
      </p:sp>
      <p:sp>
        <p:nvSpPr>
          <p:cNvPr id="55" name="Shape 53"/>
          <p:cNvSpPr/>
          <p:nvPr/>
        </p:nvSpPr>
        <p:spPr>
          <a:xfrm>
            <a:off x="7589063" y="40599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589063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5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7589063" y="440740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Review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7589063" y="483717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review the analysis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387688" y="4581144"/>
            <a:ext cx="319583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752990" y="3931920"/>
            <a:ext cx="1890065" cy="1298448"/>
          </a:xfrm>
          <a:prstGeom prst="roundRect">
            <a:avLst>
              <a:gd name="adj" fmla="val 5634"/>
            </a:avLst>
          </a:prstGeom>
          <a:solidFill>
            <a:srgbClr val="D9532F"/>
          </a:solidFill>
          <a:ln/>
        </p:spPr>
      </p:sp>
      <p:sp>
        <p:nvSpPr>
          <p:cNvPr id="61" name="Shape 59"/>
          <p:cNvSpPr/>
          <p:nvPr/>
        </p:nvSpPr>
        <p:spPr>
          <a:xfrm>
            <a:off x="9890150" y="40599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89015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5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890150" y="4407408"/>
            <a:ext cx="1615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1250" dirty="0"/>
          </a:p>
        </p:txBody>
      </p:sp>
      <p:sp>
        <p:nvSpPr>
          <p:cNvPr id="64" name="Text 62"/>
          <p:cNvSpPr txBox="1"/>
          <p:nvPr/>
        </p:nvSpPr>
        <p:spPr>
          <a:xfrm>
            <a:off x="9890150" y="4837176"/>
            <a:ext cx="16157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make the decision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0698023" y="3264408"/>
            <a:ext cx="0" cy="33832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93672" y="3602736"/>
            <a:ext cx="920435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493672" y="3602736"/>
            <a:ext cx="0" cy="30175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48640" y="557784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EF2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77824" y="5541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677924" y="557784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2007108" y="5541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(planned)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050792" y="557784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B1F2A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379976" y="5541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90972" y="557784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D953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5820156" y="5541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071055" y="55412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5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9 and 10 are always done by people.</a:t>
            </a:r>
            <a:endParaRPr lang="en-US" sz="1100" dirty="0"/>
          </a:p>
        </p:txBody>
      </p:sp>
      <p:sp>
        <p:nvSpPr>
          <p:cNvPr id="78" name="Text 7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79" name="Text 76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INTELLIGENCE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Intelligence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NestHire should understand a job before it looks at any candidate.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99430" y="384048"/>
            <a:ext cx="843625" cy="256032"/>
          </a:xfrm>
          <a:prstGeom prst="roundRect">
            <a:avLst>
              <a:gd name="adj" fmla="val 50000"/>
            </a:avLst>
          </a:prstGeom>
          <a:solidFill>
            <a:srgbClr val="E8F3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430" y="384048"/>
            <a:ext cx="843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2057400" cy="3639312"/>
          </a:xfrm>
          <a:prstGeom prst="roundRect">
            <a:avLst>
              <a:gd name="adj" fmla="val 4444"/>
            </a:avLst>
          </a:prstGeom>
          <a:solidFill>
            <a:srgbClr val="0B1F2A"/>
          </a:solidFill>
          <a:ln/>
        </p:spPr>
      </p:sp>
      <p:pic>
        <p:nvPicPr>
          <p:cNvPr id="8" name="Image 0" descr="file tex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Description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text written by the hiring team.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17520" y="1938528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E8F3F2"/>
          </a:solidFill>
          <a:ln/>
        </p:spPr>
      </p:sp>
      <p:pic>
        <p:nvPicPr>
          <p:cNvPr id="12" name="Image 1" descr="list check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1226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2002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the role must meet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633472" y="2258568"/>
            <a:ext cx="356616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017520" y="2688336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E8F3F2"/>
          </a:solidFill>
          <a:ln/>
        </p:spPr>
      </p:sp>
      <p:pic>
        <p:nvPicPr>
          <p:cNvPr id="17" name="Image 2" descr="puzz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86207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11880" y="2752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611880" y="3026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and professional skills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633472" y="3008376"/>
            <a:ext cx="356616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017520" y="3438144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E8F3F2"/>
          </a:solidFill>
          <a:ln/>
        </p:spPr>
      </p:sp>
      <p:pic>
        <p:nvPicPr>
          <p:cNvPr id="22" name="Image 3" descr="lay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6118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61188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3611880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and depth of experience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633472" y="3758184"/>
            <a:ext cx="356616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3017520" y="4187952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E8F3F2"/>
          </a:solidFill>
          <a:ln/>
        </p:spPr>
      </p:sp>
      <p:pic>
        <p:nvPicPr>
          <p:cNvPr id="27" name="Image 4" descr="clipboard 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43616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6118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Responsibilities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3611880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person will actually do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633472" y="4507992"/>
            <a:ext cx="356616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3017520" y="493776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E8F3F2"/>
          </a:solidFill>
          <a:ln/>
        </p:spPr>
      </p:sp>
      <p:pic>
        <p:nvPicPr>
          <p:cNvPr id="32" name="Image 5" descr="targe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511149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611880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Competencies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3611880" y="5276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the role demands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2633472" y="5257800"/>
            <a:ext cx="356616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6583680" y="3520440"/>
            <a:ext cx="411480" cy="457200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7178040" y="1938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Job Profile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7178040" y="2304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later to: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7178040" y="271576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717804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7680960" y="2670048"/>
            <a:ext cx="3959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baseline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is analyzed against the same requirements.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7178040" y="353872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717804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7680960" y="3493008"/>
            <a:ext cx="3959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explainable matching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which requirements are supported, partial or missing.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7178040" y="436168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717804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7680960" y="4315968"/>
            <a:ext cx="3959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consistently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are compared on the same structured criteria.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7178040" y="5193792"/>
            <a:ext cx="4465015" cy="749808"/>
          </a:xfrm>
          <a:prstGeom prst="roundRect">
            <a:avLst>
              <a:gd name="adj" fmla="val 9756"/>
            </a:avLst>
          </a:prstGeom>
          <a:solidFill>
            <a:srgbClr val="FCEFC0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7360920" y="519379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  </a:t>
            </a:r>
            <a:pPr indent="0" marL="0">
              <a:buNone/>
            </a:pPr>
            <a:r>
              <a:rPr lang="en-US" sz="110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requirements are weighted (must-have vs nice-to-have) and who reviews the extracted profile.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52" name="Text 43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INTELLIGENCE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Intelligence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NestHire should build an evidence-based understanding of each candidate.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95778" y="384048"/>
            <a:ext cx="1347277" cy="256032"/>
          </a:xfrm>
          <a:prstGeom prst="roundRect">
            <a:avLst>
              <a:gd name="adj" fmla="val 50000"/>
            </a:avLst>
          </a:prstGeom>
          <a:solidFill>
            <a:srgbClr val="E8F3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95778" y="384048"/>
            <a:ext cx="13472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DESIGN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pic>
        <p:nvPicPr>
          <p:cNvPr id="8" name="Image 0" descr="file tex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299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385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2167128"/>
            <a:ext cx="960120" cy="168249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49174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pic>
        <p:nvPicPr>
          <p:cNvPr id="12" name="Image 1" descr="file cod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5831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24917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0" y="2720340"/>
            <a:ext cx="960120" cy="112928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044952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pic>
        <p:nvPicPr>
          <p:cNvPr id="16" name="Image 2" descr="briefc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13639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97280" y="30449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0" y="3273552"/>
            <a:ext cx="960120" cy="5760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3598164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pic>
        <p:nvPicPr>
          <p:cNvPr id="20" name="Image 3" descr="puzz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6896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359816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200400" y="3826764"/>
            <a:ext cx="960120" cy="228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48640" y="4151376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pic>
        <p:nvPicPr>
          <p:cNvPr id="24" name="Image 4" descr="file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24281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97280" y="41513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(supporting material)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 flipV="1">
            <a:off x="3200400" y="3849624"/>
            <a:ext cx="960120" cy="5303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48640" y="4704588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pic>
        <p:nvPicPr>
          <p:cNvPr id="28" name="Image 5" descr="clipboard 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479602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97280" y="47045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 flipV="1">
            <a:off x="3200400" y="3849624"/>
            <a:ext cx="960120" cy="108356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48640" y="525780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pic>
        <p:nvPicPr>
          <p:cNvPr id="32" name="Image 6" descr="mic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534924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97280" y="5257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 flipV="1">
            <a:off x="3200400" y="3849624"/>
            <a:ext cx="960120" cy="163677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160520" y="1938528"/>
            <a:ext cx="3840480" cy="3822192"/>
          </a:xfrm>
          <a:prstGeom prst="roundRect">
            <a:avLst>
              <a:gd name="adj" fmla="val 2392"/>
            </a:avLst>
          </a:prstGeom>
          <a:solidFill>
            <a:srgbClr val="0B1F2A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4434840" y="2148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Evidence Profile</a:t>
            </a:r>
            <a:endParaRPr lang="en-US" sz="2000" dirty="0"/>
          </a:p>
        </p:txBody>
      </p:sp>
      <p:sp>
        <p:nvSpPr>
          <p:cNvPr id="37" name="Text 28"/>
          <p:cNvSpPr txBox="1"/>
          <p:nvPr/>
        </p:nvSpPr>
        <p:spPr>
          <a:xfrm>
            <a:off x="443484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structured view per candidate</a:t>
            </a:r>
            <a:endParaRPr lang="en-US" sz="1100" dirty="0"/>
          </a:p>
        </p:txBody>
      </p:sp>
      <p:pic>
        <p:nvPicPr>
          <p:cNvPr id="38" name="Image 7" descr="circle 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3355848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773168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each linked to its evidence</a:t>
            </a:r>
            <a:endParaRPr lang="en-US" sz="1250" dirty="0"/>
          </a:p>
        </p:txBody>
      </p:sp>
      <p:pic>
        <p:nvPicPr>
          <p:cNvPr id="40" name="Image 8" descr="circle 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3813048"/>
            <a:ext cx="237744" cy="237744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773168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in its context</a:t>
            </a:r>
            <a:endParaRPr lang="en-US" sz="1250" dirty="0"/>
          </a:p>
        </p:txBody>
      </p:sp>
      <p:pic>
        <p:nvPicPr>
          <p:cNvPr id="42" name="Image 9" descr="circle check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4270248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773168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and interview signals</a:t>
            </a:r>
            <a:endParaRPr lang="en-US" sz="1250" dirty="0"/>
          </a:p>
        </p:txBody>
      </p:sp>
      <p:pic>
        <p:nvPicPr>
          <p:cNvPr id="44" name="Image 10" descr="circle check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4727448"/>
            <a:ext cx="237744" cy="237744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4773168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and missing information</a:t>
            </a:r>
            <a:endParaRPr lang="en-US" sz="1250" dirty="0"/>
          </a:p>
        </p:txBody>
      </p:sp>
      <p:pic>
        <p:nvPicPr>
          <p:cNvPr id="46" name="Image 11" descr="circle 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4840" y="5184648"/>
            <a:ext cx="237744" cy="237744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4773168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for each finding</a:t>
            </a:r>
            <a:endParaRPr lang="en-US" sz="1250" dirty="0"/>
          </a:p>
        </p:txBody>
      </p:sp>
      <p:sp>
        <p:nvSpPr>
          <p:cNvPr id="48" name="Text 34"/>
          <p:cNvSpPr txBox="1"/>
          <p:nvPr/>
        </p:nvSpPr>
        <p:spPr>
          <a:xfrm>
            <a:off x="8275320" y="193852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49" name="Text 35"/>
          <p:cNvSpPr txBox="1"/>
          <p:nvPr/>
        </p:nvSpPr>
        <p:spPr>
          <a:xfrm>
            <a:off x="8275320" y="2331720"/>
            <a:ext cx="3364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 built from evidence, not a copy of the CV.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explainable matching against the job profile.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gaps visible, so people know what to check.</a:t>
            </a:r>
            <a:endParaRPr lang="en-US" sz="1200" dirty="0"/>
          </a:p>
        </p:txBody>
      </p:sp>
      <p:sp>
        <p:nvSpPr>
          <p:cNvPr id="50" name="Shape 36"/>
          <p:cNvSpPr/>
          <p:nvPr/>
        </p:nvSpPr>
        <p:spPr>
          <a:xfrm>
            <a:off x="8275320" y="4681728"/>
            <a:ext cx="3367735" cy="1078992"/>
          </a:xfrm>
          <a:prstGeom prst="roundRect">
            <a:avLst>
              <a:gd name="adj" fmla="val 6780"/>
            </a:avLst>
          </a:prstGeom>
          <a:solidFill>
            <a:srgbClr val="FCEFC0"/>
          </a:solidFill>
          <a:ln/>
        </p:spPr>
      </p:sp>
      <p:sp>
        <p:nvSpPr>
          <p:cNvPr id="51" name="Text 37"/>
          <p:cNvSpPr txBox="1"/>
          <p:nvPr/>
        </p:nvSpPr>
        <p:spPr>
          <a:xfrm>
            <a:off x="8458200" y="4681728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input types, formats and data sources. Nothing here is implemented.</a:t>
            </a:r>
            <a:endParaRPr lang="en-US" sz="1200" dirty="0"/>
          </a:p>
        </p:txBody>
      </p:sp>
      <p:sp>
        <p:nvSpPr>
          <p:cNvPr id="53" name="Text 38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54" name="Text 39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CORE CONCEPT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Employment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conclusion NestHire shows must trace from a claim, through evidence, to a decision made by people.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79720" y="384048"/>
            <a:ext cx="1263335" cy="256032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79720" y="384048"/>
            <a:ext cx="1263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1999427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38528"/>
            <a:ext cx="1999427" cy="621792"/>
          </a:xfrm>
          <a:prstGeom prst="rect">
            <a:avLst/>
          </a:prstGeom>
          <a:solidFill>
            <a:srgbClr val="52606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938528"/>
            <a:ext cx="172510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CLAIM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69748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candidate states.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6118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858768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3 years of Python experience.”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630363" y="2157984"/>
            <a:ext cx="109728" cy="18288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822387" y="1938528"/>
            <a:ext cx="1999427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22387" y="1938528"/>
            <a:ext cx="1999427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86979" y="1938528"/>
            <a:ext cx="172510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EVIDENCE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86979" y="269748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that supports or contradicts the claim.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86979" y="36118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86979" y="3858768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repositories, role history, an assessment result.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4904110" y="2157984"/>
            <a:ext cx="109728" cy="18288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5096134" y="1938528"/>
            <a:ext cx="1999427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96134" y="1938528"/>
            <a:ext cx="1999427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60726" y="1938528"/>
            <a:ext cx="172510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INFERENCE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260726" y="269748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concludes from the evidence.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60726" y="36118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260726" y="3858768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“Python skill is supported by 2 projects and 1 assessment.”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5400000">
            <a:off x="7177857" y="2157984"/>
            <a:ext cx="109728" cy="18288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9881" y="1938528"/>
            <a:ext cx="1999427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69881" y="1938528"/>
            <a:ext cx="1999427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34473" y="1938528"/>
            <a:ext cx="172510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CONFIDENCE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534473" y="269748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reliable that conclusion is, given the evidence.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534473" y="36118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534473" y="3858768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“Medium — interview evidence not yet available.”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5400000">
            <a:off x="9451604" y="2157984"/>
            <a:ext cx="109728" cy="18288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35" name="Shape 33"/>
          <p:cNvSpPr/>
          <p:nvPr/>
        </p:nvSpPr>
        <p:spPr>
          <a:xfrm>
            <a:off x="9643628" y="1938528"/>
            <a:ext cx="1999427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43628" y="1938528"/>
            <a:ext cx="1999427" cy="621792"/>
          </a:xfrm>
          <a:prstGeom prst="rect">
            <a:avLst/>
          </a:prstGeom>
          <a:solidFill>
            <a:srgbClr val="D9532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808220" y="1938528"/>
            <a:ext cx="172510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DECISION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808220" y="2697480"/>
            <a:ext cx="1670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hiring team decides to do.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808220" y="3611880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808220" y="3858768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“Advance to technical interview.”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5138928"/>
            <a:ext cx="1999427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8640" y="5138928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822387" y="5138928"/>
            <a:ext cx="6546921" cy="457200"/>
          </a:xfrm>
          <a:prstGeom prst="roundRect">
            <a:avLst>
              <a:gd name="adj" fmla="val 12000"/>
            </a:avLst>
          </a:prstGeom>
          <a:solidFill>
            <a:srgbClr val="E8F3F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822387" y="5138928"/>
            <a:ext cx="6546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 — organizes evidence, infers, rates confidence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643628" y="5138928"/>
            <a:ext cx="1999427" cy="457200"/>
          </a:xfrm>
          <a:prstGeom prst="roundRect">
            <a:avLst>
              <a:gd name="adj" fmla="val 12000"/>
            </a:avLst>
          </a:prstGeom>
          <a:solidFill>
            <a:srgbClr val="FBE9E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643628" y="5138928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95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DECIDES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089904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are illustrative only — not real data and not product output.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INTELLIGENCE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Matching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alone is not an answer. NestHire should help people understand every analysis it shows.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99430" y="384048"/>
            <a:ext cx="843625" cy="256032"/>
          </a:xfrm>
          <a:prstGeom prst="roundRect">
            <a:avLst>
              <a:gd name="adj" fmla="val 50000"/>
            </a:avLst>
          </a:prstGeom>
          <a:solidFill>
            <a:srgbClr val="E8F3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9430" y="384048"/>
            <a:ext cx="8436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3291840" cy="4005072"/>
          </a:xfrm>
          <a:prstGeom prst="roundRect">
            <a:avLst>
              <a:gd name="adj" fmla="val 2778"/>
            </a:avLst>
          </a:prstGeom>
          <a:solidFill>
            <a:srgbClr val="EEF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ONLY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score</a:t>
            </a:r>
            <a:endParaRPr lang="en-US" sz="1300" dirty="0"/>
          </a:p>
        </p:txBody>
      </p:sp>
      <p:pic>
        <p:nvPicPr>
          <p:cNvPr id="11" name="Image 0" descr="x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34340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how much — never why.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number only.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86784" y="3712464"/>
            <a:ext cx="411480" cy="457200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15" name="Shape 12"/>
          <p:cNvSpPr/>
          <p:nvPr/>
        </p:nvSpPr>
        <p:spPr>
          <a:xfrm>
            <a:off x="4526280" y="1938528"/>
            <a:ext cx="221985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27448" y="2139696"/>
            <a:ext cx="475488" cy="475488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17" name="Image 1" descr="circle hel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565" y="2253813"/>
            <a:ext cx="247254" cy="24725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727448" y="2743200"/>
            <a:ext cx="1817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this analysis appear?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727448" y="3328416"/>
            <a:ext cx="18175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behind the result.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974738" y="1938528"/>
            <a:ext cx="221985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75906" y="2139696"/>
            <a:ext cx="475488" cy="475488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22" name="Image 2" descr="list check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24" y="2253813"/>
            <a:ext cx="247254" cy="24725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75906" y="2743200"/>
            <a:ext cx="1817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requirements are supported?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7175906" y="3328416"/>
            <a:ext cx="18175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requirement-by-requirement view.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423197" y="1938528"/>
            <a:ext cx="221985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624365" y="2139696"/>
            <a:ext cx="475488" cy="475488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27" name="Image 3" descr="lin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482" y="2253813"/>
            <a:ext cx="247254" cy="24725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624365" y="2743200"/>
            <a:ext cx="1817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evidence?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9624365" y="3328416"/>
            <a:ext cx="18175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finding links to its source.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526280" y="4023360"/>
            <a:ext cx="221985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727448" y="4224528"/>
            <a:ext cx="475488" cy="475488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32" name="Image 4" descr="triangle aler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565" y="4338645"/>
            <a:ext cx="247254" cy="24725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727448" y="4828032"/>
            <a:ext cx="1817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information is missing?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4727448" y="5413248"/>
            <a:ext cx="18175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are shown, not hidden.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974738" y="4023360"/>
            <a:ext cx="221985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175906" y="4224528"/>
            <a:ext cx="475488" cy="475488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37" name="Image 5" descr="gaug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024" y="4338645"/>
            <a:ext cx="247254" cy="24725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175906" y="4828032"/>
            <a:ext cx="1817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confidence level?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7175906" y="5413248"/>
            <a:ext cx="18175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reliable the evidence is.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9423197" y="4023360"/>
            <a:ext cx="221985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9624365" y="4224528"/>
            <a:ext cx="475488" cy="475488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42" name="Image 6" descr="user 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482" y="4338645"/>
            <a:ext cx="247254" cy="24725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624365" y="4828032"/>
            <a:ext cx="1817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human review needed?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9624365" y="5413248"/>
            <a:ext cx="18175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flags for people to check.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47" name="Text 37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CORE RULE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≠ Candidate Quality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every discipline must respect — in models, in the interface, and in how we talk about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631546" y="384048"/>
            <a:ext cx="1011509" cy="256032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31546" y="384048"/>
            <a:ext cx="10115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RULE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6675120" cy="1463040"/>
          </a:xfrm>
          <a:prstGeom prst="roundRect">
            <a:avLst>
              <a:gd name="adj" fmla="val 6250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231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Reliability of the available evidence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7498080" y="1920240"/>
            <a:ext cx="4144975" cy="1463040"/>
          </a:xfrm>
          <a:prstGeom prst="roundRect">
            <a:avLst>
              <a:gd name="adj" fmla="val 6250"/>
            </a:avLst>
          </a:prstGeom>
          <a:solidFill>
            <a:srgbClr val="EEF2F6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8181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5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423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trike="sngStrike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Quality Score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MAY MEAN…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256763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16" name="Image 0" descr="circle hel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31596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25880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information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5445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details are not in the data.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90595" y="4005072"/>
            <a:ext cx="256763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73475" y="4206240"/>
            <a:ext cx="457200" cy="45720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21" name="Image 1" descr="file 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203" y="431596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167835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evidence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4167835" y="45445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are not well supported yet.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32550" y="4005072"/>
            <a:ext cx="256763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15430" y="4206240"/>
            <a:ext cx="457200" cy="45720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26" name="Image 2" descr="datab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58" y="4315968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009790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data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7009790" y="45445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little input to judge reliably.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9074506" y="4005072"/>
            <a:ext cx="256763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257386" y="4206240"/>
            <a:ext cx="457200" cy="457200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31" name="Image 3" descr="user 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114" y="4315968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851746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9851746" y="45445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should look before acting.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48640" y="5321808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FBE9E3"/>
          </a:solidFill>
          <a:ln/>
        </p:spPr>
      </p:sp>
      <p:pic>
        <p:nvPicPr>
          <p:cNvPr id="35" name="Image 4" descr="triangle aler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280160" y="5321808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…not necessarily a weak candidate. </a:t>
            </a:r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means: gather more evidence or involve a person — never a verdict on the candidate.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PRINCIPLES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Assists. Humans Decide.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NestHire’s most important principles. It shapes the product, the models and the interface.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3886200"/>
          </a:xfrm>
          <a:prstGeom prst="roundRect">
            <a:avLst>
              <a:gd name="adj" fmla="val 2353"/>
            </a:avLst>
          </a:prstGeom>
          <a:solidFill>
            <a:srgbClr val="15303E"/>
          </a:solidFill>
          <a:ln/>
        </p:spPr>
      </p:sp>
      <p:pic>
        <p:nvPicPr>
          <p:cNvPr id="6" name="Image 0" descr="sparkl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42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304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843784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1" descr="chart ba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30" y="2944734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7889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analysis against the job requirements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68680" y="3465576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2" descr="file sear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30" y="3566526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4107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 evidence from CVs, projects and other inputs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68680" y="4087368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3" descr="sca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30" y="4188318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403250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comparison on the same criteria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68680" y="4709160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4" descr="message squa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30" y="4810110"/>
            <a:ext cx="218724" cy="2187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46542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reasons, evidence, gaps and confidence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68680" y="5330952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5" descr="folder kanba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30" y="5431902"/>
            <a:ext cx="218724" cy="21872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463040" y="52760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organization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evidence linked and easy to review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199632" y="3813048"/>
            <a:ext cx="566928" cy="502920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24" name="Shape 16"/>
          <p:cNvSpPr/>
          <p:nvPr/>
        </p:nvSpPr>
        <p:spPr>
          <a:xfrm>
            <a:off x="6933895" y="2103120"/>
            <a:ext cx="4709160" cy="3886200"/>
          </a:xfrm>
          <a:prstGeom prst="roundRect">
            <a:avLst>
              <a:gd name="adj" fmla="val 2353"/>
            </a:avLst>
          </a:prstGeom>
          <a:solidFill>
            <a:srgbClr val="D9532F"/>
          </a:solidFill>
          <a:ln/>
        </p:spPr>
      </p:sp>
      <p:pic>
        <p:nvPicPr>
          <p:cNvPr id="25" name="Image 6" descr="user 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192" y="230428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662672" y="2304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DECIDE</a:t>
            </a:r>
            <a:endParaRPr lang="en-US" sz="1250" dirty="0"/>
          </a:p>
        </p:txBody>
      </p:sp>
      <p:sp>
        <p:nvSpPr>
          <p:cNvPr id="27" name="Text 18"/>
          <p:cNvSpPr txBox="1"/>
          <p:nvPr/>
        </p:nvSpPr>
        <p:spPr>
          <a:xfrm>
            <a:off x="7251192" y="27432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hiring decision remains with the human.</a:t>
            </a:r>
            <a:endParaRPr lang="en-US" sz="2400" dirty="0"/>
          </a:p>
        </p:txBody>
      </p:sp>
      <p:sp>
        <p:nvSpPr>
          <p:cNvPr id="28" name="Text 19"/>
          <p:cNvSpPr txBox="1"/>
          <p:nvPr/>
        </p:nvSpPr>
        <p:spPr>
          <a:xfrm>
            <a:off x="7251192" y="41605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the analysis and the evidence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question or override any AI output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decision and its outcome</a:t>
            </a:r>
            <a:endParaRPr lang="en-US" sz="1350" dirty="0"/>
          </a:p>
        </p:txBody>
      </p:sp>
      <p:sp>
        <p:nvSpPr>
          <p:cNvPr id="30" name="Text 20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31" name="Text 21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PRINCIPLES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principles NestHire must be built on. They apply to every module, model and screen.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E8F3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67128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859" y="2272467"/>
            <a:ext cx="228234" cy="2282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682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analysis comes with its reasons.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1938528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E8F3F2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2167128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info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19" y="2272467"/>
            <a:ext cx="228234" cy="2282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9204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3682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about which data and evidence were used.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2962656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E8F3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19125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2" descr="user 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9" y="3296595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0723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33924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review and decide; AI never decides alone.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114800" y="2962656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E8F3F2"/>
          </a:solidFill>
          <a:ln/>
        </p:spPr>
      </p:sp>
      <p:sp>
        <p:nvSpPr>
          <p:cNvPr id="21" name="Shape 16"/>
          <p:cNvSpPr/>
          <p:nvPr/>
        </p:nvSpPr>
        <p:spPr>
          <a:xfrm>
            <a:off x="4297680" y="319125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3" descr="sca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019" y="3296595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892040" y="30723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4892040" y="33924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to detect and reduce unfair outcomes.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986784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E8F3F2"/>
          </a:solidFill>
          <a:ln/>
        </p:spPr>
      </p:sp>
      <p:sp>
        <p:nvSpPr>
          <p:cNvPr id="26" name="Shape 20"/>
          <p:cNvSpPr/>
          <p:nvPr/>
        </p:nvSpPr>
        <p:spPr>
          <a:xfrm>
            <a:off x="731520" y="4215384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4" descr="file search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9" y="4320723"/>
            <a:ext cx="228234" cy="22823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25880" y="4096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Evaluation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1325880" y="4416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on evidence, not keywords or assumptions.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114800" y="3986784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E8F3F2"/>
          </a:solidFill>
          <a:ln/>
        </p:spPr>
      </p:sp>
      <p:sp>
        <p:nvSpPr>
          <p:cNvPr id="31" name="Shape 24"/>
          <p:cNvSpPr/>
          <p:nvPr/>
        </p:nvSpPr>
        <p:spPr>
          <a:xfrm>
            <a:off x="4297680" y="4215384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5" descr="lo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3019" y="4320723"/>
            <a:ext cx="228234" cy="22823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892040" y="4096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4892040" y="4416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data handled responsibly.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5010912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E8F3F2"/>
          </a:solidFill>
          <a:ln/>
        </p:spPr>
      </p:sp>
      <p:sp>
        <p:nvSpPr>
          <p:cNvPr id="36" name="Shape 28"/>
          <p:cNvSpPr/>
          <p:nvPr/>
        </p:nvSpPr>
        <p:spPr>
          <a:xfrm>
            <a:off x="731520" y="5239512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7" name="Image 6" descr="shield 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59" y="5344851"/>
            <a:ext cx="228234" cy="22823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325880" y="5120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1325880" y="5440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access protected by design.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4114800" y="5010912"/>
            <a:ext cx="3291840" cy="896112"/>
          </a:xfrm>
          <a:prstGeom prst="roundRect">
            <a:avLst>
              <a:gd name="adj" fmla="val 8163"/>
            </a:avLst>
          </a:prstGeom>
          <a:solidFill>
            <a:srgbClr val="FCEFC0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4297680" y="501091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details: data retention, access, consent, audits.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7680960" y="1938528"/>
            <a:ext cx="3962095" cy="3968496"/>
          </a:xfrm>
          <a:prstGeom prst="roundRect">
            <a:avLst>
              <a:gd name="adj" fmla="val 2308"/>
            </a:avLst>
          </a:prstGeom>
          <a:solidFill>
            <a:srgbClr val="FBE9E3"/>
          </a:solidFill>
          <a:ln/>
        </p:spPr>
      </p:sp>
      <p:pic>
        <p:nvPicPr>
          <p:cNvPr id="43" name="Image 7" descr="ban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0" y="2176272"/>
            <a:ext cx="329184" cy="32918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366760" y="21579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does not use</a:t>
            </a:r>
            <a:endParaRPr lang="en-US" sz="1600" dirty="0"/>
          </a:p>
        </p:txBody>
      </p:sp>
      <p:pic>
        <p:nvPicPr>
          <p:cNvPr id="45" name="Image 8" descr="smi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568" y="2807208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412480" y="27432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recognition</a:t>
            </a:r>
            <a:endParaRPr lang="en-US" sz="1400" dirty="0"/>
          </a:p>
        </p:txBody>
      </p:sp>
      <p:pic>
        <p:nvPicPr>
          <p:cNvPr id="47" name="Image 9" descr="scan fac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3568" y="3319272"/>
            <a:ext cx="274320" cy="27432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8412480" y="32552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analysis</a:t>
            </a:r>
            <a:endParaRPr lang="en-US" sz="1400" dirty="0"/>
          </a:p>
        </p:txBody>
      </p:sp>
      <p:pic>
        <p:nvPicPr>
          <p:cNvPr id="49" name="Image 10" descr="scan ey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3568" y="3831336"/>
            <a:ext cx="274320" cy="27432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412480" y="3767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 tracking</a:t>
            </a:r>
            <a:endParaRPr lang="en-US" sz="1400" dirty="0"/>
          </a:p>
        </p:txBody>
      </p:sp>
      <p:pic>
        <p:nvPicPr>
          <p:cNvPr id="51" name="Image 11" descr="audio lines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73568" y="4343400"/>
            <a:ext cx="274320" cy="274320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8412480" y="42793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personality analysis</a:t>
            </a:r>
            <a:endParaRPr lang="en-US" sz="1400" dirty="0"/>
          </a:p>
        </p:txBody>
      </p:sp>
      <p:pic>
        <p:nvPicPr>
          <p:cNvPr id="53" name="Image 12" descr="fingerprint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3568" y="4855464"/>
            <a:ext cx="274320" cy="274320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412480" y="47914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evaluation</a:t>
            </a:r>
            <a:endParaRPr lang="en-US" sz="1400" dirty="0"/>
          </a:p>
        </p:txBody>
      </p:sp>
      <p:sp>
        <p:nvSpPr>
          <p:cNvPr id="55" name="Text 40"/>
          <p:cNvSpPr txBox="1"/>
          <p:nvPr/>
        </p:nvSpPr>
        <p:spPr>
          <a:xfrm>
            <a:off x="795528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stated in the kickoff brief — to be written into the Responsible AI policy.</a:t>
            </a:r>
            <a:endParaRPr lang="en-US" sz="1000" dirty="0"/>
          </a:p>
        </p:txBody>
      </p:sp>
      <p:sp>
        <p:nvSpPr>
          <p:cNvPr id="57" name="Text 41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58" name="Text 42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layering for NestHire. Nothing here is built; the technologies listed are proposals to confirm in Sprint 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24243" y="384048"/>
            <a:ext cx="2018812" cy="256032"/>
          </a:xfrm>
          <a:prstGeom prst="roundRect">
            <a:avLst>
              <a:gd name="adj" fmla="val 50000"/>
            </a:avLst>
          </a:prstGeom>
          <a:solidFill>
            <a:srgbClr val="E2EB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24243" y="384048"/>
            <a:ext cx="2018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ARCHITECTURE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73609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01952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901952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mobile apps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25005" y="2048256"/>
            <a:ext cx="6473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25005" y="2048256"/>
            <a:ext cx="6473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18427" y="2048256"/>
            <a:ext cx="43342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8427" y="2048256"/>
            <a:ext cx="433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7360920" cy="585216"/>
          </a:xfrm>
          <a:prstGeom prst="roundRect">
            <a:avLst>
              <a:gd name="adj" fmla="val 9375"/>
            </a:avLst>
          </a:prstGeom>
          <a:solidFill>
            <a:srgbClr val="E8F3F2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578608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578608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 for all clients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53682" y="2724912"/>
            <a:ext cx="7187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3682" y="2724912"/>
            <a:ext cx="7187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736092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255264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255264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Jobs, candidates, workflow, admin rules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54419" y="3401568"/>
            <a:ext cx="121798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54419" y="3401568"/>
            <a:ext cx="12179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7360920" cy="585216"/>
          </a:xfrm>
          <a:prstGeom prst="roundRect">
            <a:avLst>
              <a:gd name="adj" fmla="val 9375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931920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Layer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93192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intelligence, explanations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83096" y="4078224"/>
            <a:ext cx="1289304" cy="292608"/>
          </a:xfrm>
          <a:prstGeom prst="roundRect">
            <a:avLst>
              <a:gd name="adj" fmla="val 50000"/>
            </a:avLst>
          </a:prstGeom>
          <a:solidFill>
            <a:srgbClr val="115E5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3096" y="4078224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48579" y="4078224"/>
            <a:ext cx="861365" cy="292608"/>
          </a:xfrm>
          <a:prstGeom prst="roundRect">
            <a:avLst>
              <a:gd name="adj" fmla="val 50000"/>
            </a:avLst>
          </a:prstGeom>
          <a:solidFill>
            <a:srgbClr val="115E5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548579" y="4078224"/>
            <a:ext cx="8613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42739" y="407822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115E5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42739" y="407822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608576"/>
            <a:ext cx="7360920" cy="585216"/>
          </a:xfrm>
          <a:prstGeom prst="roundRect">
            <a:avLst>
              <a:gd name="adj" fmla="val 9375"/>
            </a:avLst>
          </a:prstGeom>
          <a:solidFill>
            <a:srgbClr val="E8F3F2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608576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560320" y="4608576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 and vector search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82358" y="4754880"/>
            <a:ext cx="7900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82358" y="4754880"/>
            <a:ext cx="7900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76518" y="4754880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76518" y="475488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285232"/>
            <a:ext cx="7360920" cy="585216"/>
          </a:xfrm>
          <a:prstGeom prst="roundRect">
            <a:avLst>
              <a:gd name="adj" fmla="val 9375"/>
            </a:avLst>
          </a:prstGeom>
          <a:solidFill>
            <a:srgbClr val="EEF2F6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285232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Infrastructure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560320" y="5285232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platform services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25005" y="5431536"/>
            <a:ext cx="6473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25005" y="5431536"/>
            <a:ext cx="6473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47104" y="5431536"/>
            <a:ext cx="50474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47104" y="5431536"/>
            <a:ext cx="5047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55234" y="5431536"/>
            <a:ext cx="7187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755234" y="5431536"/>
            <a:ext cx="7187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106010" y="5431536"/>
            <a:ext cx="57607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06010" y="5431536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183880" y="1901952"/>
            <a:ext cx="3459175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6676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EACH LAYER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366760" y="234086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</a:t>
            </a:r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Mobile · UI/UX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366760" y="26883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Application: </a:t>
            </a:r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366760" y="303580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ML: </a:t>
            </a:r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 · ML Eng · AI Integration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366760" y="33832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ML Engineering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366760" y="373075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</a:t>
            </a:r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Team Lead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183880" y="4279392"/>
            <a:ext cx="3459175" cy="1664208"/>
          </a:xfrm>
          <a:prstGeom prst="roundRect">
            <a:avLst>
              <a:gd name="adj" fmla="val 4396"/>
            </a:avLst>
          </a:prstGeom>
          <a:solidFill>
            <a:srgbClr val="FCEFC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366760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CONFIRM IN SPRINT 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8366760" y="468172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mobile frameworks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 and integration approach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and deployment target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and authentication approach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TEAM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from the kickoff brief. Names will be added once the team roster is confirmed.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288475" y="384048"/>
            <a:ext cx="2354580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88475" y="384048"/>
            <a:ext cx="2354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NAMES: NEEDS CONFIRMATION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24705" y="187452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24705" y="18745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E8F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630168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12" name="Image 0" descr="compas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13048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78992" y="372160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399592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scope: TBC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423160" y="31546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E8F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423160" y="3154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23160" y="3630168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18" name="Image 1" descr="palet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813048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953512" y="372160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2953512" y="3995928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297680" y="315468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E8F3F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29768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297680" y="3630168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24" name="Image 2" descr="monito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813048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828032" y="3721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4828032" y="399592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297680" y="4379976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28" name="Image 3" descr="serv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562856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828032" y="447141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4828032" y="474573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297680" y="5129784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32" name="Image 4" descr="smartphon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5312664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828032" y="522122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4828032" y="5495544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7178040" y="315468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E8F3F2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717804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178040" y="3630168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38" name="Image 5" descr="plu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813048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708392" y="3721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250" dirty="0"/>
          </a:p>
        </p:txBody>
      </p:sp>
      <p:sp>
        <p:nvSpPr>
          <p:cNvPr id="40" name="Text 32"/>
          <p:cNvSpPr txBox="1"/>
          <p:nvPr/>
        </p:nvSpPr>
        <p:spPr>
          <a:xfrm>
            <a:off x="7708392" y="3995928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7178040" y="4379976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42" name="Image 6" descr="brai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4562856"/>
            <a:ext cx="292608" cy="29260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708392" y="447141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7708392" y="4745736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7178040" y="5129784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46" name="Image 7" descr="cpu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5312664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708392" y="522122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Engineering</a:t>
            </a:r>
            <a:endParaRPr lang="en-US" sz="1250" dirty="0"/>
          </a:p>
        </p:txBody>
      </p:sp>
      <p:sp>
        <p:nvSpPr>
          <p:cNvPr id="48" name="Text 38"/>
          <p:cNvSpPr txBox="1"/>
          <p:nvPr/>
        </p:nvSpPr>
        <p:spPr>
          <a:xfrm>
            <a:off x="7708392" y="5495544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950" dirty="0"/>
          </a:p>
        </p:txBody>
      </p:sp>
      <p:sp>
        <p:nvSpPr>
          <p:cNvPr id="49" name="Shape 39"/>
          <p:cNvSpPr/>
          <p:nvPr/>
        </p:nvSpPr>
        <p:spPr>
          <a:xfrm>
            <a:off x="10058400" y="3154680"/>
            <a:ext cx="1584655" cy="384048"/>
          </a:xfrm>
          <a:prstGeom prst="roundRect">
            <a:avLst>
              <a:gd name="adj" fmla="val 14286"/>
            </a:avLst>
          </a:prstGeom>
          <a:solidFill>
            <a:srgbClr val="E8F3F2"/>
          </a:solidFill>
          <a:ln/>
        </p:spPr>
      </p:sp>
      <p:sp>
        <p:nvSpPr>
          <p:cNvPr id="50" name="Text 40"/>
          <p:cNvSpPr txBox="1"/>
          <p:nvPr/>
        </p:nvSpPr>
        <p:spPr>
          <a:xfrm>
            <a:off x="10058400" y="315468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10058400" y="3630168"/>
            <a:ext cx="158465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pic>
        <p:nvPicPr>
          <p:cNvPr id="52" name="Image 8" descr="megaphon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5560" y="3813048"/>
            <a:ext cx="292608" cy="292608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0588752" y="3721608"/>
            <a:ext cx="962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250" dirty="0"/>
          </a:p>
        </p:txBody>
      </p:sp>
      <p:sp>
        <p:nvSpPr>
          <p:cNvPr id="54" name="Text 43"/>
          <p:cNvSpPr txBox="1"/>
          <p:nvPr/>
        </p:nvSpPr>
        <p:spPr>
          <a:xfrm>
            <a:off x="10588752" y="3995928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TBC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6096305" y="2624328"/>
            <a:ext cx="0" cy="3017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1417320" y="2926080"/>
            <a:ext cx="9433408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1417320" y="2926080"/>
            <a:ext cx="0" cy="22860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3291840" y="2926080"/>
            <a:ext cx="0" cy="22860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5669280" y="2926080"/>
            <a:ext cx="0" cy="22860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8549640" y="2926080"/>
            <a:ext cx="0" cy="22860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10850728" y="2926080"/>
            <a:ext cx="0" cy="22860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548640" y="6089904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only — no names, headcount or seniority were provided. Whether Product is a dedicated role or part of the Team Lead role needs confirmation.</a:t>
            </a:r>
            <a:endParaRPr lang="en-US" sz="950" dirty="0"/>
          </a:p>
        </p:txBody>
      </p:sp>
      <p:sp>
        <p:nvSpPr>
          <p:cNvPr id="64" name="Text 5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65" name="Text 53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OWNERSHIP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What? — Product &amp; Platform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at the level of responsibilities — detailed tasks come from the plan after this meeting.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24243" y="384048"/>
            <a:ext cx="2018812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24243" y="384048"/>
            <a:ext cx="2018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· CONFIRM TODAY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651760"/>
                <a:gridCol w="2743200"/>
                <a:gridCol w="2057400"/>
                <a:gridCol w="20418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RESPONSIBILITY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DELIVERABLES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CLOSELY WITH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 Product: TBC)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Direction, priorities and coordination; removes blockers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Roadmap, sprint plans, task board, decision 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and blockers from every 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UI/UX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journeys and interface design for every user group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Journeys, wireframes, design system, prototypes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users and scope; official brand assets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· Mobile · Marketing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client for the hiring organization and admins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screens, UI components, API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UI/UX designs; Backend API contracts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UI/UX · Backend · AI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API, business logic, data model and authentication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endpoints and contracts, DB schema, API docs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requirements; AI/ML interfaces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· Mobile · AI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client (scope: Needs Confirmation)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screens, API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scope decision; designs; Backend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UI/UX · 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OWNERSHIP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What? — Intelligence &amp; Growth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AI roles work on one pipeline — their boundaries must be explicit.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24243" y="384048"/>
            <a:ext cx="2018812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24243" y="384048"/>
            <a:ext cx="2018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· CONFIRM TODAY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651760"/>
                <a:gridCol w="2743200"/>
                <a:gridCol w="2057400"/>
                <a:gridCol w="20418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RESPONSIBILITY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DELIVERABLES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CLOSELY WITH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 AI/ML capabilities to the platform; LLM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service interfaces, LLM integration layer, AI↔API contracts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API; outputs of AI and ML modules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· AI Eng · ML Eng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Engineering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modules: evidence extraction, analysis, explanations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 and analysis modules; explanation outputs; quality checks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and candidate data model; LLM access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Integration · ML Eng · 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Engineering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models: matching and ranking, embeddings, confidence and fairness evaluation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Models, evaluation reports, embedding pipeline (pgvector, 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availability; evidence schema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Eng · AI Integration · 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Brand, positioning and launch readiness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brand kit, messaging, launch materials (timing TBC)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vision and roadmap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 · UI/UX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0B1F2A"/>
          </a:solidFill>
          <a:ln/>
        </p:spPr>
      </p:sp>
      <p:pic>
        <p:nvPicPr>
          <p:cNvPr id="9" name="Image 0" descr="spli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0527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548640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today: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Integration ends and AI Engineering / ML Engineering begin — written down, to avoid overlap and gaps.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EXECUTION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Build NestHire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proposed phases — foundation first, then the platform, then the intelligence layers, then integration and release.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95778" y="384048"/>
            <a:ext cx="1347277" cy="256032"/>
          </a:xfrm>
          <a:prstGeom prst="roundRect">
            <a:avLst>
              <a:gd name="adj" fmla="val 50000"/>
            </a:avLst>
          </a:prstGeom>
          <a:solidFill>
            <a:srgbClr val="E2EB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95778" y="384048"/>
            <a:ext cx="13472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PLAN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81862" y="2103120"/>
            <a:ext cx="9827971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0694" y="1901952"/>
            <a:ext cx="402336" cy="402336"/>
          </a:xfrm>
          <a:prstGeom prst="ellipse">
            <a:avLst/>
          </a:prstGeom>
          <a:solidFill>
            <a:srgbClr val="D9532F"/>
          </a:solidFill>
          <a:ln w="19050">
            <a:solidFill>
              <a:srgbClr val="D953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069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266444" cy="3017520"/>
          </a:xfrm>
          <a:prstGeom prst="roundRect">
            <a:avLst>
              <a:gd name="adj" fmla="val 5776"/>
            </a:avLst>
          </a:prstGeom>
          <a:solidFill>
            <a:srgbClr val="0B1F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633472"/>
            <a:ext cx="1046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NEXT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871216"/>
            <a:ext cx="1046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47872"/>
            <a:ext cx="11018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stack and architecture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Repo, workflow, CI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5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and design system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919472"/>
            <a:ext cx="1046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· Backend · UI/UX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84690" y="19019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8469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52636" y="2514600"/>
            <a:ext cx="1266444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062364" y="2633472"/>
            <a:ext cx="1046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062364" y="2871216"/>
            <a:ext cx="1046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044076" y="3547872"/>
            <a:ext cx="11018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and candidates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workflow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auth, clients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062364" y="4919472"/>
            <a:ext cx="1046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Frontend · Mobile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88686" y="19019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8868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56632" y="2514600"/>
            <a:ext cx="1266444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466360" y="2633472"/>
            <a:ext cx="1046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466360" y="2871216"/>
            <a:ext cx="1046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Intelligence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48072" y="3547872"/>
            <a:ext cx="11018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intelligence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extraction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evidence profile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466360" y="4919472"/>
            <a:ext cx="1046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 · ML Eng · AI Integration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92682" y="19019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9268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60628" y="2514600"/>
            <a:ext cx="1266444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870356" y="2633472"/>
            <a:ext cx="1046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870356" y="2871216"/>
            <a:ext cx="1046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Interview Intelligence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852068" y="3547872"/>
            <a:ext cx="11018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evidence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evidence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the profile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70356" y="4919472"/>
            <a:ext cx="1046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 · ML Eng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96678" y="19019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9667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64624" y="2514600"/>
            <a:ext cx="1266444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274352" y="2633472"/>
            <a:ext cx="1046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274352" y="2871216"/>
            <a:ext cx="1046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&amp; Ranking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256064" y="3547872"/>
            <a:ext cx="11018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analysis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and fairness checks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274352" y="4919472"/>
            <a:ext cx="1046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 · AI Eng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000673" y="19019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00673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568619" y="2514600"/>
            <a:ext cx="1266444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678347" y="2633472"/>
            <a:ext cx="1046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7678347" y="2871216"/>
            <a:ext cx="1046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660059" y="3547872"/>
            <a:ext cx="11018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↔ API ↔ clients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review screens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7678347" y="4919472"/>
            <a:ext cx="1046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· Backend · Frontend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404669" y="19019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04669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972615" y="2514600"/>
            <a:ext cx="1266444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9082343" y="2633472"/>
            <a:ext cx="1046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9082343" y="2871216"/>
            <a:ext cx="1046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9064055" y="3547872"/>
            <a:ext cx="11018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and AI quality tests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and security checks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082343" y="4919472"/>
            <a:ext cx="1046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roles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808665" y="190195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808665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0376611" y="2514600"/>
            <a:ext cx="1266444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10486339" y="2633472"/>
            <a:ext cx="1046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10486339" y="2871216"/>
            <a:ext cx="1046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468051" y="3547872"/>
            <a:ext cx="11018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environment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Docker-based deploy (proposed)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readiness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10486339" y="4919472"/>
            <a:ext cx="10469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Team Lead · Marketing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8640" y="5687568"/>
            <a:ext cx="11094415" cy="384048"/>
          </a:xfrm>
          <a:prstGeom prst="roundRect">
            <a:avLst>
              <a:gd name="adj" fmla="val 19048"/>
            </a:avLst>
          </a:prstGeom>
          <a:solidFill>
            <a:srgbClr val="E8F3F2"/>
          </a:solidFill>
          <a:ln/>
        </p:spPr>
      </p:sp>
      <p:pic>
        <p:nvPicPr>
          <p:cNvPr id="65" name="Image 0" descr="repea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51576"/>
            <a:ext cx="256032" cy="256032"/>
          </a:xfrm>
          <a:prstGeom prst="rect">
            <a:avLst/>
          </a:prstGeom>
        </p:spPr>
      </p:pic>
      <p:sp>
        <p:nvSpPr>
          <p:cNvPr id="66" name="Text 63"/>
          <p:cNvSpPr txBox="1"/>
          <p:nvPr/>
        </p:nvSpPr>
        <p:spPr>
          <a:xfrm>
            <a:off x="1097280" y="56875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 every phase: </a:t>
            </a:r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· code review · documentation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8010693" y="5751576"/>
            <a:ext cx="3495203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8010693" y="5751576"/>
            <a:ext cx="34952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&amp; COPILOT PHASE: NEEDS CONFIRMATION</a:t>
            </a:r>
            <a:endParaRPr lang="en-US" sz="800" dirty="0"/>
          </a:p>
        </p:txBody>
      </p:sp>
      <p:sp>
        <p:nvSpPr>
          <p:cNvPr id="70" name="Text 6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71" name="Text 67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WAY OF WORKING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as a Team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work follows the same path — and lives in GitHub.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708185" y="384048"/>
            <a:ext cx="1934870" cy="256032"/>
          </a:xfrm>
          <a:prstGeom prst="roundRect">
            <a:avLst>
              <a:gd name="adj" fmla="val 50000"/>
            </a:avLst>
          </a:prstGeom>
          <a:solidFill>
            <a:srgbClr val="E2EB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08185" y="384048"/>
            <a:ext cx="1934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CONVENTIONS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20825" y="2276856"/>
            <a:ext cx="1645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03705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0B1F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40281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75890" y="2276856"/>
            <a:ext cx="1645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58770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0B1F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95346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30954" y="2276856"/>
            <a:ext cx="1645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3834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0B1F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50410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86019" y="2276856"/>
            <a:ext cx="1645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68899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05475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41084" y="2276856"/>
            <a:ext cx="1645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23964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60540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96149" y="2276856"/>
            <a:ext cx="1645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79029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15605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51214" y="2276856"/>
            <a:ext cx="1645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34094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370670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406278" y="2276856"/>
            <a:ext cx="1645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589158" y="1920240"/>
            <a:ext cx="1053897" cy="713232"/>
          </a:xfrm>
          <a:prstGeom prst="roundRect">
            <a:avLst>
              <a:gd name="adj" fmla="val 10256"/>
            </a:avLst>
          </a:prstGeom>
          <a:solidFill>
            <a:srgbClr val="D9532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625734" y="1920240"/>
            <a:ext cx="98074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2724912"/>
            <a:ext cx="4819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568899" y="2724912"/>
            <a:ext cx="4819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589158" y="2724912"/>
            <a:ext cx="1053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154680"/>
            <a:ext cx="25676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" y="333756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38" name="Image 0" descr="git bran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70" y="3438510"/>
            <a:ext cx="218724" cy="218724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280160" y="33375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31520" y="38679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code under version control — no work outside the repo.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390595" y="3154680"/>
            <a:ext cx="25676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3573475" y="333756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43" name="Image 1" descr="folder kanba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425" y="3438510"/>
            <a:ext cx="218724" cy="218724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4122115" y="33375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3573475" y="38679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for code, issues and reviews.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6232550" y="3154680"/>
            <a:ext cx="25676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6415430" y="333756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48" name="Image 2" descr="spli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380" y="3438510"/>
            <a:ext cx="218724" cy="218724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6964070" y="33375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</a:t>
            </a:r>
            <a:endParaRPr lang="en-US" sz="1400" dirty="0"/>
          </a:p>
        </p:txBody>
      </p:sp>
      <p:sp>
        <p:nvSpPr>
          <p:cNvPr id="50" name="Text 45"/>
          <p:cNvSpPr txBox="1"/>
          <p:nvPr/>
        </p:nvSpPr>
        <p:spPr>
          <a:xfrm>
            <a:off x="6415430" y="38679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stays stable; one branch per task (feature/&lt;issue&gt;-&lt;name&gt;).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9074506" y="3154680"/>
            <a:ext cx="25676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52" name="Shape 47"/>
          <p:cNvSpPr/>
          <p:nvPr/>
        </p:nvSpPr>
        <p:spPr>
          <a:xfrm>
            <a:off x="9257386" y="333756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53" name="Image 3" descr="git pull reques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335" y="3438510"/>
            <a:ext cx="218724" cy="218724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9806026" y="33375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</a:t>
            </a:r>
            <a:endParaRPr lang="en-US" sz="1400" dirty="0"/>
          </a:p>
        </p:txBody>
      </p:sp>
      <p:sp>
        <p:nvSpPr>
          <p:cNvPr id="55" name="Text 49"/>
          <p:cNvSpPr txBox="1"/>
          <p:nvPr/>
        </p:nvSpPr>
        <p:spPr>
          <a:xfrm>
            <a:off x="9257386" y="38679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merges through a PR linked to its issue.</a:t>
            </a:r>
            <a:endParaRPr lang="en-US" sz="1050" dirty="0"/>
          </a:p>
        </p:txBody>
      </p:sp>
      <p:sp>
        <p:nvSpPr>
          <p:cNvPr id="56" name="Shape 50"/>
          <p:cNvSpPr/>
          <p:nvPr/>
        </p:nvSpPr>
        <p:spPr>
          <a:xfrm>
            <a:off x="548640" y="4617720"/>
            <a:ext cx="25676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731520" y="480060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58" name="Image 4" descr="messages squa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70" y="4901550"/>
            <a:ext cx="218724" cy="218724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1280160" y="4800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60" name="Text 53"/>
          <p:cNvSpPr txBox="1"/>
          <p:nvPr/>
        </p:nvSpPr>
        <p:spPr>
          <a:xfrm>
            <a:off x="731520" y="5330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approval before merge.</a:t>
            </a:r>
            <a:endParaRPr lang="en-US" sz="1050" dirty="0"/>
          </a:p>
        </p:txBody>
      </p:sp>
      <p:sp>
        <p:nvSpPr>
          <p:cNvPr id="61" name="Shape 54"/>
          <p:cNvSpPr/>
          <p:nvPr/>
        </p:nvSpPr>
        <p:spPr>
          <a:xfrm>
            <a:off x="3390595" y="4617720"/>
            <a:ext cx="25676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62" name="Shape 55"/>
          <p:cNvSpPr/>
          <p:nvPr/>
        </p:nvSpPr>
        <p:spPr>
          <a:xfrm>
            <a:off x="3573475" y="480060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63" name="Image 5" descr="list check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4425" y="4901550"/>
            <a:ext cx="218724" cy="218724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4122115" y="4800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400" dirty="0"/>
          </a:p>
        </p:txBody>
      </p:sp>
      <p:sp>
        <p:nvSpPr>
          <p:cNvPr id="65" name="Text 57"/>
          <p:cNvSpPr txBox="1"/>
          <p:nvPr/>
        </p:nvSpPr>
        <p:spPr>
          <a:xfrm>
            <a:off x="3573475" y="5330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is an issue with owner, priority and DoD.</a:t>
            </a:r>
            <a:endParaRPr lang="en-US" sz="1050" dirty="0"/>
          </a:p>
        </p:txBody>
      </p:sp>
      <p:sp>
        <p:nvSpPr>
          <p:cNvPr id="66" name="Shape 58"/>
          <p:cNvSpPr/>
          <p:nvPr/>
        </p:nvSpPr>
        <p:spPr>
          <a:xfrm>
            <a:off x="6232550" y="4617720"/>
            <a:ext cx="25676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67" name="Shape 59"/>
          <p:cNvSpPr/>
          <p:nvPr/>
        </p:nvSpPr>
        <p:spPr>
          <a:xfrm>
            <a:off x="6415430" y="480060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68" name="Image 6" descr="book ope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380" y="4901550"/>
            <a:ext cx="218724" cy="218724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6964070" y="4800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70" name="Text 61"/>
          <p:cNvSpPr txBox="1"/>
          <p:nvPr/>
        </p:nvSpPr>
        <p:spPr>
          <a:xfrm>
            <a:off x="6415430" y="5330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API docs and decisions live in the repo.</a:t>
            </a:r>
            <a:endParaRPr lang="en-US" sz="1050" dirty="0"/>
          </a:p>
        </p:txBody>
      </p:sp>
      <p:sp>
        <p:nvSpPr>
          <p:cNvPr id="71" name="Shape 62"/>
          <p:cNvSpPr/>
          <p:nvPr/>
        </p:nvSpPr>
        <p:spPr>
          <a:xfrm>
            <a:off x="9074506" y="4617720"/>
            <a:ext cx="25676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72" name="Shape 63"/>
          <p:cNvSpPr/>
          <p:nvPr/>
        </p:nvSpPr>
        <p:spPr>
          <a:xfrm>
            <a:off x="9257386" y="4800600"/>
            <a:ext cx="420624" cy="420624"/>
          </a:xfrm>
          <a:prstGeom prst="ellipse">
            <a:avLst/>
          </a:prstGeom>
          <a:solidFill>
            <a:srgbClr val="E8F3F2"/>
          </a:solidFill>
          <a:ln/>
        </p:spPr>
      </p:sp>
      <p:pic>
        <p:nvPicPr>
          <p:cNvPr id="73" name="Image 7" descr="test tub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335" y="4901550"/>
            <a:ext cx="218724" cy="218724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9806026" y="4800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400" dirty="0"/>
          </a:p>
        </p:txBody>
      </p:sp>
      <p:sp>
        <p:nvSpPr>
          <p:cNvPr id="75" name="Text 65"/>
          <p:cNvSpPr txBox="1"/>
          <p:nvPr/>
        </p:nvSpPr>
        <p:spPr>
          <a:xfrm>
            <a:off x="9257386" y="5330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ship with the code; CI checks before merge (setup TBC).</a:t>
            </a:r>
            <a:endParaRPr lang="en-US" sz="1050" dirty="0"/>
          </a:p>
        </p:txBody>
      </p:sp>
      <p:sp>
        <p:nvSpPr>
          <p:cNvPr id="77" name="Text 6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78" name="Text 67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EXECUTION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Management: From Plan to Tasks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after this meeting, the NestHire plan becomes a task board. Every task carries the same fields.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15488" y="384048"/>
            <a:ext cx="927567" cy="256032"/>
          </a:xfrm>
          <a:prstGeom prst="roundRect">
            <a:avLst>
              <a:gd name="adj" fmla="val 50000"/>
            </a:avLst>
          </a:prstGeom>
          <a:solidFill>
            <a:srgbClr val="E2EB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15488" y="384048"/>
            <a:ext cx="9275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1179576" cy="713232"/>
          </a:xfrm>
          <a:prstGeom prst="roundRect">
            <a:avLst>
              <a:gd name="adj" fmla="val 10256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901952"/>
            <a:ext cx="1088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55648" y="2258568"/>
            <a:ext cx="18196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65046" y="1901952"/>
            <a:ext cx="1179576" cy="713232"/>
          </a:xfrm>
          <a:prstGeom prst="roundRect">
            <a:avLst>
              <a:gd name="adj" fmla="val 10256"/>
            </a:avLst>
          </a:prstGeom>
          <a:solidFill>
            <a:srgbClr val="0B1F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10766" y="1901952"/>
            <a:ext cx="1088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054" y="2258568"/>
            <a:ext cx="18196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1451" y="1901952"/>
            <a:ext cx="1179576" cy="713232"/>
          </a:xfrm>
          <a:prstGeom prst="roundRect">
            <a:avLst>
              <a:gd name="adj" fmla="val 10256"/>
            </a:avLst>
          </a:prstGeom>
          <a:solidFill>
            <a:srgbClr val="0B1F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7171" y="1901952"/>
            <a:ext cx="1088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8459" y="2258568"/>
            <a:ext cx="18196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97857" y="1901952"/>
            <a:ext cx="1179576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3577" y="1901952"/>
            <a:ext cx="1088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865" y="2258568"/>
            <a:ext cx="18196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4262" y="1901952"/>
            <a:ext cx="1179576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59982" y="1901952"/>
            <a:ext cx="1088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21270" y="2258568"/>
            <a:ext cx="18196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30668" y="1901952"/>
            <a:ext cx="1179576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76388" y="1901952"/>
            <a:ext cx="1088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37676" y="2258568"/>
            <a:ext cx="18196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47074" y="1901952"/>
            <a:ext cx="1179576" cy="713232"/>
          </a:xfrm>
          <a:prstGeom prst="roundRect">
            <a:avLst>
              <a:gd name="adj" fmla="val 10256"/>
            </a:avLst>
          </a:prstGeom>
          <a:solidFill>
            <a:srgbClr val="0F766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92794" y="1901952"/>
            <a:ext cx="1088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54082" y="2258568"/>
            <a:ext cx="18196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63479" y="1901952"/>
            <a:ext cx="1179576" cy="713232"/>
          </a:xfrm>
          <a:prstGeom prst="roundRect">
            <a:avLst>
              <a:gd name="adj" fmla="val 10256"/>
            </a:avLst>
          </a:prstGeom>
          <a:solidFill>
            <a:srgbClr val="D953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09199" y="1901952"/>
            <a:ext cx="1088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2926080"/>
            <a:ext cx="63093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3E2E0"/>
            </a:solidFill>
            <a:prstDash val="solid"/>
          </a:ln>
          <a:effectLst>
            <a:outerShdw sx="100000" sy="100000" kx="0" ky="0" algn="bl" rotWithShape="0" blurRad="88900" dist="25400" dir="5400000">
              <a:srgbClr val="0B1F2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3108960"/>
            <a:ext cx="193487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3108960"/>
            <a:ext cx="1934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34564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structured job requirements schema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· Job Intelligence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79476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379476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job profile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4439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4645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(with AI Engineering)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794760" y="44439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3794760" y="4645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High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956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5157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model draft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794760" y="4956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3794760" y="5157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 sprint planning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54681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669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reviewed, documented and merged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32320" y="2926080"/>
            <a:ext cx="4510735" cy="3063240"/>
          </a:xfrm>
          <a:prstGeom prst="roundRect">
            <a:avLst>
              <a:gd name="adj" fmla="val 2985"/>
            </a:avLst>
          </a:prstGeom>
          <a:solidFill>
            <a:srgbClr val="0B1F2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40664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— PROPOSED</a:t>
            </a:r>
            <a:endParaRPr lang="en-US" sz="1000" dirty="0"/>
          </a:p>
        </p:txBody>
      </p:sp>
      <p:pic>
        <p:nvPicPr>
          <p:cNvPr id="50" name="Image 0" descr="circle 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538728"/>
            <a:ext cx="256032" cy="256032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7772400" y="3474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met</a:t>
            </a:r>
            <a:endParaRPr lang="en-US" sz="1300" dirty="0"/>
          </a:p>
        </p:txBody>
      </p:sp>
      <p:pic>
        <p:nvPicPr>
          <p:cNvPr id="52" name="Image 1" descr="circle 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959352"/>
            <a:ext cx="256032" cy="256032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7772400" y="3895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through a reviewed pull request</a:t>
            </a:r>
            <a:endParaRPr lang="en-US" sz="1300" dirty="0"/>
          </a:p>
        </p:txBody>
      </p:sp>
      <p:pic>
        <p:nvPicPr>
          <p:cNvPr id="54" name="Image 2" descr="circle 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4379976"/>
            <a:ext cx="256032" cy="256032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7772400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written and passing</a:t>
            </a:r>
            <a:endParaRPr lang="en-US" sz="1300" dirty="0"/>
          </a:p>
        </p:txBody>
      </p:sp>
      <p:pic>
        <p:nvPicPr>
          <p:cNvPr id="56" name="Image 3" descr="circle 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800600"/>
            <a:ext cx="256032" cy="256032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7772400" y="47365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updated</a:t>
            </a:r>
            <a:endParaRPr lang="en-US" sz="1300" dirty="0"/>
          </a:p>
        </p:txBody>
      </p:sp>
      <p:pic>
        <p:nvPicPr>
          <p:cNvPr id="58" name="Image 4" descr="circle 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5221224"/>
            <a:ext cx="256032" cy="256032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7772400" y="51572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closed and shown at sprint review</a:t>
            </a:r>
            <a:endParaRPr lang="en-US" sz="1300" dirty="0"/>
          </a:p>
        </p:txBody>
      </p:sp>
      <p:sp>
        <p:nvSpPr>
          <p:cNvPr id="60" name="Text 53"/>
          <p:cNvSpPr txBox="1"/>
          <p:nvPr/>
        </p:nvSpPr>
        <p:spPr>
          <a:xfrm>
            <a:off x="7406640" y="56144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“Done” means all five.</a:t>
            </a:r>
            <a:endParaRPr lang="en-US" sz="1100" dirty="0"/>
          </a:p>
        </p:txBody>
      </p:sp>
      <p:sp>
        <p:nvSpPr>
          <p:cNvPr id="62" name="Text 5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63" name="Text 5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28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FIRST SPRINT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Development Sprint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turns the plan into a confirmed, buildable foundation. It maps to Phase 1 — Foundation.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15488" y="384048"/>
            <a:ext cx="927567" cy="256032"/>
          </a:xfrm>
          <a:prstGeom prst="roundRect">
            <a:avLst>
              <a:gd name="adj" fmla="val 50000"/>
            </a:avLst>
          </a:prstGeom>
          <a:solidFill>
            <a:srgbClr val="E2EB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15488" y="384048"/>
            <a:ext cx="9275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4754880" cy="4087368"/>
          </a:xfrm>
          <a:prstGeom prst="roundRect">
            <a:avLst>
              <a:gd name="adj" fmla="val 2237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· FOUNDATION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14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61488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architecture, set up how we build, and define the data and design foundations every later phase depends on.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074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4407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D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731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roles are assigned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389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51389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discipline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5046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with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5504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 and walkthrough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901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DELIVERABLES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240280"/>
            <a:ext cx="2918308" cy="841248"/>
          </a:xfrm>
          <a:prstGeom prst="roundRect">
            <a:avLst>
              <a:gd name="adj" fmla="val 8696"/>
            </a:avLst>
          </a:prstGeom>
          <a:solidFill>
            <a:srgbClr val="E8F3F2"/>
          </a:solidFill>
          <a:ln/>
        </p:spPr>
      </p:sp>
      <p:sp>
        <p:nvSpPr>
          <p:cNvPr id="21" name="Shape 19"/>
          <p:cNvSpPr/>
          <p:nvPr/>
        </p:nvSpPr>
        <p:spPr>
          <a:xfrm>
            <a:off x="5742432" y="243230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0" descr="lay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542032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355080" y="235000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confirmed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267004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decisions recorded in the repo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724748" y="2240280"/>
            <a:ext cx="2918308" cy="841248"/>
          </a:xfrm>
          <a:prstGeom prst="roundRect">
            <a:avLst>
              <a:gd name="adj" fmla="val 8696"/>
            </a:avLst>
          </a:prstGeom>
          <a:solidFill>
            <a:srgbClr val="E8F3F2"/>
          </a:solidFill>
          <a:ln/>
        </p:spPr>
      </p:sp>
      <p:sp>
        <p:nvSpPr>
          <p:cNvPr id="26" name="Shape 23"/>
          <p:cNvSpPr/>
          <p:nvPr/>
        </p:nvSpPr>
        <p:spPr>
          <a:xfrm>
            <a:off x="8889340" y="243230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1" descr="git bran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068" y="2542032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501988" y="235000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and workflow ready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9501988" y="267004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Branching, PR and issue templates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577840" y="3200400"/>
            <a:ext cx="2918308" cy="841248"/>
          </a:xfrm>
          <a:prstGeom prst="roundRect">
            <a:avLst>
              <a:gd name="adj" fmla="val 8696"/>
            </a:avLst>
          </a:prstGeom>
          <a:solidFill>
            <a:srgbClr val="E8F3F2"/>
          </a:solidFill>
          <a:ln/>
        </p:spPr>
      </p:sp>
      <p:sp>
        <p:nvSpPr>
          <p:cNvPr id="31" name="Shape 27"/>
          <p:cNvSpPr/>
          <p:nvPr/>
        </p:nvSpPr>
        <p:spPr>
          <a:xfrm>
            <a:off x="5742432" y="339242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2" descr="datab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502152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355080" y="331012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model draft</a:t>
            </a:r>
            <a:endParaRPr lang="en-US" sz="1250" dirty="0"/>
          </a:p>
        </p:txBody>
      </p:sp>
      <p:sp>
        <p:nvSpPr>
          <p:cNvPr id="34" name="Text 29"/>
          <p:cNvSpPr txBox="1"/>
          <p:nvPr/>
        </p:nvSpPr>
        <p:spPr>
          <a:xfrm>
            <a:off x="6355080" y="363016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Job, Candidate, Evidence and more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724748" y="3200400"/>
            <a:ext cx="2918308" cy="841248"/>
          </a:xfrm>
          <a:prstGeom prst="roundRect">
            <a:avLst>
              <a:gd name="adj" fmla="val 8696"/>
            </a:avLst>
          </a:prstGeom>
          <a:solidFill>
            <a:srgbClr val="E8F3F2"/>
          </a:solidFill>
          <a:ln/>
        </p:spPr>
      </p:sp>
      <p:sp>
        <p:nvSpPr>
          <p:cNvPr id="36" name="Shape 31"/>
          <p:cNvSpPr/>
          <p:nvPr/>
        </p:nvSpPr>
        <p:spPr>
          <a:xfrm>
            <a:off x="8889340" y="339242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7" name="Image 3" descr="palett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9068" y="3502152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501988" y="331012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direction</a:t>
            </a:r>
            <a:endParaRPr lang="en-US" sz="1250" dirty="0"/>
          </a:p>
        </p:txBody>
      </p:sp>
      <p:sp>
        <p:nvSpPr>
          <p:cNvPr id="39" name="Text 33"/>
          <p:cNvSpPr txBox="1"/>
          <p:nvPr/>
        </p:nvSpPr>
        <p:spPr>
          <a:xfrm>
            <a:off x="9501988" y="363016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journeys and low-fi wireframes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5577840" y="4160520"/>
            <a:ext cx="2918308" cy="841248"/>
          </a:xfrm>
          <a:prstGeom prst="roundRect">
            <a:avLst>
              <a:gd name="adj" fmla="val 8696"/>
            </a:avLst>
          </a:prstGeom>
          <a:solidFill>
            <a:srgbClr val="E8F3F2"/>
          </a:solidFill>
          <a:ln/>
        </p:spPr>
      </p:sp>
      <p:sp>
        <p:nvSpPr>
          <p:cNvPr id="41" name="Shape 35"/>
          <p:cNvSpPr/>
          <p:nvPr/>
        </p:nvSpPr>
        <p:spPr>
          <a:xfrm>
            <a:off x="5742432" y="435254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2" name="Image 4" descr="file search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462272"/>
            <a:ext cx="237744" cy="237744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355080" y="427024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spec</a:t>
            </a:r>
            <a:endParaRPr lang="en-US" sz="1250" dirty="0"/>
          </a:p>
        </p:txBody>
      </p:sp>
      <p:sp>
        <p:nvSpPr>
          <p:cNvPr id="44" name="Text 37"/>
          <p:cNvSpPr txBox="1"/>
          <p:nvPr/>
        </p:nvSpPr>
        <p:spPr>
          <a:xfrm>
            <a:off x="6355080" y="459028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confidence definitions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8724748" y="4160520"/>
            <a:ext cx="2918308" cy="841248"/>
          </a:xfrm>
          <a:prstGeom prst="roundRect">
            <a:avLst>
              <a:gd name="adj" fmla="val 8696"/>
            </a:avLst>
          </a:prstGeom>
          <a:solidFill>
            <a:srgbClr val="E8F3F2"/>
          </a:solidFill>
          <a:ln/>
        </p:spPr>
      </p:sp>
      <p:sp>
        <p:nvSpPr>
          <p:cNvPr id="46" name="Shape 39"/>
          <p:cNvSpPr/>
          <p:nvPr/>
        </p:nvSpPr>
        <p:spPr>
          <a:xfrm>
            <a:off x="8889340" y="435254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7" name="Image 5" descr="fla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9068" y="4462272"/>
            <a:ext cx="237744" cy="237744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9501988" y="427024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decisions owned</a:t>
            </a:r>
            <a:endParaRPr lang="en-US" sz="1250" dirty="0"/>
          </a:p>
        </p:txBody>
      </p:sp>
      <p:sp>
        <p:nvSpPr>
          <p:cNvPr id="49" name="Text 41"/>
          <p:cNvSpPr txBox="1"/>
          <p:nvPr/>
        </p:nvSpPr>
        <p:spPr>
          <a:xfrm>
            <a:off x="9501988" y="4590288"/>
            <a:ext cx="2049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with an owner and a date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5577840" y="5193792"/>
            <a:ext cx="6065215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5806440" y="5193792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IS DONE WHEN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deliverable is reviewed, merged or published in the repo, and walked through at the Sprint 1 review.</a:t>
            </a:r>
            <a:endParaRPr lang="en-US" sz="1200" dirty="0"/>
          </a:p>
        </p:txBody>
      </p:sp>
      <p:sp>
        <p:nvSpPr>
          <p:cNvPr id="53" name="Text 4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54" name="Text 4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FIRST SPRINT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— Proposed Backlog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links to the proposed architecture or product flow. Names are assigned after this meeting.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288475" y="384048"/>
            <a:ext cx="2354580" cy="256032"/>
          </a:xfrm>
          <a:prstGeom prst="roundRect">
            <a:avLst>
              <a:gd name="adj" fmla="val 50000"/>
            </a:avLst>
          </a:prstGeom>
          <a:solidFill>
            <a:srgbClr val="E2EB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88475" y="384048"/>
            <a:ext cx="2354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OWNERS BY ROLE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206240"/>
                <a:gridCol w="2331720"/>
                <a:gridCol w="1600200"/>
                <a:gridCol w="254477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(ROLE)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tech stack and record architecture decisions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 · Backend · AI Integration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decision records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up GitHub repo, branching, PR and issue templates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 · Backend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+ contribution guide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core data model: Job, Requirement, Candidate, Evidence, Assessment, Interview,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· AI Eng · ML 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9, 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 diagram + schema draft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Scaffold API service and authentication approach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API skeleton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user journeys and low-fidelity wireframes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UI/UX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groups 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Journeys + wireframes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Scaffold web client; decide mobile 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· Mobile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#1, #5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skeletons + scope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Specify evidence schema and confidence definition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Eng · ML 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and confidence 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AI/ML evaluation and fairness-check approach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Eng · AI 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 LLM integration options and data-privacy constraints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Integration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options memo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 official brand assets and guidelines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· UI/UX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kit shared with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28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WAY OF WORKING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Expectations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rules, professional standards. They apply to everyone,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4825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clipboard 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2153595"/>
            <a:ext cx="228234" cy="2282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984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your tasks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286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assigned to you, you drive 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72491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287121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calenda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2976555"/>
            <a:ext cx="228234" cy="2282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8072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deadlines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3108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date is at risk, say so early — not on the day.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54787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69417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2" descr="message squar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3799515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6301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fast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quickly and keep the team informed.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37083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FBE9E3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232" y="4517136"/>
            <a:ext cx="438912" cy="438912"/>
          </a:xfrm>
          <a:prstGeom prst="ellipse">
            <a:avLst/>
          </a:prstGeom>
          <a:solidFill>
            <a:srgbClr val="D9532F"/>
          </a:solidFill>
          <a:ln/>
        </p:spPr>
      </p:sp>
      <p:pic>
        <p:nvPicPr>
          <p:cNvPr id="22" name="Image 3" descr="triangle aler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1" y="4622475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4453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sit on a blocker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325880" y="4754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it as soon as it appears.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19379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232" y="534009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4" descr="book ope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71" y="5445435"/>
            <a:ext cx="228234" cy="22823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25880" y="5276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your work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1325880" y="5577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not written down, it is not done.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33465" y="190195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/>
        </p:spPr>
      </p:sp>
      <p:sp>
        <p:nvSpPr>
          <p:cNvPr id="31" name="Shape 24"/>
          <p:cNvSpPr/>
          <p:nvPr/>
        </p:nvSpPr>
        <p:spPr>
          <a:xfrm>
            <a:off x="6398057" y="204825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5" descr="git branch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396" y="2153595"/>
            <a:ext cx="228234" cy="22823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10705" y="1984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GitHub properly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7010705" y="2286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Issues, branches and pull requests — every time.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233465" y="272491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/>
        </p:spPr>
      </p:sp>
      <p:sp>
        <p:nvSpPr>
          <p:cNvPr id="36" name="Shape 28"/>
          <p:cNvSpPr/>
          <p:nvPr/>
        </p:nvSpPr>
        <p:spPr>
          <a:xfrm>
            <a:off x="6398057" y="287121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7" name="Image 6" descr="git pull reques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396" y="2976555"/>
            <a:ext cx="228234" cy="22823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010705" y="28072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code seriously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7010705" y="3108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real reviews, and ask for them.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6233465" y="354787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/>
        </p:spPr>
      </p:sp>
      <p:sp>
        <p:nvSpPr>
          <p:cNvPr id="41" name="Shape 32"/>
          <p:cNvSpPr/>
          <p:nvPr/>
        </p:nvSpPr>
        <p:spPr>
          <a:xfrm>
            <a:off x="6398057" y="369417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2" name="Image 7" descr="handshak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3396" y="3799515"/>
            <a:ext cx="228234" cy="22823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010705" y="36301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across disciplines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7010705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engineering and AI build one product.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6233465" y="437083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FBE9E3"/>
          </a:solidFill>
          <a:ln/>
        </p:spPr>
      </p:sp>
      <p:sp>
        <p:nvSpPr>
          <p:cNvPr id="46" name="Shape 36"/>
          <p:cNvSpPr/>
          <p:nvPr/>
        </p:nvSpPr>
        <p:spPr>
          <a:xfrm>
            <a:off x="6398057" y="4517136"/>
            <a:ext cx="438912" cy="438912"/>
          </a:xfrm>
          <a:prstGeom prst="ellipse">
            <a:avLst/>
          </a:prstGeom>
          <a:solidFill>
            <a:srgbClr val="D9532F"/>
          </a:solidFill>
          <a:ln/>
        </p:spPr>
      </p:sp>
      <p:pic>
        <p:nvPicPr>
          <p:cNvPr id="47" name="Image 8" descr="circle 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3396" y="4622475"/>
            <a:ext cx="228234" cy="228234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010705" y="4453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it until it is closed</a:t>
            </a:r>
            <a:endParaRPr lang="en-US" sz="1400" dirty="0"/>
          </a:p>
        </p:txBody>
      </p:sp>
      <p:sp>
        <p:nvSpPr>
          <p:cNvPr id="49" name="Text 38"/>
          <p:cNvSpPr txBox="1"/>
          <p:nvPr/>
        </p:nvSpPr>
        <p:spPr>
          <a:xfrm>
            <a:off x="7010705" y="4754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means merged, tested and documented.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6233465" y="5193792"/>
            <a:ext cx="5410505" cy="73152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/>
        </p:spPr>
      </p:sp>
      <p:sp>
        <p:nvSpPr>
          <p:cNvPr id="51" name="Shape 40"/>
          <p:cNvSpPr/>
          <p:nvPr/>
        </p:nvSpPr>
        <p:spPr>
          <a:xfrm>
            <a:off x="6398057" y="5340096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2" name="Image 9" descr="flag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3396" y="5445435"/>
            <a:ext cx="228234" cy="228234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7010705" y="5276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to the Team Lead</a:t>
            </a:r>
            <a:endParaRPr lang="en-US" sz="1400" dirty="0"/>
          </a:p>
        </p:txBody>
      </p:sp>
      <p:sp>
        <p:nvSpPr>
          <p:cNvPr id="54" name="Text 42"/>
          <p:cNvSpPr txBox="1"/>
          <p:nvPr/>
        </p:nvSpPr>
        <p:spPr>
          <a:xfrm>
            <a:off x="7010705" y="5577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is at risk, the Team Lead hears it first.</a:t>
            </a:r>
            <a:endParaRPr lang="en-US" sz="1100" dirty="0"/>
          </a:p>
        </p:txBody>
      </p:sp>
      <p:sp>
        <p:nvSpPr>
          <p:cNvPr id="56" name="Text 43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57" name="Text 44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28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OPEN DECISIONS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Decisions — Needs Confirmation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was built from the kickoff brief only. These items must be confirmed before or during Sprint 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6069" y="384048"/>
            <a:ext cx="1766987" cy="256032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6069" y="384048"/>
            <a:ext cx="1766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CONFIRMATION</a:t>
            </a:r>
            <a:endParaRPr 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2606040"/>
                <a:gridCol w="163037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(ROLE)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BY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logo and brand guidelines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Deck, design system and UI depend on 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· UI/UX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Sprint 1 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roster: names ↔ roles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 and task assignment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Sprint 1 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stack: web, mobile, LLM provider, hosting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1 scaffolding and architecture records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 · Backend · AI Integration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scope for the first release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planning and design effort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Candidate-facing experience 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journeys and frontend 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 · UI/UX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Recruiter Copilot scope and phase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roadmap and module boundaries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 · AI Engineering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First-release (MVP) module subset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Defines what “first release” means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 · all leads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Timeline and sprint length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Planning, deadlines and phase dates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Sprint 1 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Privacy, security and Responsible AI policy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and data handling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 · Backend · ML Eng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Sprint 1 (draft)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5E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tracker (e.g. GitHub Projects)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place for every task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Sprint 1 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36576" marB="36576" anchor="ctr">
                    <a:lnL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F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28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After This Meeting?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41098" y="1874520"/>
            <a:ext cx="9509499" cy="0"/>
          </a:xfrm>
          <a:prstGeom prst="line">
            <a:avLst/>
          </a:prstGeom>
          <a:noFill/>
          <a:ln w="25400">
            <a:solidFill>
              <a:srgbClr val="2E55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8218" y="1691640"/>
            <a:ext cx="365760" cy="365760"/>
          </a:xfrm>
          <a:prstGeom prst="ellipse">
            <a:avLst/>
          </a:prstGeom>
          <a:solidFill>
            <a:srgbClr val="D9532F"/>
          </a:solidFill>
          <a:ln w="19050">
            <a:solidFill>
              <a:srgbClr val="D953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158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28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50592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135" y="1691640"/>
            <a:ext cx="365760" cy="36576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3556" y="2194560"/>
            <a:ext cx="158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MEETING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133556" y="2450592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8051" y="1691640"/>
            <a:ext cx="365760" cy="36576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18473" y="2194560"/>
            <a:ext cx="158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718473" y="2450592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12968" y="1691640"/>
            <a:ext cx="365760" cy="36576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389" y="2194560"/>
            <a:ext cx="158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303389" y="2450592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7884" y="1691640"/>
            <a:ext cx="365760" cy="36576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88306" y="2194560"/>
            <a:ext cx="158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888306" y="2450592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82801" y="1691640"/>
            <a:ext cx="365760" cy="36576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73222" y="2194560"/>
            <a:ext cx="158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473222" y="2450592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7717" y="1691640"/>
            <a:ext cx="365760" cy="36576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139" y="2194560"/>
            <a:ext cx="158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058139" y="2450592"/>
            <a:ext cx="1584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2461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align. After today we build.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Assists. Humans Decide.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6451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3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AFTER THIS MEETING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956048"/>
            <a:ext cx="2567635" cy="1051560"/>
          </a:xfrm>
          <a:prstGeom prst="roundRect">
            <a:avLst>
              <a:gd name="adj" fmla="val 6957"/>
            </a:avLst>
          </a:prstGeom>
          <a:solidFill>
            <a:srgbClr val="15303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51023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5413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names ↔ roles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90595" y="4956048"/>
            <a:ext cx="2567635" cy="1051560"/>
          </a:xfrm>
          <a:prstGeom prst="roundRect">
            <a:avLst>
              <a:gd name="adj" fmla="val 6957"/>
            </a:avLst>
          </a:prstGeom>
          <a:solidFill>
            <a:srgbClr val="15303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91763" y="51023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591763" y="5413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Sprint 1 issues with owners and Definition of Done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32550" y="4956048"/>
            <a:ext cx="2567635" cy="1051560"/>
          </a:xfrm>
          <a:prstGeom prst="roundRect">
            <a:avLst>
              <a:gd name="adj" fmla="val 6957"/>
            </a:avLst>
          </a:prstGeom>
          <a:solidFill>
            <a:srgbClr val="15303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33718" y="51023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33718" y="5413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an owner to every open decision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74506" y="4956048"/>
            <a:ext cx="2567635" cy="1051560"/>
          </a:xfrm>
          <a:prstGeom prst="roundRect">
            <a:avLst>
              <a:gd name="adj" fmla="val 6957"/>
            </a:avLst>
          </a:prstGeom>
          <a:solidFill>
            <a:srgbClr val="15303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275674" y="51023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275674" y="5413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Sprint 1 planning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NESTHIRE  ·  Project Kickoff &amp; Team Alignment  ·  Draft v0.1, built from the kickoff brief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NestHire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NestHire — Project Kickoff &amp; Team Alignment</dc:title>
  <dc:subject>Internal kickoff and team alignment (draft v0.1)</dc:subject>
  <dc:creator>NestHire Team</dc:creator>
  <cp:lastModifiedBy>NestHire Team</cp:lastModifiedBy>
  <cp:revision>1</cp:revision>
  <dcterms:created xsi:type="dcterms:W3CDTF">2026-10-01T19:44:20Z</dcterms:created>
  <dcterms:modified xsi:type="dcterms:W3CDTF">2026-10-01T19:44:20Z</dcterms:modified>
</cp:coreProperties>
</file>